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精讲算法导论第11章的思考题11-1——散列最长探查的界。这道题是开放寻址法分析中的经典证明题，分为四个小问，层层递进，最终要证明在负载因子不超过1/2时，最长探查序列的期望长度是O(lgn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道题分为四个小问，逻辑链条非常清晰。a问是最基础的：证明单次插入需要超过p次探查的概率不超过2的-p次方。b问把p具体取为2lgn，得到单次失败概率是O(1/n²)。c问用并集界，把所有n次插入的失败概率加起来，得到最长探查失败的概率是O(1/n)。d问最后用期望分解，证明最长探查的期望长度是O(lgn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证明之前，我们先明确两个关键前提。第一是开放寻址法，所有元素都存在散列表里，没有链表，插入时需要依次探查空槽。第二是独立均匀散列，这是最强的散列假设，每个关键字的探查序列是所有排列中等概率随机选取的。另外一个重要条件是负载因子不超过1/2，也就是n不超过m的一半。这个条件是后续所有概率估计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题目a的证明思路很直观。第i次插入时，表中已经有i减1个元素。第一次探查就碰到已占用槽的概率就是已占用槽数除以总槽数，也就是(i-1)/m。因为n不超过m的一半，所以这个概率不超过1/2。在独立均匀散列下，每次探查都是从剩余槽位中随机选一个，所以连续p次都碰到已占用槽的概率，就是每次失败概率的乘积，也就是(1/2)的p次方，等于2的-p次方。这就证明了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题目b非常直接，就是把p具体取为2lgn，代入a问的结论。2的负2lgn次方，等于2的lgn次方的负2次方，也就是n的负2次方，即1/n²。所以第i次插入需要超过2lgn次探查的概率，是O(1/n²)量级。这个概率非常小，意味着几乎不会有单次插入需要探查超过对数级别那么多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题目c用的是并集界，也叫Boole不等式。最长探查超过2lgn，意思就是所有n次插入中，至少有一次插入的探查次数超过了2lgn。根据并集界，至少有一次发生的概率，不超过每次概率之和。因为b问已经知道单次失败概率是O(1/n²)，乘以n次，就得到O(1/n)。这个结果告诉我们：最长探查超过对数级别的概率，是n分之一量级，随着n增大快速趋近于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题目d是最终结论。我们用条件期望分解，把X分成两部分：不超过2lgn的部分，最多贡献2lgn；超过2lgn的部分，虽然X可以大到m，但概率只有O(1/n)，而m等于2n，两者相乘正好消掉n，得到O(1)。两部分加起来就是2lgn加O(1)，也就是O(lgn)。这就证明了：在负载因子不超过1/2时，开放寻址法的最长探查序列的期望长度是对数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我们回顾一下整个证明链条。从a问最基础的单次失败概率不超过2的-p次方，到b问代入p等于2lgn得到单次失败是O(1/n²)，再到c问用并集界把n次加起来得到最长失败概率O(1/n)，最后到d问用期望分解消去长尾，得到最长探查的期望是O(lgn)。整个过程层层递进，每一步都基于前一步的结论。这也是概率分析在算法设计中的典型应用：通过严格的概率上界证明数据结构的期望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77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算法导论 · 思考题 11-1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54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散列最长探查的界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开放寻址法 · 独立均匀散列 · 概率证明精讲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16026" y="456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508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C96AA"/>
                </a:solidFill>
                <a:latin typeface="Noto Sans SC"/>
                <a:ea typeface="Noto Sans SC"/>
                <a:cs typeface="Noto Sans SC"/>
                <a:sym typeface="Noto Sans SC"/>
              </a:rPr>
              <a:t>从单步失败概率到最长探查期望的完整推导链条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问题概览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四道小问，层层递进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3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1844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单次探查失败概率的上界：第 i 次插入需要多于 p 次探查的概率至多为 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5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e>
                  <m:sup>
                    <m:r>
                      <a:rPr sz="15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-p</m:t>
                    </m:r>
                  </m:sup>
                </m:sSup>
              </m:oMath>
            </a14:m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11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905000" y="31369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代入 p = 2lg n：第 i 次插入需要多于 2lg n 次探查的概率为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O</m:t>
                </m:r>
                <m:d>
                  <m:dPr>
                    <m:sepChr m:val=","/>
                  </m:dPr>
                  <m:e>
                    <m:f>
                      <m:fPr>
                        <m:type m:val="lin"/>
                      </m:fPr>
                      <m:num>
                        <m:r>
                          <a:rPr sz="15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sz="1500">
                                <a:solidFill>
                                  <a:srgbClr val="1E2332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n</m:t>
                            </m:r>
                          </m:e>
                          <m:sup>
                            <m:r>
                              <a:rPr sz="1500">
                                <a:solidFill>
                                  <a:srgbClr val="1E2332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</m:den>
                    </m:f>
                  </m:e>
                </m:d>
              </m:oMath>
            </a14:m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064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40894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并集界推广到最大探查次数：最长探查超过 2lg n 的概率为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O</m:t>
                </m:r>
                <m:d>
                  <m:dPr>
                    <m:sepChr m:val=","/>
                  </m:dPr>
                  <m:e>
                    <m:f>
                      <m:fPr>
                        <m:type m:val="lin"/>
                      </m:fPr>
                      <m:num>
                        <m:r>
                          <a:rPr sz="15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num>
                      <m:den>
                        <m:r>
                          <a:rPr sz="15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n</m:t>
                        </m:r>
                      </m:den>
                    </m:f>
                  </m:e>
                </m:d>
              </m:oMath>
            </a14:m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016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905000" y="50419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期望分解：最长探查序列的期望长度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  <m:d>
                  <m:dPr>
                    <m:begChr m:val="["/>
                    <m:sepChr m:val=","/>
                    <m:endChr m:val="]"/>
                  </m:dPr>
                  <m:e>
                    <m:r>
                      <a:rPr sz="15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</m:d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r>
                      <m:rPr>
                        <m:sty m:val="p"/>
                      </m:rPr>
                      <a:rPr sz="15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lg</m:t>
                    </m:r>
                    <m:r>
                      <a:rPr sz="15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n</m:t>
                    </m:r>
                  </m:e>
                </m:d>
              </m:oMath>
            </a14:m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60325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前提：开放寻址法，独立均匀散列，散列表大小 m，存入 n ≤ m/2 个元素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背景知识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两个关键前提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3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开放寻址法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667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所有元素都存放在散列表中，每个槽位要么包含一个元素，要么为空。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插入时：从散列地址开始，依次探查下一个槽位，直到找到空槽。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独立均匀散列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667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每个关键字的探查序列均匀独立地从 </a:t>
            </a:r>
            <a14:m xmlns:a14="http://schemas.microsoft.com/office/drawing/2010/main">
              <m:oMath xmlns:m="http://schemas.openxmlformats.org/officeDocument/2006/math" xmlns:mml="http://www.w3.org/1998/Math/MathML">
                <m:d>
                  <m:dPr>
                    <m:begChr m:val="{"/>
                    <m:sepChr m:val=","/>
                    <m:endChr m:val="}"/>
                  </m:dPr>
                  <m:e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0</m:t>
                    </m:r>
                  </m:e>
                  <m:e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1</m:t>
                    </m:r>
                  </m:e>
                  <m:e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…</m:t>
                    </m:r>
                  </m:e>
                  <m:e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m-1</m:t>
                    </m:r>
                  </m:e>
                </m:d>
              </m:oMath>
            </a14:m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 的 m! 种排列中等可能选取。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这是开放寻址法分析中最强的假设。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72000"/>
            <a:ext cx="10160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397000" y="4762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负载因子：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散列表大小为 m，存入 n 个元素，且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n≤m/2</m:t>
                </m:r>
              </m:oMath>
            </a14:m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，即负载因子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α=n/m≤1/2</m:t>
                </m:r>
              </m:oMath>
            </a14:m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这是后续所有概率估计的关键条件。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60325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来源：算法导论（第3版）第11.4节 开放寻址法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题目 a · 证明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单次探查失败概率的上界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17188" flipH="false" flipV="false">
            <a:off x="1015905" y="1803400"/>
            <a:ext cx="101601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159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求证：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第 i 次插入需要多于 p 次探查的概率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≤</m:t>
                </m:r>
                <m:sSup>
                  <m:e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e>
                  <m:sup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-p</m:t>
                    </m:r>
                  </m:sup>
                </m:sSup>
              </m:oMath>
            </a14:m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04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证明思路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492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1. 第 i 次插入时，表中已有 i−1 个已占用槽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000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2. 第 1 次探查就遇到已占用槽的概率：</a:t>
            </a:r>
            <a14:m xmlns:a14="http://schemas.microsoft.com/office/drawing/2010/main">
              <m:oMath xmlns:m="http://schemas.openxmlformats.org/officeDocument/2006/math" xmlns:mml="http://www.w3.org/1998/Math/MathML">
                <m:f>
                  <m:fPr>
                    <m:type m:val="bar"/>
                  </m:fPr>
                  <m:num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i-1</m:t>
                    </m:r>
                  </m:num>
                  <m:den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m</m:t>
                    </m:r>
                  </m:den>
                </m:f>
                <m: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≤</m:t>
                </m:r>
                <m:f>
                  <m:fPr>
                    <m:type m:val="bar"/>
                  </m:fPr>
                  <m:num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n</m:t>
                    </m:r>
                  </m:num>
                  <m:den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m</m:t>
                    </m:r>
                  </m:den>
                </m:f>
                <m: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≤</m:t>
                </m:r>
                <m:f>
                  <m:fPr>
                    <m:type m:val="bar"/>
                  </m:fPr>
                  <m:num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1</m:t>
                    </m:r>
                  </m:num>
                  <m:den>
                    <m:r>
                      <a:rPr sz="1400">
                        <a:solidFill>
                          <a:srgbClr val="1E2332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den>
                </m:f>
              </m:oMath>
            </a14:m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450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3. 在独立均匀散列下，每次探查相当于从剩余槽位中随机选取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016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4. 连续 p 次探查都遇到已占用槽的概率：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5435600"/>
            <a:ext cx="9652000" cy="558800"/>
          </a:xfrm>
          <a:prstGeom prst="roundRect">
            <a:avLst>
              <a:gd name="adj" fmla="val 0"/>
            </a:avLst>
          </a:prstGeom>
          <a:solidFill>
            <a:srgbClr val="0D132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778000" y="5486400"/>
            <a:ext cx="914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Pr</m:t>
                  </m:r>
                  <m:d>
                    <m:dPr>
                      <m:begChr m:val="{"/>
                      <m:sepChr m:val=","/>
                      <m:endChr m:val="}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前</m:t>
                      </m:r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次都失败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</m:t>
                  </m:r>
                  <m:sSup>
                    <m:e>
                      <m:d>
                        <m:dPr>
                          <m:sepChr m:val=","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i-1</m:t>
                              </m:r>
                            </m:num>
                            <m:den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m</m:t>
                              </m:r>
                            </m:den>
                          </m:f>
                        </m:e>
                      </m:d>
                    </m:e>
                    <m:sup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</m:sup>
                  </m:sSup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</m:t>
                  </m:r>
                  <m:sSup>
                    <m:e>
                      <m:d>
                        <m:dPr>
                          <m:sepChr m:val=","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e>
                    <m:sup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</m:sup>
                  </m:sSup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sSup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e>
                    <m:sup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-p</m:t>
                      </m:r>
                    </m:sup>
                  </m:sSup>
                </m:oMath>
              </m:oMathPara>
            </a14:m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61595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关键：负载因子 ≤ 1/2 是每次失败概率 ≤ 1/2 的根本原因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题目 b · 证明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代入 p = 2lg n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17188" flipH="false" flipV="false">
            <a:off x="1015905" y="1803400"/>
            <a:ext cx="101601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159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求证：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Pr</m:t>
                </m:r>
                <m:d>
                  <m:dPr>
                    <m:begChr m:val="{"/>
                    <m:sepChr m:val=","/>
                    <m:endChr m:val="⟩"/>
                  </m:dPr>
                  <m:e>
                    <m:sSub>
                      <m:e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X</m:t>
                        </m:r>
                      </m:e>
                      <m:sub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i</m:t>
                        </m:r>
                      </m:sub>
                    </m:sSub>
                  </m:e>
                </m:d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2</m:t>
                </m:r>
                <m:r>
                  <m:rPr>
                    <m:sty m:val="p"/>
                  </m:rP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lg</m:t>
                </m:r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n}</m:t>
                </m:r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f>
                      <m:fPr>
                        <m:type m:val="lin"/>
                      </m:fPr>
                      <m:num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sz="1500">
                                <a:solidFill>
                                  <a:srgbClr val="0D1326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n</m:t>
                            </m:r>
                          </m:e>
                          <m:sup>
                            <m:r>
                              <a:rPr sz="1500">
                                <a:solidFill>
                                  <a:srgbClr val="0D1326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</m:den>
                    </m:f>
                  </m:e>
                </m:d>
              </m:oMath>
            </a14:m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04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证明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由 a 问结论，令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p=2</m:t>
                </m:r>
                <m:r>
                  <m:rPr>
                    <m:sty m:val="p"/>
                  </m:rP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lg</m:t>
                </m:r>
                <m:r>
                  <a:rPr sz="15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n</m:t>
                </m:r>
              </m:oMath>
            </a14:m>
            <a:r>
              <a:rPr lang="en-US" b="false" i="false" strike="noStrike" u="none" sz="15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4127500"/>
            <a:ext cx="9652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4254500"/>
            <a:ext cx="914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ty m:val="p"/>
                    </m:rP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Pr</m:t>
                  </m:r>
                  <m:d>
                    <m:dPr>
                      <m:begChr m:val="{"/>
                      <m:sepChr m:val=","/>
                      <m:endChr m:val="⟩"/>
                    </m:dPr>
                    <m:e>
                      <m:sSub>
                        <m:e>
                          <m:r>
                            <a:rPr sz="15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e>
                        <m:sub>
                          <m:r>
                            <a:rPr sz="15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2</m:t>
                  </m:r>
                  <m:r>
                    <m:rPr>
                      <m:sty m:val="p"/>
                    </m:rP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n}</m:t>
                  </m:r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</m:t>
                  </m:r>
                  <m:sSup>
                    <m:e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e>
                    <m:sup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-2</m:t>
                      </m:r>
                      <m:r>
                        <m:rPr>
                          <m:sty m:val="p"/>
                        </m:rP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lg</m:t>
                      </m:r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n</m:t>
                      </m:r>
                    </m:sup>
                  </m:sSup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sSup>
                    <m:e>
                      <m:d>
                        <m:dPr>
                          <m:sepChr m:val=","/>
                        </m:dPr>
                        <m:e>
                          <m:sSup>
                            <m:e>
                              <m:r>
                                <a:rPr sz="15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15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lg</m:t>
                              </m:r>
                              <m:r>
                                <a:rPr sz="15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n</m:t>
                              </m:r>
                            </m:sup>
                          </m:sSup>
                        </m:e>
                      </m:d>
                    </m:e>
                    <m:sup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-2</m:t>
                      </m:r>
                    </m:sup>
                  </m:sSup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sSup>
                    <m:e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n</m:t>
                      </m:r>
                    </m:e>
                    <m:sup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-2</m:t>
                      </m:r>
                    </m:sup>
                  </m:sSup>
                  <m:r>
                    <a:rPr sz="15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5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</m:t>
                      </m:r>
                    </m:num>
                    <m:den>
                      <m:sSup>
                        <m:e>
                          <m:r>
                            <a:rPr sz="15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n</m:t>
                          </m:r>
                        </m:e>
                        <m:sup>
                          <m:r>
                            <a:rPr sz="15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08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因此：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Pr</m:t>
                </m:r>
                <m:d>
                  <m:dPr>
                    <m:begChr m:val="{"/>
                    <m:sepChr m:val=","/>
                    <m:endChr m:val="⟩"/>
                  </m:dPr>
                  <m:e>
                    <m:sSub>
                      <m:e>
                        <m:r>
                          <a:rPr sz="14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X</m:t>
                        </m:r>
                      </m:e>
                      <m:sub>
                        <m:r>
                          <a:rPr sz="14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i</m:t>
                        </m:r>
                      </m:sub>
                    </m:sSub>
                  </m:e>
                </m:d>
                <m: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2</m:t>
                </m:r>
                <m:r>
                  <m:rPr>
                    <m:sty m:val="p"/>
                  </m:rP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lg</m:t>
                </m:r>
                <m: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n}</m:t>
                </m:r>
                <m:r>
                  <a:rPr sz="1400">
                    <a:solidFill>
                      <a:srgbClr val="1E233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f>
                      <m:fPr>
                        <m:type m:val="lin"/>
                      </m:fPr>
                      <m:num>
                        <m:r>
                          <a:rPr sz="1400">
                            <a:solidFill>
                              <a:srgbClr val="1E2332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sz="1400">
                                <a:solidFill>
                                  <a:srgbClr val="1E2332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n</m:t>
                            </m:r>
                          </m:e>
                          <m:sup>
                            <m:r>
                              <a:rPr sz="1400">
                                <a:solidFill>
                                  <a:srgbClr val="1E2332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p>
                        </m:sSup>
                      </m:den>
                    </m:f>
                  </m:e>
                </m:d>
              </m:oMath>
            </a14:m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571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说明：lg 表示以 2 为底的对数。单次插入需要探查超过 2lg n 次的概率，是 n² 分之一量级——非常小。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题目 c · 证明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并集界：从单次到最长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17188" flipH="false" flipV="false">
            <a:off x="1015905" y="1803400"/>
            <a:ext cx="101601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159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求证：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Pr</m:t>
                </m:r>
                <m:d>
                  <m:dPr>
                    <m:begChr m:val="{"/>
                    <m:sepChr m:val=","/>
                    <m:endChr m:val="⟩"/>
                  </m:dPr>
                  <m:e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</m:d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2</m:t>
                </m:r>
                <m:r>
                  <m:rPr>
                    <m:sty m:val="p"/>
                  </m:rP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lg</m:t>
                </m:r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n}</m:t>
                </m:r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f>
                      <m:fPr>
                        <m:type m:val="lin"/>
                      </m:fPr>
                      <m:num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num>
                      <m:den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n</m:t>
                        </m:r>
                      </m:den>
                    </m:f>
                  </m:e>
                </m:d>
              </m:oMath>
            </a14:m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，其中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X=</m:t>
                </m:r>
                <m:r>
                  <m:rPr>
                    <m:sty m:val="p"/>
                  </m:rP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max</m:t>
                </m:r>
                <m:d>
                  <m:dPr>
                    <m:begChr m:val="{"/>
                    <m:sepChr m:val=","/>
                    <m:endChr m:val="}"/>
                  </m:dPr>
                  <m:e>
                    <m:sSub>
                      <m:e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X</m:t>
                        </m:r>
                      </m:e>
                      <m:sub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</m:e>
                  <m:e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…</m:t>
                    </m:r>
                  </m:e>
                  <m:e>
                    <m:sSub>
                      <m:e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X</m:t>
                        </m:r>
                      </m:e>
                      <m:sub>
                        <m:r>
                          <a:rPr sz="1500">
                            <a:solidFill>
                              <a:srgbClr val="0D1326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n</m:t>
                        </m:r>
                      </m:sub>
                    </m:sSub>
                  </m:e>
                </m:d>
              </m:oMath>
            </a14:m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04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证明：并集界（Union Bound）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最长探查超过 2lg n，等价于「至少有一次插入超过 2lg n」：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4127500"/>
            <a:ext cx="9652000" cy="1270000"/>
          </a:xfrm>
          <a:prstGeom prst="roundRect">
            <a:avLst>
              <a:gd name="adj" fmla="val 0"/>
            </a:avLst>
          </a:prstGeom>
          <a:solidFill>
            <a:srgbClr val="0D132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4254500"/>
            <a:ext cx="914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Pr</m:t>
                  </m:r>
                  <m:d>
                    <m:dPr>
                      <m:begChr m:val="{"/>
                      <m:sepChr m:val=","/>
                      <m:endChr m:val="⟩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n}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Pr</m:t>
                  </m:r>
                  <m:d>
                    <m:dPr>
                      <m:begChr m:val="{"/>
                      <m:sepChr m:val=","/>
                      <m:endChr m:val="⟩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∃i:</m:t>
                      </m:r>
                      <m:sSub>
                        <m:e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e>
                        <m:sub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n}</m:t>
                  </m:r>
                </m:oMath>
              </m:oMathPara>
            </a14:m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</m:t>
                  </m:r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ff"/>
                    </m:naryPr>
                    <m:sub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i=1</m:t>
                      </m:r>
                    </m:sub>
                    <m:sup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n</m:t>
                      </m:r>
                    </m:sup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Pr</m:t>
                      </m:r>
                    </m:e>
                  </m:nary>
                  <m:d>
                    <m:dPr>
                      <m:begChr m:val="{"/>
                      <m:sepChr m:val=","/>
                      <m:endChr m:val="⟩"/>
                    </m:dPr>
                    <m:e>
                      <m:sSub>
                        <m:e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e>
                        <m:sub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n}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=n⋅O</m:t>
                  </m:r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n</m:t>
                              </m:r>
                            </m:e>
                            <m:sup>
                              <m:r>
                                <a:rPr sz="1400">
                                  <a:solidFill>
                                    <a:srgbClr val="0D1326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=O</m:t>
                  </m:r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num>
                        <m:den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n</m:t>
                          </m:r>
                        </m:den>
                      </m:f>
                    </m:e>
                  </m:d>
                </m:oMath>
              </m:oMathPara>
            </a14:m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651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并集界不要求事件独立，是概率论中最常用的上界技巧之一：n 个事件至少发生一个的概率，不超过每个事件概率之和。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题目 d · 证明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期望分解：最终结论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17188" flipH="false" flipV="false">
            <a:off x="1015905" y="1803400"/>
            <a:ext cx="101601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159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求证：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  <m:d>
                  <m:dPr>
                    <m:begChr m:val="["/>
                    <m:sepChr m:val=","/>
                    <m:endChr m:val="]"/>
                  </m:dPr>
                  <m:e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</m:d>
                <m:r>
                  <a:rPr sz="1500">
                    <a:solidFill>
                      <a:srgbClr val="0D132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r>
                      <m:rPr>
                        <m:sty m:val="p"/>
                      </m:rP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lg</m:t>
                    </m:r>
                    <m:r>
                      <a:rPr sz="1500">
                        <a:solidFill>
                          <a:srgbClr val="0D1326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n</m:t>
                    </m:r>
                  </m:e>
                </m:d>
              </m:oMath>
            </a14:m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，最长探查序列的期望长度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04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证明：条件期望分解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492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2332"/>
                </a:solidFill>
                <a:latin typeface="Noto Sans SC"/>
                <a:ea typeface="Noto Sans SC"/>
                <a:cs typeface="Noto Sans SC"/>
                <a:sym typeface="Noto Sans SC"/>
              </a:rPr>
              <a:t>把 X 分成「不超过 2lg n」和「超过 2lg n」两部分：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4000500"/>
            <a:ext cx="9652000" cy="1397000"/>
          </a:xfrm>
          <a:prstGeom prst="roundRect">
            <a:avLst>
              <a:gd name="adj" fmla="val 0"/>
            </a:avLst>
          </a:prstGeom>
          <a:solidFill>
            <a:srgbClr val="0D132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4127500"/>
            <a:ext cx="914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E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=E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X⋅I</m:t>
                      </m:r>
                      <m:d>
                        <m:dPr>
                          <m:begChr m:val="{"/>
                          <m:sepChr m:val=","/>
                          <m:endChr m:val="}"/>
                        </m:dPr>
                        <m:e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X≤2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lg</m:t>
                          </m:r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n</m:t>
                          </m:r>
                        </m:e>
                      </m:d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+E</m:t>
                  </m:r>
                  <m:d>
                    <m:dPr>
                      <m:begChr m:val="["/>
                      <m:sepChr m:val=","/>
                      <m:endChr m:val="}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X⋅I</m:t>
                      </m:r>
                      <m:d>
                        <m:dPr>
                          <m:begChr m:val="{"/>
                          <m:sepChr m:val=","/>
                          <m:endChr m:val="⟩"/>
                        </m:dPr>
                        <m:e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e>
                      </m:d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  <m:r>
                        <m:rPr>
                          <m:sty m:val="p"/>
                        </m:rP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lg</m:t>
                      </m:r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n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]</m:t>
                  </m:r>
                </m:oMath>
              </m:oMathPara>
            </a14:m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n+m⋅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Pr</m:t>
                  </m:r>
                  <m:d>
                    <m:dPr>
                      <m:begChr m:val="{"/>
                      <m:sepChr m:val=","/>
                      <m:endChr m:val="⟩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n}</m:t>
                  </m:r>
                </m:oMath>
              </m:oMathPara>
            </a14:m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n+2n⋅O</m:t>
                  </m:r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num>
                        <m:den>
                          <m:r>
                            <a:rPr sz="1400">
                              <a:solidFill>
                                <a:srgbClr val="0D1326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n</m:t>
                          </m:r>
                        </m:den>
                      </m:f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=2</m:t>
                  </m:r>
                  <m:r>
                    <m:rPr>
                      <m:sty m:val="p"/>
                    </m:rP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lg</m:t>
                  </m:r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n+O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</m:t>
                      </m:r>
                    </m:e>
                  </m:d>
                  <m:r>
                    <a:rPr sz="1400">
                      <a:solidFill>
                        <a:srgbClr val="0D1326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=O</m:t>
                  </m:r>
                  <m:d>
                    <m:dPr>
                      <m:sepChr m:val=","/>
                    </m:dPr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lg</m:t>
                      </m:r>
                      <m:r>
                        <a:rPr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n</m:t>
                      </m:r>
                    </m:e>
                  </m:d>
                </m:oMath>
              </m:oMathPara>
            </a14:m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651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关键：X 的上界是 m = 2n（由 n ≤ m/2）；c 问给出长尾概率 O(1/n)，两者相乘消去了 n。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06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逻辑链条回顾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202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476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a.</a:t>
            </a:r>
            <a:r>
              <a:rPr lang="en-US" b="false" i="false" strike="noStrike" u="none" sz="14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 单次失败概率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B4BED2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≤</m:t>
                  </m:r>
                  <m:sSup>
                    <m:e>
                      <m:r>
                        <a:rPr sz="1400">
                          <a:solidFill>
                            <a:srgbClr val="B4BE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e>
                    <m:sup>
                      <m:r>
                        <a:rPr sz="1400">
                          <a:solidFill>
                            <a:srgbClr val="B4BE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-p</m:t>
                      </m:r>
                    </m:sup>
                  </m:sSup>
                </m:oMath>
              </m:oMathPara>
            </a14:m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683000" y="266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318000" y="2476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b.</a:t>
            </a:r>
            <a:r>
              <a:rPr lang="en-US" b="false" i="false" strike="noStrike" u="none" sz="14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 代入 p=2lgn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B4BED2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=O</m:t>
                  </m:r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r>
                            <a:rPr sz="1400">
                              <a:solidFill>
                                <a:srgbClr val="B4BED2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sz="1400">
                                  <a:solidFill>
                                    <a:srgbClr val="B4BED2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n</m:t>
                              </m:r>
                            </m:e>
                            <m:sup>
                              <m:r>
                                <a:rPr sz="1400">
                                  <a:solidFill>
                                    <a:srgbClr val="B4BED2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e>
                  </m:d>
                </m:oMath>
              </m:oMathPara>
            </a14:m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985000" y="266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0" y="2476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c.</a:t>
            </a:r>
            <a:r>
              <a:rPr lang="en-US" b="false" i="false" strike="noStrike" u="none" sz="14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 并集界推广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B4BED2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=O</m:t>
                  </m:r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r>
                            <a:rPr sz="1400">
                              <a:solidFill>
                                <a:srgbClr val="B4BED2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num>
                        <m:den>
                          <m:r>
                            <a:rPr sz="1400">
                              <a:solidFill>
                                <a:srgbClr val="B4BED2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n</m:t>
                          </m:r>
                        </m:den>
                      </m:f>
                    </m:e>
                  </m:d>
                </m:oMath>
              </m:oMathPara>
            </a14:m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0" y="4064000"/>
            <a:ext cx="7112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5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794000" y="4254500"/>
            <a:ext cx="660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d.</a:t>
            </a: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期望分解 →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8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  <m:d>
                  <m:dPr>
                    <m:begChr m:val="["/>
                    <m:sepChr m:val=","/>
                    <m:endChr m:val="]"/>
                  </m:dPr>
                  <m:e>
                    <m:r>
                      <a:rPr sz="180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X</m:t>
                    </m:r>
                  </m:e>
                </m:d>
                <m:r>
                  <a:rPr sz="18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=O</m:t>
                </m:r>
                <m:d>
                  <m:dPr>
                    <m:sepChr m:val=","/>
                  </m:dPr>
                  <m:e>
                    <m:r>
                      <m:rPr>
                        <m:sty m:val="p"/>
                      </m:rPr>
                      <a:rPr sz="180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lg</m:t>
                    </m:r>
                    <m:r>
                      <a:rPr sz="180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n</m:t>
                    </m:r>
                  </m:e>
                </m:d>
              </m:oMath>
            </a14:m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546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b="false" i="false" strike="noStrike" u="none" sz="14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 在负载因子 α ≤ 1/2 的开放寻址散列表中，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最长探查序列的期望长度是 O(lgn)——即对数级别，与表大小呈对数关系。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{"Label":"1","ContentProducer":"001191110102MACQD9K64010000","ProduceID":"7698032151732980771","ReservedCode1":"","ContentPropagator":"","PropagateID":"","ReservedCode2":""}</vt:lpwstr>
  </property>
</Properties>
</file>