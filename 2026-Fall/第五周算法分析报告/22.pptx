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各位同学，今天我们深入探讨快速排序中至关重要的 Hoare 划分算法。这不仅是理解快速排序性能的关键，更是算法正确性证明的经典案例。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各位同学大家好，今天我们将深入探讨快速排序及其相关的算法问题。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首先，我们会从算法的整体概览入手，详细解析核心代码，理解其设计思想。接着，通过可视化的方式逐步演示数组在算法执行过程中的变化，帮助大家直观理解。</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然后，我们会对比不同的 Partition 策略，分析它们的优劣。之后，我们将通过严谨的数学方法来证明算法的正确性，这是保证算法可靠的基础。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接下来，我们会亲手重写 Quicksort 的核心逻辑，加深对递归和分治思想的理解。最后，我们将对今天的内容进行总结，并探讨一些进阶的应用和拓展方向。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让我们开始今天的学习之旅。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这一页我们来深入了解一下快速排序中的核心操作——Hoare 划分。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首先，Hoare 划分是由 C.R.Hoare 提出的原始划分算法，它与我们在教材中常见的 Lomuto 划分有显著区别。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主要体现在三个方面：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第一，枢轴的选择。Hoare 划分习惯选择数组的第一个元素作为枢轴，而不是最后一个。</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第二，返回值的含义。它返回的 j 是分割点，左边的元素都小于等于枢轴，右边的元素都大于等于枢轴。注意，这里的枢轴并没有被单独放到正确的位置，而是留在了分区内部。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第三，它保证了分区的非空性，这对于递归调用非常重要，避免了出现空分区导致的错误。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右侧的图示直观地展示了这种划分的结果：数组被分成了左右两部分，中间是枢轴，左右两边分别满足小于等于和大于等于的条件。这种双向扫描的机制使得 Hoare 划分在实际运行中通常比单向扫描的 Lomuto 划分更高效。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这一页我们深入解析快速排序中经典的 Hoare Partition 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Hoare Partition 是快速排序的核心分区步骤，它的特点是使用两个指针分别从数组的两端向中间扫描。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大家看代码的核心逻辑：首先选取第一个元素作为枢轴（Pivot）。然后初始化两个指针，i 从左向右，j 从右向左。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我们通过两个 repeat-until 循环来分别找到左侧大于等于枢轴的元素和右侧小于等于枢轴的元素。如果此时两个指针还没有相遇，就交换这两个元素的位置，从而维持分区的性质。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当指针相遇时，循环终止，此时返回的 j 就是分区的分界点。这个算法的效率非常高，因为它减少了不必要的交换次数。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这一页展示了快速排序初始状态的关键信息。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我们有一个包含12个元素的数组，下标从1到12。我们选择第一个元素13作为枢轴（Pivot），并用黄色高亮显示。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同时，我们初始化了两个指针：i指针从数组左侧边界外（位置0）开始，j指针从数组右侧边界外（位置13）开始。这两个指针将分别向右和向左移动，寻找需要交换的元素。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各位好，这一页展示的是问题(a)的第一轮迭代过程。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看顶部的三个步骤：第一步，右指针j从最右侧开始左移，寻找小于基准值13的元素，最终停在j=11的位置，对应的值是6；第二步，左指针i从左侧开始右移，寻找大于等于基准值13的元素，停在i=1的位置，对应的值是13；第三步，因为i小于j，我们执行交换操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中间的数组展示了交换后的状态，大家可以看到，第1个位置变成了6（绿色标记），第11个位置变成了13（黄色标记），这就是本轮交换的结果。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这一步完成后，基准值已经被放到了正确的分割位置，接下来我们将基于这个结果进行后续的递归排序。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这一页我们来看问题(a)的第2轮迭代过程。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首先，右指针j从右端开始向左移动，直到找到小于等于枢轴13的元素，即j=10，对应的值是2。</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接着，左指针i从左端向右移动，直到找到大于等于枢轴13的元素，即i=2，对应的值是19。</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因为此时i小于j，我们执行交换操作，将A[2]和A[10]的值互换。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大家可以看到中间的数组展示，绿色框标记的是i指针的位置，橙色框标记的是j指针的位置，黄色背景的是我们的枢轴元素13。交换后，我们继续准备下一轮的指针移动。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各位同学，我们来看问题(a)的第3轮迭代与终止过程。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首先，j指针从右向左移动，当j=9时，对应元素11，小于等于13，所以停止移动。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接着，i指针从左向右连续移动，经过一系列元素后，在i=10时遇到元素19，大于13，停止移动。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此时，i=10，j=9，满足i大于j的终止条件，循环结束。最终我们返回j=9作为分界点，意味着前9个元素都小于等于13，后面的元素都大于等于13。</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各位好，这一页展示了问题(a)的最终分区结果。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我们可以清晰地看到，数组被成功划分为两个部分：左分区包含9个元素，右分区包含3个元素。</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通过验证，左分区的最大值为12，确实小于等于枢轴值13；右分区的最小值为13，满足大于等于枢轴值的条件。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特别值得注意的是，枢轴值13并没有被单独移动到分界线上，而是自然地留在了右分区中，这是快速排序分区算法的一个典型特征，说明我们的分区过程是正确的。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最后，返回的分界点j=9，完全符合算法的边界要求，验证了分区结果的有效性。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这一页我们来深入探讨当数组中所有元素都相等时，两种不同的快速排序划分算法表现出的巨大差异。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边是教材中常见的划分方法，它选取最右边的元素作为枢轴。当所有元素相等时，这个枢轴会被单独分到最右侧，导致左分区包含了剩下的所有元素。这使得递归树变得极度不平衡，退化成了一条单链，时间复杂度也因此从理想的O(n log n)急剧下降到O(n²)，这是一种非常低效的情况。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是HOARE划分算法，也就是我们常说的双指针划分。在这种情况下，左右指针会相向扫描，直到相遇。这通常会将数组分成两个规模大致相当的部分，保证了递归树的平衡性。因此，即使面对全相等的元素，它的时间复杂度依然能稳定保持在O(n log n)，表现出极强的鲁棒性。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这一对比告诉我们，算法的细节设计，特别是划分策略，对性能有着决定性的影响。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各位好，这一页我们来深入探讨Hoare-Partition算法的实际优势。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首先，它最大的亮点在于“平衡划分”。在处理包含大量重复元素的数组时，它能避免传统划分方法中可能出现的“一边倒”现象，这对于保证快速排序的递归树平衡至关重要。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其次，它带来了“更少的交换开销”。因为它的判断条件包含了等于的情况，相等的元素不需要进行交换，这在实际运行中能显著减少数据移动的次数。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最后，它是“原地且高效”的。虽然理论复杂度与其他算法一致，但它的实际常数因子更小，更符合工程优化的需求。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总的来说，Hoare划分的核心优势就是对重复数据的鲁棒性，能有效避免算法退化。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我们来证明为什么在快速排序的分区过程中，指针i和j永远不会访问到数组之外的元素。</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首先看指针i，它从p-1开始向右移动。因为我们选的枢轴x等于A[p]，所以当i移动到p的位置时，A[i]也就是A[p]，一定是大于等于x的，所以i会停下来，不会再往左边界外面跑。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再看指针j，它从r+1开始向左移动。同样因为A[p]等于x，所以当j移动到p的位置时，A[j]等于x，满足小于等于x的条件，j会停下来。这就保证了j不会越过左边界p。</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最后，因为循环只在i小于j的时候进行交换，而i和j都被限制在[p, r]这个区间内，所以我们访问的所有数组元素都是合法的，不会出现越界访问的问题。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总结来说，枢轴元素本身就起到了“哨兵”的作用，保护了数组的边界安全。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这一页我们来证明问题(d)，即循环终止时，指针j的位置满足 p ≤ j &lt; r。</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我们分两步来证明：</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首先，证明 j &lt; r。j的初始值是r+1，每次循环至少减1。由于循环终止条件是i≥j，而i的上限是r，所以j必然小于等于r。进一步分析，如果j等于r，那么i必须大于等于r，但是此时i最多等于r，那么j=r的话，意味着i=r，此时在循环中j还会继续减1，所以j一定严格小于r。</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其次，证明 j ≥ p。因为枢轴元素是A[p]，也就是x。j向左扫描是寻找小于等于x的元素，最极端的情况是所有元素都比x大，那么j最终会停在p的位置，因为A[p]本身就等于x，满足条件。所以j一定大于等于p。</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综合这两点，我们得出结论：p ≤ j &lt; r。这非常重要，因为它保证了划分后的两个子数组都不是空的，为后续的递归排序打下了基础。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这一页我们来证明问题(e)中的分区性质：左≤右。</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回顾一下循环不变量。在每次while循环迭代结束后，我们维持两个关键性质：左指针i扫过的区域A[p..i-1]都是大于等于基准值x的；而右指针j扫过的区域A[j+1..r]都是小于等于基准值x的。这一点非常关键，虽然直觉上可能觉得左小右大，但这里的逻辑是相反的，因为指针是相向而行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当循环终止时，i &gt;= j。此时，j左边的区域A[p..j]全部来自于右指针扫过的区域，因此它们都小于等于x；而j右边的区域A[j+1..r]全部来自于左指针扫过的区域，因此它们都大于等于x。</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示意图直观地展示了这一点：绿色的区域代表小于等于x的部分，橙色的区域代表大于等于x的部分，分界点j完美地将数组切分为符合要求的两部分。这个性质保证了快速排序每次分区都能将数组划分为满足条件的子数组，是递归排序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这一页我们重点来看如何用 Hoare-Partition 来重写快速排序算法。</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大家看左边的伪代码，核心的区别在于递归调用的边界。标准的 Lomuto 划分（也就是教材中常见的版本）返回的 q 是枢轴的最终位置，所以递归是分成 q-1 和 q+1。但是 Hoare 划分返回的 q 是左分区的最后一个元素，这个元素本身是小于等于枢轴的，所以左递归必须包含 q，也就是从 p 到 q，而不是 q-1。</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如果这里写错了，比如写成了 q-1，就会漏掉 A[q] 这个元素，导致排序结果错误。这是实现 Hoare 版本快速排序时最容易踩的坑。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根本原因在于，Hoare 划分并没有将枢轴单独放到一个位置，而是让它留在了左分区里。所以递归边界必须相应调整，这一点大家一定要牢记。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本讲我们深入剖析了快速排序的核心——Hoare划分。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首先，从算法结构上看，它利用双指针对撞扫描，这种双向逼近的方式非常高效。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其次，它的关键差异在于不需要像Lomuto划分那样将枢轴单独归位，而是直接返回分界点，这使得分区更加简洁。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在正确性方面，我们利用枢轴作为天然的哨兵，避免了越界问题，同时依靠循环不变量来保证分区的正确性。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最后，它的工程价值在于对重复元素的友好性，能够避免排序性能退化，因此在实际工程中被广泛采用。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思考题7-1已经完成，希望大家通过今天的学习，对快速排序有了更深的理解。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10.sv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8" Type="http://schemas.openxmlformats.org/officeDocument/2006/relationships/notesSlide" Target="../notesSlides/notesSlide10.xml"/><Relationship Id="rId17" Type="http://schemas.openxmlformats.org/officeDocument/2006/relationships/slideLayout" Target="../slideLayouts/slideLayout12.xml"/><Relationship Id="rId16" Type="http://schemas.openxmlformats.org/officeDocument/2006/relationships/image" Target="../media/image36.svg"/><Relationship Id="rId15" Type="http://schemas.openxmlformats.org/officeDocument/2006/relationships/image" Target="../media/image35.png"/><Relationship Id="rId14" Type="http://schemas.openxmlformats.org/officeDocument/2006/relationships/image" Target="../media/image34.svg"/><Relationship Id="rId13" Type="http://schemas.openxmlformats.org/officeDocument/2006/relationships/image" Target="../media/image33.png"/><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30.sv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54.svg"/><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s>
</file>

<file path=ppt/slides/_rels/slide16.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24.svg"/><Relationship Id="rId12" Type="http://schemas.openxmlformats.org/officeDocument/2006/relationships/notesSlide" Target="../notesSlides/notesSlide16.xml"/><Relationship Id="rId11" Type="http://schemas.openxmlformats.org/officeDocument/2006/relationships/slideLayout" Target="../slideLayouts/slideLayout12.xml"/><Relationship Id="rId10" Type="http://schemas.openxmlformats.org/officeDocument/2006/relationships/image" Target="../media/image16.sv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7F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4445000"/>
            <a:ext cx="3810000" cy="3810000"/>
          </a:xfrm>
          <a:prstGeom prst="ellipse">
            <a:avLst/>
          </a:prstGeom>
          <a:solidFill>
            <a:srgbClr val="1B4332">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0"/>
            <a:ext cx="508000" cy="6858000"/>
          </a:xfrm>
          <a:prstGeom prst="roundRect">
            <a:avLst>
              <a:gd name="adj" fmla="val 0"/>
            </a:avLst>
          </a:prstGeom>
          <a:solidFill>
            <a:srgbClr val="1B433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txBox="1"/>
          <p:nvPr/>
        </p:nvSpPr>
        <p:spPr>
          <a:xfrm>
            <a:off x="1016000" y="2286000"/>
            <a:ext cx="1041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1B4332"/>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 7-1 Hoare 划分的正确性</a:t>
            </a:r>
            <a:endParaRPr lang="en-US" sz="1100"/>
          </a:p>
        </p:txBody>
      </p:sp>
      <p:sp>
        <p:nvSpPr>
          <p:cNvPr id="6" name="AutoShape 6"/>
          <p:cNvSpPr txBox="1"/>
          <p:nvPr/>
        </p:nvSpPr>
        <p:spPr>
          <a:xfrm>
            <a:off x="1016000" y="3937000"/>
            <a:ext cx="1041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算法导论小班课 · 快速排序 Partition 算法深入分析</a:t>
            </a:r>
            <a:endParaRPr lang="en-US" sz="1100"/>
          </a:p>
        </p:txBody>
      </p:sp>
      <p:sp>
        <p:nvSpPr>
          <p:cNvPr id="7" name="AutoShape 7"/>
          <p:cNvSpPr txBox="1"/>
          <p:nvPr/>
        </p:nvSpPr>
        <p:spPr>
          <a:xfrm>
            <a:off x="1016000" y="5461000"/>
            <a:ext cx="635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5C6B73"/>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Hoare-Partition 算法推导与验证</a:t>
            </a:r>
            <a:endParaRPr lang="en-US" sz="1100"/>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06000" y="4953000"/>
            <a:ext cx="1270000" cy="12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A7F3D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A7F3D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本讲内容</a:t>
            </a:r>
            <a:endParaRPr lang="en-US" sz="1100"/>
          </a:p>
        </p:txBody>
      </p:sp>
      <p:sp>
        <p:nvSpPr>
          <p:cNvPr id="5" name="AutoShape 5"/>
          <p:cNvSpPr/>
          <p:nvPr/>
        </p:nvSpPr>
        <p:spPr>
          <a:xfrm>
            <a:off x="762000" y="1651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81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txBox="1"/>
          <p:nvPr/>
        </p:nvSpPr>
        <p:spPr>
          <a:xfrm>
            <a:off x="1016000" y="1981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txBox="1"/>
          <p:nvPr/>
        </p:nvSpPr>
        <p:spPr>
          <a:xfrm>
            <a:off x="1778000" y="1778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算法概览与代码解析</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深入剖析算法设计思想，逐行拆解核心代码逻辑，理解时间与空间复杂度的底层原理。</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3175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505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txBox="1"/>
          <p:nvPr/>
        </p:nvSpPr>
        <p:spPr>
          <a:xfrm>
            <a:off x="1016000" y="3505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txBox="1"/>
          <p:nvPr/>
        </p:nvSpPr>
        <p:spPr>
          <a:xfrm>
            <a:off x="1778000" y="3302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数组问题逐步可视化演示</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通过动态步骤拆解，直观展示数组在算法执行过程中的状态变化，掌握数据流转关键节点。</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699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029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txBox="1"/>
          <p:nvPr/>
        </p:nvSpPr>
        <p:spPr>
          <a:xfrm>
            <a:off x="1016000" y="5029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txBox="1"/>
          <p:nvPr/>
        </p:nvSpPr>
        <p:spPr>
          <a:xfrm>
            <a:off x="1778000" y="4826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Partition 策略对比与优化</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对比传统与改进 Partition 方案，分析不同场景下的效率差异，深入理解分区操作的核心逻辑。</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223000" y="1651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981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txBox="1"/>
          <p:nvPr/>
        </p:nvSpPr>
        <p:spPr>
          <a:xfrm>
            <a:off x="6477000" y="1981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txBox="1"/>
          <p:nvPr/>
        </p:nvSpPr>
        <p:spPr>
          <a:xfrm>
            <a:off x="7239000" y="1778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算法正确性的严谨证明</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运用循环不变式与数学归纳法，从理论层面严格证明算法的完备性与稳定性，消除逻辑漏洞。</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223000" y="3175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3505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txBox="1"/>
          <p:nvPr/>
        </p:nvSpPr>
        <p:spPr>
          <a:xfrm>
            <a:off x="6477000" y="3505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4" name="AutoShape 24"/>
          <p:cNvSpPr txBox="1"/>
          <p:nvPr/>
        </p:nvSpPr>
        <p:spPr>
          <a:xfrm>
            <a:off x="7239000" y="3302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Quicksort 核心逻辑重写</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基于优化后的分区策略，从零重构快速排序核心代码，加深对递归与分治思想的实践理解。</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223000" y="4699000"/>
            <a:ext cx="5207000" cy="1270000"/>
          </a:xfrm>
          <a:prstGeom prst="roundRect">
            <a:avLst>
              <a:gd name="adj" fmla="val 0"/>
            </a:avLst>
          </a:prstGeom>
          <a:solidFill>
            <a:srgbClr val="FFFFFF">
              <a:alpha val="80000"/>
            </a:srgbClr>
          </a:solidFill>
          <a:ln w="12700" cap="flat" cmpd="sng">
            <a:solidFill>
              <a:srgbClr val="15803D">
                <a:alpha val="1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5029200"/>
            <a:ext cx="609600" cy="609600"/>
          </a:xfrm>
          <a:prstGeom prst="ellipse">
            <a:avLst/>
          </a:prstGeom>
          <a:solidFill>
            <a:srgbClr val="15803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txBox="1"/>
          <p:nvPr/>
        </p:nvSpPr>
        <p:spPr>
          <a:xfrm>
            <a:off x="6477000" y="5029200"/>
            <a:ext cx="6096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8" name="AutoShape 28"/>
          <p:cNvSpPr txBox="1"/>
          <p:nvPr/>
        </p:nvSpPr>
        <p:spPr>
          <a:xfrm>
            <a:off x="7239000" y="4826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总结回顾与进阶拓展</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梳理本讲核心知识点，探讨算法在实际工程中的应用场景，延伸思考算法的优化方向与变种。</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3175000" cy="3175000"/>
          </a:xfrm>
          <a:prstGeom prst="ellipse">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 Hoare 划分？</a:t>
            </a:r>
            <a:endParaRPr lang="en-US" sz="1100"/>
          </a:p>
        </p:txBody>
      </p:sp>
      <p:sp>
        <p:nvSpPr>
          <p:cNvPr id="5" name="AutoShape 5"/>
          <p:cNvSpPr txBox="1"/>
          <p:nvPr/>
        </p:nvSpPr>
        <p:spPr>
          <a:xfrm>
            <a:off x="508000" y="1397000"/>
            <a:ext cx="533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 划分由英国计算机科学家 C.R.Hoare 于 1960 年提出，是快速排序的原始划分算法。它通过双向指针扫描实现分区，相比标准的 Lomuto 划分（教材 7.1 节），在处理大规模数据时交换次数更少，效率更高。</a:t>
            </a:r>
            <a:endParaRPr lang="en-US" sz="1100"/>
          </a:p>
        </p:txBody>
      </p:sp>
      <p:sp>
        <p:nvSpPr>
          <p:cNvPr id="6" name="AutoShape 6"/>
          <p:cNvSpPr/>
          <p:nvPr/>
        </p:nvSpPr>
        <p:spPr>
          <a:xfrm>
            <a:off x="508000" y="2603500"/>
            <a:ext cx="5334000" cy="1079500"/>
          </a:xfrm>
          <a:prstGeom prst="roundRect">
            <a:avLst>
              <a:gd name="adj" fmla="val 0"/>
            </a:avLst>
          </a:prstGeom>
          <a:solidFill>
            <a:srgbClr val="D1FAE5">
              <a:alpha val="4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794000"/>
            <a:ext cx="406400" cy="406400"/>
          </a:xfrm>
          <a:prstGeom prst="rect">
            <a:avLst/>
          </a:prstGeom>
        </p:spPr>
      </p:pic>
      <p:sp>
        <p:nvSpPr>
          <p:cNvPr id="8" name="AutoShape 8"/>
          <p:cNvSpPr txBox="1"/>
          <p:nvPr/>
        </p:nvSpPr>
        <p:spPr>
          <a:xfrm>
            <a:off x="1206500" y="26924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01. 枢轴选取：锚定左端点</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选取数组左端点 A[p] 作为枢轴值 x，而非右端点。这一特性决定了其“双向逼近”的指针移动逻辑。</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08000" y="3810000"/>
            <a:ext cx="5334000" cy="1079500"/>
          </a:xfrm>
          <a:prstGeom prst="roundRect">
            <a:avLst>
              <a:gd name="adj" fmla="val 0"/>
            </a:avLst>
          </a:prstGeom>
          <a:solidFill>
            <a:srgbClr val="D1FAE5">
              <a:alpha val="4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000500"/>
            <a:ext cx="406400" cy="406400"/>
          </a:xfrm>
          <a:prstGeom prst="rect">
            <a:avLst/>
          </a:prstGeom>
        </p:spPr>
      </p:pic>
      <p:sp>
        <p:nvSpPr>
          <p:cNvPr id="11" name="AutoShape 11"/>
          <p:cNvSpPr txBox="1"/>
          <p:nvPr/>
        </p:nvSpPr>
        <p:spPr>
          <a:xfrm>
            <a:off x="1206500" y="38989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02. 分区结果：枢轴驻留内部</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返回分割点 j，确保左区 ≤ x、右区 ≥ x。不同于 Lomuto 划分，枢轴元素本身不被单独分离，而是保留在分区内部。</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508000" y="5016500"/>
            <a:ext cx="5334000" cy="1079500"/>
          </a:xfrm>
          <a:prstGeom prst="roundRect">
            <a:avLst>
              <a:gd name="adj" fmla="val 0"/>
            </a:avLst>
          </a:prstGeom>
          <a:solidFill>
            <a:srgbClr val="D1FAE5">
              <a:alpha val="4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207000"/>
            <a:ext cx="406400" cy="406400"/>
          </a:xfrm>
          <a:prstGeom prst="rect">
            <a:avLst/>
          </a:prstGeom>
        </p:spPr>
      </p:pic>
      <p:sp>
        <p:nvSpPr>
          <p:cNvPr id="14" name="AutoShape 14"/>
          <p:cNvSpPr txBox="1"/>
          <p:nvPr/>
        </p:nvSpPr>
        <p:spPr>
          <a:xfrm>
            <a:off x="1206500" y="51054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03. 边界保证：分区绝对非空</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严格满足 p ≤ j &lt; r，确保左右两个分区均非空，有效避免了递归过程中出现空分区导致的栈溢出或逻辑错误。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1651000"/>
            <a:ext cx="5461000" cy="4445000"/>
          </a:xfrm>
          <a:prstGeom prst="roundRect">
            <a:avLst>
              <a:gd name="adj" fmla="val 0"/>
            </a:avLst>
          </a:prstGeom>
          <a:solidFill>
            <a:srgbClr val="FFFFFF">
              <a:alpha val="5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2032000"/>
            <a:ext cx="1587500" cy="1143000"/>
          </a:xfrm>
          <a:prstGeom prst="roundRect">
            <a:avLst>
              <a:gd name="adj" fmla="val 0"/>
            </a:avLst>
          </a:prstGeom>
          <a:solidFill>
            <a:srgbClr val="10B981">
              <a:alpha val="15000"/>
            </a:srgbClr>
          </a:solidFill>
          <a:ln w="25400" cap="flat" cmpd="sng">
            <a:solidFill>
              <a:srgbClr val="10B981">
                <a:alpha val="100000"/>
              </a:srgbClr>
            </a:solidFill>
            <a:prstDash val="solid"/>
            <a:round/>
          </a:ln>
        </p:spPr>
        <p:txBody>
          <a:bodyPr vert="horz" wrap="square" lIns="63500" tIns="63500" rIns="63500" bIns="63500" rtlCol="0" anchor="ctr"/>
          <a:lstStyle/>
          <a:p>
            <a:pPr algn="ctr">
              <a:defRPr/>
            </a:pPr>
          </a:p>
        </p:txBody>
      </p:sp>
      <p:sp>
        <p:nvSpPr>
          <p:cNvPr id="17" name="AutoShape 17"/>
          <p:cNvSpPr txBox="1"/>
          <p:nvPr/>
        </p:nvSpPr>
        <p:spPr>
          <a:xfrm>
            <a:off x="6477000" y="2032000"/>
            <a:ext cx="1587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 x</a:t>
            </a:r>
            <a:endParaRPr lang="en-US" sz="1100"/>
          </a:p>
          <a:p>
            <a:pPr marL="0" indent="0" algn="ctr">
              <a:lnSpc>
                <a:spcPct val="125000"/>
              </a:lnSpc>
            </a:pPr>
            <a:r>
              <a:rPr lang="en-US" sz="1200" b="0" i="0" u="none" strike="noStrike">
                <a:solidFill>
                  <a:srgbClr val="047857">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左分区</a:t>
            </a:r>
            <a:endParaRPr lang="en-US" sz="1200" b="0" i="0" u="none" strike="noStrike">
              <a:solidFill>
                <a:srgbClr val="047857">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128000" y="2032000"/>
            <a:ext cx="1587500" cy="1143000"/>
          </a:xfrm>
          <a:prstGeom prst="roundRect">
            <a:avLst>
              <a:gd name="adj" fmla="val 0"/>
            </a:avLst>
          </a:prstGeom>
          <a:solidFill>
            <a:srgbClr val="F59E0B">
              <a:alpha val="15000"/>
            </a:srgbClr>
          </a:solidFill>
          <a:ln w="25400" cap="flat" cmpd="sng">
            <a:solidFill>
              <a:srgbClr val="F59E0B">
                <a:alpha val="100000"/>
              </a:srgbClr>
            </a:solidFill>
            <a:prstDash val="solid"/>
            <a:round/>
          </a:ln>
        </p:spPr>
        <p:txBody>
          <a:bodyPr vert="horz" wrap="square" lIns="63500" tIns="63500" rIns="63500" bIns="63500" rtlCol="0" anchor="ctr"/>
          <a:lstStyle/>
          <a:p>
            <a:pPr algn="ctr">
              <a:defRPr/>
            </a:pPr>
          </a:p>
        </p:txBody>
      </p:sp>
      <p:sp>
        <p:nvSpPr>
          <p:cNvPr id="19" name="AutoShape 19"/>
          <p:cNvSpPr txBox="1"/>
          <p:nvPr/>
        </p:nvSpPr>
        <p:spPr>
          <a:xfrm>
            <a:off x="8128000" y="2032000"/>
            <a:ext cx="1587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 x</a:t>
            </a:r>
            <a:endParaRPr lang="en-US" sz="1100"/>
          </a:p>
          <a:p>
            <a:pPr marL="0" indent="0" algn="ctr">
              <a:lnSpc>
                <a:spcPct val="125000"/>
              </a:lnSpc>
            </a:pPr>
            <a:r>
              <a:rPr lang="en-US" sz="1200" b="0" i="0" u="none" strike="noStrike">
                <a:solidFill>
                  <a:srgbClr val="B45309">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A[p]</a:t>
            </a:r>
            <a:endParaRPr lang="en-US" sz="1200" b="0" i="0" u="none" strike="noStrike">
              <a:solidFill>
                <a:srgbClr val="B45309">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9779000" y="2032000"/>
            <a:ext cx="1587500" cy="1143000"/>
          </a:xfrm>
          <a:prstGeom prst="roundRect">
            <a:avLst>
              <a:gd name="adj" fmla="val 0"/>
            </a:avLst>
          </a:prstGeom>
          <a:solidFill>
            <a:srgbClr val="F97316">
              <a:alpha val="15000"/>
            </a:srgbClr>
          </a:solidFill>
          <a:ln w="25400" cap="flat" cmpd="sng">
            <a:solidFill>
              <a:srgbClr val="F97316">
                <a:alpha val="100000"/>
              </a:srgbClr>
            </a:solidFill>
            <a:prstDash val="solid"/>
            <a:round/>
          </a:ln>
        </p:spPr>
        <p:txBody>
          <a:bodyPr vert="horz" wrap="square" lIns="63500" tIns="63500" rIns="63500" bIns="63500" rtlCol="0" anchor="ctr"/>
          <a:lstStyle/>
          <a:p>
            <a:pPr algn="ctr">
              <a:defRPr/>
            </a:pPr>
          </a:p>
        </p:txBody>
      </p:sp>
      <p:sp>
        <p:nvSpPr>
          <p:cNvPr id="21" name="AutoShape 21"/>
          <p:cNvSpPr txBox="1"/>
          <p:nvPr/>
        </p:nvSpPr>
        <p:spPr>
          <a:xfrm>
            <a:off x="9779000" y="2032000"/>
            <a:ext cx="1587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 x</a:t>
            </a:r>
            <a:endParaRPr lang="en-US" sz="1100"/>
          </a:p>
          <a:p>
            <a:pPr marL="0" indent="0" algn="ctr">
              <a:lnSpc>
                <a:spcPct val="125000"/>
              </a:lnSpc>
            </a:pPr>
            <a:r>
              <a:rPr lang="en-US" sz="1200" b="0" i="0" u="none" strike="noStrike">
                <a:solidFill>
                  <a:srgbClr val="9A3412">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右分区</a:t>
            </a:r>
            <a:endParaRPr lang="en-US" sz="1200" b="0" i="0" u="none" strike="noStrike">
              <a:solidFill>
                <a:srgbClr val="9A3412">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2" name="Connector 22"/>
          <p:cNvCxnSpPr/>
          <p:nvPr/>
        </p:nvCxnSpPr>
        <p:spPr>
          <a:xfrm rot="-8929">
            <a:off x="6477008" y="3359150"/>
            <a:ext cx="4889500" cy="12700"/>
          </a:xfrm>
          <a:prstGeom prst="straightConnector1">
            <a:avLst/>
          </a:prstGeom>
          <a:solidFill>
            <a:srgbClr val="DEE0E3">
              <a:alpha val="100000"/>
            </a:srgbClr>
          </a:solidFill>
          <a:ln w="12700" cap="flat" cmpd="sng">
            <a:solidFill>
              <a:srgbClr val="9CA3AF">
                <a:alpha val="100000"/>
              </a:srgbClr>
            </a:solidFill>
            <a:prstDash val="dash"/>
            <a:round/>
            <a:headEnd type="none" w="med" len="med"/>
            <a:tailEnd type="none" w="med" len="med"/>
          </a:ln>
        </p:spPr>
      </p:cxnSp>
      <p:sp>
        <p:nvSpPr>
          <p:cNvPr id="23" name="AutoShape 23"/>
          <p:cNvSpPr txBox="1"/>
          <p:nvPr/>
        </p:nvSpPr>
        <p:spPr>
          <a:xfrm>
            <a:off x="6477000" y="3492500"/>
            <a:ext cx="508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返回索引 j，位于左分区末尾，保证 p ≤ j &lt; r</a:t>
            </a:r>
            <a:endParaRPr lang="en-US" sz="1100"/>
          </a:p>
        </p:txBody>
      </p:sp>
      <p:sp>
        <p:nvSpPr>
          <p:cNvPr id="24" name="AutoShape 24"/>
          <p:cNvSpPr/>
          <p:nvPr/>
        </p:nvSpPr>
        <p:spPr>
          <a:xfrm>
            <a:off x="6477000" y="4254500"/>
            <a:ext cx="2540000" cy="1397000"/>
          </a:xfrm>
          <a:prstGeom prst="roundRect">
            <a:avLst>
              <a:gd name="adj" fmla="val 0"/>
            </a:avLst>
          </a:prstGeom>
          <a:solidFill>
            <a:srgbClr val="ECFDF5">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5" name="AutoShape 25"/>
          <p:cNvSpPr txBox="1"/>
          <p:nvPr/>
        </p:nvSpPr>
        <p:spPr>
          <a:xfrm>
            <a:off x="6604000" y="4381500"/>
            <a:ext cx="228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双向扫描机制</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 从左向右找 &gt;x，j 从右向左找 &lt;x，相遇时完成划分，减少交换次数。</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9080500" y="4254500"/>
            <a:ext cx="2540000" cy="1397000"/>
          </a:xfrm>
          <a:prstGeom prst="roundRect">
            <a:avLst>
              <a:gd name="adj" fmla="val 0"/>
            </a:avLst>
          </a:prstGeom>
          <a:solidFill>
            <a:srgbClr val="FFF7ED">
              <a:alpha val="10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p>
        </p:txBody>
      </p:sp>
      <p:sp>
        <p:nvSpPr>
          <p:cNvPr id="27" name="AutoShape 27"/>
          <p:cNvSpPr txBox="1"/>
          <p:nvPr/>
        </p:nvSpPr>
        <p:spPr>
          <a:xfrm>
            <a:off x="9207500" y="4381500"/>
            <a:ext cx="228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性能优势</a:t>
            </a:r>
            <a:endParaRPr lang="en-US" sz="1100"/>
          </a:p>
          <a:p>
            <a:pPr marL="0" indent="0" algn="l">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平均情况下，Hoare 划分的交换次数约为 Lomuto 划分的一半，效率更高。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2E7D3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5080000"/>
            <a:ext cx="3810000" cy="3810000"/>
          </a:xfrm>
          <a:prstGeom prst="ellipse">
            <a:avLst/>
          </a:prstGeom>
          <a:solidFill>
            <a:srgbClr val="F57C0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12121"/>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HOARE-PARTITION 逐行解析</a:t>
            </a:r>
            <a:endParaRPr lang="en-US" sz="1100"/>
          </a:p>
        </p:txBody>
      </p:sp>
      <p:sp>
        <p:nvSpPr>
          <p:cNvPr id="5" name="AutoShape 5"/>
          <p:cNvSpPr/>
          <p:nvPr/>
        </p:nvSpPr>
        <p:spPr>
          <a:xfrm>
            <a:off x="508000" y="1524000"/>
            <a:ext cx="11176000" cy="3683000"/>
          </a:xfrm>
          <a:prstGeom prst="roundRect">
            <a:avLst>
              <a:gd name="adj" fmla="val 0"/>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762000" y="1714500"/>
            <a:ext cx="10668000" cy="342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E7D32"/>
                </a:solidFill>
                <a:latin typeface="Roboto Mono"/>
                <a:ea typeface="Roboto Mono"/>
                <a:cs typeface="Roboto Mono"/>
                <a:sym typeface="Roboto Mono"/>
              </a:rPr>
              <a:t>01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x = A[p] // 选取数组首元素作为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F57C00"/>
                </a:solidFill>
                <a:latin typeface="Roboto Mono"/>
                <a:ea typeface="Roboto Mono"/>
                <a:cs typeface="Roboto Mono"/>
                <a:sym typeface="Roboto Mono"/>
              </a:rPr>
              <a:t>枢轴 (Pivot)</a:t>
            </a:r>
            <a:endParaRPr lang="en-US" sz="1100"/>
          </a:p>
          <a:p>
            <a:pPr marL="0" indent="0" algn="l">
              <a:lnSpc>
                <a:spcPct val="108000"/>
              </a:lnSpc>
            </a:pPr>
            <a:r>
              <a:rPr lang="en-US" sz="1400" b="1" i="0" u="none" strike="noStrike">
                <a:solidFill>
                  <a:srgbClr val="2E7D32"/>
                </a:solidFill>
                <a:latin typeface="Roboto Mono"/>
                <a:ea typeface="Roboto Mono"/>
                <a:cs typeface="Roboto Mono"/>
                <a:sym typeface="Roboto Mono"/>
              </a:rPr>
              <a:t>02</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i = p - 1 // 左指针初始化，置于起始位置左侧</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03</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j = r + 1 // 右指针初始化，置于结束位置右侧</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04</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while TRUE // 开启无限循环，直至指针相遇退出</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05</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repeat // 右指针扫描：向左寻找更小值</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06</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j = j - 1 // 右指针左移一格</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07</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until A[j] ≤ x // 找到右侧第一个</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F57C00"/>
                </a:solidFill>
                <a:latin typeface="Roboto Mono"/>
                <a:ea typeface="Roboto Mono"/>
                <a:cs typeface="Roboto Mono"/>
                <a:sym typeface="Roboto Mono"/>
              </a:rPr>
              <a:t>≤ 枢轴</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的元素</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08</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repeat // 左指针扫描：向右寻找更大值</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09</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i = i + 1 // 左指针右移一格</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10</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until A[i] ≥ x // 找到左侧第一个</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F57C00"/>
                </a:solidFill>
                <a:latin typeface="Roboto Mono"/>
                <a:ea typeface="Roboto Mono"/>
                <a:cs typeface="Roboto Mono"/>
                <a:sym typeface="Roboto Mono"/>
              </a:rPr>
              <a:t>≥ 枢轴</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的元素</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11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if i &lt; j // 若指针未相遇，存在逆序对需交换</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12</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swap A[i] and A[j] // 交换元素，维持分区性质</a:t>
            </a:r>
            <a:endParaRPr lang="en-US" sz="1400" b="0" i="0" u="none" strike="noStrike">
              <a:solidFill>
                <a:srgbClr val="212121"/>
              </a:solidFill>
              <a:latin typeface="Roboto Mono"/>
              <a:ea typeface="Roboto Mono"/>
              <a:cs typeface="Roboto Mono"/>
              <a:sym typeface="Roboto Mono"/>
            </a:endParaRPr>
          </a:p>
          <a:p>
            <a:pPr marL="0" indent="0" algn="l">
              <a:lnSpc>
                <a:spcPct val="108000"/>
              </a:lnSpc>
            </a:pPr>
            <a:r>
              <a:rPr lang="en-US" sz="1400" b="1" i="0" u="none" strike="noStrike">
                <a:solidFill>
                  <a:srgbClr val="2E7D32"/>
                </a:solidFill>
                <a:latin typeface="Roboto Mono"/>
                <a:ea typeface="Roboto Mono"/>
                <a:cs typeface="Roboto Mono"/>
                <a:sym typeface="Roboto Mono"/>
              </a:rPr>
              <a:t>13</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212121"/>
                </a:solidFill>
                <a:latin typeface="Roboto Mono"/>
                <a:ea typeface="Roboto Mono"/>
                <a:cs typeface="Roboto Mono"/>
                <a:sym typeface="Roboto Mono"/>
              </a:rPr>
              <a:t>else return j // 指针相遇，返回分界点 j</a:t>
            </a:r>
            <a:endParaRPr lang="en-US" sz="1400" b="0" i="0" u="none" strike="noStrike">
              <a:solidFill>
                <a:srgbClr val="212121"/>
              </a:solidFill>
              <a:latin typeface="Roboto Mono"/>
              <a:ea typeface="Roboto Mono"/>
              <a:cs typeface="Roboto Mono"/>
              <a:sym typeface="Roboto Mono"/>
            </a:endParaRPr>
          </a:p>
        </p:txBody>
      </p:sp>
      <p:sp>
        <p:nvSpPr>
          <p:cNvPr id="7" name="AutoShape 7"/>
          <p:cNvSpPr/>
          <p:nvPr/>
        </p:nvSpPr>
        <p:spPr>
          <a:xfrm>
            <a:off x="508000" y="5524500"/>
            <a:ext cx="11176000" cy="889000"/>
          </a:xfrm>
          <a:prstGeom prst="roundRect">
            <a:avLst>
              <a:gd name="adj" fmla="val 0"/>
            </a:avLst>
          </a:prstGeom>
          <a:solidFill>
            <a:srgbClr val="E3F2FD">
              <a:alpha val="60000"/>
            </a:srgbClr>
          </a:solidFill>
          <a:ln w="12700" cap="flat" cmpd="sng">
            <a:solidFill>
              <a:srgbClr val="BBDEFB">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816600"/>
            <a:ext cx="304800" cy="304800"/>
          </a:xfrm>
          <a:prstGeom prst="rect">
            <a:avLst/>
          </a:prstGeom>
        </p:spPr>
      </p:pic>
      <p:sp>
        <p:nvSpPr>
          <p:cNvPr id="9" name="AutoShape 9"/>
          <p:cNvSpPr txBox="1"/>
          <p:nvPr/>
        </p:nvSpPr>
        <p:spPr>
          <a:xfrm>
            <a:off x="1206500" y="56896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65C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核心逻辑总结：</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双指针从数组两端向中间交替扫描，寻找违反分区规则的元素对进行交换；当指针相遇时，左侧元素均小于等于枢轴，右侧均大于等于枢轴，此时 j 即为分区的分界点。</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F7F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6EE7B7">
              <a:alpha val="1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6EE7B7">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F855A"/>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 初始状态</a:t>
            </a:r>
            <a:endParaRPr lang="en-US" sz="1100"/>
          </a:p>
        </p:txBody>
      </p:sp>
      <p:sp>
        <p:nvSpPr>
          <p:cNvPr id="5" name="AutoShape 5"/>
          <p:cNvSpPr txBox="1"/>
          <p:nvPr/>
        </p:nvSpPr>
        <p:spPr>
          <a:xfrm>
            <a:off x="508000" y="12700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556B2F"/>
                </a:solidFill>
                <a:latin typeface="Noto Sans SC" panose="020B0200000000000000" charset="-122"/>
                <a:ea typeface="Noto Sans SC" panose="020B0200000000000000" charset="-122"/>
                <a:cs typeface="Noto Sans SC" panose="020B0200000000000000" charset="-122"/>
                <a:sym typeface="Noto Sans SC" panose="020B0200000000000000" charset="-122"/>
              </a:rPr>
              <a:t>待排序数组 A = {13, 19, 9, 5, 12, 8, 7, 4, 11, 2, 6, 21}，区间范围 p=1，r=12</a:t>
            </a:r>
            <a:endParaRPr lang="en-US" sz="1100"/>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8000" y="2476500"/>
            <a:ext cx="406400" cy="406400"/>
          </a:xfrm>
          <a:prstGeom prst="rect">
            <a:avLst/>
          </a:prstGeom>
        </p:spPr>
      </p:pic>
      <p:sp>
        <p:nvSpPr>
          <p:cNvPr id="7" name="AutoShape 7"/>
          <p:cNvSpPr txBox="1"/>
          <p:nvPr/>
        </p:nvSpPr>
        <p:spPr>
          <a:xfrm>
            <a:off x="952500" y="2514600"/>
            <a:ext cx="63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i=0</a:t>
            </a:r>
            <a:endParaRPr lang="en-US" sz="1100"/>
          </a:p>
        </p:txBody>
      </p:sp>
      <p:sp>
        <p:nvSpPr>
          <p:cNvPr id="8" name="AutoShape 8"/>
          <p:cNvSpPr/>
          <p:nvPr/>
        </p:nvSpPr>
        <p:spPr>
          <a:xfrm>
            <a:off x="1651000" y="2413000"/>
            <a:ext cx="762000" cy="762000"/>
          </a:xfrm>
          <a:prstGeom prst="roundRect">
            <a:avLst>
              <a:gd name="adj" fmla="val 0"/>
            </a:avLst>
          </a:prstGeom>
          <a:solidFill>
            <a:srgbClr val="FEF3C7">
              <a:alpha val="100000"/>
            </a:srgbClr>
          </a:solidFill>
          <a:ln w="25400" cap="flat" cmpd="sng">
            <a:solidFill>
              <a:srgbClr val="F59E0B">
                <a:alpha val="100000"/>
              </a:srgbClr>
            </a:solid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endParaRPr lang="en-US" sz="1100"/>
          </a:p>
        </p:txBody>
      </p:sp>
      <p:sp>
        <p:nvSpPr>
          <p:cNvPr id="9" name="AutoShape 9"/>
          <p:cNvSpPr/>
          <p:nvPr/>
        </p:nvSpPr>
        <p:spPr>
          <a:xfrm>
            <a:off x="24765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19</a:t>
            </a:r>
            <a:endParaRPr lang="en-US" sz="1100"/>
          </a:p>
        </p:txBody>
      </p:sp>
      <p:sp>
        <p:nvSpPr>
          <p:cNvPr id="10" name="AutoShape 10"/>
          <p:cNvSpPr/>
          <p:nvPr/>
        </p:nvSpPr>
        <p:spPr>
          <a:xfrm>
            <a:off x="33020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p:txBody>
      </p:sp>
      <p:sp>
        <p:nvSpPr>
          <p:cNvPr id="11" name="AutoShape 11"/>
          <p:cNvSpPr/>
          <p:nvPr/>
        </p:nvSpPr>
        <p:spPr>
          <a:xfrm>
            <a:off x="41275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12" name="AutoShape 12"/>
          <p:cNvSpPr/>
          <p:nvPr/>
        </p:nvSpPr>
        <p:spPr>
          <a:xfrm>
            <a:off x="49530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endParaRPr lang="en-US" sz="1100"/>
          </a:p>
        </p:txBody>
      </p:sp>
      <p:sp>
        <p:nvSpPr>
          <p:cNvPr id="13" name="AutoShape 13"/>
          <p:cNvSpPr/>
          <p:nvPr/>
        </p:nvSpPr>
        <p:spPr>
          <a:xfrm>
            <a:off x="57785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14" name="AutoShape 14"/>
          <p:cNvSpPr/>
          <p:nvPr/>
        </p:nvSpPr>
        <p:spPr>
          <a:xfrm>
            <a:off x="66040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p:txBody>
      </p:sp>
      <p:sp>
        <p:nvSpPr>
          <p:cNvPr id="15" name="AutoShape 15"/>
          <p:cNvSpPr/>
          <p:nvPr/>
        </p:nvSpPr>
        <p:spPr>
          <a:xfrm>
            <a:off x="74295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16" name="AutoShape 16"/>
          <p:cNvSpPr/>
          <p:nvPr/>
        </p:nvSpPr>
        <p:spPr>
          <a:xfrm>
            <a:off x="82550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endParaRPr lang="en-US" sz="1100"/>
          </a:p>
        </p:txBody>
      </p:sp>
      <p:sp>
        <p:nvSpPr>
          <p:cNvPr id="17" name="AutoShape 17"/>
          <p:cNvSpPr/>
          <p:nvPr/>
        </p:nvSpPr>
        <p:spPr>
          <a:xfrm>
            <a:off x="9080500" y="2413000"/>
            <a:ext cx="762000" cy="762000"/>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0" y="2476500"/>
            <a:ext cx="406400" cy="406400"/>
          </a:xfrm>
          <a:prstGeom prst="rect">
            <a:avLst/>
          </a:prstGeom>
        </p:spPr>
      </p:pic>
      <p:sp>
        <p:nvSpPr>
          <p:cNvPr id="19" name="AutoShape 19"/>
          <p:cNvSpPr txBox="1"/>
          <p:nvPr/>
        </p:nvSpPr>
        <p:spPr>
          <a:xfrm>
            <a:off x="10858500" y="2514600"/>
            <a:ext cx="76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j=13</a:t>
            </a:r>
            <a:endParaRPr lang="en-US" sz="1100"/>
          </a:p>
        </p:txBody>
      </p:sp>
      <p:sp>
        <p:nvSpPr>
          <p:cNvPr id="20" name="AutoShape 20"/>
          <p:cNvSpPr txBox="1"/>
          <p:nvPr/>
        </p:nvSpPr>
        <p:spPr>
          <a:xfrm>
            <a:off x="16510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21" name="AutoShape 21"/>
          <p:cNvSpPr txBox="1"/>
          <p:nvPr/>
        </p:nvSpPr>
        <p:spPr>
          <a:xfrm>
            <a:off x="24765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22" name="AutoShape 22"/>
          <p:cNvSpPr txBox="1"/>
          <p:nvPr/>
        </p:nvSpPr>
        <p:spPr>
          <a:xfrm>
            <a:off x="33020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23" name="AutoShape 23"/>
          <p:cNvSpPr txBox="1"/>
          <p:nvPr/>
        </p:nvSpPr>
        <p:spPr>
          <a:xfrm>
            <a:off x="41275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4" name="AutoShape 24"/>
          <p:cNvSpPr txBox="1"/>
          <p:nvPr/>
        </p:nvSpPr>
        <p:spPr>
          <a:xfrm>
            <a:off x="49530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5" name="AutoShape 25"/>
          <p:cNvSpPr txBox="1"/>
          <p:nvPr/>
        </p:nvSpPr>
        <p:spPr>
          <a:xfrm>
            <a:off x="57785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sp>
        <p:nvSpPr>
          <p:cNvPr id="26" name="AutoShape 26"/>
          <p:cNvSpPr txBox="1"/>
          <p:nvPr/>
        </p:nvSpPr>
        <p:spPr>
          <a:xfrm>
            <a:off x="66040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p:txBody>
      </p:sp>
      <p:sp>
        <p:nvSpPr>
          <p:cNvPr id="27" name="AutoShape 27"/>
          <p:cNvSpPr txBox="1"/>
          <p:nvPr/>
        </p:nvSpPr>
        <p:spPr>
          <a:xfrm>
            <a:off x="74295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28" name="AutoShape 28"/>
          <p:cNvSpPr txBox="1"/>
          <p:nvPr/>
        </p:nvSpPr>
        <p:spPr>
          <a:xfrm>
            <a:off x="82550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p:txBody>
      </p:sp>
      <p:sp>
        <p:nvSpPr>
          <p:cNvPr id="29" name="AutoShape 29"/>
          <p:cNvSpPr txBox="1"/>
          <p:nvPr/>
        </p:nvSpPr>
        <p:spPr>
          <a:xfrm>
            <a:off x="9080500" y="3302000"/>
            <a:ext cx="76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endParaRPr lang="en-US" sz="1100"/>
          </a:p>
        </p:txBody>
      </p:sp>
      <p:sp>
        <p:nvSpPr>
          <p:cNvPr id="30" name="AutoShape 30"/>
          <p:cNvSpPr txBox="1"/>
          <p:nvPr/>
        </p:nvSpPr>
        <p:spPr>
          <a:xfrm>
            <a:off x="1651000" y="3746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 枢轴元素：x = 13 (取自 A[1])</a:t>
            </a:r>
            <a:endParaRPr lang="en-US" sz="1100"/>
          </a:p>
        </p:txBody>
      </p:sp>
      <p:cxnSp>
        <p:nvCxnSpPr>
          <p:cNvPr id="31" name="Connector 31"/>
          <p:cNvCxnSpPr/>
          <p:nvPr/>
        </p:nvCxnSpPr>
        <p:spPr>
          <a:xfrm rot="-3906">
            <a:off x="508004" y="4248150"/>
            <a:ext cx="11176000" cy="12700"/>
          </a:xfrm>
          <a:prstGeom prst="straightConnector1">
            <a:avLst/>
          </a:prstGeom>
          <a:solidFill>
            <a:srgbClr val="DEE0E3">
              <a:alpha val="100000"/>
            </a:srgbClr>
          </a:solidFill>
          <a:ln w="12700" cap="flat" cmpd="sng">
            <a:solidFill>
              <a:srgbClr val="2F855A">
                <a:alpha val="20000"/>
              </a:srgbClr>
            </a:solidFill>
            <a:prstDash val="solid"/>
            <a:round/>
            <a:headEnd type="none" w="med" len="med"/>
            <a:tailEnd type="none" w="med" len="med"/>
          </a:ln>
        </p:spPr>
      </p:cxnSp>
      <p:sp>
        <p:nvSpPr>
          <p:cNvPr id="32" name="AutoShape 32"/>
          <p:cNvSpPr/>
          <p:nvPr/>
        </p:nvSpPr>
        <p:spPr>
          <a:xfrm>
            <a:off x="508000" y="4445000"/>
            <a:ext cx="11176000" cy="1841500"/>
          </a:xfrm>
          <a:prstGeom prst="roundRect">
            <a:avLst>
              <a:gd name="adj" fmla="val 0"/>
            </a:avLst>
          </a:prstGeom>
          <a:solidFill>
            <a:srgbClr val="FFFFFF">
              <a:alpha val="60000"/>
            </a:srgbClr>
          </a:solidFill>
          <a:ln w="12700" cap="flat" cmpd="sng">
            <a:solidFill>
              <a:srgbClr val="2F855A">
                <a:alpha val="30000"/>
              </a:srgbClr>
            </a:solidFill>
            <a:prstDash val="solid"/>
            <a:round/>
          </a:ln>
        </p:spPr>
        <p:txBody>
          <a:bodyPr vert="horz" wrap="square" lIns="63500" tIns="63500" rIns="63500" bIns="63500" rtlCol="0" anchor="ctr"/>
          <a:lstStyle/>
          <a:p>
            <a:pPr algn="ctr">
              <a:defRPr/>
            </a:pPr>
          </a:p>
        </p:txBody>
      </p:sp>
      <p:sp>
        <p:nvSpPr>
          <p:cNvPr id="33" name="AutoShape 33"/>
          <p:cNvSpPr txBox="1"/>
          <p:nvPr/>
        </p:nvSpPr>
        <p:spPr>
          <a:xfrm>
            <a:off x="762000" y="4635500"/>
            <a:ext cx="10668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2F855A"/>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初始化关键信息</a:t>
            </a:r>
            <a:endParaRPr lang="en-US" sz="1100"/>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指针位置：左指针 i 初始化为 p-1 = 0（位于数组左边界外），右指针 j 初始化为 r+1 = 13（位于数组右边界外），准备向中间扫描。</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基准设定：选择区间首元素 A[1] = 13 作为分区的基准值（Pivot），后续所有元素将根据与该值的大小关系进行重新排列。</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64E3B"/>
                </a:solidFill>
                <a:latin typeface="黑体" panose="02010609060101010101" charset="-122"/>
                <a:ea typeface="黑体" panose="02010609060101010101" charset="-122"/>
                <a:cs typeface="黑体" panose="02010609060101010101" charset="-122"/>
                <a:sym typeface="黑体" panose="02010609060101010101" charset="-122"/>
              </a:rPr>
              <a:t>问题(a) 第 1 轮迭代</a:t>
            </a:r>
            <a:endParaRPr lang="en-US" sz="1100"/>
          </a:p>
        </p:txBody>
      </p:sp>
      <p:sp>
        <p:nvSpPr>
          <p:cNvPr id="5" name="AutoShape 5"/>
          <p:cNvSpPr/>
          <p:nvPr/>
        </p:nvSpPr>
        <p:spPr>
          <a:xfrm>
            <a:off x="508000" y="1270000"/>
            <a:ext cx="3683000" cy="1524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35000" y="1397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① 右指针 j 左移探查</a:t>
            </a:r>
            <a:endParaRPr lang="en-US" sz="1100"/>
          </a:p>
        </p:txBody>
      </p:sp>
      <p:sp>
        <p:nvSpPr>
          <p:cNvPr id="7" name="AutoShape 7"/>
          <p:cNvSpPr txBox="1"/>
          <p:nvPr/>
        </p:nvSpPr>
        <p:spPr>
          <a:xfrm>
            <a:off x="635000" y="18415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起始 j=12 (A[12]=21≥13)，持续左移；直至 j=11 (A[11]=6≤13)，满足条件停止，锁定交换位置。</a:t>
            </a:r>
            <a:endParaRPr lang="en-US" sz="1100"/>
          </a:p>
        </p:txBody>
      </p:sp>
      <p:sp>
        <p:nvSpPr>
          <p:cNvPr id="8" name="AutoShape 8"/>
          <p:cNvSpPr/>
          <p:nvPr/>
        </p:nvSpPr>
        <p:spPr>
          <a:xfrm>
            <a:off x="4254500" y="1270000"/>
            <a:ext cx="3683000" cy="1524000"/>
          </a:xfrm>
          <a:prstGeom prst="roundRect">
            <a:avLst>
              <a:gd name="adj" fmla="val 0"/>
            </a:avLst>
          </a:prstGeom>
          <a:solidFill>
            <a:srgbClr val="FFFFFF">
              <a:alpha val="60000"/>
            </a:srgbClr>
          </a:solidFill>
          <a:ln w="12700" cap="flat" cmpd="sng">
            <a:solidFill>
              <a:srgbClr val="F97316">
                <a:alpha val="30000"/>
              </a:srgbClr>
            </a:solidFill>
            <a:prstDash val="solid"/>
            <a:round/>
          </a:ln>
        </p:spPr>
        <p:txBody>
          <a:bodyPr vert="horz" wrap="square" lIns="63500" tIns="63500" rIns="63500" bIns="63500" rtlCol="0" anchor="ctr"/>
          <a:lstStyle/>
          <a:p>
            <a:pPr algn="ctr">
              <a:defRPr/>
            </a:pPr>
          </a:p>
        </p:txBody>
      </p:sp>
      <p:sp>
        <p:nvSpPr>
          <p:cNvPr id="9" name="AutoShape 9"/>
          <p:cNvSpPr txBox="1"/>
          <p:nvPr/>
        </p:nvSpPr>
        <p:spPr>
          <a:xfrm>
            <a:off x="4381500" y="1397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② 左指针 i 右移探查</a:t>
            </a:r>
            <a:endParaRPr lang="en-US" sz="1100"/>
          </a:p>
        </p:txBody>
      </p:sp>
      <p:sp>
        <p:nvSpPr>
          <p:cNvPr id="10" name="AutoShape 10"/>
          <p:cNvSpPr txBox="1"/>
          <p:nvPr/>
        </p:nvSpPr>
        <p:spPr>
          <a:xfrm>
            <a:off x="4381500" y="18415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起始 i=1 (A[1]=13≥13)，无需移动即满足停止条件，等待与 j 位置进行数值交换。</a:t>
            </a:r>
            <a:endParaRPr lang="en-US" sz="1100"/>
          </a:p>
        </p:txBody>
      </p:sp>
      <p:sp>
        <p:nvSpPr>
          <p:cNvPr id="11" name="AutoShape 11"/>
          <p:cNvSpPr/>
          <p:nvPr/>
        </p:nvSpPr>
        <p:spPr>
          <a:xfrm>
            <a:off x="8001000" y="1270000"/>
            <a:ext cx="3683000" cy="1524000"/>
          </a:xfrm>
          <a:prstGeom prst="roundRect">
            <a:avLst>
              <a:gd name="adj" fmla="val 0"/>
            </a:avLst>
          </a:prstGeom>
          <a:solidFill>
            <a:srgbClr val="FFFFFF">
              <a:alpha val="6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12" name="AutoShape 12"/>
          <p:cNvSpPr txBox="1"/>
          <p:nvPr/>
        </p:nvSpPr>
        <p:spPr>
          <a:xfrm>
            <a:off x="8128000" y="1397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③ 执行交换操作</a:t>
            </a:r>
            <a:endParaRPr lang="en-US" sz="1100"/>
          </a:p>
        </p:txBody>
      </p:sp>
      <p:sp>
        <p:nvSpPr>
          <p:cNvPr id="13" name="AutoShape 13"/>
          <p:cNvSpPr txBox="1"/>
          <p:nvPr/>
        </p:nvSpPr>
        <p:spPr>
          <a:xfrm>
            <a:off x="8128000" y="18415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判定 i=1 &lt; j=11，执行交换指令：将 A[1] 与 A[11] 的数值互换，完成本轮定位。</a:t>
            </a:r>
            <a:endParaRPr lang="en-US" sz="1100"/>
          </a:p>
        </p:txBody>
      </p:sp>
      <p:sp>
        <p:nvSpPr>
          <p:cNvPr id="14" name="AutoShape 14"/>
          <p:cNvSpPr txBox="1"/>
          <p:nvPr/>
        </p:nvSpPr>
        <p:spPr>
          <a:xfrm>
            <a:off x="508000" y="3175000"/>
            <a:ext cx="1143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交换后数组状态可视化</a:t>
            </a:r>
            <a:endParaRPr lang="en-US" sz="1100"/>
          </a:p>
        </p:txBody>
      </p:sp>
      <p:sp>
        <p:nvSpPr>
          <p:cNvPr id="15" name="AutoShape 15"/>
          <p:cNvSpPr/>
          <p:nvPr/>
        </p:nvSpPr>
        <p:spPr>
          <a:xfrm>
            <a:off x="508000" y="3683000"/>
            <a:ext cx="812800" cy="812800"/>
          </a:xfrm>
          <a:prstGeom prst="roundRect">
            <a:avLst>
              <a:gd name="adj" fmla="val 0"/>
            </a:avLst>
          </a:prstGeom>
          <a:solidFill>
            <a:srgbClr val="10B981">
              <a:alpha val="15000"/>
            </a:srgbClr>
          </a:solidFill>
          <a:ln w="254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sp>
        <p:nvSpPr>
          <p:cNvPr id="16" name="AutoShape 16"/>
          <p:cNvSpPr/>
          <p:nvPr/>
        </p:nvSpPr>
        <p:spPr>
          <a:xfrm>
            <a:off x="14478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19</a:t>
            </a:r>
            <a:endParaRPr lang="en-US" sz="1100"/>
          </a:p>
        </p:txBody>
      </p:sp>
      <p:sp>
        <p:nvSpPr>
          <p:cNvPr id="17" name="AutoShape 17"/>
          <p:cNvSpPr/>
          <p:nvPr/>
        </p:nvSpPr>
        <p:spPr>
          <a:xfrm>
            <a:off x="23876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p:txBody>
      </p:sp>
      <p:sp>
        <p:nvSpPr>
          <p:cNvPr id="18" name="AutoShape 18"/>
          <p:cNvSpPr/>
          <p:nvPr/>
        </p:nvSpPr>
        <p:spPr>
          <a:xfrm>
            <a:off x="33274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19" name="AutoShape 19"/>
          <p:cNvSpPr/>
          <p:nvPr/>
        </p:nvSpPr>
        <p:spPr>
          <a:xfrm>
            <a:off x="42672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endParaRPr lang="en-US" sz="1100"/>
          </a:p>
        </p:txBody>
      </p:sp>
      <p:sp>
        <p:nvSpPr>
          <p:cNvPr id="20" name="AutoShape 20"/>
          <p:cNvSpPr/>
          <p:nvPr/>
        </p:nvSpPr>
        <p:spPr>
          <a:xfrm>
            <a:off x="52070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21" name="AutoShape 21"/>
          <p:cNvSpPr/>
          <p:nvPr/>
        </p:nvSpPr>
        <p:spPr>
          <a:xfrm>
            <a:off x="61468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p:txBody>
      </p:sp>
      <p:sp>
        <p:nvSpPr>
          <p:cNvPr id="22" name="AutoShape 22"/>
          <p:cNvSpPr/>
          <p:nvPr/>
        </p:nvSpPr>
        <p:spPr>
          <a:xfrm>
            <a:off x="70866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3" name="AutoShape 23"/>
          <p:cNvSpPr/>
          <p:nvPr/>
        </p:nvSpPr>
        <p:spPr>
          <a:xfrm>
            <a:off x="80264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endParaRPr lang="en-US" sz="1100"/>
          </a:p>
        </p:txBody>
      </p:sp>
      <p:sp>
        <p:nvSpPr>
          <p:cNvPr id="24" name="AutoShape 24"/>
          <p:cNvSpPr/>
          <p:nvPr/>
        </p:nvSpPr>
        <p:spPr>
          <a:xfrm>
            <a:off x="89662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25" name="AutoShape 25"/>
          <p:cNvSpPr/>
          <p:nvPr/>
        </p:nvSpPr>
        <p:spPr>
          <a:xfrm>
            <a:off x="9906000" y="3683000"/>
            <a:ext cx="812800" cy="812800"/>
          </a:xfrm>
          <a:prstGeom prst="roundRect">
            <a:avLst>
              <a:gd name="adj" fmla="val 0"/>
            </a:avLst>
          </a:prstGeom>
          <a:solidFill>
            <a:srgbClr val="F59E0B">
              <a:alpha val="15000"/>
            </a:srgbClr>
          </a:solidFill>
          <a:ln w="25400" cap="flat" cmpd="sng">
            <a:solidFill>
              <a:srgbClr val="F59E0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endParaRPr lang="en-US" sz="1100"/>
          </a:p>
        </p:txBody>
      </p:sp>
      <p:sp>
        <p:nvSpPr>
          <p:cNvPr id="26" name="AutoShape 26"/>
          <p:cNvSpPr/>
          <p:nvPr/>
        </p:nvSpPr>
        <p:spPr>
          <a:xfrm>
            <a:off x="10845800" y="3683000"/>
            <a:ext cx="812800" cy="812800"/>
          </a:xfrm>
          <a:prstGeom prst="roundRect">
            <a:avLst>
              <a:gd name="adj" fmla="val 0"/>
            </a:avLst>
          </a:prstGeom>
          <a:solidFill>
            <a:srgbClr val="FFFFFF">
              <a:alpha val="8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21</a:t>
            </a:r>
            <a:endParaRPr lang="en-US" sz="1100"/>
          </a:p>
        </p:txBody>
      </p:sp>
      <p:sp>
        <p:nvSpPr>
          <p:cNvPr id="27" name="AutoShape 27"/>
          <p:cNvSpPr/>
          <p:nvPr/>
        </p:nvSpPr>
        <p:spPr>
          <a:xfrm>
            <a:off x="508000" y="4699000"/>
            <a:ext cx="812800" cy="508000"/>
          </a:xfrm>
          <a:prstGeom prst="roundRect">
            <a:avLst>
              <a:gd name="adj" fmla="val 0"/>
            </a:avLst>
          </a:prstGeom>
          <a:solidFill>
            <a:srgbClr val="10B981">
              <a:alpha val="1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i=1</a:t>
            </a:r>
            <a:endParaRPr lang="en-US" sz="1100"/>
          </a:p>
        </p:txBody>
      </p:sp>
      <p:sp>
        <p:nvSpPr>
          <p:cNvPr id="28" name="AutoShape 28"/>
          <p:cNvSpPr/>
          <p:nvPr/>
        </p:nvSpPr>
        <p:spPr>
          <a:xfrm>
            <a:off x="9906000" y="4699000"/>
            <a:ext cx="812800" cy="508000"/>
          </a:xfrm>
          <a:prstGeom prst="roundRect">
            <a:avLst>
              <a:gd name="adj" fmla="val 0"/>
            </a:avLst>
          </a:prstGeom>
          <a:solidFill>
            <a:srgbClr val="F59E0B">
              <a:alpha val="1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 j=11</a:t>
            </a:r>
            <a:endParaRPr lang="en-US" sz="1100"/>
          </a:p>
        </p:txBody>
      </p:sp>
      <p:sp>
        <p:nvSpPr>
          <p:cNvPr id="29" name="AutoShape 29"/>
          <p:cNvSpPr/>
          <p:nvPr/>
        </p:nvSpPr>
        <p:spPr>
          <a:xfrm>
            <a:off x="508000" y="5588000"/>
            <a:ext cx="11176000" cy="762000"/>
          </a:xfrm>
          <a:prstGeom prst="roundRect">
            <a:avLst>
              <a:gd name="adj" fmla="val 0"/>
            </a:avLst>
          </a:prstGeom>
          <a:solidFill>
            <a:srgbClr val="064E3B">
              <a:alpha val="8000"/>
            </a:srgbClr>
          </a:solidFill>
          <a:ln w="12700" cap="flat" cmpd="sng">
            <a:solidFill>
              <a:srgbClr val="064E3B">
                <a:alpha val="20000"/>
              </a:srgbClr>
            </a:solidFill>
            <a:prstDash val="solid"/>
            <a:round/>
          </a:ln>
        </p:spPr>
        <p:txBody>
          <a:bodyPr vert="horz" wrap="square" lIns="63500" tIns="63500" rIns="63500" bIns="63500" rtlCol="0" anchor="ctr"/>
          <a:lstStyle/>
          <a:p>
            <a:pPr algn="ctr">
              <a:defRPr/>
            </a:pPr>
          </a:p>
        </p:txBody>
      </p:sp>
      <p:sp>
        <p:nvSpPr>
          <p:cNvPr id="30" name="AutoShape 30"/>
          <p:cNvSpPr txBox="1"/>
          <p:nvPr/>
        </p:nvSpPr>
        <p:spPr>
          <a:xfrm>
            <a:off x="635000" y="5715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本轮迭代成果：</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交换完成后，指针 i=1，j=11，基准值 13 已成功移动到数组的第 11 位，完成了第一轮的快速排序分割，为后续的递归排序奠定了基础。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5080000"/>
            <a:ext cx="3175000" cy="3175000"/>
          </a:xfrm>
          <a:prstGeom prst="ellipse">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64E3B"/>
                </a:solidFill>
                <a:latin typeface="黑体" panose="02010609060101010101" charset="-122"/>
                <a:ea typeface="黑体" panose="02010609060101010101" charset="-122"/>
                <a:cs typeface="黑体" panose="02010609060101010101" charset="-122"/>
                <a:sym typeface="黑体" panose="02010609060101010101" charset="-122"/>
              </a:rPr>
              <a:t>问题(a) 第 2 轮迭代</a:t>
            </a:r>
            <a:endParaRPr lang="en-US" sz="1100"/>
          </a:p>
        </p:txBody>
      </p:sp>
      <p:sp>
        <p:nvSpPr>
          <p:cNvPr id="5" name="AutoShape 5"/>
          <p:cNvSpPr/>
          <p:nvPr/>
        </p:nvSpPr>
        <p:spPr>
          <a:xfrm>
            <a:off x="508000" y="1270000"/>
            <a:ext cx="3556000" cy="13970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35000" y="1397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指针 j 左移</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j 从右端向左扫描，至 j=10 时，A[10]=2 ≤ 枢轴值13，停止移动，等待交换条件。</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318000" y="1270000"/>
            <a:ext cx="3556000" cy="1397000"/>
          </a:xfrm>
          <a:prstGeom prst="roundRect">
            <a:avLst>
              <a:gd name="adj" fmla="val 0"/>
            </a:avLst>
          </a:prstGeom>
          <a:solidFill>
            <a:srgbClr val="FFFFFF">
              <a:alpha val="70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p>
        </p:txBody>
      </p:sp>
      <p:sp>
        <p:nvSpPr>
          <p:cNvPr id="8" name="AutoShape 8"/>
          <p:cNvSpPr txBox="1"/>
          <p:nvPr/>
        </p:nvSpPr>
        <p:spPr>
          <a:xfrm>
            <a:off x="4445000" y="1397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02 指针 i 右移</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 从左端向右扫描，至 i=2 时，A[2]=19 ≥ 枢轴值13，停止移动，触发交换条件。</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8128000" y="1270000"/>
            <a:ext cx="3556000" cy="1397000"/>
          </a:xfrm>
          <a:prstGeom prst="roundRect">
            <a:avLst>
              <a:gd name="adj" fmla="val 0"/>
            </a:avLst>
          </a:prstGeom>
          <a:solidFill>
            <a:srgbClr val="FFFFFF">
              <a:alpha val="7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10" name="AutoShape 10"/>
          <p:cNvSpPr txBox="1"/>
          <p:nvPr/>
        </p:nvSpPr>
        <p:spPr>
          <a:xfrm>
            <a:off x="8255000" y="1397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执行交换操作</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 i=2 &lt; j=10，执行交换 A[2] 与 A[10] 的值，完成本轮数据交换。</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txBox="1"/>
          <p:nvPr/>
        </p:nvSpPr>
        <p:spPr>
          <a:xfrm>
            <a:off x="508000" y="2921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5F46"/>
                </a:solidFill>
                <a:latin typeface="黑体" panose="02010609060101010101" charset="-122"/>
                <a:ea typeface="黑体" panose="02010609060101010101" charset="-122"/>
                <a:cs typeface="黑体" panose="02010609060101010101" charset="-122"/>
                <a:sym typeface="黑体" panose="02010609060101010101" charset="-122"/>
              </a:rPr>
              <a:t>交换后数组状态展示</a:t>
            </a:r>
            <a:endParaRPr lang="en-US" sz="1100"/>
          </a:p>
        </p:txBody>
      </p:sp>
      <p:sp>
        <p:nvSpPr>
          <p:cNvPr id="12" name="AutoShape 12"/>
          <p:cNvSpPr/>
          <p:nvPr/>
        </p:nvSpPr>
        <p:spPr>
          <a:xfrm>
            <a:off x="5080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sp>
        <p:nvSpPr>
          <p:cNvPr id="13" name="AutoShape 13"/>
          <p:cNvSpPr/>
          <p:nvPr/>
        </p:nvSpPr>
        <p:spPr>
          <a:xfrm>
            <a:off x="1460500" y="3429000"/>
            <a:ext cx="825500" cy="762000"/>
          </a:xfrm>
          <a:prstGeom prst="roundRect">
            <a:avLst>
              <a:gd name="adj" fmla="val 0"/>
            </a:avLst>
          </a:prstGeom>
          <a:solidFill>
            <a:srgbClr val="D1FAE5">
              <a:alpha val="100000"/>
            </a:srgbClr>
          </a:solidFill>
          <a:ln w="25400" cap="flat" cmpd="sng">
            <a:solidFill>
              <a:srgbClr val="10B981">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nvSpPr>
        <p:spPr>
          <a:xfrm>
            <a:off x="24130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p:txBody>
      </p:sp>
      <p:sp>
        <p:nvSpPr>
          <p:cNvPr id="15" name="AutoShape 15"/>
          <p:cNvSpPr/>
          <p:nvPr/>
        </p:nvSpPr>
        <p:spPr>
          <a:xfrm>
            <a:off x="33655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16" name="AutoShape 16"/>
          <p:cNvSpPr/>
          <p:nvPr/>
        </p:nvSpPr>
        <p:spPr>
          <a:xfrm>
            <a:off x="43180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endParaRPr lang="en-US" sz="1100"/>
          </a:p>
        </p:txBody>
      </p:sp>
      <p:sp>
        <p:nvSpPr>
          <p:cNvPr id="17" name="AutoShape 17"/>
          <p:cNvSpPr/>
          <p:nvPr/>
        </p:nvSpPr>
        <p:spPr>
          <a:xfrm>
            <a:off x="52705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18" name="AutoShape 18"/>
          <p:cNvSpPr/>
          <p:nvPr/>
        </p:nvSpPr>
        <p:spPr>
          <a:xfrm>
            <a:off x="62230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p:txBody>
      </p:sp>
      <p:sp>
        <p:nvSpPr>
          <p:cNvPr id="19" name="AutoShape 19"/>
          <p:cNvSpPr/>
          <p:nvPr/>
        </p:nvSpPr>
        <p:spPr>
          <a:xfrm>
            <a:off x="71755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0" name="AutoShape 20"/>
          <p:cNvSpPr/>
          <p:nvPr/>
        </p:nvSpPr>
        <p:spPr>
          <a:xfrm>
            <a:off x="81280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endParaRPr lang="en-US" sz="1100"/>
          </a:p>
        </p:txBody>
      </p:sp>
      <p:sp>
        <p:nvSpPr>
          <p:cNvPr id="21" name="AutoShape 21"/>
          <p:cNvSpPr/>
          <p:nvPr/>
        </p:nvSpPr>
        <p:spPr>
          <a:xfrm>
            <a:off x="9080500" y="3429000"/>
            <a:ext cx="825500" cy="762000"/>
          </a:xfrm>
          <a:prstGeom prst="roundRect">
            <a:avLst>
              <a:gd name="adj" fmla="val 0"/>
            </a:avLst>
          </a:prstGeom>
          <a:solidFill>
            <a:srgbClr val="FEF3C7">
              <a:alpha val="100000"/>
            </a:srgbClr>
          </a:solidFill>
          <a:ln w="25400" cap="flat" cmpd="sng">
            <a:solidFill>
              <a:srgbClr val="F59E0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19</a:t>
            </a:r>
            <a:endParaRPr lang="en-US" sz="1100"/>
          </a:p>
        </p:txBody>
      </p:sp>
      <p:sp>
        <p:nvSpPr>
          <p:cNvPr id="22" name="AutoShape 22"/>
          <p:cNvSpPr/>
          <p:nvPr/>
        </p:nvSpPr>
        <p:spPr>
          <a:xfrm>
            <a:off x="10033000" y="3429000"/>
            <a:ext cx="825500" cy="762000"/>
          </a:xfrm>
          <a:prstGeom prst="roundRect">
            <a:avLst>
              <a:gd name="adj" fmla="val 0"/>
            </a:avLst>
          </a:prstGeom>
          <a:solidFill>
            <a:srgbClr val="FDE68A">
              <a:alpha val="100000"/>
            </a:srgbClr>
          </a:solidFill>
          <a:ln w="25400" cap="flat" cmpd="sng">
            <a:solidFill>
              <a:srgbClr val="F59E0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endParaRPr lang="en-US" sz="1100"/>
          </a:p>
        </p:txBody>
      </p:sp>
      <p:sp>
        <p:nvSpPr>
          <p:cNvPr id="23" name="AutoShape 23"/>
          <p:cNvSpPr/>
          <p:nvPr/>
        </p:nvSpPr>
        <p:spPr>
          <a:xfrm>
            <a:off x="10985500" y="3429000"/>
            <a:ext cx="825500" cy="762000"/>
          </a:xfrm>
          <a:prstGeom prst="roundRect">
            <a:avLst>
              <a:gd name="adj" fmla="val 0"/>
            </a:avLst>
          </a:prstGeom>
          <a:solidFill>
            <a:srgbClr val="FFFFFF">
              <a:alpha val="6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21</a:t>
            </a:r>
            <a:endParaRPr lang="en-US" sz="1100"/>
          </a:p>
        </p:txBody>
      </p:sp>
      <p:sp>
        <p:nvSpPr>
          <p:cNvPr id="24" name="AutoShape 24"/>
          <p:cNvSpPr/>
          <p:nvPr/>
        </p:nvSpPr>
        <p:spPr>
          <a:xfrm>
            <a:off x="1676400" y="4318000"/>
            <a:ext cx="381000" cy="317500"/>
          </a:xfrm>
          <a:prstGeom prst="downArrow">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txBox="1"/>
          <p:nvPr/>
        </p:nvSpPr>
        <p:spPr>
          <a:xfrm>
            <a:off x="1460500" y="4699000"/>
            <a:ext cx="825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i=2</a:t>
            </a:r>
            <a:endParaRPr lang="en-US" sz="1100"/>
          </a:p>
        </p:txBody>
      </p:sp>
      <p:sp>
        <p:nvSpPr>
          <p:cNvPr id="26" name="AutoShape 26"/>
          <p:cNvSpPr/>
          <p:nvPr/>
        </p:nvSpPr>
        <p:spPr>
          <a:xfrm>
            <a:off x="9296400" y="4318000"/>
            <a:ext cx="381000" cy="317500"/>
          </a:xfrm>
          <a:prstGeom prst="downArrow">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txBox="1"/>
          <p:nvPr/>
        </p:nvSpPr>
        <p:spPr>
          <a:xfrm>
            <a:off x="9080500" y="4699000"/>
            <a:ext cx="825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j=10</a:t>
            </a:r>
            <a:endParaRPr lang="en-US" sz="1100"/>
          </a:p>
        </p:txBody>
      </p:sp>
      <p:sp>
        <p:nvSpPr>
          <p:cNvPr id="28" name="AutoShape 28"/>
          <p:cNvSpPr txBox="1"/>
          <p:nvPr/>
        </p:nvSpPr>
        <p:spPr>
          <a:xfrm>
            <a:off x="10033000" y="4699000"/>
            <a:ext cx="825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a:t>
            </a:r>
            <a:endParaRPr lang="en-US" sz="1100"/>
          </a:p>
        </p:txBody>
      </p:sp>
      <p:sp>
        <p:nvSpPr>
          <p:cNvPr id="29" name="AutoShape 29"/>
          <p:cNvSpPr/>
          <p:nvPr/>
        </p:nvSpPr>
        <p:spPr>
          <a:xfrm>
            <a:off x="508000" y="5461000"/>
            <a:ext cx="11176000" cy="952500"/>
          </a:xfrm>
          <a:prstGeom prst="roundRect">
            <a:avLst>
              <a:gd name="adj" fmla="val 0"/>
            </a:avLst>
          </a:prstGeom>
          <a:solidFill>
            <a:srgbClr val="A7F3D0">
              <a:alpha val="30000"/>
            </a:srgbClr>
          </a:solidFill>
          <a:ln w="12700" cap="flat" cmpd="sng">
            <a:solidFill>
              <a:srgbClr val="059669">
                <a:alpha val="20000"/>
              </a:srgbClr>
            </a:solidFill>
            <a:prstDash val="solid"/>
            <a:round/>
          </a:ln>
        </p:spPr>
        <p:txBody>
          <a:bodyPr vert="horz" wrap="square" lIns="63500" tIns="63500" rIns="63500" bIns="63500" rtlCol="0" anchor="ctr"/>
          <a:lstStyle/>
          <a:p>
            <a:pPr algn="ctr">
              <a:defRPr/>
            </a:pPr>
          </a:p>
        </p:txBody>
      </p:sp>
      <p:sp>
        <p:nvSpPr>
          <p:cNvPr id="30" name="AutoShape 30"/>
          <p:cNvSpPr txBox="1"/>
          <p:nvPr/>
        </p:nvSpPr>
        <p:spPr>
          <a:xfrm>
            <a:off x="635000" y="5562600"/>
            <a:ext cx="1092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迭代总结：</a:t>
            </a: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本轮交换完成后，数组状态更新为 {6,2,9,5,12,8,7,4,11,19,13,21}。左指针 i 停留在索引 2，右指针 j 停留在索引 10，由于 i &lt; j，算法将继续进行下一轮的指针移动与数据交换，直至 i ≥ j 时结束本轮分区。</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 第 3 轮迭代与终止</a:t>
            </a:r>
            <a:endParaRPr lang="en-US" sz="1100"/>
          </a:p>
        </p:txBody>
      </p:sp>
      <p:sp>
        <p:nvSpPr>
          <p:cNvPr id="5" name="AutoShape 5"/>
          <p:cNvSpPr/>
          <p:nvPr/>
        </p:nvSpPr>
        <p:spPr>
          <a:xfrm>
            <a:off x="381000" y="1270000"/>
            <a:ext cx="3556000" cy="1651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508000" y="1397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01. j 指针左移终止</a:t>
            </a:r>
            <a:endParaRPr lang="en-US" sz="1100"/>
          </a:p>
        </p:txBody>
      </p:sp>
      <p:sp>
        <p:nvSpPr>
          <p:cNvPr id="7" name="AutoShape 7"/>
          <p:cNvSpPr txBox="1"/>
          <p:nvPr/>
        </p:nvSpPr>
        <p:spPr>
          <a:xfrm>
            <a:off x="508000" y="18415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 j=9，对应元素 A[9]=11。由于 11 ≤ 13，满足条件，停止左移操作，j 保持为 9。</a:t>
            </a:r>
            <a:endParaRPr lang="en-US" sz="1100"/>
          </a:p>
        </p:txBody>
      </p:sp>
      <p:sp>
        <p:nvSpPr>
          <p:cNvPr id="8" name="AutoShape 8"/>
          <p:cNvSpPr/>
          <p:nvPr/>
        </p:nvSpPr>
        <p:spPr>
          <a:xfrm>
            <a:off x="4318000" y="1270000"/>
            <a:ext cx="3556000" cy="1651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9" name="AutoShape 9"/>
          <p:cNvSpPr txBox="1"/>
          <p:nvPr/>
        </p:nvSpPr>
        <p:spPr>
          <a:xfrm>
            <a:off x="4445000" y="1397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02. i 指针连续右移</a:t>
            </a:r>
            <a:endParaRPr lang="en-US" sz="1100"/>
          </a:p>
        </p:txBody>
      </p:sp>
      <p:sp>
        <p:nvSpPr>
          <p:cNvPr id="10" name="AutoShape 10"/>
          <p:cNvSpPr txBox="1"/>
          <p:nvPr/>
        </p:nvSpPr>
        <p:spPr>
          <a:xfrm>
            <a:off x="4445000" y="18415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 i=3 开始持续右移，依次经过 5, 12, 8, 7, 4, 11，直到 i=10（元素 19 ≥ 13）时停止，此时 i=10。</a:t>
            </a:r>
            <a:endParaRPr lang="en-US" sz="1100"/>
          </a:p>
        </p:txBody>
      </p:sp>
      <p:sp>
        <p:nvSpPr>
          <p:cNvPr id="11" name="AutoShape 11"/>
          <p:cNvSpPr/>
          <p:nvPr/>
        </p:nvSpPr>
        <p:spPr>
          <a:xfrm>
            <a:off x="8255000" y="1270000"/>
            <a:ext cx="3556000" cy="16510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2" name="AutoShape 12"/>
          <p:cNvSpPr txBox="1"/>
          <p:nvPr/>
        </p:nvSpPr>
        <p:spPr>
          <a:xfrm>
            <a:off x="8382000" y="1397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03. 循环终止判定</a:t>
            </a:r>
            <a:endParaRPr lang="en-US" sz="1100"/>
          </a:p>
        </p:txBody>
      </p:sp>
      <p:sp>
        <p:nvSpPr>
          <p:cNvPr id="13" name="AutoShape 13"/>
          <p:cNvSpPr txBox="1"/>
          <p:nvPr/>
        </p:nvSpPr>
        <p:spPr>
          <a:xfrm>
            <a:off x="8382000" y="18415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此时 i=10，j=9，满足 i &gt; j 的终止条件，双指针遍历结束，标志着本轮迭代完成。</a:t>
            </a:r>
            <a:endParaRPr lang="en-US" sz="1100"/>
          </a:p>
        </p:txBody>
      </p:sp>
      <p:sp>
        <p:nvSpPr>
          <p:cNvPr id="14" name="AutoShape 14"/>
          <p:cNvSpPr txBox="1"/>
          <p:nvPr/>
        </p:nvSpPr>
        <p:spPr>
          <a:xfrm>
            <a:off x="381000" y="3238500"/>
            <a:ext cx="1143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当前数组状态与指针位置示意：</a:t>
            </a:r>
            <a:endParaRPr lang="en-US" sz="1100"/>
          </a:p>
        </p:txBody>
      </p:sp>
      <p:sp>
        <p:nvSpPr>
          <p:cNvPr id="15" name="AutoShape 15"/>
          <p:cNvSpPr/>
          <p:nvPr/>
        </p:nvSpPr>
        <p:spPr>
          <a:xfrm>
            <a:off x="381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6" name="AutoShape 16"/>
          <p:cNvSpPr txBox="1"/>
          <p:nvPr/>
        </p:nvSpPr>
        <p:spPr>
          <a:xfrm>
            <a:off x="381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p:txBody>
      </p:sp>
      <p:sp>
        <p:nvSpPr>
          <p:cNvPr id="17" name="AutoShape 17"/>
          <p:cNvSpPr/>
          <p:nvPr/>
        </p:nvSpPr>
        <p:spPr>
          <a:xfrm>
            <a:off x="1270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8" name="AutoShape 18"/>
          <p:cNvSpPr txBox="1"/>
          <p:nvPr/>
        </p:nvSpPr>
        <p:spPr>
          <a:xfrm>
            <a:off x="1270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9" name="AutoShape 19"/>
          <p:cNvSpPr/>
          <p:nvPr/>
        </p:nvSpPr>
        <p:spPr>
          <a:xfrm>
            <a:off x="2159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0" name="AutoShape 20"/>
          <p:cNvSpPr txBox="1"/>
          <p:nvPr/>
        </p:nvSpPr>
        <p:spPr>
          <a:xfrm>
            <a:off x="2159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p:txBody>
      </p:sp>
      <p:sp>
        <p:nvSpPr>
          <p:cNvPr id="21" name="AutoShape 21"/>
          <p:cNvSpPr/>
          <p:nvPr/>
        </p:nvSpPr>
        <p:spPr>
          <a:xfrm>
            <a:off x="3048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2" name="AutoShape 22"/>
          <p:cNvSpPr txBox="1"/>
          <p:nvPr/>
        </p:nvSpPr>
        <p:spPr>
          <a:xfrm>
            <a:off x="3048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3" name="AutoShape 23"/>
          <p:cNvSpPr/>
          <p:nvPr/>
        </p:nvSpPr>
        <p:spPr>
          <a:xfrm>
            <a:off x="3937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4" name="AutoShape 24"/>
          <p:cNvSpPr txBox="1"/>
          <p:nvPr/>
        </p:nvSpPr>
        <p:spPr>
          <a:xfrm>
            <a:off x="3937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12</a:t>
            </a:r>
            <a:endParaRPr lang="en-US" sz="1100"/>
          </a:p>
        </p:txBody>
      </p:sp>
      <p:sp>
        <p:nvSpPr>
          <p:cNvPr id="25" name="AutoShape 25"/>
          <p:cNvSpPr/>
          <p:nvPr/>
        </p:nvSpPr>
        <p:spPr>
          <a:xfrm>
            <a:off x="4826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6" name="AutoShape 26"/>
          <p:cNvSpPr txBox="1"/>
          <p:nvPr/>
        </p:nvSpPr>
        <p:spPr>
          <a:xfrm>
            <a:off x="4826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p:txBody>
      </p:sp>
      <p:sp>
        <p:nvSpPr>
          <p:cNvPr id="27" name="AutoShape 27"/>
          <p:cNvSpPr/>
          <p:nvPr/>
        </p:nvSpPr>
        <p:spPr>
          <a:xfrm>
            <a:off x="5715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8" name="AutoShape 28"/>
          <p:cNvSpPr txBox="1"/>
          <p:nvPr/>
        </p:nvSpPr>
        <p:spPr>
          <a:xfrm>
            <a:off x="5715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p:txBody>
      </p:sp>
      <p:sp>
        <p:nvSpPr>
          <p:cNvPr id="29" name="AutoShape 29"/>
          <p:cNvSpPr/>
          <p:nvPr/>
        </p:nvSpPr>
        <p:spPr>
          <a:xfrm>
            <a:off x="6604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30" name="AutoShape 30"/>
          <p:cNvSpPr txBox="1"/>
          <p:nvPr/>
        </p:nvSpPr>
        <p:spPr>
          <a:xfrm>
            <a:off x="6604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31" name="AutoShape 31"/>
          <p:cNvSpPr/>
          <p:nvPr/>
        </p:nvSpPr>
        <p:spPr>
          <a:xfrm>
            <a:off x="7493000" y="3810000"/>
            <a:ext cx="787400" cy="825500"/>
          </a:xfrm>
          <a:prstGeom prst="roundRect">
            <a:avLst>
              <a:gd name="adj" fmla="val 0"/>
            </a:avLst>
          </a:prstGeom>
          <a:solidFill>
            <a:srgbClr val="FFEDD5">
              <a:alpha val="50000"/>
            </a:srgbClr>
          </a:solidFill>
          <a:ln w="25400" cap="flat" cmpd="sng">
            <a:solidFill>
              <a:srgbClr val="F59E0B">
                <a:alpha val="100000"/>
              </a:srgbClr>
            </a:solidFill>
            <a:prstDash val="solid"/>
            <a:round/>
          </a:ln>
        </p:spPr>
        <p:txBody>
          <a:bodyPr vert="horz" wrap="square" lIns="63500" tIns="63500" rIns="63500" bIns="63500" rtlCol="0" anchor="ctr"/>
          <a:lstStyle/>
          <a:p>
            <a:pPr algn="ctr">
              <a:defRPr/>
            </a:pPr>
          </a:p>
        </p:txBody>
      </p:sp>
      <p:sp>
        <p:nvSpPr>
          <p:cNvPr id="32" name="AutoShape 32"/>
          <p:cNvSpPr txBox="1"/>
          <p:nvPr/>
        </p:nvSpPr>
        <p:spPr>
          <a:xfrm>
            <a:off x="7493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endParaRPr lang="en-US" sz="1100"/>
          </a:p>
        </p:txBody>
      </p:sp>
      <p:sp>
        <p:nvSpPr>
          <p:cNvPr id="33" name="AutoShape 33"/>
          <p:cNvSpPr/>
          <p:nvPr/>
        </p:nvSpPr>
        <p:spPr>
          <a:xfrm>
            <a:off x="8382000" y="3810000"/>
            <a:ext cx="787400" cy="825500"/>
          </a:xfrm>
          <a:prstGeom prst="roundRect">
            <a:avLst>
              <a:gd name="adj" fmla="val 0"/>
            </a:avLst>
          </a:prstGeom>
          <a:solidFill>
            <a:srgbClr val="D1FAE5">
              <a:alpha val="50000"/>
            </a:srgbClr>
          </a:solidFill>
          <a:ln w="25400" cap="flat" cmpd="sng">
            <a:solidFill>
              <a:srgbClr val="10B981">
                <a:alpha val="100000"/>
              </a:srgbClr>
            </a:solidFill>
            <a:prstDash val="solid"/>
            <a:round/>
          </a:ln>
        </p:spPr>
        <p:txBody>
          <a:bodyPr vert="horz" wrap="square" lIns="63500" tIns="63500" rIns="63500" bIns="63500" rtlCol="0" anchor="ctr"/>
          <a:lstStyle/>
          <a:p>
            <a:pPr algn="ctr">
              <a:defRPr/>
            </a:pPr>
          </a:p>
        </p:txBody>
      </p:sp>
      <p:sp>
        <p:nvSpPr>
          <p:cNvPr id="34" name="AutoShape 34"/>
          <p:cNvSpPr txBox="1"/>
          <p:nvPr/>
        </p:nvSpPr>
        <p:spPr>
          <a:xfrm>
            <a:off x="8382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19</a:t>
            </a:r>
            <a:endParaRPr lang="en-US" sz="1100"/>
          </a:p>
        </p:txBody>
      </p:sp>
      <p:sp>
        <p:nvSpPr>
          <p:cNvPr id="35" name="AutoShape 35"/>
          <p:cNvSpPr/>
          <p:nvPr/>
        </p:nvSpPr>
        <p:spPr>
          <a:xfrm>
            <a:off x="9271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36" name="AutoShape 36"/>
          <p:cNvSpPr txBox="1"/>
          <p:nvPr/>
        </p:nvSpPr>
        <p:spPr>
          <a:xfrm>
            <a:off x="9271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13</a:t>
            </a:r>
            <a:endParaRPr lang="en-US" sz="1100"/>
          </a:p>
        </p:txBody>
      </p:sp>
      <p:sp>
        <p:nvSpPr>
          <p:cNvPr id="37" name="AutoShape 37"/>
          <p:cNvSpPr/>
          <p:nvPr/>
        </p:nvSpPr>
        <p:spPr>
          <a:xfrm>
            <a:off x="10160000" y="3810000"/>
            <a:ext cx="787400" cy="825500"/>
          </a:xfrm>
          <a:prstGeom prst="roundRect">
            <a:avLst>
              <a:gd name="adj" fmla="val 0"/>
            </a:avLst>
          </a:prstGeom>
          <a:solidFill>
            <a:srgbClr val="FFFFFF">
              <a:alpha val="9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38" name="AutoShape 38"/>
          <p:cNvSpPr txBox="1"/>
          <p:nvPr/>
        </p:nvSpPr>
        <p:spPr>
          <a:xfrm>
            <a:off x="10160000" y="3810000"/>
            <a:ext cx="7874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21</a:t>
            </a:r>
            <a:endParaRPr lang="en-US" sz="1100"/>
          </a:p>
        </p:txBody>
      </p:sp>
      <p:sp>
        <p:nvSpPr>
          <p:cNvPr id="39" name="AutoShape 39"/>
          <p:cNvSpPr txBox="1"/>
          <p:nvPr/>
        </p:nvSpPr>
        <p:spPr>
          <a:xfrm>
            <a:off x="7493000" y="4699000"/>
            <a:ext cx="7874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 j = 9</a:t>
            </a:r>
            <a:endParaRPr lang="en-US" sz="1100"/>
          </a:p>
        </p:txBody>
      </p:sp>
      <p:sp>
        <p:nvSpPr>
          <p:cNvPr id="40" name="AutoShape 40"/>
          <p:cNvSpPr txBox="1"/>
          <p:nvPr/>
        </p:nvSpPr>
        <p:spPr>
          <a:xfrm>
            <a:off x="8382000" y="4699000"/>
            <a:ext cx="7874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i = 10</a:t>
            </a:r>
            <a:endParaRPr lang="en-US" sz="1100"/>
          </a:p>
        </p:txBody>
      </p:sp>
      <p:sp>
        <p:nvSpPr>
          <p:cNvPr id="41" name="AutoShape 41"/>
          <p:cNvSpPr/>
          <p:nvPr/>
        </p:nvSpPr>
        <p:spPr>
          <a:xfrm>
            <a:off x="381000" y="5461000"/>
            <a:ext cx="11430000" cy="952500"/>
          </a:xfrm>
          <a:prstGeom prst="roundRect">
            <a:avLst>
              <a:gd name="adj" fmla="val 0"/>
            </a:avLst>
          </a:prstGeom>
          <a:solidFill>
            <a:srgbClr val="FEE2E2">
              <a:alpha val="60000"/>
            </a:srgbClr>
          </a:solidFill>
          <a:ln w="12700" cap="flat" cmpd="sng">
            <a:solidFill>
              <a:srgbClr val="EF4444">
                <a:alpha val="100000"/>
              </a:srgbClr>
            </a:solidFill>
            <a:prstDash val="solid"/>
            <a:round/>
          </a:ln>
        </p:spPr>
        <p:txBody>
          <a:bodyPr vert="horz" wrap="square" lIns="63500" tIns="63500" rIns="63500" bIns="63500" rtlCol="0" anchor="ctr"/>
          <a:lstStyle/>
          <a:p>
            <a:pPr algn="ctr">
              <a:defRPr/>
            </a:pPr>
          </a:p>
        </p:txBody>
      </p:sp>
      <p:sp>
        <p:nvSpPr>
          <p:cNvPr id="42" name="AutoShape 42"/>
          <p:cNvSpPr txBox="1"/>
          <p:nvPr/>
        </p:nvSpPr>
        <p:spPr>
          <a:xfrm>
            <a:off x="508000" y="5588000"/>
            <a:ext cx="1117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最终结果：返回分界点下标 j = 9。此时数组前9个元素均 ≤ 13，后续元素均 ≥ 13，成功完成分区操作。</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B923C">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381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 最终分区结果</a:t>
            </a:r>
            <a:endParaRPr lang="en-US" sz="1100"/>
          </a:p>
        </p:txBody>
      </p:sp>
      <p:sp>
        <p:nvSpPr>
          <p:cNvPr id="5" name="AutoShape 5"/>
          <p:cNvSpPr/>
          <p:nvPr/>
        </p:nvSpPr>
        <p:spPr>
          <a:xfrm>
            <a:off x="508000" y="1397000"/>
            <a:ext cx="5397500" cy="1905000"/>
          </a:xfrm>
          <a:prstGeom prst="roundRect">
            <a:avLst>
              <a:gd name="adj" fmla="val 0"/>
            </a:avLst>
          </a:prstGeom>
          <a:solidFill>
            <a:srgbClr val="A7F3D0">
              <a:alpha val="40000"/>
            </a:srgbClr>
          </a:solidFill>
          <a:ln w="25400" cap="flat" cmpd="sng">
            <a:solidFill>
              <a:srgbClr val="34D399">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98500" y="1587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左分区 A[1..9]</a:t>
            </a:r>
            <a:endParaRPr lang="en-US" sz="1100"/>
          </a:p>
        </p:txBody>
      </p:sp>
      <p:sp>
        <p:nvSpPr>
          <p:cNvPr id="7" name="AutoShape 7"/>
          <p:cNvSpPr txBox="1"/>
          <p:nvPr/>
        </p:nvSpPr>
        <p:spPr>
          <a:xfrm>
            <a:off x="698500" y="20955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6, 2, 9, 5, 12, 8, 7, 4, 11 }</a:t>
            </a:r>
            <a:endParaRPr lang="en-US" sz="1100"/>
          </a:p>
          <a:p>
            <a:pPr marL="0" indent="0" algn="l">
              <a:lnSpc>
                <a:spcPct val="125000"/>
              </a:lnSpc>
            </a:pPr>
            <a:r>
              <a:rPr lang="en-US" sz="1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 验证：所有元素 ≤ 13，符合分区要求</a:t>
            </a:r>
            <a:endParaRPr lang="en-US" sz="14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86500" y="1397000"/>
            <a:ext cx="5397500" cy="1905000"/>
          </a:xfrm>
          <a:prstGeom prst="roundRect">
            <a:avLst>
              <a:gd name="adj" fmla="val 0"/>
            </a:avLst>
          </a:prstGeom>
          <a:solidFill>
            <a:srgbClr val="FED7AA">
              <a:alpha val="40000"/>
            </a:srgbClr>
          </a:solidFill>
          <a:ln w="25400" cap="flat" cmpd="sng">
            <a:solidFill>
              <a:srgbClr val="FB923C">
                <a:alpha val="100000"/>
              </a:srgbClr>
            </a:solidFill>
            <a:prstDash val="solid"/>
            <a:round/>
          </a:ln>
        </p:spPr>
        <p:txBody>
          <a:bodyPr vert="horz" wrap="square" lIns="63500" tIns="63500" rIns="63500" bIns="63500" rtlCol="0" anchor="ctr"/>
          <a:lstStyle/>
          <a:p>
            <a:pPr algn="ctr">
              <a:defRPr/>
            </a:pPr>
          </a:p>
        </p:txBody>
      </p:sp>
      <p:sp>
        <p:nvSpPr>
          <p:cNvPr id="9" name="AutoShape 9"/>
          <p:cNvSpPr txBox="1"/>
          <p:nvPr/>
        </p:nvSpPr>
        <p:spPr>
          <a:xfrm>
            <a:off x="6477000" y="1587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右分区 A[10..12]</a:t>
            </a:r>
            <a:endParaRPr lang="en-US" sz="1100"/>
          </a:p>
        </p:txBody>
      </p:sp>
      <p:sp>
        <p:nvSpPr>
          <p:cNvPr id="10" name="AutoShape 10"/>
          <p:cNvSpPr txBox="1"/>
          <p:nvPr/>
        </p:nvSpPr>
        <p:spPr>
          <a:xfrm>
            <a:off x="6477000" y="20955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19, 13, 21 }</a:t>
            </a:r>
            <a:endParaRPr lang="en-US" sz="1100"/>
          </a:p>
          <a:p>
            <a:pPr marL="0" indent="0" algn="l">
              <a:lnSpc>
                <a:spcPct val="125000"/>
              </a:lnSpc>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 验证：所有元素 ≥ 13，符合分区要求</a:t>
            </a:r>
            <a:endPar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3683000"/>
            <a:ext cx="5397500" cy="10795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3873500"/>
            <a:ext cx="406400" cy="406400"/>
          </a:xfrm>
          <a:prstGeom prst="rect">
            <a:avLst/>
          </a:prstGeom>
        </p:spPr>
      </p:pic>
      <p:sp>
        <p:nvSpPr>
          <p:cNvPr id="13" name="AutoShape 13"/>
          <p:cNvSpPr txBox="1"/>
          <p:nvPr/>
        </p:nvSpPr>
        <p:spPr>
          <a:xfrm>
            <a:off x="1206500" y="3810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左分区极值验证</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左分区最大值为 12，严格小于枢轴值 13，满足“左小”原则。</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86500" y="3683000"/>
            <a:ext cx="5397500" cy="1079500"/>
          </a:xfrm>
          <a:prstGeom prst="roundRect">
            <a:avLst>
              <a:gd name="adj" fmla="val 0"/>
            </a:avLst>
          </a:prstGeom>
          <a:solidFill>
            <a:srgbClr val="FFFFFF">
              <a:alpha val="6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77000" y="3873500"/>
            <a:ext cx="406400" cy="406400"/>
          </a:xfrm>
          <a:prstGeom prst="rect">
            <a:avLst/>
          </a:prstGeom>
        </p:spPr>
      </p:pic>
      <p:sp>
        <p:nvSpPr>
          <p:cNvPr id="16" name="AutoShape 16"/>
          <p:cNvSpPr txBox="1"/>
          <p:nvPr/>
        </p:nvSpPr>
        <p:spPr>
          <a:xfrm>
            <a:off x="6985000" y="3810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右分区极值验证</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右分区最小值为 13，等于枢轴值，满足“右大”原则，边界处理正确。</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508000" y="4953000"/>
            <a:ext cx="5397500" cy="1079500"/>
          </a:xfrm>
          <a:prstGeom prst="roundRect">
            <a:avLst>
              <a:gd name="adj" fmla="val 0"/>
            </a:avLst>
          </a:prstGeom>
          <a:solidFill>
            <a:srgbClr val="FFFFFF">
              <a:alpha val="6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143500"/>
            <a:ext cx="406400" cy="406400"/>
          </a:xfrm>
          <a:prstGeom prst="rect">
            <a:avLst/>
          </a:prstGeom>
        </p:spPr>
      </p:pic>
      <p:sp>
        <p:nvSpPr>
          <p:cNvPr id="19" name="AutoShape 19"/>
          <p:cNvSpPr txBox="1"/>
          <p:nvPr/>
        </p:nvSpPr>
        <p:spPr>
          <a:xfrm>
            <a:off x="1206500" y="5080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枢轴自然归属</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枢轴值 13 未被单独交换，而是自然落在右分区的 A[11] 位置，无需额外操作。</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286500" y="4953000"/>
            <a:ext cx="5397500" cy="1079500"/>
          </a:xfrm>
          <a:prstGeom prst="roundRect">
            <a:avLst>
              <a:gd name="adj" fmla="val 0"/>
            </a:avLst>
          </a:prstGeom>
          <a:solidFill>
            <a:srgbClr val="FFFFFF">
              <a:alpha val="6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5143500"/>
            <a:ext cx="406400" cy="406400"/>
          </a:xfrm>
          <a:prstGeom prst="rect">
            <a:avLst/>
          </a:prstGeom>
        </p:spPr>
      </p:pic>
      <p:sp>
        <p:nvSpPr>
          <p:cNvPr id="22" name="AutoShape 22"/>
          <p:cNvSpPr txBox="1"/>
          <p:nvPr/>
        </p:nvSpPr>
        <p:spPr>
          <a:xfrm>
            <a:off x="6985000" y="5080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返回值有效性确认</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返回分界点 j=9，满足 1 ≤ j &lt; 12 的边界条件，为后续递归排序提供了正确的分割索引。</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4445000"/>
            <a:ext cx="3175000" cy="3175000"/>
          </a:xfrm>
          <a:prstGeom prst="ellipse">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问题(b) 全相等元素时的行为差异</a:t>
            </a:r>
            <a:endParaRPr lang="en-US" sz="1100"/>
          </a:p>
        </p:txBody>
      </p:sp>
      <p:sp>
        <p:nvSpPr>
          <p:cNvPr id="5" name="AutoShape 5"/>
          <p:cNvSpPr/>
          <p:nvPr/>
        </p:nvSpPr>
        <p:spPr>
          <a:xfrm>
            <a:off x="508000" y="1524000"/>
            <a:ext cx="4826000" cy="3937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98500" y="17145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教材 PARTITION（取A[r]为枢轴）</a:t>
            </a:r>
            <a:endParaRPr lang="en-US" sz="1100"/>
          </a:p>
        </p:txBody>
      </p:sp>
      <p:cxnSp>
        <p:nvCxnSpPr>
          <p:cNvPr id="7" name="Connector 7"/>
          <p:cNvCxnSpPr/>
          <p:nvPr/>
        </p:nvCxnSpPr>
        <p:spPr>
          <a:xfrm rot="-9822">
            <a:off x="698509" y="2279650"/>
            <a:ext cx="4445000" cy="12700"/>
          </a:xfrm>
          <a:prstGeom prst="straightConnector1">
            <a:avLst/>
          </a:prstGeom>
          <a:solidFill>
            <a:srgbClr val="DEE0E3">
              <a:alpha val="100000"/>
            </a:srgbClr>
          </a:solidFill>
          <a:ln w="12700" cap="flat" cmpd="sng">
            <a:solidFill>
              <a:srgbClr val="10B981">
                <a:alpha val="30000"/>
              </a:srgbClr>
            </a:solidFill>
            <a:prstDash val="solid"/>
            <a:round/>
            <a:headEnd type="none" w="med" len="med"/>
            <a:tailEnd type="none" w="med" len="med"/>
          </a:ln>
        </p:spPr>
      </p:cxn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476500"/>
            <a:ext cx="304800" cy="304800"/>
          </a:xfrm>
          <a:prstGeom prst="rect">
            <a:avLst/>
          </a:prstGeom>
        </p:spPr>
      </p:pic>
      <p:sp>
        <p:nvSpPr>
          <p:cNvPr id="9" name="AutoShape 9"/>
          <p:cNvSpPr txBox="1"/>
          <p:nvPr/>
        </p:nvSpPr>
        <p:spPr>
          <a:xfrm>
            <a:off x="1079500" y="2438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分区极度失衡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枢轴被单独分到最右侧，左分区占满剩余元素，右分区仅含1个元素，划分完全倾斜。</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238500"/>
            <a:ext cx="304800" cy="304800"/>
          </a:xfrm>
          <a:prstGeom prst="rect">
            <a:avLst/>
          </a:prstGeom>
        </p:spPr>
      </p:pic>
      <p:sp>
        <p:nvSpPr>
          <p:cNvPr id="11" name="AutoShape 11"/>
          <p:cNvSpPr txBox="1"/>
          <p:nvPr/>
        </p:nvSpPr>
        <p:spPr>
          <a:xfrm>
            <a:off x="1079500" y="3200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递归树退化为单链</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每次递归仅减少1个元素，树的深度达到O(n)，完全丧失分治的层级优势。</a:t>
            </a:r>
            <a:endParaRPr lang="en-US" sz="110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4000500"/>
            <a:ext cx="304800" cy="304800"/>
          </a:xfrm>
          <a:prstGeom prst="rect">
            <a:avLst/>
          </a:prstGeom>
        </p:spPr>
      </p:pic>
      <p:sp>
        <p:nvSpPr>
          <p:cNvPr id="13" name="AutoShape 13"/>
          <p:cNvSpPr txBox="1"/>
          <p:nvPr/>
        </p:nvSpPr>
        <p:spPr>
          <a:xfrm>
            <a:off x="1079500" y="3962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时间复杂度骤降至 O(n²)</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从理想的对数级复杂度退化为最坏的平方级，算法效率在极端情况下严重崩塌。</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4762500"/>
            <a:ext cx="304800" cy="304800"/>
          </a:xfrm>
          <a:prstGeom prst="rect">
            <a:avLst/>
          </a:prstGeom>
        </p:spPr>
      </p:pic>
      <p:sp>
        <p:nvSpPr>
          <p:cNvPr id="15" name="AutoShape 15"/>
          <p:cNvSpPr txBox="1"/>
          <p:nvPr/>
        </p:nvSpPr>
        <p:spPr>
          <a:xfrm>
            <a:off x="1079500" y="4724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鲁棒性极差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在重复元素密集的场景下，算法性能无法保证，是典型的“最坏情况”触发点。</a:t>
            </a:r>
            <a:endParaRPr lang="en-US" sz="1100"/>
          </a:p>
        </p:txBody>
      </p:sp>
      <p:sp>
        <p:nvSpPr>
          <p:cNvPr id="16" name="AutoShape 16"/>
          <p:cNvSpPr/>
          <p:nvPr/>
        </p:nvSpPr>
        <p:spPr>
          <a:xfrm>
            <a:off x="6858000" y="1524000"/>
            <a:ext cx="4826000" cy="3937000"/>
          </a:xfrm>
          <a:prstGeom prst="roundRect">
            <a:avLst>
              <a:gd name="adj" fmla="val 0"/>
            </a:avLst>
          </a:prstGeom>
          <a:solidFill>
            <a:srgbClr val="F59E0B">
              <a:alpha val="8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p>
        </p:txBody>
      </p:sp>
      <p:sp>
        <p:nvSpPr>
          <p:cNvPr id="17" name="AutoShape 17"/>
          <p:cNvSpPr txBox="1"/>
          <p:nvPr/>
        </p:nvSpPr>
        <p:spPr>
          <a:xfrm>
            <a:off x="7048500" y="17145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HOARE-PARTITION（双指针划分）</a:t>
            </a:r>
            <a:endParaRPr lang="en-US" sz="1100"/>
          </a:p>
        </p:txBody>
      </p:sp>
      <p:cxnSp>
        <p:nvCxnSpPr>
          <p:cNvPr id="18" name="Connector 18"/>
          <p:cNvCxnSpPr/>
          <p:nvPr/>
        </p:nvCxnSpPr>
        <p:spPr>
          <a:xfrm rot="-9822">
            <a:off x="7048509" y="2279650"/>
            <a:ext cx="4445000" cy="12700"/>
          </a:xfrm>
          <a:prstGeom prst="straightConnector1">
            <a:avLst/>
          </a:prstGeom>
          <a:solidFill>
            <a:srgbClr val="DEE0E3">
              <a:alpha val="100000"/>
            </a:srgbClr>
          </a:solidFill>
          <a:ln w="12700" cap="flat" cmpd="sng">
            <a:solidFill>
              <a:srgbClr val="F59E0B">
                <a:alpha val="30000"/>
              </a:srgbClr>
            </a:solidFill>
            <a:prstDash val="solid"/>
            <a:round/>
            <a:headEnd type="none" w="med" len="med"/>
            <a:tailEnd type="none" w="med" len="med"/>
          </a:ln>
        </p:spPr>
      </p:cxn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48500" y="2476500"/>
            <a:ext cx="304800" cy="304800"/>
          </a:xfrm>
          <a:prstGeom prst="rect">
            <a:avLst/>
          </a:prstGeom>
        </p:spPr>
      </p:pic>
      <p:sp>
        <p:nvSpPr>
          <p:cNvPr id="20" name="AutoShape 20"/>
          <p:cNvSpPr txBox="1"/>
          <p:nvPr/>
        </p:nvSpPr>
        <p:spPr>
          <a:xfrm>
            <a:off x="7429500" y="2438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近似均衡的划分</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双指针相向扫描直至相遇，将数组切分为规模相近的两部分，无极端分区产生。</a:t>
            </a:r>
            <a:endParaRPr lang="en-US" sz="1100"/>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048500" y="3238500"/>
            <a:ext cx="304800" cy="304800"/>
          </a:xfrm>
          <a:prstGeom prst="rect">
            <a:avLst/>
          </a:prstGeom>
        </p:spPr>
      </p:pic>
      <p:sp>
        <p:nvSpPr>
          <p:cNvPr id="22" name="AutoShape 22"/>
          <p:cNvSpPr txBox="1"/>
          <p:nvPr/>
        </p:nvSpPr>
        <p:spPr>
          <a:xfrm>
            <a:off x="7429500" y="3200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递归树保持平衡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每轮递归问题规模近似减半，树的深度维持在O(log n)，充分发挥分治效率。</a:t>
            </a:r>
            <a:endParaRPr lang="en-US" sz="1100"/>
          </a:p>
        </p:txBody>
      </p:sp>
      <p:pic>
        <p:nvPicPr>
          <p:cNvPr id="23" name="Picture 2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048500" y="4000500"/>
            <a:ext cx="304800" cy="304800"/>
          </a:xfrm>
          <a:prstGeom prst="rect">
            <a:avLst/>
          </a:prstGeom>
        </p:spPr>
      </p:pic>
      <p:sp>
        <p:nvSpPr>
          <p:cNvPr id="24" name="AutoShape 24"/>
          <p:cNvSpPr txBox="1"/>
          <p:nvPr/>
        </p:nvSpPr>
        <p:spPr>
          <a:xfrm>
            <a:off x="7429500" y="3962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时间复杂度稳定 O(n log n)</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即使在全相等元素的极端场景下，依然保持对数级的时间复杂度，性能稳定。</a:t>
            </a:r>
            <a:endParaRPr lang="en-US" sz="1100"/>
          </a:p>
        </p:txBody>
      </p:sp>
      <p:pic>
        <p:nvPicPr>
          <p:cNvPr id="25" name="Picture 2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048500" y="4762500"/>
            <a:ext cx="304800" cy="304800"/>
          </a:xfrm>
          <a:prstGeom prst="rect">
            <a:avLst/>
          </a:prstGeom>
        </p:spPr>
      </p:pic>
      <p:sp>
        <p:nvSpPr>
          <p:cNvPr id="26" name="AutoShape 26"/>
          <p:cNvSpPr txBox="1"/>
          <p:nvPr/>
        </p:nvSpPr>
        <p:spPr>
          <a:xfrm>
            <a:off x="7429500" y="4724400"/>
            <a:ext cx="419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优异的鲁棒性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对重复元素具有天然的免疫力，是处理实际数据（常含重复值）更可靠的选择。</a:t>
            </a:r>
            <a:endParaRPr lang="en-US" sz="1100"/>
          </a:p>
        </p:txBody>
      </p:sp>
      <p:sp>
        <p:nvSpPr>
          <p:cNvPr id="27" name="AutoShape 27"/>
          <p:cNvSpPr/>
          <p:nvPr/>
        </p:nvSpPr>
        <p:spPr>
          <a:xfrm>
            <a:off x="5524500" y="3048000"/>
            <a:ext cx="1143000" cy="1143000"/>
          </a:xfrm>
          <a:prstGeom prst="ellipse">
            <a:avLst/>
          </a:prstGeom>
          <a:solidFill>
            <a:srgbClr val="FFFFFF">
              <a:alpha val="100000"/>
            </a:srgbClr>
          </a:solidFill>
          <a:ln w="254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28" name="AutoShape 28"/>
          <p:cNvSpPr txBox="1"/>
          <p:nvPr/>
        </p:nvSpPr>
        <p:spPr>
          <a:xfrm>
            <a:off x="5524500" y="3340100"/>
            <a:ext cx="114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VS</a:t>
            </a:r>
            <a:endParaRPr lang="en-US" sz="1100"/>
          </a:p>
        </p:txBody>
      </p:sp>
      <p:sp>
        <p:nvSpPr>
          <p:cNvPr id="29" name="AutoShape 29"/>
          <p:cNvSpPr/>
          <p:nvPr/>
        </p:nvSpPr>
        <p:spPr>
          <a:xfrm>
            <a:off x="508000" y="5778500"/>
            <a:ext cx="11176000" cy="762000"/>
          </a:xfrm>
          <a:prstGeom prst="roundRect">
            <a:avLst>
              <a:gd name="adj" fmla="val 0"/>
            </a:avLst>
          </a:prstGeom>
          <a:solidFill>
            <a:srgbClr val="374151">
              <a:alpha val="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txBox="1"/>
          <p:nvPr/>
        </p:nvSpPr>
        <p:spPr>
          <a:xfrm>
            <a:off x="698500" y="58801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全相等元素是快速排序的“压力测试”。教材版划分因单边枢轴导致最坏情况，而HOARE划分通过双指针策略从根本上避免了这种极端失衡，展现了更优的算法稳定性与效率。</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22C55E">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22C55E">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381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Hoare-Partition 的实际优势</a:t>
            </a:r>
            <a:endParaRPr lang="en-US" sz="1100"/>
          </a:p>
        </p:txBody>
      </p:sp>
      <p:sp>
        <p:nvSpPr>
          <p:cNvPr id="5" name="AutoShape 5"/>
          <p:cNvSpPr/>
          <p:nvPr/>
        </p:nvSpPr>
        <p:spPr>
          <a:xfrm>
            <a:off x="508000" y="1270000"/>
            <a:ext cx="11176000" cy="1397000"/>
          </a:xfrm>
          <a:prstGeom prst="roundRect">
            <a:avLst>
              <a:gd name="adj" fmla="val 0"/>
            </a:avLst>
          </a:prstGeom>
          <a:solidFill>
            <a:srgbClr val="FFFFFF">
              <a:alpha val="70000"/>
            </a:srgbClr>
          </a:solidFill>
          <a:ln w="12700" cap="flat" cmpd="sng">
            <a:solidFill>
              <a:srgbClr val="86EFAC">
                <a:alpha val="5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5500" y="1663700"/>
            <a:ext cx="609600" cy="609600"/>
          </a:xfrm>
          <a:prstGeom prst="rect">
            <a:avLst/>
          </a:prstGeom>
        </p:spPr>
      </p:pic>
      <p:sp>
        <p:nvSpPr>
          <p:cNvPr id="7" name="AutoShape 7"/>
          <p:cNvSpPr txBox="1"/>
          <p:nvPr/>
        </p:nvSpPr>
        <p:spPr>
          <a:xfrm>
            <a:off x="1651000" y="1397000"/>
            <a:ext cx="965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01 平衡划分：拒绝数据倾斜</a:t>
            </a:r>
            <a:endParaRPr lang="en-US" sz="1100"/>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面对大量重复元素时，能将重复值均匀分配到基准值两侧，避免了传统划分可能导致的“一边倒”现象，确保了递归树的平衡性，从根本上防止了快速排序的性能退化。</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8000" y="2857500"/>
            <a:ext cx="11176000" cy="1397000"/>
          </a:xfrm>
          <a:prstGeom prst="roundRect">
            <a:avLst>
              <a:gd name="adj" fmla="val 0"/>
            </a:avLst>
          </a:prstGeom>
          <a:solidFill>
            <a:srgbClr val="FFFFFF">
              <a:alpha val="70000"/>
            </a:srgbClr>
          </a:solidFill>
          <a:ln w="12700" cap="flat" cmpd="sng">
            <a:solidFill>
              <a:srgbClr val="86EFAC">
                <a:alpha val="5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500" y="3251200"/>
            <a:ext cx="609600" cy="609600"/>
          </a:xfrm>
          <a:prstGeom prst="rect">
            <a:avLst/>
          </a:prstGeom>
        </p:spPr>
      </p:pic>
      <p:sp>
        <p:nvSpPr>
          <p:cNvPr id="10" name="AutoShape 10"/>
          <p:cNvSpPr txBox="1"/>
          <p:nvPr/>
        </p:nvSpPr>
        <p:spPr>
          <a:xfrm>
            <a:off x="1651000" y="2984500"/>
            <a:ext cx="965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02 更少交换：降低常数开销</a:t>
            </a:r>
            <a:endParaRPr lang="en-US" sz="1100"/>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得益于“大于等于”和“小于等于”的判断逻辑，相等元素无需进行交换操作，显著减少了数据移动的次数，大幅降低了算法运行时的常数因子，提升了实际执行速度。</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4445000"/>
            <a:ext cx="11176000" cy="1397000"/>
          </a:xfrm>
          <a:prstGeom prst="roundRect">
            <a:avLst>
              <a:gd name="adj" fmla="val 0"/>
            </a:avLst>
          </a:prstGeom>
          <a:solidFill>
            <a:srgbClr val="FFFFFF">
              <a:alpha val="70000"/>
            </a:srgbClr>
          </a:solidFill>
          <a:ln w="12700" cap="flat" cmpd="sng">
            <a:solidFill>
              <a:srgbClr val="86EFAC">
                <a:alpha val="5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 y="4838700"/>
            <a:ext cx="609600" cy="609600"/>
          </a:xfrm>
          <a:prstGeom prst="rect">
            <a:avLst/>
          </a:prstGeom>
        </p:spPr>
      </p:pic>
      <p:sp>
        <p:nvSpPr>
          <p:cNvPr id="13" name="AutoShape 13"/>
          <p:cNvSpPr txBox="1"/>
          <p:nvPr/>
        </p:nvSpPr>
        <p:spPr>
          <a:xfrm>
            <a:off x="1651000" y="4572000"/>
            <a:ext cx="965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03 原地高效：贴近工程本质</a:t>
            </a:r>
            <a:endParaRPr lang="en-US" sz="1100"/>
          </a:p>
          <a:p>
            <a:pPr marL="0" indent="0" algn="l">
              <a:lnSpc>
                <a:spcPct val="108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保持O(1)额外空间复杂度与O(n)线性扫描的理论优势，同时拥有更小的实际常数因子和更优的缓存局部性，完美契合工程实践中对快速排序性能优化的核心诉求。</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08000" y="5969000"/>
            <a:ext cx="11176000" cy="635000"/>
          </a:xfrm>
          <a:prstGeom prst="roundRect">
            <a:avLst>
              <a:gd name="adj" fmla="val 0"/>
            </a:avLst>
          </a:prstGeom>
          <a:solidFill>
            <a:srgbClr val="DCFCE7">
              <a:alpha val="10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txBox="1"/>
          <p:nvPr/>
        </p:nvSpPr>
        <p:spPr>
          <a:xfrm>
            <a:off x="635000" y="6070600"/>
            <a:ext cx="1092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核心优势总结：对重复数据具备极强鲁棒性，有效避免快速排序的最坏情况退化，是工程实现中更高效、更稳定的划分策略。</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问题(c) 不会访问数组外元素</a:t>
            </a:r>
            <a:endParaRPr lang="en-US" sz="1100"/>
          </a:p>
        </p:txBody>
      </p:sp>
      <p:sp>
        <p:nvSpPr>
          <p:cNvPr id="5" name="AutoShape 5"/>
          <p:cNvSpPr/>
          <p:nvPr/>
        </p:nvSpPr>
        <p:spPr>
          <a:xfrm>
            <a:off x="508000" y="1651000"/>
            <a:ext cx="3556000" cy="3556000"/>
          </a:xfrm>
          <a:prstGeom prst="roundRect">
            <a:avLst>
              <a:gd name="adj" fmla="val 0"/>
            </a:avLst>
          </a:prstGeom>
          <a:solidFill>
            <a:srgbClr val="FFFFFF">
              <a:alpha val="70000"/>
            </a:srgbClr>
          </a:solidFill>
          <a:ln w="25400" cap="flat" cmpd="sng">
            <a:solidFill>
              <a:srgbClr val="6EE7B7">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905000"/>
            <a:ext cx="609600" cy="609600"/>
          </a:xfrm>
          <a:prstGeom prst="rect">
            <a:avLst/>
          </a:prstGeom>
        </p:spPr>
      </p:pic>
      <p:sp>
        <p:nvSpPr>
          <p:cNvPr id="7" name="AutoShape 7"/>
          <p:cNvSpPr txBox="1"/>
          <p:nvPr/>
        </p:nvSpPr>
        <p:spPr>
          <a:xfrm>
            <a:off x="1460500" y="1968500"/>
            <a:ext cx="254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证明核心目标</a:t>
            </a:r>
            <a:endParaRPr lang="en-US" sz="1100"/>
          </a:p>
        </p:txBody>
      </p:sp>
      <p:sp>
        <p:nvSpPr>
          <p:cNvPr id="8" name="AutoShape 8"/>
          <p:cNvSpPr txBox="1"/>
          <p:nvPr/>
        </p:nvSpPr>
        <p:spPr>
          <a:xfrm>
            <a:off x="762000" y="2667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需证明在快速排序的分区过程中，游标指针 i 和 j 的移动范围始终被严格限制在子数组的索引区间 [p, r] 之内，从而保证所有对数组元素的访问操作均合法有效，不存在数组越界的风险。</a:t>
            </a:r>
            <a:endParaRPr lang="en-US" sz="1100"/>
          </a:p>
        </p:txBody>
      </p:sp>
      <p:sp>
        <p:nvSpPr>
          <p:cNvPr id="9" name="AutoShape 9"/>
          <p:cNvSpPr/>
          <p:nvPr/>
        </p:nvSpPr>
        <p:spPr>
          <a:xfrm>
            <a:off x="4318000" y="1651000"/>
            <a:ext cx="7366000" cy="10795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18000" y="1651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txBox="1"/>
          <p:nvPr/>
        </p:nvSpPr>
        <p:spPr>
          <a:xfrm>
            <a:off x="4572000" y="1752600"/>
            <a:ext cx="698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01. i 指针的右移边界锁定</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 x = A[p]，i 从 p-1 出发向右扫描。由于 A[p] ≤ x，i 最多移动到 p 位置就会因 A[i] ≥ x 停止，绝不会越过左边界 p 继续移动，确保左边界安全。</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318000" y="2921000"/>
            <a:ext cx="7366000" cy="10795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318000" y="2921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txBox="1"/>
          <p:nvPr/>
        </p:nvSpPr>
        <p:spPr>
          <a:xfrm>
            <a:off x="4572000" y="3022600"/>
            <a:ext cx="698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02. j 指针的左移边界锁定</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j 从 r+1 出发向左扫描，因 A[p] = x 满足 ≤ x 的条件，最坏情况下 j 会停在 p 处触发循环终止，绝不会突破左边界 p，也不会访问到数组外的非法内存区域。</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318000" y="4191000"/>
            <a:ext cx="7366000" cy="1079500"/>
          </a:xfrm>
          <a:prstGeom prst="roundRect">
            <a:avLst>
              <a:gd name="adj" fmla="val 0"/>
            </a:avLst>
          </a:prstGeom>
          <a:solidFill>
            <a:srgbClr val="FFFFFF">
              <a:alpha val="8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4318000" y="4191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txBox="1"/>
          <p:nvPr/>
        </p:nvSpPr>
        <p:spPr>
          <a:xfrm>
            <a:off x="4572000" y="4292600"/>
            <a:ext cx="698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03. 循环交换的区间安全</a:t>
            </a:r>
            <a:endParaRPr lang="en-US" sz="1100"/>
          </a:p>
          <a:p>
            <a:pPr marL="0" indent="0" algn="l">
              <a:lnSpc>
                <a:spcPct val="108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循环仅在 i &lt; j 时执行交换操作，而 i、j 的移动始终被限制在 [p, r] 区间内，因此对 A[i] 和 A[j] 的访问始终落在合法的子数组索引范围内，无越界可能。</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508000" y="5588000"/>
            <a:ext cx="11176000" cy="889000"/>
          </a:xfrm>
          <a:prstGeom prst="roundRect">
            <a:avLst>
              <a:gd name="adj" fmla="val 0"/>
            </a:avLst>
          </a:prstGeom>
          <a:solidFill>
            <a:srgbClr val="D1FAE5">
              <a:alpha val="100000"/>
            </a:srgbClr>
          </a:solidFill>
          <a:ln w="12700" cap="flat" cmpd="sng">
            <a:solidFill>
              <a:srgbClr val="10B981">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880100"/>
            <a:ext cx="304800" cy="304800"/>
          </a:xfrm>
          <a:prstGeom prst="rect">
            <a:avLst/>
          </a:prstGeom>
        </p:spPr>
      </p:pic>
      <p:sp>
        <p:nvSpPr>
          <p:cNvPr id="20" name="AutoShape 20"/>
          <p:cNvSpPr txBox="1"/>
          <p:nvPr/>
        </p:nvSpPr>
        <p:spPr>
          <a:xfrm>
            <a:off x="1143000" y="57150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关键洞察：</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500" b="0"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枢轴元素本身充当了天然的“哨兵”，无需额外设置边界检查变量，即可确保两个扫描指针在移动过程中绝对不会越界，这是快速排序分区算法安全性的核心保障。</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4826000"/>
            <a:ext cx="3175000" cy="3175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问题(d) 终止时返回 p ≤ j &lt; r</a:t>
            </a:r>
            <a:endParaRPr lang="en-US" sz="1100"/>
          </a:p>
        </p:txBody>
      </p:sp>
      <p:sp>
        <p:nvSpPr>
          <p:cNvPr id="5" name="AutoShape 5"/>
          <p:cNvSpPr/>
          <p:nvPr/>
        </p:nvSpPr>
        <p:spPr>
          <a:xfrm>
            <a:off x="508000" y="1651000"/>
            <a:ext cx="5397500" cy="2921000"/>
          </a:xfrm>
          <a:prstGeom prst="roundRect">
            <a:avLst>
              <a:gd name="adj" fmla="val 0"/>
            </a:avLst>
          </a:prstGeom>
          <a:solidFill>
            <a:srgbClr val="D1FAE5">
              <a:alpha val="60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905000"/>
            <a:ext cx="355600" cy="355600"/>
          </a:xfrm>
          <a:prstGeom prst="rect">
            <a:avLst/>
          </a:prstGeom>
        </p:spPr>
      </p:pic>
      <p:sp>
        <p:nvSpPr>
          <p:cNvPr id="7" name="AutoShape 7"/>
          <p:cNvSpPr txBox="1"/>
          <p:nvPr/>
        </p:nvSpPr>
        <p:spPr>
          <a:xfrm>
            <a:off x="1206500" y="1879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01 / 证明 j &lt; r</a:t>
            </a:r>
            <a:endParaRPr lang="en-US" sz="1100"/>
          </a:p>
        </p:txBody>
      </p:sp>
      <p:cxnSp>
        <p:nvCxnSpPr>
          <p:cNvPr id="8" name="Connector 8"/>
          <p:cNvCxnSpPr/>
          <p:nvPr/>
        </p:nvCxnSpPr>
        <p:spPr>
          <a:xfrm rot="-8929">
            <a:off x="762008" y="2406650"/>
            <a:ext cx="4889500" cy="12700"/>
          </a:xfrm>
          <a:prstGeom prst="straightConnector1">
            <a:avLst/>
          </a:prstGeom>
          <a:solidFill>
            <a:srgbClr val="DEE0E3">
              <a:alpha val="100000"/>
            </a:srgbClr>
          </a:solidFill>
          <a:ln w="12700" cap="flat" cmpd="sng">
            <a:solidFill>
              <a:srgbClr val="A7F3D0">
                <a:alpha val="100000"/>
              </a:srgbClr>
            </a:solidFill>
            <a:prstDash val="solid"/>
            <a:round/>
            <a:headEnd type="none" w="med" len="med"/>
            <a:tailEnd type="none" w="med" len="med"/>
          </a:ln>
        </p:spPr>
      </p:cxnSp>
      <p:sp>
        <p:nvSpPr>
          <p:cNvPr id="9" name="AutoShape 9"/>
          <p:cNvSpPr txBox="1"/>
          <p:nvPr/>
        </p:nvSpPr>
        <p:spPr>
          <a:xfrm>
            <a:off x="762000" y="2540000"/>
            <a:ext cx="488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初始与迭代：</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j 初始为 r+1，每次循环至少减1，最终在循环内停下。</a:t>
            </a:r>
            <a:endParaRPr lang="en-US" sz="1100"/>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终止约束：</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循环因 i ≥ j 终止，结合结论 i ≥ p 且 i ≤ r，故 j ≤ i ≤ r。</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严格推导：</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首轮 j 至少减为 r；若 j=r，则 i≥r+1（矛盾，因 i 最大为 r），故 j &lt; r。</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86500" y="1651000"/>
            <a:ext cx="5397500" cy="2921000"/>
          </a:xfrm>
          <a:prstGeom prst="roundRect">
            <a:avLst>
              <a:gd name="adj" fmla="val 0"/>
            </a:avLst>
          </a:prstGeom>
          <a:solidFill>
            <a:srgbClr val="D1FAE5">
              <a:alpha val="60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905000"/>
            <a:ext cx="355600" cy="355600"/>
          </a:xfrm>
          <a:prstGeom prst="rect">
            <a:avLst/>
          </a:prstGeom>
        </p:spPr>
      </p:pic>
      <p:sp>
        <p:nvSpPr>
          <p:cNvPr id="12" name="AutoShape 12"/>
          <p:cNvSpPr txBox="1"/>
          <p:nvPr/>
        </p:nvSpPr>
        <p:spPr>
          <a:xfrm>
            <a:off x="6985000" y="1879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02 / 证明 j ≥ p</a:t>
            </a:r>
            <a:endParaRPr lang="en-US" sz="1100"/>
          </a:p>
        </p:txBody>
      </p:sp>
      <p:cxnSp>
        <p:nvCxnSpPr>
          <p:cNvPr id="13" name="Connector 13"/>
          <p:cNvCxnSpPr/>
          <p:nvPr/>
        </p:nvCxnSpPr>
        <p:spPr>
          <a:xfrm rot="-8929">
            <a:off x="6540508" y="2406650"/>
            <a:ext cx="4889500" cy="12700"/>
          </a:xfrm>
          <a:prstGeom prst="straightConnector1">
            <a:avLst/>
          </a:prstGeom>
          <a:solidFill>
            <a:srgbClr val="DEE0E3">
              <a:alpha val="100000"/>
            </a:srgbClr>
          </a:solidFill>
          <a:ln w="12700" cap="flat" cmpd="sng">
            <a:solidFill>
              <a:srgbClr val="A7F3D0">
                <a:alpha val="100000"/>
              </a:srgbClr>
            </a:solidFill>
            <a:prstDash val="solid"/>
            <a:round/>
            <a:headEnd type="none" w="med" len="med"/>
            <a:tailEnd type="none" w="med" len="med"/>
          </a:ln>
        </p:spPr>
      </p:cxnSp>
      <p:sp>
        <p:nvSpPr>
          <p:cNvPr id="14" name="AutoShape 14"/>
          <p:cNvSpPr txBox="1"/>
          <p:nvPr/>
        </p:nvSpPr>
        <p:spPr>
          <a:xfrm>
            <a:off x="6540500" y="2540000"/>
            <a:ext cx="488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枢轴基准：</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设枢轴 x = A[p]，其本身满足 ≤ x 的条件。</a:t>
            </a:r>
            <a:endParaRPr lang="en-US" sz="1100"/>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扫描逻辑：</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j 向左扫描寻找 ≤ x 的元素，此过程必然终止。</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极端情况：</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即便所有元素均大于 x，j 最终也会停在 p 位置（A[p]=x），故 j ≥ p。</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508000" y="4953000"/>
            <a:ext cx="11176000" cy="1397000"/>
          </a:xfrm>
          <a:prstGeom prst="roundRect">
            <a:avLst>
              <a:gd name="adj" fmla="val 0"/>
            </a:avLst>
          </a:prstGeom>
          <a:solidFill>
            <a:srgbClr val="A7F3D0">
              <a:alpha val="40000"/>
            </a:srgbClr>
          </a:solidFill>
          <a:ln w="25400" cap="flat" cmpd="sng">
            <a:solidFill>
              <a:srgbClr val="34D399">
                <a:alpha val="100000"/>
              </a:srgbClr>
            </a:solidFill>
            <a:prstDash val="solid"/>
            <a:round/>
          </a:ln>
        </p:spPr>
        <p:txBody>
          <a:bodyPr vert="horz" wrap="square" lIns="63500" tIns="63500" rIns="63500" bIns="63500" rtlCol="0" anchor="ctr"/>
          <a:lstStyle/>
          <a:p>
            <a:pPr algn="ctr">
              <a:defRPr/>
            </a:pPr>
          </a:p>
        </p:txBody>
      </p:sp>
      <p:sp>
        <p:nvSpPr>
          <p:cNvPr id="16" name="AutoShape 16"/>
          <p:cNvSpPr txBox="1"/>
          <p:nvPr/>
        </p:nvSpPr>
        <p:spPr>
          <a:xfrm>
            <a:off x="762000" y="51435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综合以上推导，严格证明了循环终止时满足 p ≤ j &lt; r。这一结论确保了划分出的两个子区间 A[p..j] 和 A[j+1..r] 均为非空集合，避免了递归过程中出现无限递归或无效分区，是快速排序算法正确性的关键保障。</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FB923C">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问题(e) 分区性质：左≤右</a:t>
            </a:r>
            <a:endParaRPr lang="en-US" sz="1100"/>
          </a:p>
        </p:txBody>
      </p:sp>
      <p:sp>
        <p:nvSpPr>
          <p:cNvPr id="5" name="AutoShape 5"/>
          <p:cNvSpPr/>
          <p:nvPr/>
        </p:nvSpPr>
        <p:spPr>
          <a:xfrm>
            <a:off x="508000" y="1397000"/>
            <a:ext cx="5334000" cy="20955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587500"/>
            <a:ext cx="304800" cy="304800"/>
          </a:xfrm>
          <a:prstGeom prst="rect">
            <a:avLst/>
          </a:prstGeom>
        </p:spPr>
      </p:pic>
      <p:sp>
        <p:nvSpPr>
          <p:cNvPr id="7" name="AutoShape 7"/>
          <p:cNvSpPr txBox="1"/>
          <p:nvPr/>
        </p:nvSpPr>
        <p:spPr>
          <a:xfrm>
            <a:off x="1143000" y="15494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循环不变量 (Loop Invariant)</a:t>
            </a:r>
            <a:endParaRPr lang="en-US" sz="1100"/>
          </a:p>
        </p:txBody>
      </p:sp>
      <p:sp>
        <p:nvSpPr>
          <p:cNvPr id="8" name="AutoShape 8"/>
          <p:cNvSpPr txBox="1"/>
          <p:nvPr/>
        </p:nvSpPr>
        <p:spPr>
          <a:xfrm>
            <a:off x="698500" y="2032000"/>
            <a:ext cx="4953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在每次 while 迭代结束后，维持两个关键性质：</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A[p..i-1]</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所有元素 ≥ x（左指针扫过区）</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A[j+1..r]</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所有元素 ≤ x（右指针扫过区）</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直觉反常识：左区存大数，右区存小数，指针相向而行。</a:t>
            </a:r>
            <a:endParaRPr lang="en-US" sz="1100"/>
          </a:p>
        </p:txBody>
      </p:sp>
      <p:sp>
        <p:nvSpPr>
          <p:cNvPr id="9" name="AutoShape 9"/>
          <p:cNvSpPr/>
          <p:nvPr/>
        </p:nvSpPr>
        <p:spPr>
          <a:xfrm>
            <a:off x="508000" y="3746500"/>
            <a:ext cx="5334000" cy="2222500"/>
          </a:xfrm>
          <a:prstGeom prst="roundRect">
            <a:avLst>
              <a:gd name="adj" fmla="val 0"/>
            </a:avLst>
          </a:prstGeom>
          <a:solidFill>
            <a:srgbClr val="FFFFFF">
              <a:alpha val="7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3937000"/>
            <a:ext cx="304800" cy="304800"/>
          </a:xfrm>
          <a:prstGeom prst="rect">
            <a:avLst/>
          </a:prstGeom>
        </p:spPr>
      </p:pic>
      <p:sp>
        <p:nvSpPr>
          <p:cNvPr id="11" name="AutoShape 11"/>
          <p:cNvSpPr txBox="1"/>
          <p:nvPr/>
        </p:nvSpPr>
        <p:spPr>
          <a:xfrm>
            <a:off x="1143000" y="38989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02 循环终止与结论推导</a:t>
            </a:r>
            <a:endParaRPr lang="en-US" sz="1100"/>
          </a:p>
        </p:txBody>
      </p:sp>
      <p:sp>
        <p:nvSpPr>
          <p:cNvPr id="12" name="AutoShape 12"/>
          <p:cNvSpPr txBox="1"/>
          <p:nvPr/>
        </p:nvSpPr>
        <p:spPr>
          <a:xfrm>
            <a:off x="698500" y="43815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当循环终止时，必然满足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 ≥ j</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A[p..j] 源自右指针扫过区 ➔ 全部 ≤ x</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A[j+1..r] 源自左指针扫过区 ➔ 全部 ≥ x</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结论：</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A[p..j] 中任意元素 ≤ x ≤ A[j+1..r] 中任意元素</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，实现完美分区。</a:t>
            </a:r>
            <a:endParaRPr lang="en-US" sz="1100"/>
          </a:p>
        </p:txBody>
      </p:sp>
      <p:sp>
        <p:nvSpPr>
          <p:cNvPr id="13" name="AutoShape 13"/>
          <p:cNvSpPr/>
          <p:nvPr/>
        </p:nvSpPr>
        <p:spPr>
          <a:xfrm>
            <a:off x="6223000" y="1397000"/>
            <a:ext cx="5461000" cy="4572000"/>
          </a:xfrm>
          <a:prstGeom prst="roundRect">
            <a:avLst>
              <a:gd name="adj" fmla="val 0"/>
            </a:avLst>
          </a:prstGeom>
          <a:solidFill>
            <a:srgbClr val="FFFFFF">
              <a:alpha val="5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p>
        </p:txBody>
      </p:sp>
      <p:sp>
        <p:nvSpPr>
          <p:cNvPr id="14" name="AutoShape 14"/>
          <p:cNvSpPr txBox="1"/>
          <p:nvPr/>
        </p:nvSpPr>
        <p:spPr>
          <a:xfrm>
            <a:off x="6413500" y="1587500"/>
            <a:ext cx="508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数组分区状态可视化</a:t>
            </a:r>
            <a:endParaRPr lang="en-US" sz="1100"/>
          </a:p>
        </p:txBody>
      </p:sp>
      <p:sp>
        <p:nvSpPr>
          <p:cNvPr id="15" name="AutoShape 15"/>
          <p:cNvSpPr/>
          <p:nvPr/>
        </p:nvSpPr>
        <p:spPr>
          <a:xfrm>
            <a:off x="6477000" y="2413000"/>
            <a:ext cx="2095500" cy="1143000"/>
          </a:xfrm>
          <a:prstGeom prst="roundRect">
            <a:avLst>
              <a:gd name="adj" fmla="val 0"/>
            </a:avLst>
          </a:prstGeom>
          <a:solidFill>
            <a:srgbClr val="34D399">
              <a:alpha val="20000"/>
            </a:srgbClr>
          </a:solidFill>
          <a:ln w="25400" cap="flat" cmpd="sng">
            <a:solidFill>
              <a:srgbClr val="34D399">
                <a:alpha val="100000"/>
              </a:srgbClr>
            </a:solidFill>
            <a:prstDash val="solid"/>
            <a:round/>
          </a:ln>
        </p:spPr>
        <p:txBody>
          <a:bodyPr vert="horz" wrap="square" lIns="63500" tIns="63500" rIns="63500" bIns="63500" rtlCol="0" anchor="ctr"/>
          <a:lstStyle/>
          <a:p>
            <a:pPr algn="ctr">
              <a:defRPr/>
            </a:pPr>
          </a:p>
        </p:txBody>
      </p:sp>
      <p:sp>
        <p:nvSpPr>
          <p:cNvPr id="16" name="AutoShape 16"/>
          <p:cNvSpPr txBox="1"/>
          <p:nvPr/>
        </p:nvSpPr>
        <p:spPr>
          <a:xfrm>
            <a:off x="6477000" y="2476500"/>
            <a:ext cx="2095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5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A[p ... j]</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全部元素 ≤ x</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059669"/>
                </a:solidFill>
                <a:latin typeface="Noto Sans SC" panose="020B0200000000000000" charset="-122"/>
                <a:ea typeface="Noto Sans SC" panose="020B0200000000000000" charset="-122"/>
                <a:cs typeface="Noto Sans SC" panose="020B0200000000000000" charset="-122"/>
                <a:sym typeface="Noto Sans SC" panose="020B0200000000000000" charset="-122"/>
              </a:rPr>
              <a:t>（右指针扫过区）</a:t>
            </a:r>
            <a:endParaRPr lang="en-US" sz="1100"/>
          </a:p>
        </p:txBody>
      </p:sp>
      <p:sp>
        <p:nvSpPr>
          <p:cNvPr id="17" name="AutoShape 17"/>
          <p:cNvSpPr/>
          <p:nvPr/>
        </p:nvSpPr>
        <p:spPr>
          <a:xfrm>
            <a:off x="8699500" y="2413000"/>
            <a:ext cx="25400" cy="1143000"/>
          </a:xfrm>
          <a:prstGeom prst="roundRect">
            <a:avLst>
              <a:gd name="adj" fmla="val 0"/>
            </a:avLst>
          </a:prstGeom>
          <a:solidFill>
            <a:srgbClr val="6B72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txBox="1"/>
          <p:nvPr/>
        </p:nvSpPr>
        <p:spPr>
          <a:xfrm>
            <a:off x="8585200" y="3619500"/>
            <a:ext cx="508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j</a:t>
            </a:r>
            <a:endParaRPr lang="en-US" sz="1100"/>
          </a:p>
        </p:txBody>
      </p:sp>
      <p:sp>
        <p:nvSpPr>
          <p:cNvPr id="19" name="AutoShape 19"/>
          <p:cNvSpPr/>
          <p:nvPr/>
        </p:nvSpPr>
        <p:spPr>
          <a:xfrm>
            <a:off x="8851900" y="2413000"/>
            <a:ext cx="2095500" cy="1143000"/>
          </a:xfrm>
          <a:prstGeom prst="roundRect">
            <a:avLst>
              <a:gd name="adj" fmla="val 0"/>
            </a:avLst>
          </a:prstGeom>
          <a:solidFill>
            <a:srgbClr val="FB923C">
              <a:alpha val="20000"/>
            </a:srgbClr>
          </a:solidFill>
          <a:ln w="25400" cap="flat" cmpd="sng">
            <a:solidFill>
              <a:srgbClr val="FB923C">
                <a:alpha val="100000"/>
              </a:srgbClr>
            </a:solidFill>
            <a:prstDash val="solid"/>
            <a:round/>
          </a:ln>
        </p:spPr>
        <p:txBody>
          <a:bodyPr vert="horz" wrap="square" lIns="63500" tIns="63500" rIns="63500" bIns="63500" rtlCol="0" anchor="ctr"/>
          <a:lstStyle/>
          <a:p>
            <a:pPr algn="ctr">
              <a:defRPr/>
            </a:pPr>
          </a:p>
        </p:txBody>
      </p:sp>
      <p:sp>
        <p:nvSpPr>
          <p:cNvPr id="20" name="AutoShape 20"/>
          <p:cNvSpPr txBox="1"/>
          <p:nvPr/>
        </p:nvSpPr>
        <p:spPr>
          <a:xfrm>
            <a:off x="8851900" y="2476500"/>
            <a:ext cx="20955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500" b="1" i="0" u="none" strike="noStrike">
                <a:solidFill>
                  <a:srgbClr val="7C2D12"/>
                </a:solidFill>
                <a:latin typeface="Noto Sans SC" panose="020B0200000000000000" charset="-122"/>
                <a:ea typeface="Noto Sans SC" panose="020B0200000000000000" charset="-122"/>
                <a:cs typeface="Noto Sans SC" panose="020B0200000000000000" charset="-122"/>
                <a:sym typeface="Noto Sans SC" panose="020B0200000000000000" charset="-122"/>
              </a:rPr>
              <a:t>A[j+1 ... r]</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全部元素 ≥ x</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（左指针扫过区）</a:t>
            </a:r>
            <a:endParaRPr lang="en-US" sz="1100"/>
          </a:p>
        </p:txBody>
      </p:sp>
      <p:sp>
        <p:nvSpPr>
          <p:cNvPr id="21" name="AutoShape 21"/>
          <p:cNvSpPr/>
          <p:nvPr/>
        </p:nvSpPr>
        <p:spPr>
          <a:xfrm>
            <a:off x="6413500" y="4254500"/>
            <a:ext cx="5080000" cy="1397000"/>
          </a:xfrm>
          <a:prstGeom prst="roundRect">
            <a:avLst>
              <a:gd name="adj" fmla="val 0"/>
            </a:avLst>
          </a:prstGeom>
          <a:solidFill>
            <a:srgbClr val="F3F4F6">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txBox="1"/>
          <p:nvPr/>
        </p:nvSpPr>
        <p:spPr>
          <a:xfrm>
            <a:off x="6540500" y="43815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图示解析：</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分界点 j 将数组分割为左右两部分。左半部分（绿色）继承了右指针扫过区域的性质（≤x），右半部分（橙色）继承了左指针扫过区域的性质（≥x），从而保证了“左区 ≤ x ≤ 右区”的严格分区。</a:t>
            </a:r>
            <a:endParaRPr lang="en-US" sz="1100"/>
          </a:p>
        </p:txBody>
      </p:sp>
      <p:sp>
        <p:nvSpPr>
          <p:cNvPr id="23" name="AutoShape 23"/>
          <p:cNvSpPr/>
          <p:nvPr/>
        </p:nvSpPr>
        <p:spPr>
          <a:xfrm>
            <a:off x="508000" y="6096000"/>
            <a:ext cx="11176000" cy="4064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txBox="1"/>
          <p:nvPr/>
        </p:nvSpPr>
        <p:spPr>
          <a:xfrm>
            <a:off x="508000" y="6096000"/>
            <a:ext cx="11176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核心意义：</a:t>
            </a:r>
            <a:r>
              <a:rPr lang="en-US" sz="1400" b="0"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该性质是快速排序正确性的基石，确保了每次分区后，基准值的位置已处于最终排序的正确位置。</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E293B"/>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问题(f) 用 Hoare-Partition 重写 QUICKSORT</a:t>
            </a:r>
            <a:endParaRPr lang="en-US" sz="1100"/>
          </a:p>
        </p:txBody>
      </p:sp>
      <p:sp>
        <p:nvSpPr>
          <p:cNvPr id="5" name="AutoShape 5"/>
          <p:cNvSpPr/>
          <p:nvPr/>
        </p:nvSpPr>
        <p:spPr>
          <a:xfrm>
            <a:off x="508000" y="1397000"/>
            <a:ext cx="5334000" cy="3111500"/>
          </a:xfrm>
          <a:prstGeom prst="roundRect">
            <a:avLst>
              <a:gd name="adj" fmla="val 0"/>
            </a:avLst>
          </a:prstGeom>
          <a:solidFill>
            <a:srgbClr val="F1F5F9">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6" name="AutoShape 6"/>
          <p:cNvSpPr txBox="1"/>
          <p:nvPr/>
        </p:nvSpPr>
        <p:spPr>
          <a:xfrm>
            <a:off x="698500" y="1587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 版快速排序伪代码实现</a:t>
            </a:r>
            <a:endParaRPr lang="en-US" sz="1100"/>
          </a:p>
        </p:txBody>
      </p:sp>
      <p:sp>
        <p:nvSpPr>
          <p:cNvPr id="7" name="AutoShape 7"/>
          <p:cNvSpPr txBox="1"/>
          <p:nvPr/>
        </p:nvSpPr>
        <p:spPr>
          <a:xfrm>
            <a:off x="698500" y="2032000"/>
            <a:ext cx="4953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rPr>
              <a:t>QUICKSORT(A, p, r)</a:t>
            </a:r>
            <a:endParaRPr lang="en-US" sz="1100"/>
          </a:p>
          <a:p>
            <a:pPr marL="0" indent="0" algn="l">
              <a:lnSpc>
                <a:spcPct val="108000"/>
              </a:lnSpc>
            </a:pPr>
            <a:r>
              <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rPr>
              <a:t>1 if p &lt; r</a:t>
            </a:r>
            <a:endPar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rPr>
              <a:t>2 q = HOARE-PARTITION(A, p, r)</a:t>
            </a:r>
            <a:endPar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endParaRPr>
          </a:p>
          <a:p>
            <a:pPr marL="0" indent="0" algn="l">
              <a:lnSpc>
                <a:spcPct val="108000"/>
              </a:lnSpc>
            </a:pPr>
            <a:r>
              <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rPr>
              <a:t>3 QUICKSORT(A, p, q)</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左边界：至 q（非 q-1）</a:t>
            </a:r>
            <a:endPar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0" i="0" u="none" strike="noStrike">
                <a:solidFill>
                  <a:srgbClr val="1E293B"/>
                </a:solidFill>
                <a:latin typeface="Consolas" panose="020B0609020204030204"/>
                <a:ea typeface="Consolas" panose="020B0609020204030204"/>
                <a:cs typeface="Consolas" panose="020B0609020204030204"/>
                <a:sym typeface="Consolas" panose="020B0609020204030204"/>
              </a:rPr>
              <a:t>4 QUICKSORT(A, q+1, r)</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 右边界：从 q+1 开始</a:t>
            </a:r>
            <a:endPar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096000" y="1397000"/>
            <a:ext cx="5588000" cy="1460500"/>
          </a:xfrm>
          <a:prstGeom prst="roundRect">
            <a:avLst>
              <a:gd name="adj" fmla="val 0"/>
            </a:avLst>
          </a:prstGeom>
          <a:solidFill>
            <a:srgbClr val="FEE2E2">
              <a:alpha val="6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86500" y="1587500"/>
            <a:ext cx="304800" cy="304800"/>
          </a:xfrm>
          <a:prstGeom prst="rect">
            <a:avLst/>
          </a:prstGeom>
        </p:spPr>
      </p:pic>
      <p:sp>
        <p:nvSpPr>
          <p:cNvPr id="10" name="AutoShape 10"/>
          <p:cNvSpPr txBox="1"/>
          <p:nvPr/>
        </p:nvSpPr>
        <p:spPr>
          <a:xfrm>
            <a:off x="6667500" y="15494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教材版 vs Hoare版：递归边界差异</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标准教材版划分后，递归调用为 [p, q-1] 和 [q+1, r]；而 Hoare 版将左递归调整为 [p, q]，这是两者最显著的区别，直接决定了分区的正确性。</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096000" y="3048000"/>
            <a:ext cx="5588000" cy="1460500"/>
          </a:xfrm>
          <a:prstGeom prst="roundRect">
            <a:avLst>
              <a:gd name="adj" fmla="val 0"/>
            </a:avLst>
          </a:prstGeom>
          <a:solidFill>
            <a:srgbClr val="FEE2E2">
              <a:alpha val="6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3238500"/>
            <a:ext cx="304800" cy="304800"/>
          </a:xfrm>
          <a:prstGeom prst="rect">
            <a:avLst/>
          </a:prstGeom>
        </p:spPr>
      </p:pic>
      <p:sp>
        <p:nvSpPr>
          <p:cNvPr id="13" name="AutoShape 13"/>
          <p:cNvSpPr txBox="1"/>
          <p:nvPr/>
        </p:nvSpPr>
        <p:spPr>
          <a:xfrm>
            <a:off x="6667500" y="32004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避坑指南：为何不能是 q-1？</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 划分返回的 q 本身属于左分区元素。若递归到 q-1，会导致 A[q] 这个元素被遗漏，从而破坏排序的完整性，这是实现时最容易犯的错误。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08000" y="5016500"/>
            <a:ext cx="11176000" cy="1397000"/>
          </a:xfrm>
          <a:prstGeom prst="roundRect">
            <a:avLst>
              <a:gd name="adj" fmla="val 0"/>
            </a:avLst>
          </a:prstGeom>
          <a:solidFill>
            <a:srgbClr val="D1FAE5">
              <a:alpha val="40000"/>
            </a:srgbClr>
          </a:solidFill>
          <a:ln w="12700" cap="flat" cmpd="sng">
            <a:solidFill>
              <a:srgbClr val="6EE7B7">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207000"/>
            <a:ext cx="355600" cy="355600"/>
          </a:xfrm>
          <a:prstGeom prst="rect">
            <a:avLst/>
          </a:prstGeom>
        </p:spPr>
      </p:pic>
      <p:sp>
        <p:nvSpPr>
          <p:cNvPr id="16" name="AutoShape 16"/>
          <p:cNvSpPr txBox="1"/>
          <p:nvPr/>
        </p:nvSpPr>
        <p:spPr>
          <a:xfrm>
            <a:off x="1206500" y="5207000"/>
            <a:ext cx="1028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原理本质：枢轴的归属</a:t>
            </a:r>
            <a:endParaRPr lang="en-US" sz="1100"/>
          </a:p>
          <a:p>
            <a:pPr marL="0"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Hoare 划分过程中，枢轴元素并未被交换到最终的“中间”位置并单独分离，而是始终保留在左分区 A[p..q] 的范围内。因此，左递归必须包含 q，以确保枢轴被正确处理；而右递归则从 q+1 开始，避免了重复处理同一元素，从而保证了算法的正确性和效率。</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CFD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txBox="1"/>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本讲小结</a:t>
            </a:r>
            <a:endParaRPr lang="en-US" sz="1100"/>
          </a:p>
        </p:txBody>
      </p:sp>
      <p:sp>
        <p:nvSpPr>
          <p:cNvPr id="5" name="AutoShape 5"/>
          <p:cNvSpPr/>
          <p:nvPr/>
        </p:nvSpPr>
        <p:spPr>
          <a:xfrm>
            <a:off x="508000" y="1397000"/>
            <a:ext cx="5397500" cy="1905000"/>
          </a:xfrm>
          <a:prstGeom prst="roundRect">
            <a:avLst>
              <a:gd name="adj" fmla="val 0"/>
            </a:avLst>
          </a:prstGeom>
          <a:solidFill>
            <a:srgbClr val="FFFFFF">
              <a:alpha val="70000"/>
            </a:srgbClr>
          </a:solidFill>
          <a:ln w="12700" cap="flat" cmpd="sng">
            <a:solidFill>
              <a:srgbClr val="6EE7B7">
                <a:alpha val="5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1625600"/>
            <a:ext cx="406400" cy="406400"/>
          </a:xfrm>
          <a:prstGeom prst="rect">
            <a:avLst/>
          </a:prstGeom>
        </p:spPr>
      </p:pic>
      <p:sp>
        <p:nvSpPr>
          <p:cNvPr id="7" name="AutoShape 7"/>
          <p:cNvSpPr txBox="1"/>
          <p:nvPr/>
        </p:nvSpPr>
        <p:spPr>
          <a:xfrm>
            <a:off x="1270000" y="1625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01 算法结构：双指针对撞</a:t>
            </a:r>
            <a:endParaRPr lang="en-US" sz="1100"/>
          </a:p>
        </p:txBody>
      </p:sp>
      <p:sp>
        <p:nvSpPr>
          <p:cNvPr id="8" name="AutoShape 8"/>
          <p:cNvSpPr txBox="1"/>
          <p:nvPr/>
        </p:nvSpPr>
        <p:spPr>
          <a:xfrm>
            <a:off x="698500" y="21336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采用双指针从数组两端向中间对撞扫描，发现逆序对即交换，直至指针相遇停止。这种双向逼近的方式避免了单指针的冗余遍历，是Hoare划分的核心特征。</a:t>
            </a:r>
            <a:endParaRPr lang="en-US" sz="1100"/>
          </a:p>
        </p:txBody>
      </p:sp>
      <p:sp>
        <p:nvSpPr>
          <p:cNvPr id="9" name="AutoShape 9"/>
          <p:cNvSpPr/>
          <p:nvPr/>
        </p:nvSpPr>
        <p:spPr>
          <a:xfrm>
            <a:off x="6286500" y="1397000"/>
            <a:ext cx="5397500" cy="1905000"/>
          </a:xfrm>
          <a:prstGeom prst="roundRect">
            <a:avLst>
              <a:gd name="adj" fmla="val 0"/>
            </a:avLst>
          </a:prstGeom>
          <a:solidFill>
            <a:srgbClr val="FFFFFF">
              <a:alpha val="70000"/>
            </a:srgbClr>
          </a:solidFill>
          <a:ln w="12700" cap="flat" cmpd="sng">
            <a:solidFill>
              <a:srgbClr val="6EE7B7">
                <a:alpha val="5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25600"/>
            <a:ext cx="406400" cy="406400"/>
          </a:xfrm>
          <a:prstGeom prst="rect">
            <a:avLst/>
          </a:prstGeom>
        </p:spPr>
      </p:pic>
      <p:sp>
        <p:nvSpPr>
          <p:cNvPr id="11" name="AutoShape 11"/>
          <p:cNvSpPr txBox="1"/>
          <p:nvPr/>
        </p:nvSpPr>
        <p:spPr>
          <a:xfrm>
            <a:off x="7048500" y="1625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关键差异：无需单独归位</a:t>
            </a:r>
            <a:endParaRPr lang="en-US" sz="1100"/>
          </a:p>
        </p:txBody>
      </p:sp>
      <p:sp>
        <p:nvSpPr>
          <p:cNvPr id="12" name="AutoShape 12"/>
          <p:cNvSpPr txBox="1"/>
          <p:nvPr/>
        </p:nvSpPr>
        <p:spPr>
          <a:xfrm>
            <a:off x="6477000" y="21336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枢轴元素不单独处理，直接返回分界点j。左分区元素≤枢轴，右分区元素≥枢轴，且保证左右分区均非空，简化了递归边界的处理逻辑。</a:t>
            </a:r>
            <a:endParaRPr lang="en-US" sz="1100"/>
          </a:p>
        </p:txBody>
      </p:sp>
      <p:sp>
        <p:nvSpPr>
          <p:cNvPr id="13" name="AutoShape 13"/>
          <p:cNvSpPr/>
          <p:nvPr/>
        </p:nvSpPr>
        <p:spPr>
          <a:xfrm>
            <a:off x="508000" y="3683000"/>
            <a:ext cx="5397500" cy="1905000"/>
          </a:xfrm>
          <a:prstGeom prst="roundRect">
            <a:avLst>
              <a:gd name="adj" fmla="val 0"/>
            </a:avLst>
          </a:prstGeom>
          <a:solidFill>
            <a:srgbClr val="FFFFFF">
              <a:alpha val="70000"/>
            </a:srgbClr>
          </a:solidFill>
          <a:ln w="12700" cap="flat" cmpd="sng">
            <a:solidFill>
              <a:srgbClr val="6EE7B7">
                <a:alpha val="5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3911600"/>
            <a:ext cx="406400" cy="406400"/>
          </a:xfrm>
          <a:prstGeom prst="rect">
            <a:avLst/>
          </a:prstGeom>
        </p:spPr>
      </p:pic>
      <p:sp>
        <p:nvSpPr>
          <p:cNvPr id="15" name="AutoShape 15"/>
          <p:cNvSpPr txBox="1"/>
          <p:nvPr/>
        </p:nvSpPr>
        <p:spPr>
          <a:xfrm>
            <a:off x="1270000" y="3911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03 正确性：哨兵与不变量</a:t>
            </a:r>
            <a:endParaRPr lang="en-US" sz="1100"/>
          </a:p>
        </p:txBody>
      </p:sp>
      <p:sp>
        <p:nvSpPr>
          <p:cNvPr id="16" name="AutoShape 16"/>
          <p:cNvSpPr txBox="1"/>
          <p:nvPr/>
        </p:nvSpPr>
        <p:spPr>
          <a:xfrm>
            <a:off x="698500" y="44196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利用枢轴自身充当哨兵，有效防止指针越界；通过循环不变量严格维持分区性质，确保最终满足 p ≤ j &lt; r 的边界条件，保证算法逻辑严密。</a:t>
            </a:r>
            <a:endParaRPr lang="en-US" sz="1100"/>
          </a:p>
        </p:txBody>
      </p:sp>
      <p:sp>
        <p:nvSpPr>
          <p:cNvPr id="17" name="AutoShape 17"/>
          <p:cNvSpPr/>
          <p:nvPr/>
        </p:nvSpPr>
        <p:spPr>
          <a:xfrm>
            <a:off x="6286500" y="3683000"/>
            <a:ext cx="5397500" cy="1905000"/>
          </a:xfrm>
          <a:prstGeom prst="roundRect">
            <a:avLst>
              <a:gd name="adj" fmla="val 0"/>
            </a:avLst>
          </a:prstGeom>
          <a:solidFill>
            <a:srgbClr val="FFFFFF">
              <a:alpha val="70000"/>
            </a:srgbClr>
          </a:solidFill>
          <a:ln w="12700" cap="flat" cmpd="sng">
            <a:solidFill>
              <a:srgbClr val="6EE7B7">
                <a:alpha val="5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11600"/>
            <a:ext cx="406400" cy="406400"/>
          </a:xfrm>
          <a:prstGeom prst="rect">
            <a:avLst/>
          </a:prstGeom>
        </p:spPr>
      </p:pic>
      <p:sp>
        <p:nvSpPr>
          <p:cNvPr id="19" name="AutoShape 19"/>
          <p:cNvSpPr txBox="1"/>
          <p:nvPr/>
        </p:nvSpPr>
        <p:spPr>
          <a:xfrm>
            <a:off x="7048500" y="39116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04 工程价值：抗退化能力强</a:t>
            </a:r>
            <a:endParaRPr lang="en-US" sz="1100"/>
          </a:p>
        </p:txBody>
      </p:sp>
      <p:sp>
        <p:nvSpPr>
          <p:cNvPr id="20" name="AutoShape 20"/>
          <p:cNvSpPr txBox="1"/>
          <p:nvPr/>
        </p:nvSpPr>
        <p:spPr>
          <a:xfrm>
            <a:off x="6477000" y="44196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对重复元素分布友好，能有效避免快速排序在特定数据下的性能退化问题，是工业级标准库（如STL）中快速排序的主流实现版本。</a:t>
            </a:r>
            <a:endParaRPr lang="en-US" sz="1100"/>
          </a:p>
        </p:txBody>
      </p:sp>
      <p:sp>
        <p:nvSpPr>
          <p:cNvPr id="21" name="AutoShape 21"/>
          <p:cNvSpPr txBox="1"/>
          <p:nvPr/>
        </p:nvSpPr>
        <p:spPr>
          <a:xfrm>
            <a:off x="508000" y="5905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思考题7-1 完</a:t>
            </a:r>
            <a:endParaRPr lang="en-US" sz="1100"/>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0" y="5905500"/>
            <a:ext cx="304800" cy="304800"/>
          </a:xfrm>
          <a:prstGeom prst="rect">
            <a:avLst/>
          </a:prstGeom>
        </p:spPr>
      </p:pic>
      <p:sp>
        <p:nvSpPr>
          <p:cNvPr id="23" name="AutoShape 23"/>
          <p:cNvSpPr txBox="1"/>
          <p:nvPr/>
        </p:nvSpPr>
        <p:spPr>
          <a:xfrm>
            <a:off x="10541000" y="5905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掌握核心要点</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6056</Words>
  <Application>WPS 演示</Application>
  <PresentationFormat/>
  <Paragraphs>436</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16</vt:i4>
      </vt:variant>
    </vt:vector>
  </HeadingPairs>
  <TitlesOfParts>
    <vt:vector size="31" baseType="lpstr">
      <vt:lpstr>Arial</vt:lpstr>
      <vt:lpstr>宋体</vt:lpstr>
      <vt:lpstr>Wingdings</vt:lpstr>
      <vt:lpstr>Arial</vt:lpstr>
      <vt:lpstr>Noto Sans SC</vt:lpstr>
      <vt:lpstr>Roboto Mono</vt:lpstr>
      <vt:lpstr>Segoe Print</vt:lpstr>
      <vt:lpstr>黑体</vt:lpstr>
      <vt:lpstr>Consolas</vt:lpstr>
      <vt:lpstr>微软雅黑</vt:lpstr>
      <vt:lpstr>Arial Unicode MS</vt:lpstr>
      <vt:lpstr>Consolas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rzdj</cp:lastModifiedBy>
  <cp:revision>1</cp:revision>
  <dcterms:created xsi:type="dcterms:W3CDTF">2026-10-18T15:40:56Z</dcterms:created>
  <dcterms:modified xsi:type="dcterms:W3CDTF">2026-10-18T15:40:56Z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{"Label":"1","ContentProducer":"001191110102MACQD9K64010000","ProduceID":"7698032936676166669","ReservedCode1":"","ContentPropagator":"","PropagateID":"","ReservedCode2":""}</vt:lpwstr>
  </property>
  <property fmtid="{D5CDD505-2E9C-101B-9397-08002B2CF9AE}" pid="3" name="ICV">
    <vt:lpwstr>E196BA7ABEA24DC8B7985D0A123B4B13_13</vt:lpwstr>
  </property>
  <property fmtid="{D5CDD505-2E9C-101B-9397-08002B2CF9AE}" pid="4" name="KSOProductBuildVer">
    <vt:lpwstr>2052-12.1.0.28505</vt:lpwstr>
  </property>
</Properties>
</file>