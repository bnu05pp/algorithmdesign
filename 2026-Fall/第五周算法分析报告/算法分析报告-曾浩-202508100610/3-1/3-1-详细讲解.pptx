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先交代本题要比较的是一个 d 次多项式与 n 的 k 次幂。真正控制渐近行为的是最高次项；证明从归一化比值 p(n)/n^d 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逐项读出要证明的关系。注意大 O 和大 Ω 允许等号；小 o 和小 ω 要求严格增长差别。最高次项系数为正，后面的下界和无穷大极限才成立。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这一页是整题最关键的一步。对每个 i&lt;d，分母有正次幂，项趋于零。求和只有有限项，所以极限可以逐项相加。由此得到正极限 a_d。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从极限定义严格得到两个常数倍的界。a_d/2 和 3a_d/2 都是固定正常数。n 只要充分大即可，不必要求多项式从 n=1 开始就为正。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只需要上界，b 只需要下界。比较幂次时注意 n≥1。如果 k 是非整数常数，同样有 n^d≤n^k 或相反方向。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Θ 需要同时有上界和下界。前面建立的一条不等式已经包含全部信息。极限等于 a_d 是比“同阶”更精确的描述。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 o 的定义是比值趋于零。这里不要仅凭“大 O 成立”推小 o；严格 k&gt;d 才能使分母多出一个正次幂。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 ω 要求比值趋于正无穷。不能只说 n^(d-k) 趋于无穷，还应说明 q(n) 最终有正下界；这正是 a_d&gt;0 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用表格整体回顾。k 与 d 的三种关系恰好穷尽全部情况。提醒：等号边界同时具有 O 和 Ω，但不具有小 o 或小 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表中数值来自示例多项式。随着 n 增大，三个比值分别向正无穷、3、0 变化。演示时务必指出数值实验不能代替严格极限证明。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左侧五个布尔表达式直接反映 k 与 d 的关系。右侧循环按 a_0 到 a_d 的顺序读取，令 t=1/n，每步用 value=value/n+a_i，最终算出 q(n)=p(n)/n^d；再乘 n^(d-k) 得到需要展示的比值。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按通常的固定精度计算模型，一次浮点加减乘除或 pow 调用计常数代价。读取全部系数需要线性时间和存储；Horner 循环每个样本扫一遍系数。当前样本数固定为 3，故总时间仍是 O(d)。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明确区分理论证明与演示程序的工程瓶颈。归一化 Horner 已在交付代码中实现；多 k 查询缓存 q(n) 属于进一步扩展。浮点范围仍有限，程序会在结果无穷大时提示 outside floating-point range。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收束时回到开头的核心极限。代码可现场输入 d=2、系数 7 -5 3、k=3，也可以改变 k 为 2 或 1，观察比值的三种趋势。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04088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算法导论 · 思考题 3-1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8412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多项式的渐近行为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44144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ED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从最高次项出发，一次证明 O、Ω、Θ、o、ω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886200"/>
            <a:ext cx="6400800" cy="1042416"/>
          </a:xfrm>
          <a:prstGeom prst="roundRect">
            <a:avLst>
              <a:gd name="adj" fmla="val 10526"/>
            </a:avLst>
          </a:prstGeom>
          <a:solidFill>
            <a:srgbClr val="254A4E"/>
          </a:solidFill>
          <a:ln w="8890">
            <a:solidFill>
              <a:srgbClr val="254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41330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 / n^d  →  a_d &gt; 0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549640" y="3858768"/>
            <a:ext cx="612648" cy="1097280"/>
          </a:xfrm>
          <a:prstGeom prst="roundRect">
            <a:avLst>
              <a:gd name="adj" fmla="val 5970"/>
            </a:avLst>
          </a:prstGeom>
          <a:solidFill>
            <a:srgbClr val="087E78"/>
          </a:solidFill>
          <a:ln w="8890">
            <a:solidFill>
              <a:srgbClr val="087E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28632" y="3054096"/>
            <a:ext cx="612648" cy="1901952"/>
          </a:xfrm>
          <a:prstGeom prst="roundRect">
            <a:avLst>
              <a:gd name="adj" fmla="val 5970"/>
            </a:avLst>
          </a:prstGeom>
          <a:solidFill>
            <a:srgbClr val="55B5AA"/>
          </a:solidFill>
          <a:ln w="8890">
            <a:solidFill>
              <a:srgbClr val="55B5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7624" y="2176272"/>
            <a:ext cx="612648" cy="2779776"/>
          </a:xfrm>
          <a:prstGeom prst="roundRect">
            <a:avLst>
              <a:gd name="adj" fmla="val 5970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03336" y="5212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k&lt;d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82328" y="5212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61320" y="5212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k&gt;d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问题设定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题目要判断的五种关系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399032"/>
            <a:ext cx="10835640" cy="1207008"/>
          </a:xfrm>
          <a:prstGeom prst="roundRect">
            <a:avLst>
              <a:gd name="adj" fmla="val 7576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10259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 = a_0 + a_1 n + ... + a_d n^d，且 a_d &gt; 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13816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k≥d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880360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35808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k≤d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035808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Ω(n^k)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02352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257800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57800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Θ(n^k)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24344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479792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k&gt;d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79792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546336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01784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701784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k&lt;d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701784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ω(n^k)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4944" y="5724144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 a_d&gt;0 保证多项式在充分大的 n 上为正。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关键一步：把多项式除以 n^d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10771632" cy="1051560"/>
          </a:xfrm>
          <a:prstGeom prst="roundRect">
            <a:avLst>
              <a:gd name="adj" fmla="val 8696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078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q(n) = p(n)/n^d = a_d + Σ(i&lt;d) a_i / n^(d−i)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2889504"/>
            <a:ext cx="5175504" cy="1572768"/>
          </a:xfrm>
          <a:prstGeom prst="roundRect">
            <a:avLst>
              <a:gd name="adj" fmla="val 6977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3090672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每个低次项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05256" y="359359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i&lt;d 使 d−i&gt;0，因此 a_i/n^(d−i) → 0。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889504"/>
            <a:ext cx="5330952" cy="1572768"/>
          </a:xfrm>
          <a:prstGeom prst="roundRect">
            <a:avLst>
              <a:gd name="adj" fmla="val 6977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309067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整项极限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45936" y="359359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有限项相加，所以 q(n) → a_d。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" y="4965192"/>
            <a:ext cx="10744200" cy="704088"/>
          </a:xfrm>
          <a:prstGeom prst="roundRect">
            <a:avLst>
              <a:gd name="adj" fmla="val 12987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1572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结论：p(n) / n^d → a_d &gt; 0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核心引理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正极限给出统一的上下界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99032"/>
            <a:ext cx="10671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由于 q(n)→a_d&gt;0，可选 N，使 n≥N 时：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2084832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9930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a_d/2  ≤  p(n)/n^d  ≤  3a_d/2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837176" y="3282696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两侧乘正数 n^d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" y="3840480"/>
            <a:ext cx="10607040" cy="1042416"/>
          </a:xfrm>
          <a:prstGeom prst="roundRect">
            <a:avLst>
              <a:gd name="adj" fmla="val 8772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4142232"/>
            <a:ext cx="1000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(a_d/2)n^d  ≤  p(n)  ≤  (3a_d/2)n^d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58952" y="5623560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这条不等式将 a–c 化为幂次比较，也说明低次项不会改变最终阶数。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非严格界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与 b：大 O、大 Ω 只需比较 n^d 和 n^k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472184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73352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k≥d：上界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3544" y="2176272"/>
            <a:ext cx="4791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n≥1 时 n^d≤n^k。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p(n)≤(3a_d/2)n^d≤(3a_d/2)n^k。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p(n)=O(n^k)。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9632" y="1472184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673352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k≤d：下界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19088" y="2176272"/>
            <a:ext cx="4791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n≥1 时 n^d≥n^k。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p(n)≥(a_d/2)n^d≥(a_d/2)n^k。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p(n)=Ω(n^k)。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82896"/>
            <a:ext cx="10671048" cy="768096"/>
          </a:xfrm>
          <a:prstGeom prst="roundRect">
            <a:avLst>
              <a:gd name="adj" fmla="val 9524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5102352"/>
            <a:ext cx="10131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 同时满足两侧条件；这正是下一页的 Θ。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c：同阶发生在 k=d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1472184"/>
            <a:ext cx="10725912" cy="1033272"/>
          </a:xfrm>
          <a:prstGeom prst="roundRect">
            <a:avLst>
              <a:gd name="adj" fmla="val 8850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73936"/>
            <a:ext cx="10140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(a_d/2)n^d ≤ p(n) ≤ (3a_d/2)n^d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0664" y="3035808"/>
            <a:ext cx="3419856" cy="1490472"/>
          </a:xfrm>
          <a:prstGeom prst="roundRect">
            <a:avLst>
              <a:gd name="adj" fmla="val 6135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273552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3544" y="372160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p(n)=Ω(n^d)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562856" y="3035808"/>
            <a:ext cx="3419856" cy="1490472"/>
          </a:xfrm>
          <a:prstGeom prst="roundRect">
            <a:avLst>
              <a:gd name="adj" fmla="val 6135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3273552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45736" y="372160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p(n)=O(n^d)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385048" y="3035808"/>
            <a:ext cx="3419856" cy="1490472"/>
          </a:xfrm>
          <a:prstGeom prst="roundRect">
            <a:avLst>
              <a:gd name="adj" fmla="val 6135"/>
            </a:avLst>
          </a:prstGeom>
          <a:solidFill>
            <a:srgbClr val="DCEFEB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3273552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67928" y="372160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p(n)=Θ(n^d)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7240" y="5376672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极限还给出更强结论：p(n)/n^d → a_d。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严格上界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d：k&gt;d 时，比值趋于 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0664" y="1481328"/>
            <a:ext cx="10661904" cy="1106424"/>
          </a:xfrm>
          <a:prstGeom prst="roundRect">
            <a:avLst>
              <a:gd name="adj" fmla="val 826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801368"/>
            <a:ext cx="10085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= q(n) / n^(k−d)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026664"/>
            <a:ext cx="515721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22783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50976" y="373075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q(n)→a_d，是有限正常数。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3912" y="3026664"/>
            <a:ext cx="524865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322783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73368" y="373075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k−d&gt;0，所以 n^(k−d)→+∞。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4837176"/>
            <a:ext cx="10579608" cy="804672"/>
          </a:xfrm>
          <a:prstGeom prst="roundRect">
            <a:avLst>
              <a:gd name="adj" fmla="val 10227"/>
            </a:avLst>
          </a:prstGeom>
          <a:solidFill>
            <a:srgbClr val="1D4449"/>
          </a:solidFill>
          <a:ln w="8890">
            <a:solidFill>
              <a:srgbClr val="1D4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5065776"/>
            <a:ext cx="9976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→ 0，因此 p(n)=o(n^k)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严格下界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e：k&lt;d 时，比值趋于正无穷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0664" y="1481328"/>
            <a:ext cx="10661904" cy="1106424"/>
          </a:xfrm>
          <a:prstGeom prst="roundRect">
            <a:avLst>
              <a:gd name="adj" fmla="val 826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801368"/>
            <a:ext cx="10085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= n^(d−k) · q(n)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026664"/>
            <a:ext cx="515721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22783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第一个因子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50976" y="373075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d−k&gt;0，所以 n^(d−k)→+∞。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3912" y="3026664"/>
            <a:ext cx="524865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322783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第二个因子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73368" y="373075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q(n)→a_d&gt;0，最终始终大于 a_d/2。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4837176"/>
            <a:ext cx="10579608" cy="804672"/>
          </a:xfrm>
          <a:prstGeom prst="roundRect">
            <a:avLst>
              <a:gd name="adj" fmla="val 10227"/>
            </a:avLst>
          </a:prstGeom>
          <a:solidFill>
            <a:srgbClr val="1D4449"/>
          </a:solidFill>
          <a:ln w="8890">
            <a:solidFill>
              <a:srgbClr val="1D4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5065776"/>
            <a:ext cx="9976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→ +∞，因此 p(n)=ω(n^k)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结果汇总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五种渐近记号的完整分类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1563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18104" y="15636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的极限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29400" y="156362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成立的关系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2057400"/>
            <a:ext cx="10661904" cy="832104"/>
          </a:xfrm>
          <a:prstGeom prst="roundRect">
            <a:avLst>
              <a:gd name="adj" fmla="val 6593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677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k&lt;d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36976" y="226771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+∞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45352" y="2267712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Ω(n^k)、ω(n^k)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9808" y="3118104"/>
            <a:ext cx="10661904" cy="832104"/>
          </a:xfrm>
          <a:prstGeom prst="roundRect">
            <a:avLst>
              <a:gd name="adj" fmla="val 6593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2841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36976" y="3328416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5352" y="332841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O(n^k)、Ω(n^k)、Θ(n^k)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" y="4178808"/>
            <a:ext cx="10661904" cy="832104"/>
          </a:xfrm>
          <a:prstGeom prst="roundRect">
            <a:avLst>
              <a:gd name="adj" fmla="val 6593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k&gt;d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36976" y="43891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45352" y="438912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O(n^k)、o(n^k)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6384" y="5532120"/>
            <a:ext cx="10607040" cy="493776"/>
          </a:xfrm>
          <a:prstGeom prst="roundRect">
            <a:avLst>
              <a:gd name="adj" fmla="val 9259"/>
            </a:avLst>
          </a:prstGeom>
          <a:solidFill>
            <a:srgbClr val="F8E9E5"/>
          </a:solidFill>
          <a:ln w="8890">
            <a:solidFill>
              <a:srgbClr val="F8E9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5641848"/>
            <a:ext cx="10213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 k=d 同时满足 O、Ω、Θ；严格的 o 与 ω 分别要求 k&gt;d 与 k&lt;d。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数值演示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例子：3n²−5n+7 的三个比值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417320"/>
            <a:ext cx="10771632" cy="685800"/>
          </a:xfrm>
          <a:prstGeom prst="roundRect">
            <a:avLst>
              <a:gd name="adj" fmla="val 10667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00200"/>
            <a:ext cx="10268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p(n)=3n²−5n+7，d=2，最高次项系数 a_d=3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96112" y="2496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62656" y="2496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22976" y="24963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75904" y="24963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p(n)/n³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999232"/>
            <a:ext cx="10661904" cy="548640"/>
          </a:xfrm>
          <a:prstGeom prst="roundRect">
            <a:avLst>
              <a:gd name="adj" fmla="val 6667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0998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62656" y="30998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25.7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22976" y="30998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30998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0.257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808" y="3685032"/>
            <a:ext cx="10661904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785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62656" y="37856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295.07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22976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2.9507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75904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0.029507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9808" y="4370832"/>
            <a:ext cx="10661904" cy="548640"/>
          </a:xfrm>
          <a:prstGeom prst="roundRect">
            <a:avLst>
              <a:gd name="adj" fmla="val 6667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471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962656" y="44714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2995.007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22976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2.995007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75904" y="44714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0.002995007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8096" y="5678424"/>
            <a:ext cx="10616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观察到发散、趋于 3、趋于 0；有限样本只作展示，证明仍以上述极限为准。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代码：判定与数值计算分开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1408176"/>
            <a:ext cx="5193792" cy="3419856"/>
          </a:xfrm>
          <a:prstGeom prst="roundRect">
            <a:avLst>
              <a:gd name="adj" fmla="val 2674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64208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渐近分类：只比较 k 与 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267712"/>
            <a:ext cx="46634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&gt;= degree  // O(n^k)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&lt;= degree  // Omega(n^k)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== degree  // Theta(n^k)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&gt;  degree  // o(n^k)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  degree  // omega(n^k)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90488" y="1408176"/>
            <a:ext cx="5193792" cy="3419856"/>
          </a:xfrm>
          <a:prstGeom prst="roundRect">
            <a:avLst>
              <a:gd name="adj" fmla="val 267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66420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Horner 法计算 q(n)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28232" y="2276856"/>
            <a:ext cx="46268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coefficients.front();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1; i &lt;= d; ++i)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value/n + coefficients[i];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value * pow(n, d-k);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266944"/>
            <a:ext cx="10616184" cy="621792"/>
          </a:xfrm>
          <a:prstGeom prst="roundRect">
            <a:avLst>
              <a:gd name="adj" fmla="val 10294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44068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最终等于 p(n)/n^d；样本比值仅用于观察，不构成证明。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程序复杂度：固定三个样本时为 O(d)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53896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d+1 个系数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14416" y="161848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35240" y="1618488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 vector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9631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判断五种关系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14416" y="249631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35240" y="2496312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209544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74136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单个样本的 Horner 循环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14416" y="337413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35240" y="3374136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临时变量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4087368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51960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个样本的总计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14416" y="425196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35240" y="4251960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 总空间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4672" y="5522976"/>
            <a:ext cx="10570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若改为 s 个样本：O(sd) 时间。读入任意 d 次多项式本身就需要 Ω(d) 时间。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瓶颈与改进：避免巨大中间幂次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22376" y="1417320"/>
            <a:ext cx="5175504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18488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 1：重复扫描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121408"/>
            <a:ext cx="47365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若取 s 个样本，每次重新遍历 d+1 个系数，总成本 O(sd)。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53912" y="1417320"/>
            <a:ext cx="5230368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618488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已采用：归一化 Horner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73368" y="2121408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直接算 q(n)=p(n)/n^d，避免先形成可能溢出的 n^d。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" y="3346704"/>
            <a:ext cx="5175504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47872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 2：浮点范围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832" y="4050792"/>
            <a:ext cx="47365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 q(n) 稳定，n^(d-k) 仍可能上溢或下溢。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3912" y="3346704"/>
            <a:ext cx="5230368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3547872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扩展方案：复用与提示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73368" y="4050792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k 查询可复用同一 n 的 q(n)；越界时提示数值不可表示。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" y="560527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优化改善数值稳定性或重复查询常数，不改变读取系数的 Ω(d) 下界。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使用与收束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演示与最终结论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371600"/>
            <a:ext cx="5239512" cy="2249424"/>
          </a:xfrm>
          <a:prstGeom prst="roundRect">
            <a:avLst>
              <a:gd name="adj" fmla="val 487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727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运行步骤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3544" y="2075688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d；按 a_0 到 a_d 输入系数；输入 k。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程序输出 O、Ω、Θ、o、ω 的判定和三组样本比值。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0488" y="1371600"/>
            <a:ext cx="5239512" cy="2249424"/>
          </a:xfrm>
          <a:prstGeom prst="roundRect">
            <a:avLst>
              <a:gd name="adj" fmla="val 487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5727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示例输入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9944" y="2075688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d=2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系数：7  -5  3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k=3，观察 p(n)/n³ 逐渐趋于 0。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" y="4123944"/>
            <a:ext cx="10698480" cy="1060704"/>
          </a:xfrm>
          <a:prstGeom prst="roundRect">
            <a:avLst>
              <a:gd name="adj" fmla="val 8621"/>
            </a:avLst>
          </a:prstGeom>
          <a:solidFill>
            <a:srgbClr val="1D4449"/>
          </a:solidFill>
          <a:ln w="8890">
            <a:solidFill>
              <a:srgbClr val="1D4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4434840"/>
            <a:ext cx="10094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一句话：a_d&gt;0 时，d 次多项式最终与 n^d 同阶。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77240" y="568756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程序用于观察；a–e 的严格证明由 q(n)→a_d 和统一上下界完成。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算法导论 3-1｜多项式的渐近行为</dc:title>
  <dc:subject>3-1 a–e 的证明与数值演示</dc:subject>
  <dc:creator>Codex</dc:creator>
  <cp:lastModifiedBy>Codex</cp:lastModifiedBy>
  <cp:revision>1</cp:revision>
  <dcterms:created xsi:type="dcterms:W3CDTF">2026-10-11T03:55:01Z</dcterms:created>
  <dcterms:modified xsi:type="dcterms:W3CDTF">2026-10-11T03:55:01Z</dcterms:modified>
</cp:coreProperties>
</file>