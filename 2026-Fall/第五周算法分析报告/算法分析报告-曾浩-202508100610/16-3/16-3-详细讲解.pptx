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先说明课题：在普通二叉搜索树上维护子树规模。一旦更新使某个节点失衡，整棵局部子树重建。重点是为什么频繁重建仍有对数均摊代价。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size 与高度不同。对每个节点分别检查左、右子树是否超过整棵以 x 为根子树的 α 倍。α 越接近 1/2，允许的不均衡越小。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这页给听众导航。a 和 b 是算法性质；c、d、e 是一条连续的均摊分析链。讲解可由第一位同学负责 a、b、代码；第二位负责势函数及更新复杂度。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画图说明：左侧是退化子树，右侧是同一组有序键 1 到 7 的中位数树。实际算法先中序取出指针，然后反复取中位节点；不用重新申请节点。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伪代码对应 collectInorder 和 buildMedian。中序收集使用显式栈，不怕输入子树此前退化；构造时递归深度只有对数级。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 固定且小于 1，所以对数的底数 1/α 大于 1。深度 d 处若还有节点，所在子树至少有一个节点，由此反推 d 不会超过对数级。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讲清楚“最高”是靠近根，不是深度最大。代码的 highest 记录一个指向子树链接的指针；递归向根回溯时，祖先若也失衡就覆盖后代。只对最终标记的子树重建一次。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两个孩子的删除容易误以为影响两条无关路径。程序只是把后继节点的键复制到目标，再从右子树一路向左删去后继。规模变化沿这条路径及其祖先向上回溯。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注意求和只计入 Δ≥2 的节点。若两侧只差 1，该节点不产生势能。程序本身不用显式保存 Φ，证明时才用它衡量过去积攒的失衡。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用三个规模例子说明阈值为何设在 Δ≥2。1/2-平衡意味着每个节点的左右规模最多差一个，因此局部全部变成零势能。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是当前待重建子树的节点数。假定线性重建最多消耗 Km。失衡说明较大一侧超过 αm，推出 Δ 根节点下界。只用根贡献就足以付费，其他节点势能只会让结论更强。若题目把 m 单位势能视作 m 节点重建费用，则 K=1。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这里要提醒听众：f(Δ) 从 1 到 2 时，贡献会从 0 跳到 2c，因此每个节点可增加 2c，而不是 c。受影响路径长 O(log n)，所以整体涨势仍是 O(log n)。重建费用用上一页的势能下降支付。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代码没有到处写 std::，使用 using namespace std 并显式包含必要标准头文件。实现不存父指针；通过 Node** 指向子树链接，因此重建后直接替换那棵子树的根。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这页按真实源码讲解。insertAt、eraseAt 在递归回溯中维护 size 并检查失衡；如果更靠近根的祖先也失衡，就覆盖 highest。它保存的是子树指针的位置，所以 rebuild(*highest) 能直接改接父节点 child 或根指针。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这里用实际编译运行得到的数字。顺序插入通常会使普通 BST 退化，但本算法在达到失衡阈值时重建。测试还覆盖随机更新、重复键和删除不存在的键。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搜索最坏是对数。插入和删除的普通路径对数；一次局部重建可线性，因此完整单次更新最坏线性。但势能法已证明长期均摊仍是对数。p、t、v 都是演示或检查命令，需要访问全树，不能算进插入删除的核心复杂度。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改进一是工程优化，可减少重复分配，但不能消除重建本身逐节点处理的 Θ(m) 成本。改进二是工作负载调参，不改变正确性与均摊阶数，只影响常数。源码当前使用局部 vector，没有假称已经复用。测性能时不要每次更新后都运行 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收束时再次区分最坏与均摊：一次更新可能线性，但重建前积累的势能可支付该代价，长期均摊是对数。也回顾程序的真实瓶颈及 α 的调参取舍。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" y="685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算法导论 16-3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76656" y="1417320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均摊加权平衡树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94944" y="23957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D0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线性重建 · 对数搜索 · 势能分析 · C++17 实现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" y="3803904"/>
            <a:ext cx="5193792" cy="1078992"/>
          </a:xfrm>
          <a:prstGeom prst="roundRect">
            <a:avLst>
              <a:gd name="adj" fmla="val 11017"/>
            </a:avLst>
          </a:prstGeom>
          <a:solidFill>
            <a:srgbClr val="22474A"/>
          </a:solidFill>
          <a:ln w="8890">
            <a:solidFill>
              <a:srgbClr val="2247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4370832"/>
            <a:ext cx="4681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更新单次可达 Θ(n)，均摊 O(log n)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55480" y="1929384"/>
            <a:ext cx="-1097280" cy="978408"/>
          </a:xfrm>
          <a:prstGeom prst="line">
            <a:avLst/>
          </a:prstGeom>
          <a:noFill/>
          <a:ln w="25400">
            <a:solidFill>
              <a:srgbClr val="DDEDE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555480" y="1929384"/>
            <a:ext cx="1097280" cy="978408"/>
          </a:xfrm>
          <a:prstGeom prst="line">
            <a:avLst/>
          </a:prstGeom>
          <a:noFill/>
          <a:ln w="25400">
            <a:solidFill>
              <a:srgbClr val="DDEDE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458200" y="2907792"/>
            <a:ext cx="-594360" cy="1014984"/>
          </a:xfrm>
          <a:prstGeom prst="line">
            <a:avLst/>
          </a:prstGeom>
          <a:noFill/>
          <a:ln w="25400">
            <a:solidFill>
              <a:srgbClr val="DDEDE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458200" y="2907792"/>
            <a:ext cx="576072" cy="1014984"/>
          </a:xfrm>
          <a:prstGeom prst="line">
            <a:avLst/>
          </a:prstGeom>
          <a:noFill/>
          <a:ln w="25400">
            <a:solidFill>
              <a:srgbClr val="DDEDE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0652760" y="2907792"/>
            <a:ext cx="-576072" cy="1014984"/>
          </a:xfrm>
          <a:prstGeom prst="line">
            <a:avLst/>
          </a:prstGeom>
          <a:noFill/>
          <a:ln w="25400">
            <a:solidFill>
              <a:srgbClr val="DDEDE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2907792"/>
            <a:ext cx="576072" cy="1014984"/>
          </a:xfrm>
          <a:prstGeom prst="line">
            <a:avLst/>
          </a:prstGeom>
          <a:noFill/>
          <a:ln w="25400">
            <a:solidFill>
              <a:srgbClr val="DDEDEA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244584" y="1618488"/>
            <a:ext cx="621792" cy="621792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47304" y="2596896"/>
            <a:ext cx="621792" cy="621792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25968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341864" y="2596896"/>
            <a:ext cx="621792" cy="621792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41864" y="25968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52944" y="3611880"/>
            <a:ext cx="621792" cy="621792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3611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723376" y="3611880"/>
            <a:ext cx="621792" cy="621792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23376" y="3611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765792" y="3611880"/>
            <a:ext cx="621792" cy="621792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65792" y="3611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917936" y="3611880"/>
            <a:ext cx="621792" cy="621792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17936" y="3611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08392" y="4617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1/2-平衡重建后的示意树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问题设定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模型：在每个节点维护子树规模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40680" cy="1938528"/>
          </a:xfrm>
          <a:prstGeom prst="roundRect">
            <a:avLst>
              <a:gd name="adj" fmla="val 566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08760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size(x)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1984248"/>
            <a:ext cx="50383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size(x) = 1 + size(left) + size(right)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空子树的 size 为 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2784" y="1325880"/>
            <a:ext cx="5321808" cy="1938528"/>
          </a:xfrm>
          <a:prstGeom prst="roundRect">
            <a:avLst>
              <a:gd name="adj" fmla="val 566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508760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α-平衡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73952" y="1984248"/>
            <a:ext cx="49194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left.size ≤ α · x.size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right.size ≤ α · x.size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575304"/>
            <a:ext cx="11000232" cy="1700784"/>
          </a:xfrm>
          <a:prstGeom prst="roundRect">
            <a:avLst>
              <a:gd name="adj" fmla="val 6452"/>
            </a:avLst>
          </a:prstGeom>
          <a:solidFill>
            <a:srgbClr val="173639"/>
          </a:solidFill>
          <a:ln w="8890">
            <a:solidFill>
              <a:srgbClr val="1736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94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参数范围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43159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 ≤ α &lt; 1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626864" y="4242816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后续更新与均摊证明要求严格 α &gt; 1/2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3504" y="561441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整棵树 α-平衡：每个节点都满足两侧规模约束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解题路线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a–e 的逻辑链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74520"/>
            <a:ext cx="438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6384" y="25511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6384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中序节点数组 → 取中位数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44897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Θ(m)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52928" y="16459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874520"/>
            <a:ext cx="438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044952" y="25511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044952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路径规模逐层乘 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44952" y="44897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11496" y="16459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874520"/>
            <a:ext cx="438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303520" y="25511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303520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1/2-平衡时 Φ=0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44897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Φ≥0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70064" y="16459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1874520"/>
            <a:ext cx="438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562088" y="25511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562088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失衡根释放足够势能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62088" y="44897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均摊≤0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628632" y="16459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0656" y="1874520"/>
            <a:ext cx="438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820656" y="25511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20656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路径涨势 + 一次重建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20656" y="44897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 O(log n)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03504" y="56875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先证明重建正确，再证明重建的成本可以由此前积累的失衡势能支付。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局部重建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a：按中位数重建为 1/2-平衡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原子树：键序正确，但形状可能退化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重建：保留节点与键，重接左右指针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53312" y="2057400"/>
            <a:ext cx="713232" cy="630936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06424" y="1810512"/>
            <a:ext cx="493776" cy="49377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6424" y="18105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066544" y="2688336"/>
            <a:ext cx="713232" cy="630936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819656" y="2441448"/>
            <a:ext cx="493776" cy="49377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9656" y="2441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79776" y="3319272"/>
            <a:ext cx="713232" cy="630936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532888" y="3072384"/>
            <a:ext cx="493776" cy="49377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30723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493008" y="3950208"/>
            <a:ext cx="713232" cy="630936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246120" y="3703320"/>
            <a:ext cx="493776" cy="49377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703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959352" y="4334256"/>
            <a:ext cx="493776" cy="49377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4334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006840" y="2240280"/>
            <a:ext cx="-1307592" cy="1024128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006840" y="2240280"/>
            <a:ext cx="1298448" cy="1024128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699248" y="3264408"/>
            <a:ext cx="-676656" cy="1097280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699248" y="3264408"/>
            <a:ext cx="667512" cy="1097280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305288" y="3264408"/>
            <a:ext cx="-676656" cy="1097280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0305288" y="3264408"/>
            <a:ext cx="667512" cy="1097280"/>
          </a:xfrm>
          <a:prstGeom prst="line">
            <a:avLst/>
          </a:prstGeom>
          <a:noFill/>
          <a:ln w="25400">
            <a:solidFill>
              <a:srgbClr val="C7D8D6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732520" y="1965960"/>
            <a:ext cx="548640" cy="548640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424928" y="2990088"/>
            <a:ext cx="548640" cy="548640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492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0030968" y="2990088"/>
            <a:ext cx="548640" cy="548640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3096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748272" y="4087368"/>
            <a:ext cx="548640" cy="548640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48272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092440" y="4087368"/>
            <a:ext cx="548640" cy="548640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9354312" y="4087368"/>
            <a:ext cx="548640" cy="548640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54312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10698480" y="4087368"/>
            <a:ext cx="548640" cy="548640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9848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67512" y="5541264"/>
            <a:ext cx="10835640" cy="475488"/>
          </a:xfrm>
          <a:prstGeom prst="roundRect">
            <a:avLst>
              <a:gd name="adj" fmla="val 11538"/>
            </a:avLst>
          </a:prstGeom>
          <a:solidFill>
            <a:srgbClr val="DDEDEA"/>
          </a:solidFill>
          <a:ln w="8890">
            <a:solidFill>
              <a:srgbClr val="DDED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" y="5632704"/>
            <a:ext cx="1038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每个节点两侧大小最多差 1，因此所有节点都满足 1/2-平衡。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局部重建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a：重建步骤与线性复杂度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264408" cy="2267712"/>
          </a:xfrm>
          <a:prstGeom prst="roundRect">
            <a:avLst>
              <a:gd name="adj" fmla="val 4839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73352"/>
            <a:ext cx="576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04672" y="22037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中序收集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761488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 个节点指针按键序放入数组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62272" y="1463040"/>
            <a:ext cx="3264408" cy="2267712"/>
          </a:xfrm>
          <a:prstGeom prst="roundRect">
            <a:avLst>
              <a:gd name="adj" fmla="val 4839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673352"/>
            <a:ext cx="576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72584" y="22037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中位划分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2584" y="2761488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选中位节点作根，递归处理两半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21040" y="1463040"/>
            <a:ext cx="3264408" cy="2267712"/>
          </a:xfrm>
          <a:prstGeom prst="roundRect">
            <a:avLst>
              <a:gd name="adj" fmla="val 4839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1673352"/>
            <a:ext cx="576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31352" y="22037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回填规模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31352" y="2761488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重连 left/right，刷新每个 size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114800"/>
            <a:ext cx="10981944" cy="1444752"/>
          </a:xfrm>
          <a:prstGeom prst="roundRect">
            <a:avLst>
              <a:gd name="adj" fmla="val 7595"/>
            </a:avLst>
          </a:prstGeom>
          <a:solidFill>
            <a:srgbClr val="173639"/>
          </a:solidFill>
          <a:ln w="8890">
            <a:solidFill>
              <a:srgbClr val="1736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4361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37944" y="424281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Θ(m) + Θ(m) = Θ(m)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20256" y="4361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辅助空间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705088" y="424281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O(m)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" y="5943600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中序有序 + 中位数划分，因此 BST 键序与 1/2-平衡同时成立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搜索高度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b：搜索路径的节点数按几何级数缩小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395728" cy="1060704"/>
          </a:xfrm>
          <a:prstGeom prst="roundRect">
            <a:avLst>
              <a:gd name="adj" fmla="val 8621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03911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根：n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82112" y="2157984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395728" cy="1060704"/>
          </a:xfrm>
          <a:prstGeom prst="roundRect">
            <a:avLst>
              <a:gd name="adj" fmla="val 8621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203911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层：≤ αn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71032" y="2157984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395728" cy="1060704"/>
          </a:xfrm>
          <a:prstGeom prst="roundRect">
            <a:avLst>
              <a:gd name="adj" fmla="val 8621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203911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层：≤ α^2 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9952" y="2157984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98280" y="1828800"/>
            <a:ext cx="2395728" cy="1060704"/>
          </a:xfrm>
          <a:prstGeom prst="roundRect">
            <a:avLst>
              <a:gd name="adj" fmla="val 8621"/>
            </a:avLst>
          </a:prstGeom>
          <a:solidFill>
            <a:srgbClr val="173639"/>
          </a:solidFill>
          <a:ln w="8890">
            <a:solidFill>
              <a:srgbClr val="1736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203911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d 层：≤ α^d 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9808" y="3822192"/>
            <a:ext cx="10698480" cy="1261872"/>
          </a:xfrm>
          <a:prstGeom prst="roundRect">
            <a:avLst>
              <a:gd name="adj" fmla="val 7246"/>
            </a:avLst>
          </a:prstGeom>
          <a:solidFill>
            <a:srgbClr val="DDEDEA"/>
          </a:solidFill>
          <a:ln w="8890">
            <a:solidFill>
              <a:srgbClr val="DDED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330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≤ α^d n，所以 d ≤ log_(1/α) n = O(log n)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86384" y="56052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搜索只沿一条根到叶的路径；树高决定最坏访问节点数。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更新策略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更新：只检查受影响路径，选最高失衡点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0" y="1847088"/>
            <a:ext cx="822960" cy="914400"/>
          </a:xfrm>
          <a:prstGeom prst="line">
            <a:avLst/>
          </a:prstGeom>
          <a:noFill/>
          <a:ln w="38100">
            <a:solidFill>
              <a:srgbClr val="17877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834640" y="2761488"/>
            <a:ext cx="822960" cy="914400"/>
          </a:xfrm>
          <a:prstGeom prst="line">
            <a:avLst/>
          </a:prstGeom>
          <a:noFill/>
          <a:ln w="38100">
            <a:solidFill>
              <a:srgbClr val="17877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657600" y="3675888"/>
            <a:ext cx="822960" cy="914400"/>
          </a:xfrm>
          <a:prstGeom prst="line">
            <a:avLst/>
          </a:prstGeom>
          <a:noFill/>
          <a:ln w="38100">
            <a:solidFill>
              <a:srgbClr val="17877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664208" y="1499616"/>
            <a:ext cx="694944" cy="694944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14996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487168" y="2414016"/>
            <a:ext cx="694944" cy="694944"/>
          </a:xfrm>
          <a:prstGeom prst="ellipse">
            <a:avLst/>
          </a:prstGeom>
          <a:solidFill>
            <a:srgbClr val="C85D43"/>
          </a:solidFill>
          <a:ln w="20320">
            <a:solidFill>
              <a:srgbClr val="C85D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4140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10128" y="3328416"/>
            <a:ext cx="694944" cy="694944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33284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33088" y="4242816"/>
            <a:ext cx="694944" cy="694944"/>
          </a:xfrm>
          <a:prstGeom prst="ellipse">
            <a:avLst/>
          </a:prstGeom>
          <a:solidFill>
            <a:srgbClr val="17877E"/>
          </a:solidFill>
          <a:ln w="20320">
            <a:solidFill>
              <a:srgbClr val="1787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42428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537667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回溯时 A 覆盖 B：最终标记最高失衡节点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97880" y="1527048"/>
            <a:ext cx="5321808" cy="1243584"/>
          </a:xfrm>
          <a:prstGeom prst="roundRect">
            <a:avLst>
              <a:gd name="adj" fmla="val 8824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709928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BST 更新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099048" y="2185416"/>
            <a:ext cx="4919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插入或删除先按搜索路径完成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97880" y="2944368"/>
            <a:ext cx="5321808" cy="1243584"/>
          </a:xfrm>
          <a:prstGeom prst="roundRect">
            <a:avLst>
              <a:gd name="adj" fmla="val 8824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3127248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回溯维护 size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099048" y="3602736"/>
            <a:ext cx="4919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每层刷新规模，比较两侧与 α·size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897880" y="4352544"/>
            <a:ext cx="5321808" cy="1243584"/>
          </a:xfrm>
          <a:prstGeom prst="roundRect">
            <a:avLst>
              <a:gd name="adj" fmla="val 8824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4535424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一次局部重建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099048" y="5010912"/>
            <a:ext cx="4919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最高失衡节点以下全部重建为 1/2-平衡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代码逻辑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删除：后继替换不会破坏单路径分析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581912"/>
            <a:ext cx="3483864" cy="2770632"/>
          </a:xfrm>
          <a:prstGeom prst="roundRect">
            <a:avLst>
              <a:gd name="adj" fmla="val 396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个孩子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直接删除叶节点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受影响的是其祖先路径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71416" y="1581912"/>
            <a:ext cx="3483864" cy="2770632"/>
          </a:xfrm>
          <a:prstGeom prst="roundRect">
            <a:avLst>
              <a:gd name="adj" fmla="val 396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个孩子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90872" y="2542032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孩子接替原节点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90872" y="3310128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受影响的是其祖先路径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21040" y="1581912"/>
            <a:ext cx="3483864" cy="2770632"/>
          </a:xfrm>
          <a:prstGeom prst="roundRect">
            <a:avLst>
              <a:gd name="adj" fmla="val 3960"/>
            </a:avLst>
          </a:prstGeom>
          <a:solidFill>
            <a:srgbClr val="DDEDEA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个孩子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40496" y="2542032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右子树最小键替换目标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40496" y="3310128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实际删去后继，沿该路径回溯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" y="4736592"/>
            <a:ext cx="10808208" cy="896112"/>
          </a:xfrm>
          <a:prstGeom prst="roundRect">
            <a:avLst>
              <a:gd name="adj" fmla="val 10204"/>
            </a:avLst>
          </a:prstGeom>
          <a:solidFill>
            <a:srgbClr val="173639"/>
          </a:solidFill>
          <a:ln w="8890">
            <a:solidFill>
              <a:srgbClr val="1736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5001768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真正改变 size 的节点仍在一条连续路径上。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势函数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c：势能记录“有明显规模差”的节点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408176"/>
            <a:ext cx="10927080" cy="1307592"/>
          </a:xfrm>
          <a:prstGeom prst="roundRect">
            <a:avLst>
              <a:gd name="adj" fmla="val 8392"/>
            </a:avLst>
          </a:prstGeom>
          <a:solidFill>
            <a:srgbClr val="173639"/>
          </a:solidFill>
          <a:ln w="8890">
            <a:solidFill>
              <a:srgbClr val="1736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190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Δ(x) = | left.size − right.size |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05856" y="1719072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Φ(T) = c · Σ  Δ(x)  [Δ(x)≥2]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" y="3118104"/>
            <a:ext cx="5193792" cy="1618488"/>
          </a:xfrm>
          <a:prstGeom prst="roundRect">
            <a:avLst>
              <a:gd name="adj" fmla="val 678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00984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非负性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3776472"/>
            <a:ext cx="47914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 Δ(x)≥0 且 c&gt;0，因此 Φ(T)≥0。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08192" y="3118104"/>
            <a:ext cx="5440680" cy="1618488"/>
          </a:xfrm>
          <a:prstGeom prst="roundRect">
            <a:avLst>
              <a:gd name="adj" fmla="val 678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30098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1/2-平衡时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09360" y="3776472"/>
            <a:ext cx="5038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 Δ(x)≤1；求和为空，Φ(T)=0。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5486400"/>
            <a:ext cx="10780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势能不是运行时必须维护的字段；它是证明更新代价的记账工具。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势函数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c：为何重建后的局部势能归零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3456432" cy="2596896"/>
          </a:xfrm>
          <a:prstGeom prst="roundRect">
            <a:avLst>
              <a:gd name="adj" fmla="val 4225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 3 / 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77824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Δ=0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325526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势能贡献 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498848" y="1645920"/>
            <a:ext cx="3456432" cy="2596896"/>
          </a:xfrm>
          <a:prstGeom prst="roundRect">
            <a:avLst>
              <a:gd name="adj" fmla="val 4225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 3 / 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18304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Δ=1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8304" y="325526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势能贡献 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39328" y="1645920"/>
            <a:ext cx="3456432" cy="2596896"/>
          </a:xfrm>
          <a:prstGeom prst="roundRect">
            <a:avLst>
              <a:gd name="adj" fmla="val 4225"/>
            </a:avLst>
          </a:prstGeom>
          <a:solidFill>
            <a:srgbClr val="FAE9E4"/>
          </a:solidFill>
          <a:ln w="8890">
            <a:solidFill>
              <a:srgbClr val="C85D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58784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 4 / 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58784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Δ=2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58784" y="325526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势能贡献 2c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85800" y="4818888"/>
            <a:ext cx="10753344" cy="896112"/>
          </a:xfrm>
          <a:prstGeom prst="roundRect">
            <a:avLst>
              <a:gd name="adj" fmla="val 10204"/>
            </a:avLst>
          </a:prstGeom>
          <a:solidFill>
            <a:srgbClr val="DDEDEA"/>
          </a:solidFill>
          <a:ln w="8890">
            <a:solidFill>
              <a:srgbClr val="DDED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5074920"/>
            <a:ext cx="10195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取中位数建树后，任意节点左右规模最多差 1。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均摊证明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d：失衡根自身储存了足够的势能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9224" y="1325880"/>
            <a:ext cx="10872216" cy="1024128"/>
          </a:xfrm>
          <a:prstGeom prst="roundRect">
            <a:avLst>
              <a:gd name="adj" fmla="val 8929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9344"/>
            <a:ext cx="1035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较大孩子 L &gt; αm；较小孩子 = m − 1 − 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2697480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Δ(x) = L − (m−1−L)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15568" y="3291840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2L − m + 1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15568" y="3886200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(2α−1)m + 1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010144" y="2779776"/>
            <a:ext cx="3081528" cy="2029968"/>
          </a:xfrm>
          <a:prstGeom prst="roundRect">
            <a:avLst>
              <a:gd name="adj" fmla="val 5856"/>
            </a:avLst>
          </a:prstGeom>
          <a:solidFill>
            <a:srgbClr val="173639"/>
          </a:solidFill>
          <a:ln w="8890">
            <a:solidFill>
              <a:srgbClr val="1736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3127248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c ≥ K/(2α−1)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75320" y="395935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 cΔ(x) &gt; Km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4088" y="5687568"/>
            <a:ext cx="10725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重建真实代价 ≤ Km；重建后局部势能归零，故均摊重建代价 ≤ 0。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均摊证明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e：路径涨势 O(log n)，重建不增加均摊费用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399032"/>
            <a:ext cx="5257800" cy="1490472"/>
          </a:xfrm>
          <a:prstGeom prst="roundRect">
            <a:avLst>
              <a:gd name="adj" fmla="val 736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81912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普通更新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9536" y="2057400"/>
            <a:ext cx="4855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原树高度 O(log n)，修改路径长度 O(log n)。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399032"/>
            <a:ext cx="5257800" cy="1490472"/>
          </a:xfrm>
          <a:prstGeom prst="roundRect">
            <a:avLst>
              <a:gd name="adj" fmla="val 736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81912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势能增长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4855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 Δ 只变 1；阈值处 f 可涨 2，所以总涨势 O(log n)。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163824"/>
            <a:ext cx="5257800" cy="1490472"/>
          </a:xfrm>
          <a:prstGeom prst="roundRect">
            <a:avLst>
              <a:gd name="adj" fmla="val 736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346704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一次重建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822192"/>
            <a:ext cx="4855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选最高失衡子树，实际成本由势能下降覆盖。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99632" y="3163824"/>
            <a:ext cx="5257800" cy="1490472"/>
          </a:xfrm>
          <a:prstGeom prst="roundRect">
            <a:avLst>
              <a:gd name="adj" fmla="val 736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346704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3822192"/>
            <a:ext cx="4855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真实普通更新 + 势能变化 + 重建 = 均摊 O(log n)。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157216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AE9E4"/>
          </a:solidFill>
          <a:ln w="8890">
            <a:solidFill>
              <a:srgbClr val="FAE9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21808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单次最坏可因重建达到 Θ(n)；O(log n) 指操作序列的均摊时间。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实现要点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C++17：结构紧凑，关键不变量可直接检查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76656" y="1399032"/>
            <a:ext cx="10789920" cy="548640"/>
          </a:xfrm>
          <a:prstGeom prst="roundRect">
            <a:avLst>
              <a:gd name="adj" fmla="val 6667"/>
            </a:avLst>
          </a:prstGeom>
          <a:solidFill>
            <a:srgbClr val="F4F8F7"/>
          </a:solidFill>
          <a:ln w="8890">
            <a:solidFill>
              <a:srgbClr val="F4F8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节点字段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08376" y="1490472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key、size、left、right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" y="2057400"/>
            <a:ext cx="107899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1488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08376" y="2148840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整数分子/分母，默认 2/3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" y="2715768"/>
            <a:ext cx="10789920" cy="548640"/>
          </a:xfrm>
          <a:prstGeom prst="roundRect">
            <a:avLst>
              <a:gd name="adj" fmla="val 6667"/>
            </a:avLst>
          </a:prstGeom>
          <a:solidFill>
            <a:srgbClr val="F4F8F7"/>
          </a:solidFill>
          <a:ln w="8890">
            <a:solidFill>
              <a:srgbClr val="F4F8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8072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失衡判定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08376" y="2807208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denominator·childSize &gt; numerator·nodeSize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6656" y="3374136"/>
            <a:ext cx="107899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4655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最高节点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08376" y="3465576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递归回溯时持续覆盖 highest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6656" y="4032504"/>
            <a:ext cx="10789920" cy="548640"/>
          </a:xfrm>
          <a:prstGeom prst="roundRect">
            <a:avLst>
              <a:gd name="adj" fmla="val 6667"/>
            </a:avLst>
          </a:prstGeom>
          <a:solidFill>
            <a:srgbClr val="F4F8F7"/>
          </a:solidFill>
          <a:ln w="8890">
            <a:solidFill>
              <a:srgbClr val="F4F8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123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008376" y="4123944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保存原节点指针；中位数重连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6656" y="4690872"/>
            <a:ext cx="107899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782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08376" y="4782312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 检验 BST 键序、size 与 α-平衡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" y="5650992"/>
            <a:ext cx="10671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演示命令：i 键、d 键、s 键、p 中序、t 树形、v 校验、q 退出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代码路径：更新、记录最高失衡点、重建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76656" y="1389888"/>
            <a:ext cx="5285232" cy="3364992"/>
          </a:xfrm>
          <a:prstGeom prst="roundRect">
            <a:avLst>
              <a:gd name="adj" fmla="val 3261"/>
            </a:avLst>
          </a:prstGeom>
          <a:solidFill>
            <a:srgbClr val="102A2C"/>
          </a:solidFill>
          <a:ln w="8890">
            <a:solidFill>
              <a:srgbClr val="102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55064"/>
            <a:ext cx="4517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回溯维护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176272"/>
            <a:ext cx="46268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(changed) {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refresh(node);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(unbalanced(node))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highest = &amp;node;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99632" y="1389888"/>
            <a:ext cx="5285232" cy="3364992"/>
          </a:xfrm>
          <a:prstGeom prst="roundRect">
            <a:avLst>
              <a:gd name="adj" fmla="val 3261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6550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完成一次局部重建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4808" y="2176272"/>
            <a:ext cx="46085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63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(highest) {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263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rebuild(*highest);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263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++rebuilds_;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263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5193792"/>
            <a:ext cx="10680192" cy="640080"/>
          </a:xfrm>
          <a:prstGeom prst="roundRect">
            <a:avLst>
              <a:gd name="adj" fmla="val 11429"/>
            </a:avLst>
          </a:prstGeom>
          <a:solidFill>
            <a:srgbClr val="DDEDEA"/>
          </a:solidFill>
          <a:ln w="8890">
            <a:solidFill>
              <a:srgbClr val="DDED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53675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highest 是 Node**：直接指向应替换的子树链接；祖先回溯时覆盖后代。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运行示例：顺序输入仍保持平衡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5120640" cy="3154680"/>
          </a:xfrm>
          <a:prstGeom prst="roundRect">
            <a:avLst>
              <a:gd name="adj" fmla="val 3478"/>
            </a:avLst>
          </a:prstGeom>
          <a:solidFill>
            <a:srgbClr val="102A2C"/>
          </a:solidFill>
          <a:ln w="8890">
            <a:solidFill>
              <a:srgbClr val="102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45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148840"/>
            <a:ext cx="45262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1, i 2, ... , i 7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2, d 3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062472" y="1371600"/>
            <a:ext cx="5422392" cy="1371600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554480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 1–7 后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63640" y="2029968"/>
            <a:ext cx="5020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size=7 · height=4 · rebuilds=2 · valid=yes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62472" y="2980944"/>
            <a:ext cx="5422392" cy="1371600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163824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再删 2、3 后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63640" y="3639312"/>
            <a:ext cx="5020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中序输出：1 4 5 6 7；size=5 · height=3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" y="5001768"/>
            <a:ext cx="10735056" cy="786384"/>
          </a:xfrm>
          <a:prstGeom prst="roundRect">
            <a:avLst>
              <a:gd name="adj" fmla="val 9302"/>
            </a:avLst>
          </a:prstGeom>
          <a:solidFill>
            <a:srgbClr val="DDEDEA"/>
          </a:solidFill>
          <a:ln w="8890">
            <a:solidFill>
              <a:srgbClr val="DDED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193792"/>
            <a:ext cx="10204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测试：8 组序列 × 3 个 α（2/3、0.51、0.9），逐步校验全部不变量。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逐项复杂度：更新均摊快，重建单次可能贵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" y="1362456"/>
            <a:ext cx="10753344" cy="539496"/>
          </a:xfrm>
          <a:prstGeom prst="roundRect">
            <a:avLst>
              <a:gd name="adj" fmla="val 8475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7218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contains 搜索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73752" y="1472184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 最坏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18704" y="1472184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4088" y="2020824"/>
            <a:ext cx="10753344" cy="539496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30552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/ erase 普通路径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73752" y="213055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18704" y="2130552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 递归栈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" y="2679192"/>
            <a:ext cx="10753344" cy="539496"/>
          </a:xfrm>
          <a:prstGeom prst="roundRect">
            <a:avLst>
              <a:gd name="adj" fmla="val 8475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788920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rebuild m 节点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73752" y="2788920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Θ(m)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18704" y="278892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O(m) 指针数组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" y="3337560"/>
            <a:ext cx="10753344" cy="539496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447288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完整单次更新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73752" y="344728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 最坏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18704" y="34472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可能触发大子树重建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" y="3995928"/>
            <a:ext cx="10753344" cy="539496"/>
          </a:xfrm>
          <a:prstGeom prst="roundRect">
            <a:avLst>
              <a:gd name="adj" fmla="val 8475"/>
            </a:avLst>
          </a:prstGeom>
          <a:solidFill>
            <a:srgbClr val="DDEDEA"/>
          </a:solidFill>
          <a:ln w="8890">
            <a:solidFill>
              <a:srgbClr val="DDED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105656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更新序列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73752" y="4105656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每次均摊 O(log n)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18704" y="4105656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势能支付重建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" y="4654296"/>
            <a:ext cx="10753344" cy="539496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76402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/ t / v 演示命令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73752" y="4764024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918704" y="4764024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遍历或全树校验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8952" y="5641848"/>
            <a:ext cx="10625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会额外全树检查；报告更新耗时时须把它与核心更新分开。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瓶颈与改进：降低实际开销并说明取舍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1344168"/>
            <a:ext cx="5303520" cy="1627632"/>
          </a:xfrm>
          <a:prstGeom prst="roundRect">
            <a:avLst>
              <a:gd name="adj" fmla="val 674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2704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 1：重建 Θ(m)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002536"/>
            <a:ext cx="4901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失衡时访问并重接 m 个节点；当前还分配 O(m) 的指针数组。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44168"/>
            <a:ext cx="5285232" cy="1627632"/>
          </a:xfrm>
          <a:prstGeom prst="roundRect">
            <a:avLst>
              <a:gd name="adj" fmla="val 674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527048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1：复用缓冲区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19088" y="2002536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重复重建时可复用 vector 容量，减少分配；渐近时间与峰值空间不变。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3246120"/>
            <a:ext cx="5303520" cy="1627632"/>
          </a:xfrm>
          <a:prstGeom prst="roundRect">
            <a:avLst>
              <a:gd name="adj" fmla="val 674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2900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 2：α 的取舍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96112" y="3904488"/>
            <a:ext cx="4901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较小使树更矮，但可能更常重建；α 较大使路径上界常数变大。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285232" cy="1627632"/>
          </a:xfrm>
          <a:prstGeom prst="roundRect">
            <a:avLst>
              <a:gd name="adj" fmla="val 6742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429000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2：按负载选 α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19088" y="3904488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读多可偏向较小 α；写多可测试较大 α 的实际效果。默认 2/3。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8952" y="561441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另一个测量陷阱：v 的 O(n) 校验只用于调试，不应混入更新计时。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46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6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结论：线性重建仍可获得对数均摊更新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28248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" y="1399032"/>
            <a:ext cx="6729984" cy="603504"/>
          </a:xfrm>
          <a:prstGeom prst="roundRect">
            <a:avLst>
              <a:gd name="adj" fmla="val 10606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517904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5179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 最坏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" y="2185416"/>
            <a:ext cx="6729984" cy="603504"/>
          </a:xfrm>
          <a:prstGeom prst="roundRect">
            <a:avLst>
              <a:gd name="adj" fmla="val 10606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30428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 m 节点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23042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Θ(m) 时间 / O(m) 空间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04088" y="2971800"/>
            <a:ext cx="6729984" cy="603504"/>
          </a:xfrm>
          <a:prstGeom prst="roundRect">
            <a:avLst>
              <a:gd name="adj" fmla="val 10606"/>
            </a:avLst>
          </a:prstGeom>
          <a:solidFill>
            <a:srgbClr val="F4F8F7"/>
          </a:solidFill>
          <a:ln w="8890">
            <a:solidFill>
              <a:srgbClr val="C7D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309067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单次插入或删除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3090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 最坏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4088" y="3758184"/>
            <a:ext cx="6729984" cy="603504"/>
          </a:xfrm>
          <a:prstGeom prst="roundRect">
            <a:avLst>
              <a:gd name="adj" fmla="val 10606"/>
            </a:avLst>
          </a:prstGeom>
          <a:solidFill>
            <a:srgbClr val="DDEDEA"/>
          </a:solidFill>
          <a:ln w="8890">
            <a:solidFill>
              <a:srgbClr val="DDED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877056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操作序列中的更新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6200" y="38770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87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 均摊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26680" y="1399032"/>
            <a:ext cx="3675888" cy="3630168"/>
          </a:xfrm>
          <a:prstGeom prst="roundRect">
            <a:avLst>
              <a:gd name="adj" fmla="val 3275"/>
            </a:avLst>
          </a:prstGeom>
          <a:solidFill>
            <a:srgbClr val="173639"/>
          </a:solidFill>
          <a:ln w="8890">
            <a:solidFill>
              <a:srgbClr val="1736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6824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证明与实现闭环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01000" y="2276856"/>
            <a:ext cx="299923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 + 中位数重建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最高失衡点只重建一次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势能下降支付重建开销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5595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B6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关键思想：把偶发的线性重建记在此前积累的失衡势能账上。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算法导论 16-3｜均摊加权平衡树</dc:title>
  <dc:subject>算法导论 16-3 均摊加权平衡树</dc:subject>
  <dc:creator>Codex</dc:creator>
  <cp:lastModifiedBy>Codex</cp:lastModifiedBy>
  <cp:revision>1</cp:revision>
  <dcterms:created xsi:type="dcterms:W3CDTF">2026-10-11T03:55:01Z</dcterms:created>
  <dcterms:modified xsi:type="dcterms:W3CDTF">2026-10-11T03:55:01Z</dcterms:modified>
</cp:coreProperties>
</file>