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65" r:id="rId7"/>
    <p:sldId id="266" r:id="rId8"/>
    <p:sldId id="267" r:id="rId9"/>
    <p:sldId id="268" r:id="rId10"/>
    <p:sldId id="270" r:id="rId11"/>
    <p:sldId id="261" r:id="rId12"/>
    <p:sldId id="271" r:id="rId13"/>
    <p:sldId id="262" r:id="rId14"/>
    <p:sldId id="263" r:id="rId15"/>
    <p:sldId id="264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8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各位同学，今天我们来探讨算法导论中的思考题16-3，主题是Alpha平衡二叉搜索树。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各位好，这一页展示了我们需要解决的问题题干。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回顾一下核心概念：α-平衡二叉搜索树。它是在普通二叉搜索树的基础上，为每个节点增加了一个size属性，用来记录子树的节点总数。当一个节点的左右子树节点数都不超过整棵子树节点数的α倍时，这个节点就是α平衡的。如果整棵树的所有节点都满足这个条件，那么这棵树就是α平衡树。这里的α是一个介于1/2到1之间的常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任务：我们需要设计一个算法，对于任意一个二叉搜索树的节点x，重建以它为根的子树，使得重建后的子树成为1/2平衡的。这个算法的时间复杂度要求是Θ(x.size)，也就是线性时间，并且可以使用线性的辅助空间。这是一个关于数据结构平衡维护的经典问题，需要我们深入思考如何高效地重构树的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各位好，这一页展示了我们需要解决的问题题干。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回顾一下核心概念：α-平衡二叉搜索树。它是在普通二叉搜索树的基础上，为每个节点增加了一个size属性，用来记录子树的节点总数。当一个节点的左右子树节点数都不超过整棵子树节点数的α倍时，这个节点就是α平衡的。如果整棵树的所有节点都满足这个条件，那么这棵树就是α平衡树。这里的α是一个介于1/2到1之间的常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任务：我们需要设计一个算法，对于任意一个二叉搜索树的节点x，重建以它为根的子树，使得重建后的子树成为1/2平衡的。这个算法的时间复杂度要求是Θ(x.size)，也就是线性时间，并且可以使用线性的辅助空间。这是一个关于数据结构平衡维护的经典问题，需要我们深入思考如何高效地重构树的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重点探讨势的两个关键性质。首先，对于任意二叉搜索树，其势都是非负的。这是因为我们在定义势函数时，通常会将其构建为基于树结构特征的非负累加项，比如节点的高度差或平衡因子的平方等，这保证了势函数不会为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当二叉搜索树达到二分之一平衡状态时，其势为零。这是我们设定的基准状态，意味着此时树的结构最为均衡，没有额外的“势能”积累，是树结构性能最优的时刻。理解这两个性质对于我们后续进行摊还分析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重点探讨势的两个关键性质。首先，对于任意二叉搜索树，其势都是非负的。这是因为我们在定义势函数时，通常会将其构建为基于树结构特征的非负累加项，比如节点的高度差或平衡因子的平方等，这保证了势函数不会为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当二叉搜索树达到二分之一平衡状态时，其势为零。这是我们设定的基准状态，意味着此时树的结构最为均衡，没有额外的“势能”积累，是树结构性能最优的时刻。理解这两个性质对于我们后续进行摊还分析至关重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这一页我们聚焦于摊还分析中的代价重建问题。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题目给出了一个关键前提：m个单位的势能足以支付重建m个节点子树的代价。我们的任务是确定常数c的取值，使得重建操作的摊还时间保持在常数级别O(1)。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的核心在于理解势函数的作用——它就像一个“能量池”，用于抵消昂贵操作的代价。为了让摊还时间为常数，我们需要确保在每次操作中，势函数的变化量能够完全覆盖掉实际的操作成本，或者说，让势能的增加足以弥补未来可能产生的高额重建费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大家可以从势函数的定义出发，结合Alpha平衡树的失衡条件来推导c的下界。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这一页我们来探讨Alpha平衡树的插入与删除操作的摊还时间复杂度。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首先，Alpha平衡树的核心特性在于它维持了树的高度始终处于对数级别，即O(log n)。这意味着任何操作的路径长度都被限制在对数范围内。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使用“势能法”来分析其摊还时间。简单来说，势能法就像是一个能量储蓄账户。当我们进行普通的插入或删除时，代价很小，我们将一部分“能量”存入账户；而当遇到需要多次旋转调整的情况时，我们从账户中支取能量来支付高昂的调整代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通过这种方式，我们可以证明，在一系列操作中，总的操作代价被分摊了，从而保证了每一步操作的摊还时间复杂度为O(log n)。这保证了Alpha平衡树在动态数据处理中的高效性。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这一页是本次分享的结尾，我们完成了思考题16-3的探讨。希望大家通过今天的内容，对相关知识点有了更深入的理解。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0" y="2286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思考题16-3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0" y="3810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α-</a:t>
            </a:r>
            <a:r>
              <a:rPr lang="en-US" sz="2200" b="0" i="0" u="none" strike="noStrike">
                <a:solidFill>
                  <a:srgbClr val="4A55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平衡二叉搜索树</a:t>
            </a:r>
            <a:endParaRPr lang="en-US" sz="1100"/>
          </a:p>
        </p:txBody>
      </p:sp>
      <p:sp>
        <p:nvSpPr>
          <p:cNvPr id="5" name="文本框 4"/>
          <p:cNvSpPr txBox="1"/>
          <p:nvPr/>
        </p:nvSpPr>
        <p:spPr>
          <a:xfrm>
            <a:off x="3851910" y="4722495"/>
            <a:ext cx="656463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算法设计与分析</a:t>
            </a:r>
            <a:r>
              <a:rPr lang="en-US" altLang="zh-CN" sz="1600"/>
              <a:t>  </a:t>
            </a:r>
            <a:r>
              <a:rPr lang="zh-CN" altLang="en-US" sz="1600"/>
              <a:t>第一次小班讨论</a:t>
            </a:r>
            <a:r>
              <a:rPr lang="en-US" altLang="zh-CN" sz="1600"/>
              <a:t>  </a:t>
            </a:r>
            <a:r>
              <a:rPr lang="zh-CN" altLang="en-US" sz="1600"/>
              <a:t>一组</a:t>
            </a:r>
            <a:r>
              <a:rPr lang="en-US" altLang="zh-CN" sz="1600"/>
              <a:t>  </a:t>
            </a:r>
            <a:r>
              <a:rPr lang="zh-CN" altLang="en-US" sz="1600"/>
              <a:t>第二题</a:t>
            </a:r>
            <a:r>
              <a:rPr lang="en-US" altLang="zh-CN" sz="1600"/>
              <a:t> </a:t>
            </a:r>
            <a:endParaRPr lang="en-US" altLang="zh-CN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1A365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                                            </a:t>
            </a:r>
            <a:r>
              <a:rPr lang="en-US" sz="36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</a:t>
            </a:r>
            <a:r>
              <a:rPr lang="zh-CN" altLang="en-US" sz="36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</a:t>
            </a:r>
            <a:r>
              <a:rPr lang="zh-CN" altLang="en-US" sz="36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条件</a:t>
            </a:r>
            <a:endParaRPr lang="zh-CN" altLang="en-US" sz="3600" b="1" i="0" u="none" strike="noStrike">
              <a:solidFill>
                <a:srgbClr val="1A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08000" y="1460500"/>
            <a:ext cx="11176000" cy="461899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>
            <p:custDataLst>
              <p:tags r:id="rId2"/>
            </p:custDataLst>
          </p:nvPr>
        </p:nvSpPr>
        <p:spPr>
          <a:xfrm>
            <a:off x="825500" y="1651000"/>
            <a:ext cx="1054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核心概念：α-平衡二叉搜索树</a:t>
            </a:r>
            <a:endParaRPr lang="en-US" sz="2800" b="1" i="0" u="none" strike="noStrike">
              <a:solidFill>
                <a:srgbClr val="1A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>
            <p:custDataLst>
              <p:tags r:id="rId3"/>
            </p:custDataLst>
          </p:nvPr>
        </p:nvSpPr>
        <p:spPr>
          <a:xfrm>
            <a:off x="825500" y="2298700"/>
            <a:ext cx="10541000" cy="20091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在普通二叉搜索树中为每个节点增设属性 </a:t>
            </a:r>
            <a:r>
              <a:rPr lang="en-US" sz="2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x.size</a:t>
            </a:r>
            <a:r>
              <a:rPr 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，表示以该节点为根的子树包含的关键字总数。定义常数 α ∈ [1/2, 1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r>
              <a:rPr 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，若节点x的左、右子树节点数均满足 ≤ α·x.size，则称x是α平衡的；若树中所有节点均满足此条件，则树整体为α平衡树。</a:t>
            </a:r>
            <a:endParaRPr lang="en-US" sz="2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4"/>
          <p:cNvSpPr txBox="1"/>
          <p:nvPr/>
        </p:nvSpPr>
        <p:spPr>
          <a:xfrm>
            <a:off x="0" y="44323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(a) 重建算法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9"/>
          <p:cNvSpPr/>
          <p:nvPr>
            <p:custDataLst>
              <p:tags r:id="rId1"/>
            </p:custDataLst>
          </p:nvPr>
        </p:nvSpPr>
        <p:spPr>
          <a:xfrm>
            <a:off x="508000" y="1620520"/>
            <a:ext cx="5210175" cy="4658995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>
            <p:custDataLst>
              <p:tags r:id="rId2"/>
            </p:custDataLst>
          </p:nvPr>
        </p:nvSpPr>
        <p:spPr>
          <a:xfrm>
            <a:off x="707390" y="1778000"/>
            <a:ext cx="5011420" cy="5835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算法重建任务与性能约束</a:t>
            </a:r>
            <a:endParaRPr lang="en-US" sz="2400" b="1" i="0" u="none" strike="noStrike">
              <a:solidFill>
                <a:srgbClr val="1A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 txBox="1"/>
          <p:nvPr>
            <p:custDataLst>
              <p:tags r:id="rId3"/>
            </p:custDataLst>
          </p:nvPr>
        </p:nvSpPr>
        <p:spPr>
          <a:xfrm>
            <a:off x="770255" y="2422525"/>
            <a:ext cx="4728210" cy="31318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给定任意一棵</a:t>
            </a: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二叉搜索树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的一个</a:t>
            </a:r>
            <a:r>
              <a:rPr lang="en-US" sz="20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</a:t>
            </a: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x，设计一种重建算法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将以x为根的子树转化为</a:t>
            </a:r>
            <a:r>
              <a:rPr lang="en-US" sz="20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1/2 - 平衡</a:t>
            </a: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的结构。</a:t>
            </a:r>
            <a:endParaRPr 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算法需满足严格的性能指标：时间复杂度为 Θ(x.size)，允许使用 O(x.size) 的辅助空间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0"/>
          <p:cNvSpPr/>
          <p:nvPr>
            <p:custDataLst>
              <p:tags r:id="rId4"/>
            </p:custDataLst>
          </p:nvPr>
        </p:nvSpPr>
        <p:spPr>
          <a:xfrm>
            <a:off x="508000" y="1620520"/>
            <a:ext cx="76200" cy="465899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9"/>
          <p:cNvSpPr/>
          <p:nvPr>
            <p:custDataLst>
              <p:tags r:id="rId5"/>
            </p:custDataLst>
          </p:nvPr>
        </p:nvSpPr>
        <p:spPr>
          <a:xfrm>
            <a:off x="6268720" y="1620520"/>
            <a:ext cx="5302250" cy="4658995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10"/>
          <p:cNvSpPr/>
          <p:nvPr>
            <p:custDataLst>
              <p:tags r:id="rId6"/>
            </p:custDataLst>
          </p:nvPr>
        </p:nvSpPr>
        <p:spPr>
          <a:xfrm>
            <a:off x="6268720" y="1620520"/>
            <a:ext cx="76200" cy="4658995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11"/>
          <p:cNvSpPr txBox="1"/>
          <p:nvPr>
            <p:custDataLst>
              <p:tags r:id="rId7"/>
            </p:custDataLst>
          </p:nvPr>
        </p:nvSpPr>
        <p:spPr>
          <a:xfrm>
            <a:off x="6414135" y="1778635"/>
            <a:ext cx="5011420" cy="644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</a:t>
            </a:r>
            <a:r>
              <a:rPr lang="zh-CN" altLang="en-US" sz="24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设计思路</a:t>
            </a:r>
            <a:endParaRPr lang="zh-CN" altLang="en-US" sz="2400" b="1" i="0" u="none" strike="noStrike">
              <a:solidFill>
                <a:srgbClr val="1A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12"/>
          <p:cNvSpPr txBox="1"/>
          <p:nvPr>
            <p:custDataLst>
              <p:tags r:id="rId8"/>
            </p:custDataLst>
          </p:nvPr>
        </p:nvSpPr>
        <p:spPr>
          <a:xfrm>
            <a:off x="6555740" y="2531110"/>
            <a:ext cx="4728210" cy="35934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中序遍历</a:t>
            </a: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的子树，把所有关键字取出，存入数组</a:t>
            </a:r>
            <a:endParaRPr lang="zh-CN" alt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---BST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中序遍历天然升序，遍历时间为</a:t>
            </a: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Θ(x.size)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；数组占用</a:t>
            </a: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O(x.size)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的辅助空间。</a:t>
            </a:r>
            <a:endParaRPr lang="en-US" altLang="zh-CN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en-US" altLang="zh-CN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根据有序数组递归构建</a:t>
            </a: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1/2 - 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平衡树</a:t>
            </a: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每次取数组中间元素作为根，左半数组建左子树、右半数组建右子树，同时更新</a:t>
            </a: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size</a:t>
            </a:r>
            <a:endParaRPr lang="en-US" altLang="zh-CN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----</a:t>
            </a: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递归建树的时间也是</a:t>
            </a:r>
            <a:r>
              <a:rPr lang="en-US" altLang="zh-CN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Θ(x.size)</a:t>
            </a:r>
            <a:endParaRPr lang="zh-CN" alt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4"/>
          <p:cNvSpPr txBox="1"/>
          <p:nvPr/>
        </p:nvSpPr>
        <p:spPr>
          <a:xfrm>
            <a:off x="0" y="119380"/>
            <a:ext cx="12192000" cy="7073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</a:t>
            </a:r>
            <a:r>
              <a:rPr lang="zh-CN" alt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</a:t>
            </a:r>
            <a:endParaRPr lang="zh-CN" altLang="en-US" sz="2800" b="1" i="0" u="none" strike="noStrike">
              <a:solidFill>
                <a:srgbClr val="1A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5750" y="826770"/>
            <a:ext cx="11184255" cy="5943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800" b="1"/>
              <a:t>rebuild(x): ----</a:t>
            </a:r>
            <a:r>
              <a:rPr lang="zh-CN" altLang="en-US" sz="1800" b="1"/>
              <a:t>重建以节点</a:t>
            </a:r>
            <a:r>
              <a:rPr lang="en-US" altLang="zh-CN" sz="1800" b="1"/>
              <a:t>x</a:t>
            </a:r>
            <a:r>
              <a:rPr lang="zh-CN" altLang="en-US" sz="1800" b="1"/>
              <a:t>为根的子树</a:t>
            </a:r>
            <a:endParaRPr lang="zh-CN" altLang="en-US" sz="1800" b="1"/>
          </a:p>
          <a:p>
            <a:r>
              <a:rPr lang="en-US" altLang="zh-CN" sz="1800" b="1"/>
              <a:t>    a ← [ ]   ----</a:t>
            </a:r>
            <a:r>
              <a:rPr lang="zh-CN" altLang="en-US" sz="1800" b="1"/>
              <a:t>新建空数组</a:t>
            </a:r>
            <a:r>
              <a:rPr lang="en-US" altLang="zh-CN" sz="1800" b="1"/>
              <a:t>a</a:t>
            </a:r>
            <a:r>
              <a:rPr lang="zh-CN" altLang="en-US" sz="1800" b="1"/>
              <a:t>存放中序遍历出的关键字</a:t>
            </a:r>
            <a:endParaRPr lang="en-US" altLang="zh-CN" sz="1800" b="1"/>
          </a:p>
          <a:p>
            <a:r>
              <a:rPr lang="en-US" altLang="zh-CN" sz="1800" b="1"/>
              <a:t>    inorder(x,a)                  ----</a:t>
            </a:r>
            <a:r>
              <a:rPr lang="zh-CN" altLang="en-US" sz="1800" b="1"/>
              <a:t>调用</a:t>
            </a:r>
            <a:r>
              <a:rPr lang="en-US" altLang="zh-CN" sz="1800" b="1"/>
              <a:t>inorder,</a:t>
            </a:r>
            <a:r>
              <a:rPr lang="zh-CN" altLang="en-US" sz="1800" b="1"/>
              <a:t>对</a:t>
            </a:r>
            <a:r>
              <a:rPr lang="en-US" altLang="zh-CN" sz="1800" b="1"/>
              <a:t>x</a:t>
            </a:r>
            <a:r>
              <a:rPr lang="zh-CN" altLang="en-US" sz="1800" b="1"/>
              <a:t>进行中序遍历，存入</a:t>
            </a:r>
            <a:r>
              <a:rPr lang="en-US" altLang="zh-CN" sz="1800" b="1"/>
              <a:t>a</a:t>
            </a:r>
            <a:r>
              <a:rPr lang="zh-CN" altLang="en-US" sz="1800" b="1"/>
              <a:t>数组</a:t>
            </a:r>
            <a:endParaRPr lang="en-US" altLang="zh-CN" sz="1800" b="1"/>
          </a:p>
          <a:p>
            <a:r>
              <a:rPr lang="en-US" altLang="zh-CN" sz="1800" b="1"/>
              <a:t>    return build(a,0,len(a)-1)             ----</a:t>
            </a:r>
            <a:r>
              <a:rPr lang="zh-CN" altLang="en-US" sz="1800" b="1"/>
              <a:t>用有序数组</a:t>
            </a:r>
            <a:r>
              <a:rPr lang="en-US" altLang="zh-CN" sz="1800" b="1"/>
              <a:t>a,</a:t>
            </a:r>
            <a:r>
              <a:rPr lang="zh-CN" altLang="en-US" sz="1800" b="1"/>
              <a:t>调用</a:t>
            </a:r>
            <a:r>
              <a:rPr lang="en-US" altLang="zh-CN" sz="1800" b="1"/>
              <a:t>build</a:t>
            </a:r>
            <a:r>
              <a:rPr lang="zh-CN" altLang="en-US" sz="1800" b="1"/>
              <a:t>函数，构造</a:t>
            </a:r>
            <a:r>
              <a:rPr lang="en-US" altLang="zh-CN" sz="1800" b="1"/>
              <a:t>1/2 - </a:t>
            </a:r>
            <a:r>
              <a:rPr lang="zh-CN" altLang="en-US" sz="1800" b="1"/>
              <a:t>平衡树，并返回新树的根</a:t>
            </a:r>
            <a:endParaRPr lang="en-US" altLang="zh-CN" sz="1800" b="1"/>
          </a:p>
          <a:p>
            <a:endParaRPr lang="en-US" altLang="zh-CN" sz="1800" b="1"/>
          </a:p>
          <a:p>
            <a:r>
              <a:rPr lang="en-US" altLang="zh-CN" sz="1800" b="1"/>
              <a:t>inorder(n,a):</a:t>
            </a:r>
            <a:endParaRPr lang="en-US" altLang="zh-CN" sz="1800" b="1"/>
          </a:p>
          <a:p>
            <a:r>
              <a:rPr lang="en-US" altLang="zh-CN" sz="1800" b="1"/>
              <a:t>    if n≠NIL:</a:t>
            </a:r>
            <a:endParaRPr lang="en-US" altLang="zh-CN" sz="1800" b="1"/>
          </a:p>
          <a:p>
            <a:r>
              <a:rPr lang="en-US" altLang="zh-CN" sz="1800" b="1"/>
              <a:t>        inorder(n.left,a)</a:t>
            </a:r>
            <a:endParaRPr lang="en-US" altLang="zh-CN" sz="1800" b="1"/>
          </a:p>
          <a:p>
            <a:r>
              <a:rPr lang="en-US" altLang="zh-CN" sz="1800" b="1"/>
              <a:t>        a.append(n.key)</a:t>
            </a:r>
            <a:endParaRPr lang="en-US" altLang="zh-CN" sz="1800" b="1"/>
          </a:p>
          <a:p>
            <a:r>
              <a:rPr lang="en-US" altLang="zh-CN" sz="1800" b="1"/>
              <a:t>        inorder(n.right,a)            ----</a:t>
            </a:r>
            <a:r>
              <a:rPr lang="zh-CN" altLang="en-US" sz="1800" b="1"/>
              <a:t>中序遍历</a:t>
            </a:r>
            <a:r>
              <a:rPr lang="en-US" altLang="zh-CN" sz="1800" b="1"/>
              <a:t> x,/</a:t>
            </a:r>
            <a:r>
              <a:rPr lang="zh-CN" altLang="en-US" sz="1800" b="1"/>
              <a:t>并存入</a:t>
            </a:r>
            <a:r>
              <a:rPr lang="en-US" altLang="zh-CN" sz="1800" b="1"/>
              <a:t>a</a:t>
            </a:r>
            <a:endParaRPr lang="en-US" altLang="zh-CN" sz="1800" b="1"/>
          </a:p>
          <a:p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//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遍历时间为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Θ(x.size)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，数组占用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O(x.size)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的辅助空间</a:t>
            </a:r>
            <a:endParaRPr lang="en-US" altLang="zh-CN" sz="1800" b="1"/>
          </a:p>
          <a:p>
            <a:r>
              <a:rPr lang="en-US" altLang="zh-CN" sz="1800" b="1"/>
              <a:t>build(a,l,r):</a:t>
            </a:r>
            <a:endParaRPr lang="en-US" altLang="zh-CN" sz="1800" b="1"/>
          </a:p>
          <a:p>
            <a:r>
              <a:rPr lang="en-US" altLang="zh-CN" sz="1800" b="1"/>
              <a:t>    if l&gt;r: return NIL</a:t>
            </a:r>
            <a:endParaRPr lang="en-US" altLang="zh-CN" sz="1800" b="1"/>
          </a:p>
          <a:p>
            <a:r>
              <a:rPr lang="en-US" altLang="zh-CN" sz="1800" b="1"/>
              <a:t>    m ← (l+r)//2                       ----</a:t>
            </a:r>
            <a:r>
              <a:rPr lang="zh-CN" altLang="en-US" sz="1800" b="1"/>
              <a:t>取数组区间中点</a:t>
            </a:r>
            <a:r>
              <a:rPr lang="en-US" altLang="zh-CN" sz="1800" b="1"/>
              <a:t>(</a:t>
            </a:r>
            <a:r>
              <a:rPr lang="zh-CN" altLang="en-US" sz="1800" b="1"/>
              <a:t>向下取整</a:t>
            </a:r>
            <a:r>
              <a:rPr lang="en-US" altLang="zh-CN" sz="1800" b="1"/>
              <a:t>),</a:t>
            </a:r>
            <a:r>
              <a:rPr lang="zh-CN" altLang="en-US" sz="1800" b="1"/>
              <a:t>做这一段子树的根</a:t>
            </a:r>
            <a:endParaRPr lang="en-US" altLang="zh-CN" sz="1800" b="1"/>
          </a:p>
          <a:p>
            <a:r>
              <a:rPr lang="en-US" altLang="zh-CN" sz="1800" b="1"/>
              <a:t>    rt ← Node(a[m])                ----</a:t>
            </a:r>
            <a:r>
              <a:rPr lang="zh-CN" altLang="en-US" sz="1800" b="1"/>
              <a:t>用该中点，建新的节点</a:t>
            </a:r>
            <a:r>
              <a:rPr lang="en-US" altLang="zh-CN" sz="1800" b="1"/>
              <a:t>rt</a:t>
            </a:r>
            <a:endParaRPr lang="en-US" altLang="zh-CN" sz="1800" b="1"/>
          </a:p>
          <a:p>
            <a:r>
              <a:rPr lang="en-US" altLang="zh-CN" sz="1800" b="1"/>
              <a:t>    rt.left = build(a,l,m-1)        ----</a:t>
            </a:r>
            <a:r>
              <a:rPr lang="zh-CN" altLang="en-US" sz="1800" b="1"/>
              <a:t>数组左半段递归生成左子树，放在</a:t>
            </a:r>
            <a:r>
              <a:rPr lang="en-US" altLang="zh-CN" sz="1800" b="1"/>
              <a:t>rt</a:t>
            </a:r>
            <a:r>
              <a:rPr lang="zh-CN" altLang="en-US" sz="1800" b="1"/>
              <a:t>左边</a:t>
            </a:r>
            <a:endParaRPr lang="en-US" altLang="zh-CN" sz="1800" b="1"/>
          </a:p>
          <a:p>
            <a:r>
              <a:rPr lang="en-US" altLang="zh-CN" sz="1800" b="1"/>
              <a:t>    rt.right = build(a,m+1,r)     ----</a:t>
            </a:r>
            <a:r>
              <a:rPr lang="zh-CN" altLang="en-US" sz="1800" b="1"/>
              <a:t>右半段递归生成右子树，放在</a:t>
            </a:r>
            <a:r>
              <a:rPr lang="en-US" altLang="zh-CN" sz="1800" b="1"/>
              <a:t>rt</a:t>
            </a:r>
            <a:r>
              <a:rPr lang="zh-CN" altLang="en-US" sz="1800" b="1"/>
              <a:t>右边</a:t>
            </a:r>
            <a:endParaRPr lang="en-US" altLang="zh-CN" sz="1800" b="1"/>
          </a:p>
          <a:p>
            <a:r>
              <a:rPr lang="en-US" altLang="zh-CN" sz="1800" b="1"/>
              <a:t>    rt.size = r-l+1                      ----</a:t>
            </a:r>
            <a:r>
              <a:rPr lang="zh-CN" altLang="en-US" sz="1800" b="1"/>
              <a:t>给节点</a:t>
            </a:r>
            <a:r>
              <a:rPr lang="en-US" altLang="zh-CN" sz="1800" b="1"/>
              <a:t>rt</a:t>
            </a:r>
            <a:r>
              <a:rPr lang="zh-CN" altLang="en-US" sz="1800" b="1"/>
              <a:t>赋值</a:t>
            </a:r>
            <a:r>
              <a:rPr lang="en-US" altLang="zh-CN" sz="1800" b="1"/>
              <a:t>size</a:t>
            </a:r>
            <a:endParaRPr lang="en-US" altLang="zh-CN" sz="1800" b="1"/>
          </a:p>
          <a:p>
            <a:r>
              <a:rPr lang="en-US" altLang="zh-CN" sz="1800" b="1"/>
              <a:t>    return rt                              ----</a:t>
            </a:r>
            <a:r>
              <a:rPr lang="zh-CN" altLang="en-US" sz="1800" b="1"/>
              <a:t>返回子树根节点，一层层向上返回，得到完整的</a:t>
            </a:r>
            <a:r>
              <a:rPr lang="zh-CN" altLang="en-US" sz="1800" b="1"/>
              <a:t>新树</a:t>
            </a:r>
            <a:endParaRPr lang="zh-CN" altLang="en-US" sz="1800" b="1"/>
          </a:p>
          <a:p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//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遍历时间为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Θ(x.size)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，总体遍历时间为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Θ(x.size)</a:t>
            </a: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AutoShape 4"/>
          <p:cNvSpPr txBox="1"/>
          <p:nvPr/>
        </p:nvSpPr>
        <p:spPr>
          <a:xfrm>
            <a:off x="323215" y="295275"/>
            <a:ext cx="11176000" cy="974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(b) </a:t>
            </a:r>
            <a:r>
              <a:rPr lang="zh-CN" alt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证明：在一棵</a:t>
            </a:r>
            <a:r>
              <a:rPr lang="en-US" altLang="zh-CN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</a:t>
            </a:r>
            <a:r>
              <a:rPr lang="zh-CN" alt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个节点的</a:t>
            </a:r>
            <a:r>
              <a:rPr lang="en-US" altLang="zh-CN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α - </a:t>
            </a:r>
            <a:r>
              <a:rPr lang="zh-CN" alt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平衡二叉搜索树执行一次搜索操作的最坏情况时间为</a:t>
            </a:r>
            <a:r>
              <a:rPr lang="en-US" altLang="zh-CN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O(lg n).</a:t>
            </a:r>
            <a:endParaRPr lang="zh-CN" altLang="en-US" sz="2800" b="1" i="0" u="none" strike="noStrike">
              <a:solidFill>
                <a:srgbClr val="1A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19125" y="1967865"/>
            <a:ext cx="2820035" cy="19824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6905" y="4084320"/>
            <a:ext cx="1349375" cy="670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 b="1">
                <a:ea typeface="宋体" pitchFamily="2" charset="-122"/>
              </a:rPr>
              <a:t>....</a:t>
            </a:r>
            <a:endParaRPr lang="en-US" altLang="zh-CN" sz="3600" b="1">
              <a:ea typeface="宋体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04970" y="1967865"/>
            <a:ext cx="7181215" cy="3994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/>
              <a:t>题目前提条件：</a:t>
            </a:r>
            <a:endParaRPr lang="zh-CN" altLang="en-US" sz="2400" b="1"/>
          </a:p>
          <a:p>
            <a:endParaRPr lang="en-US" altLang="zh-CN" sz="2400"/>
          </a:p>
          <a:p>
            <a:r>
              <a:rPr lang="en-US" altLang="zh-CN" sz="2400"/>
              <a:t>  </a:t>
            </a:r>
            <a:r>
              <a:rPr lang="en-US" altLang="zh-CN" sz="2000"/>
              <a:t>α - </a:t>
            </a:r>
            <a:r>
              <a:rPr lang="zh-CN" altLang="en-US" sz="2000"/>
              <a:t>平衡二叉搜索树：树上任意节点，它的左、右子树节点数量都小于等于 </a:t>
            </a:r>
            <a:r>
              <a:rPr lang="en-US" altLang="zh-CN" sz="2000"/>
              <a:t>α *n</a:t>
            </a:r>
            <a:r>
              <a:rPr lang="zh-CN" altLang="en-US" sz="2000"/>
              <a:t>，且</a:t>
            </a:r>
            <a:r>
              <a:rPr lang="en-US" altLang="zh-CN" sz="2000"/>
              <a:t>α≥1/2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zh-CN" altLang="en-US" sz="2400"/>
          </a:p>
          <a:p>
            <a:r>
              <a:rPr lang="zh-CN" altLang="en-US" sz="2400" b="1"/>
              <a:t>推论：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 </a:t>
            </a:r>
            <a:r>
              <a:rPr lang="en-US" altLang="zh-CN" sz="2400"/>
              <a:t> </a:t>
            </a:r>
            <a:r>
              <a:rPr lang="zh-CN" altLang="en-US" sz="2000"/>
              <a:t>任意节点较重的那棵子树，节点数最多是 </a:t>
            </a:r>
            <a:r>
              <a:rPr lang="en-US" altLang="zh-CN" sz="2000"/>
              <a:t>α *n</a:t>
            </a:r>
            <a:r>
              <a:rPr lang="zh-CN" altLang="en-US" sz="2000"/>
              <a:t>。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0045" y="332105"/>
            <a:ext cx="4787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证明过程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360045" y="1405890"/>
            <a:ext cx="11017250" cy="1310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4" name="AutoShape 4"/>
          <p:cNvSpPr txBox="1"/>
          <p:nvPr/>
        </p:nvSpPr>
        <p:spPr>
          <a:xfrm>
            <a:off x="508000" y="756920"/>
            <a:ext cx="9095740" cy="8648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</a:t>
            </a:r>
            <a:r>
              <a:rPr lang="zh-CN" altLang="en-US" sz="20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r>
              <a:rPr 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叉搜索树一次搜索的最坏操作次数就是树的</a:t>
            </a:r>
            <a:r>
              <a:rPr lang="zh-CN" alt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最大</a:t>
            </a:r>
            <a:r>
              <a:rPr 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高度。设 h(n) 表示包含 n 个节点的 α-平衡树所能达</a:t>
            </a:r>
            <a:r>
              <a:rPr lang="zh-CN" alt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的最大高度。</a:t>
            </a:r>
            <a:r>
              <a:rPr lang="zh-CN" alt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则</a:t>
            </a:r>
            <a:r>
              <a:rPr lang="zh-CN" alt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满足：</a:t>
            </a:r>
            <a:endParaRPr lang="zh-CN" altLang="en-US" sz="20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508000" y="1492885"/>
            <a:ext cx="5334000" cy="648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h(n) ≤ 1 + h(α·n)</a:t>
            </a:r>
            <a:endParaRPr lang="en-US" sz="1100"/>
          </a:p>
        </p:txBody>
      </p:sp>
      <p:sp>
        <p:nvSpPr>
          <p:cNvPr id="6" name="AutoShape 5"/>
          <p:cNvSpPr txBox="1"/>
          <p:nvPr/>
        </p:nvSpPr>
        <p:spPr>
          <a:xfrm>
            <a:off x="1324610" y="1983740"/>
            <a:ext cx="3940810" cy="7321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2 + h(α²·n)</a:t>
            </a:r>
            <a:endParaRPr 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1671955" y="2530475"/>
            <a:ext cx="3192145" cy="648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>
              <a:lnSpc>
                <a:spcPct val="125000"/>
              </a:lnSpc>
              <a:defRPr/>
            </a:pPr>
            <a:r>
              <a:rPr lang="en-US" sz="220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......</a:t>
            </a:r>
            <a:endParaRPr lang="en-US" sz="2200">
              <a:solidFill>
                <a:srgbClr val="1A1A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en-US" sz="240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 k+h(αᵏ · n)</a:t>
            </a:r>
            <a:endParaRPr lang="en-US" sz="2400">
              <a:solidFill>
                <a:srgbClr val="1A1A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endParaRPr lang="en-US" altLang="en-US" sz="2400">
              <a:solidFill>
                <a:srgbClr val="1A1A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7"/>
          <p:cNvSpPr txBox="1"/>
          <p:nvPr/>
        </p:nvSpPr>
        <p:spPr>
          <a:xfrm>
            <a:off x="4644390" y="2531110"/>
            <a:ext cx="6915785" cy="17837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2200" b="0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此时</a:t>
            </a:r>
            <a:r>
              <a:rPr lang="en-US" sz="2200" b="0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αᵏ · n ≤ 1</a:t>
            </a:r>
            <a:r>
              <a:rPr lang="zh-CN" altLang="en-US" sz="2200" b="0" i="0" u="none" strike="noStrike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，即没有下一层，</a:t>
            </a:r>
            <a:r>
              <a:rPr lang="en-US" sz="220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</a:t>
            </a:r>
            <a:r>
              <a:rPr lang="zh-CN" altLang="en-US" sz="220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sz="2200">
                <a:solidFill>
                  <a:srgbClr val="1A1A1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αᵏ · n)=0</a:t>
            </a:r>
            <a:endParaRPr lang="en-US" sz="2200">
              <a:solidFill>
                <a:srgbClr val="1A1A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  <a:defRPr/>
            </a:pPr>
            <a:endParaRPr lang="zh-CN" altLang="en-US" sz="2200" b="0" i="0" u="none" strike="noStrike">
              <a:solidFill>
                <a:srgbClr val="1A1A1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73480" y="3827145"/>
            <a:ext cx="8254365" cy="2892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得到关系式</a:t>
            </a:r>
            <a:r>
              <a:rPr lang="en-US" altLang="zh-CN" sz="2400"/>
              <a:t> h(n) ≤ k</a:t>
            </a:r>
            <a:endParaRPr lang="en-US" altLang="zh-CN" sz="2400"/>
          </a:p>
          <a:p>
            <a:r>
              <a:rPr lang="zh-CN" altLang="en-US" sz="2400"/>
              <a:t>解不等式求</a:t>
            </a:r>
            <a:r>
              <a:rPr lang="en-US" altLang="zh-CN" sz="2400"/>
              <a:t>k</a:t>
            </a:r>
            <a:endParaRPr lang="en-US" altLang="zh-CN" sz="2400"/>
          </a:p>
          <a:p>
            <a:r>
              <a:rPr lang="zh-CN" altLang="en-US" sz="2400"/>
              <a:t>两侧取对数：</a:t>
            </a:r>
            <a:r>
              <a:rPr lang="en-US" altLang="zh-CN" sz="2400"/>
              <a:t>k*ln α+ln n </a:t>
            </a:r>
            <a:r>
              <a:rPr lang="en-US" altLang="zh-CN" sz="2400"/>
              <a:t>≤ 0</a:t>
            </a:r>
            <a:endParaRPr lang="en-US" altLang="zh-CN" sz="2400"/>
          </a:p>
          <a:p>
            <a:r>
              <a:rPr lang="en-US" altLang="zh-CN" sz="2400"/>
              <a:t>                      k*ln α≤ -ln </a:t>
            </a:r>
            <a:r>
              <a:rPr lang="en-US" altLang="zh-CN" sz="2400"/>
              <a:t>n</a:t>
            </a:r>
            <a:endParaRPr lang="en-US" altLang="zh-CN" sz="2400"/>
          </a:p>
          <a:p>
            <a:r>
              <a:rPr lang="en-US" altLang="zh-CN" sz="2400"/>
              <a:t>                      k ≥ -ln n /ln α</a:t>
            </a:r>
            <a:endParaRPr lang="en-US" altLang="zh-CN" sz="2400"/>
          </a:p>
          <a:p>
            <a:r>
              <a:rPr lang="en-US" altLang="zh-CN" sz="2400">
                <a:ea typeface="宋体" pitchFamily="2" charset="-122"/>
              </a:rPr>
              <a:t>-1/ln </a:t>
            </a:r>
            <a:r>
              <a:rPr lang="en-US" altLang="zh-CN" sz="2400">
                <a:sym typeface="+mn-ea"/>
              </a:rPr>
              <a:t>α</a:t>
            </a:r>
            <a:r>
              <a:rPr lang="zh-CN" altLang="en-US" sz="2400">
                <a:sym typeface="+mn-ea"/>
              </a:rPr>
              <a:t>为常数，所以</a:t>
            </a:r>
            <a:r>
              <a:rPr lang="en-US" altLang="zh-CN" sz="2400">
                <a:sym typeface="+mn-ea"/>
              </a:rPr>
              <a:t>k = O(lg n)</a:t>
            </a:r>
            <a:endParaRPr lang="en-US" altLang="zh-CN" sz="2400">
              <a:sym typeface="+mn-ea"/>
            </a:endParaRPr>
          </a:p>
          <a:p>
            <a:r>
              <a:rPr lang="en-US" altLang="zh-CN" sz="2400">
                <a:sym typeface="+mn-ea"/>
              </a:rPr>
              <a:t>h(n) = O(lg n) </a:t>
            </a:r>
            <a:endParaRPr lang="en-US" altLang="zh-CN" sz="2400"/>
          </a:p>
          <a:p>
            <a:endParaRPr lang="en-US" altLang="zh-CN" sz="240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1A365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                                   </a:t>
            </a:r>
            <a:r>
              <a:rPr lang="en-US" sz="32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32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继续补充题目条件</a:t>
            </a:r>
            <a:endParaRPr lang="zh-CN" altLang="en-US" sz="3200" b="1" i="0" u="none" strike="noStrike">
              <a:solidFill>
                <a:srgbClr val="1A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508000" y="1460500"/>
            <a:ext cx="11176000" cy="509016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>
            <p:custDataLst>
              <p:tags r:id="rId2"/>
            </p:custDataLst>
          </p:nvPr>
        </p:nvSpPr>
        <p:spPr>
          <a:xfrm>
            <a:off x="825500" y="1557020"/>
            <a:ext cx="10541000" cy="4432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假定常数 </a:t>
            </a: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α 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严格大于 1/2。假定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我们实现的 </a:t>
            </a: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INSERT 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 </a:t>
            </a: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DELETE 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算法与普通 </a:t>
            </a: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 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节点二叉搜索树的算法是一样的，差别仅在于，如果发现树中任何节点不再是 </a:t>
            </a: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α‑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平衡的，则在最高的不平衡节点，对以它为根的子树执行“重建”，使其变为 1/2‑平衡的。</a:t>
            </a:r>
            <a:endParaRPr lang="zh-CN" altLang="en-US" sz="2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en-US" altLang="zh-CN" sz="2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用势能法分析此重建方法。对于二叉搜索树 </a:t>
            </a: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 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中的一个节点 </a:t>
            </a: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x，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</a:t>
            </a:r>
            <a:endParaRPr lang="zh-CN" altLang="en-US" sz="2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                                 Δ(x) = |x.left.size − x.right.size|</a:t>
            </a:r>
            <a:endParaRPr lang="en-US" altLang="zh-CN" sz="2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 </a:t>
            </a: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 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的势函数：</a:t>
            </a:r>
            <a:endParaRPr lang="zh-CN" altLang="en-US" sz="2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                               Φ(T)=c ∑</a:t>
            </a:r>
            <a:r>
              <a:rPr lang="en-US" altLang="zh-CN" sz="2400" b="0" i="0" baseline="-25000">
                <a:solidFill>
                  <a:srgbClr val="4B5563"/>
                </a:solidFill>
                <a:uFillTx/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{x∈T,Δ(x)≥2}</a:t>
            </a: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Δ(x)</a:t>
            </a:r>
            <a:endParaRPr lang="en-US" altLang="zh-CN" sz="2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c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是一个足够大的常数，依赖于</a:t>
            </a:r>
            <a:r>
              <a:rPr lang="en-US" altLang="zh-CN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</a:t>
            </a:r>
            <a:r>
              <a:rPr lang="zh-CN" altLang="en-US" sz="2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zh-CN" altLang="en-US" sz="2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1A365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1A365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98500" y="1464310"/>
            <a:ext cx="10741660" cy="4810125"/>
          </a:xfrm>
          <a:prstGeom prst="roundRect">
            <a:avLst>
              <a:gd name="adj" fmla="val 0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1A365D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>
            <p:custDataLst>
              <p:tags r:id="rId2"/>
            </p:custDataLst>
          </p:nvPr>
        </p:nvSpPr>
        <p:spPr>
          <a:xfrm>
            <a:off x="889000" y="1560830"/>
            <a:ext cx="4889500" cy="9048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任意二叉搜索树的势非负</a:t>
            </a:r>
            <a:endParaRPr lang="en-US" sz="2800" b="1" i="0" u="none" strike="noStrike">
              <a:solidFill>
                <a:srgbClr val="1A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>
            <p:custDataLst>
              <p:tags r:id="rId3"/>
            </p:custDataLst>
          </p:nvPr>
        </p:nvSpPr>
        <p:spPr>
          <a:xfrm>
            <a:off x="889000" y="2032000"/>
            <a:ext cx="9713595" cy="40811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>
                <a:sym typeface="Noto Sans SC" panose="020B0200000000000000" charset="-122"/>
              </a:rPr>
              <a:t>1.Δ(x) = |x.left.size − x.right.size|，作为绝</a:t>
            </a:r>
            <a:r>
              <a:rPr lang="zh-CN" altLang="en-US" sz="2400"/>
              <a:t>对值，天然具有非负性。</a:t>
            </a:r>
            <a:endParaRPr lang="zh-CN" altLang="en-US" sz="2400"/>
          </a:p>
          <a:p>
            <a:pPr marL="0" indent="0" algn="l">
              <a:lnSpc>
                <a:spcPct val="125000"/>
              </a:lnSpc>
              <a:defRPr/>
            </a:pPr>
            <a:endParaRPr lang="zh-CN" altLang="en-US" sz="2400"/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/>
              <a:t>2. 求和只挑选满足</a:t>
            </a:r>
            <a:r>
              <a:rPr lang="zh-CN" altLang="en-US" sz="2400">
                <a:sym typeface="Noto Sans SC" panose="020B0200000000000000" charset="-122"/>
              </a:rPr>
              <a:t>Δ(x)</a:t>
            </a:r>
            <a:r>
              <a:rPr lang="en-US" altLang="zh-CN" sz="2400">
                <a:sym typeface="Noto Sans SC" panose="020B0200000000000000" charset="-122"/>
              </a:rPr>
              <a:t>≥2</a:t>
            </a:r>
            <a:r>
              <a:rPr lang="zh-CN" altLang="en-US" sz="2400"/>
              <a:t>的节点，每一项</a:t>
            </a:r>
            <a:r>
              <a:rPr lang="zh-CN" altLang="en-US" sz="2400">
                <a:sym typeface="Noto Sans SC" panose="020B0200000000000000" charset="-122"/>
              </a:rPr>
              <a:t>Δ(x)</a:t>
            </a:r>
            <a:r>
              <a:rPr lang="en-US" altLang="zh-CN" sz="2400">
                <a:sym typeface="Noto Sans SC" panose="020B0200000000000000" charset="-122"/>
              </a:rPr>
              <a:t>≥2≥0</a:t>
            </a:r>
            <a:r>
              <a:rPr lang="zh-CN" altLang="en-US" sz="2400">
                <a:ea typeface="宋体" pitchFamily="2" charset="-122"/>
                <a:sym typeface="Noto Sans SC" panose="020B0200000000000000" charset="-122"/>
              </a:rPr>
              <a:t>。</a:t>
            </a:r>
            <a:endParaRPr lang="zh-CN" altLang="en-US" sz="2400">
              <a:ea typeface="宋体" pitchFamily="2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altLang="zh-CN" sz="2400"/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/>
              <a:t>3. 常数 </a:t>
            </a:r>
            <a:r>
              <a:rPr lang="en-US" altLang="zh-CN" sz="2400"/>
              <a:t>c&gt;0，</a:t>
            </a:r>
            <a:r>
              <a:rPr lang="zh-CN" altLang="en-US" sz="2400"/>
              <a:t>正数乘以非负项求和，结果必然非负。</a:t>
            </a:r>
            <a:endParaRPr lang="zh-CN" altLang="en-US" sz="2400"/>
          </a:p>
        </p:txBody>
      </p:sp>
      <p:sp>
        <p:nvSpPr>
          <p:cNvPr id="13" name="AutoShape 4"/>
          <p:cNvSpPr txBox="1"/>
          <p:nvPr/>
        </p:nvSpPr>
        <p:spPr>
          <a:xfrm>
            <a:off x="0" y="44323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(c) </a:t>
            </a:r>
            <a:r>
              <a:rPr lang="zh-CN" alt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证明：任意二叉搜索树的势能都是非负的，</a:t>
            </a:r>
            <a:r>
              <a:rPr lang="en-US" altLang="zh-CN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1/2 - </a:t>
            </a:r>
            <a:r>
              <a:rPr lang="zh-CN" alt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平衡树的势能是</a:t>
            </a:r>
            <a:r>
              <a:rPr lang="en-US" altLang="zh-CN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</a:t>
            </a:r>
            <a:endParaRPr lang="en-US" altLang="zh-CN" sz="2800" b="1" i="0" u="none" strike="noStrike">
              <a:solidFill>
                <a:srgbClr val="1A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1A365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1A365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1"/>
            </p:custDataLst>
          </p:nvPr>
        </p:nvSpPr>
        <p:spPr>
          <a:xfrm>
            <a:off x="455930" y="1076325"/>
            <a:ext cx="11037570" cy="5671820"/>
          </a:xfrm>
          <a:prstGeom prst="roundRect">
            <a:avLst>
              <a:gd name="adj" fmla="val 0"/>
            </a:avLst>
          </a:prstGeom>
          <a:solidFill>
            <a:srgbClr val="F7F9FC">
              <a:alpha val="100000"/>
            </a:srgbClr>
          </a:solidFill>
          <a:ln w="12700" cap="flat" cmpd="sng">
            <a:solidFill>
              <a:srgbClr val="1A365D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>
            <p:custDataLst>
              <p:tags r:id="rId2"/>
            </p:custDataLst>
          </p:nvPr>
        </p:nvSpPr>
        <p:spPr>
          <a:xfrm>
            <a:off x="784225" y="1190625"/>
            <a:ext cx="7506970" cy="2552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二分之一平衡树的势为零</a:t>
            </a:r>
            <a:endParaRPr lang="en-US" sz="2800" b="1" i="0" u="none" strike="noStrike">
              <a:solidFill>
                <a:srgbClr val="1A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4"/>
          <p:cNvSpPr txBox="1"/>
          <p:nvPr/>
        </p:nvSpPr>
        <p:spPr>
          <a:xfrm>
            <a:off x="0" y="25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(c) </a:t>
            </a:r>
            <a:r>
              <a:rPr lang="zh-CN" alt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证明：任意二叉搜索树的势能都是非负的，</a:t>
            </a:r>
            <a:r>
              <a:rPr lang="en-US" altLang="zh-CN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1/2 - </a:t>
            </a:r>
            <a:r>
              <a:rPr lang="zh-CN" alt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平衡树的势能是</a:t>
            </a:r>
            <a:r>
              <a:rPr lang="en-US" altLang="zh-CN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</a:t>
            </a:r>
            <a:endParaRPr lang="en-US" altLang="zh-CN" sz="2800" b="1" i="0" u="none" strike="noStrike">
              <a:solidFill>
                <a:srgbClr val="1A365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0710" y="1776095"/>
            <a:ext cx="10333355" cy="4745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对于1/2</a:t>
            </a:r>
            <a:r>
              <a:rPr lang="en-US" altLang="zh-CN" sz="2000"/>
              <a:t>-</a:t>
            </a:r>
            <a:r>
              <a:rPr lang="zh-CN" altLang="en-US" sz="2000"/>
              <a:t>平衡树，树中每一个节点</a:t>
            </a:r>
            <a:r>
              <a:rPr lang="en-US" altLang="zh-CN" sz="2000"/>
              <a:t>x</a:t>
            </a:r>
            <a:r>
              <a:rPr lang="zh-CN" altLang="en-US" sz="2000"/>
              <a:t>都满足：</a:t>
            </a:r>
            <a:r>
              <a:rPr lang="en-US" altLang="zh-CN" sz="2000"/>
              <a:t>x.left.size ≤ (1/2)·x.size，x.right.size ≤ (1/2)·x.size</a:t>
            </a:r>
            <a:endParaRPr lang="en-US" altLang="zh-CN" sz="2000"/>
          </a:p>
          <a:p>
            <a:r>
              <a:rPr lang="zh-CN" altLang="en-US" sz="2000"/>
              <a:t> </a:t>
            </a:r>
            <a:r>
              <a:rPr lang="en-US" altLang="zh-CN" sz="2000"/>
              <a:t>x.size = x.left.size + x.right.size + 1。</a:t>
            </a:r>
            <a:endParaRPr lang="en-US" altLang="zh-CN" sz="2000"/>
          </a:p>
          <a:p>
            <a:r>
              <a:rPr lang="en-US" altLang="zh-CN" sz="2000"/>
              <a:t> </a:t>
            </a:r>
            <a:endParaRPr lang="en-US" altLang="zh-CN" sz="2000"/>
          </a:p>
          <a:p>
            <a:r>
              <a:rPr lang="zh-CN" altLang="en-US" sz="2000"/>
              <a:t>代入第一个不等式：</a:t>
            </a:r>
            <a:r>
              <a:rPr lang="en-US" altLang="zh-CN" sz="2000"/>
              <a:t>   x.left.size ≤ (1/2)(x.left.size + x.right.size + 1)</a:t>
            </a:r>
            <a:endParaRPr lang="en-US" altLang="zh-CN" sz="2000"/>
          </a:p>
          <a:p>
            <a:r>
              <a:rPr lang="zh-CN" altLang="en-US" sz="2000"/>
              <a:t>两边同乘2：</a:t>
            </a:r>
            <a:r>
              <a:rPr lang="en-US" altLang="zh-CN" sz="2000"/>
              <a:t>                   2·x.left.size ≤ x.left.size + x.right.size + 1</a:t>
            </a:r>
            <a:endParaRPr lang="en-US" altLang="zh-CN" sz="2000"/>
          </a:p>
          <a:p>
            <a:r>
              <a:rPr lang="zh-CN" altLang="en-US" sz="2000"/>
              <a:t>移项：</a:t>
            </a:r>
            <a:r>
              <a:rPr lang="en-US" altLang="zh-CN" sz="2000"/>
              <a:t>                               x.left.size − x.right.size ≤ 1</a:t>
            </a:r>
            <a:endParaRPr lang="en-US" altLang="zh-CN" sz="2000"/>
          </a:p>
          <a:p>
            <a:r>
              <a:rPr lang="en-US" altLang="zh-CN" sz="2000"/>
              <a:t> </a:t>
            </a:r>
            <a:endParaRPr lang="en-US" altLang="zh-CN" sz="2000"/>
          </a:p>
          <a:p>
            <a:r>
              <a:rPr lang="zh-CN" altLang="en-US" sz="2000"/>
              <a:t>同理，对第二个不等式有：</a:t>
            </a:r>
            <a:r>
              <a:rPr lang="en-US" altLang="zh-CN" sz="2000"/>
              <a:t> x.right.size − x.left.size ≤ 1</a:t>
            </a:r>
            <a:endParaRPr lang="en-US" altLang="zh-CN" sz="2000"/>
          </a:p>
          <a:p>
            <a:r>
              <a:rPr lang="en-US" altLang="zh-CN" sz="2000"/>
              <a:t> </a:t>
            </a:r>
            <a:endParaRPr lang="en-US" altLang="zh-CN" sz="2000"/>
          </a:p>
          <a:p>
            <a:r>
              <a:rPr lang="zh-CN" altLang="en-US" sz="2000"/>
              <a:t>联立两个结果：</a:t>
            </a:r>
            <a:r>
              <a:rPr lang="en-US" altLang="zh-CN" sz="2000"/>
              <a:t>                   |x.left.size − x.right.size| ≤ 1</a:t>
            </a:r>
            <a:r>
              <a:rPr lang="zh-CN" altLang="en-US" sz="2000">
                <a:ea typeface="宋体" pitchFamily="2" charset="-122"/>
              </a:rPr>
              <a:t>，</a:t>
            </a:r>
            <a:r>
              <a:rPr lang="en-US" altLang="zh-CN" sz="2000">
                <a:ea typeface="宋体" pitchFamily="2" charset="-122"/>
              </a:rPr>
              <a:t>            </a:t>
            </a:r>
            <a:r>
              <a:rPr lang="zh-CN" altLang="en-US" sz="2000"/>
              <a:t>也就是 </a:t>
            </a:r>
            <a:r>
              <a:rPr lang="en-US" altLang="zh-CN" sz="2000"/>
              <a:t>Δ(x) ≤ 1。</a:t>
            </a:r>
            <a:endParaRPr lang="en-US" altLang="zh-CN" sz="2000"/>
          </a:p>
          <a:p>
            <a:r>
              <a:rPr lang="en-US" altLang="zh-CN" sz="2000"/>
              <a:t> </a:t>
            </a:r>
            <a:endParaRPr lang="en-US" altLang="zh-CN" sz="2000"/>
          </a:p>
          <a:p>
            <a:r>
              <a:rPr lang="zh-CN" altLang="en-US" sz="2000"/>
              <a:t>势函数求和只选取 </a:t>
            </a:r>
            <a:r>
              <a:rPr lang="en-US" altLang="zh-CN" sz="2000"/>
              <a:t>Δ(x) ≥ 2 </a:t>
            </a:r>
            <a:r>
              <a:rPr lang="zh-CN" altLang="en-US" sz="2000"/>
              <a:t>的节点，1/</a:t>
            </a:r>
            <a:r>
              <a:rPr lang="en-US" altLang="zh-CN" sz="2000"/>
              <a:t>2 - </a:t>
            </a:r>
            <a:r>
              <a:rPr lang="zh-CN" altLang="en-US" sz="2000"/>
              <a:t>平衡树中不存在满足该条件的节点，求和为空和，因此 </a:t>
            </a:r>
            <a:r>
              <a:rPr lang="en-US" altLang="zh-CN" sz="2000"/>
              <a:t>Φ(T)=0。</a:t>
            </a:r>
            <a:endParaRPr lang="en-US" altLang="zh-CN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922000" y="-508000"/>
            <a:ext cx="1524000" cy="1524000"/>
          </a:xfrm>
          <a:prstGeom prst="ellipse">
            <a:avLst/>
          </a:prstGeom>
          <a:solidFill>
            <a:srgbClr val="1A365D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381000" y="5842000"/>
            <a:ext cx="1270000" cy="1270000"/>
          </a:xfrm>
          <a:prstGeom prst="roundRect">
            <a:avLst>
              <a:gd name="adj" fmla="val 0"/>
            </a:avLst>
          </a:prstGeom>
          <a:solidFill>
            <a:srgbClr val="1A365D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0" y="272415"/>
            <a:ext cx="12192000" cy="441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(d) 重建摊还代价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016000"/>
            <a:ext cx="10160000" cy="566801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132205" y="1016000"/>
            <a:ext cx="9530715" cy="8242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2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</a:t>
            </a:r>
            <a:r>
              <a:rPr lang="zh-CN" alt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题目：</a:t>
            </a:r>
            <a:r>
              <a:rPr 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假定m个单位的势足够支付重建m个节点子树的代价。相对于α</a:t>
            </a:r>
            <a:r>
              <a:rPr lang="zh-CN" alt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来说，常</a:t>
            </a:r>
            <a:r>
              <a:rPr 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数c   应</a:t>
            </a:r>
            <a:r>
              <a:rPr lang="zh-CN" alt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</a:t>
            </a:r>
            <a:r>
              <a:rPr lang="en-US" sz="20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取多大，才能使得重建一棵非Alpha平衡子树的摊还时间为O(1)。</a:t>
            </a:r>
            <a:endParaRPr lang="en-US" sz="20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56740" y="2025015"/>
            <a:ext cx="9225280" cy="4372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/>
              <a:t>假设是</a:t>
            </a:r>
            <a:r>
              <a:rPr lang="en-US" altLang="zh-CN" sz="1800"/>
              <a:t>x</a:t>
            </a:r>
            <a:r>
              <a:rPr lang="zh-CN" altLang="en-US" sz="1800"/>
              <a:t>的左子树的节点数</a:t>
            </a:r>
            <a:r>
              <a:rPr lang="en-US" altLang="zh-CN" sz="1800"/>
              <a:t>x.left.size&gt;α*m</a:t>
            </a:r>
            <a:r>
              <a:rPr lang="zh-CN" altLang="en-US" sz="1800">
                <a:ea typeface="宋体" pitchFamily="2" charset="-122"/>
              </a:rPr>
              <a:t>，导致平衡树失衡重建，</a:t>
            </a:r>
            <a:endParaRPr lang="zh-CN" altLang="en-US" sz="1800">
              <a:ea typeface="宋体" pitchFamily="2" charset="-122"/>
            </a:endParaRPr>
          </a:p>
          <a:p>
            <a:r>
              <a:rPr lang="zh-CN" altLang="en-US" sz="1800">
                <a:ea typeface="宋体" pitchFamily="2" charset="-122"/>
              </a:rPr>
              <a:t>则</a:t>
            </a:r>
            <a:r>
              <a:rPr lang="en-US" altLang="zh-CN" sz="1800"/>
              <a:t>x.right.size = m − 1 − x.left.size &lt; m − 1 − α*m</a:t>
            </a:r>
            <a:endParaRPr lang="en-US" altLang="zh-CN" sz="1800"/>
          </a:p>
          <a:p>
            <a:r>
              <a:rPr lang="en-US" altLang="zh-CN" sz="1800"/>
              <a:t>    x.left.size − x.right.size &gt; α·m − (m − α·m −1) = (2α −1)m + 1</a:t>
            </a:r>
            <a:endParaRPr lang="en-US" altLang="zh-CN" sz="1800"/>
          </a:p>
          <a:p>
            <a:r>
              <a:rPr lang="en-US" altLang="zh-CN" sz="1800"/>
              <a:t>    Δ(x) </a:t>
            </a:r>
            <a:r>
              <a:rPr lang="en-US" altLang="zh-CN" sz="1800">
                <a:sym typeface="+mn-ea"/>
              </a:rPr>
              <a:t>=|x.left.size − x.right.size| </a:t>
            </a:r>
            <a:r>
              <a:rPr lang="en-US" altLang="zh-CN" sz="1800"/>
              <a:t>≥ (2α −1)m+1</a:t>
            </a:r>
            <a:endParaRPr lang="en-US" altLang="zh-CN" sz="1800"/>
          </a:p>
          <a:p>
            <a:r>
              <a:rPr lang="en-US" altLang="zh-CN" sz="1800"/>
              <a:t> </a:t>
            </a:r>
            <a:endParaRPr lang="en-US" altLang="zh-CN" sz="1800"/>
          </a:p>
          <a:p>
            <a:r>
              <a:rPr lang="zh-CN" altLang="en-US" sz="1800"/>
              <a:t>重建真实代价为 </a:t>
            </a:r>
            <a:r>
              <a:rPr lang="en-US" altLang="zh-CN" sz="1800"/>
              <a:t>m。</a:t>
            </a:r>
            <a:endParaRPr lang="en-US" altLang="zh-CN" sz="1800"/>
          </a:p>
          <a:p>
            <a:r>
              <a:rPr lang="zh-CN" altLang="en-US" sz="1800"/>
              <a:t>重建前该节点贡献势能 </a:t>
            </a:r>
            <a:r>
              <a:rPr lang="en-US" altLang="zh-CN" sz="1800"/>
              <a:t>c·Δ(x) ≥ c·(2α −1)m+c；</a:t>
            </a:r>
            <a:r>
              <a:rPr lang="zh-CN" altLang="en-US" sz="1800"/>
              <a:t>重建后子树为1/2</a:t>
            </a:r>
            <a:r>
              <a:rPr lang="en-US" altLang="zh-CN" sz="1800"/>
              <a:t>-</a:t>
            </a:r>
            <a:r>
              <a:rPr lang="zh-CN" altLang="en-US" sz="1800"/>
              <a:t>平衡树，势能为0。</a:t>
            </a:r>
            <a:endParaRPr lang="zh-CN" altLang="en-US" sz="1800"/>
          </a:p>
          <a:p>
            <a:r>
              <a:rPr lang="zh-CN" altLang="en-US" sz="1800"/>
              <a:t>势能变化：</a:t>
            </a:r>
            <a:r>
              <a:rPr lang="en-US" altLang="zh-CN" sz="1800"/>
              <a:t>ΔΦ ≤ − c·(2α −1)m+c</a:t>
            </a:r>
            <a:endParaRPr lang="en-US" altLang="zh-CN" sz="1800"/>
          </a:p>
          <a:p>
            <a:r>
              <a:rPr lang="en-US" altLang="zh-CN" sz="1800"/>
              <a:t> </a:t>
            </a:r>
            <a:endParaRPr lang="en-US" altLang="zh-CN" sz="1800"/>
          </a:p>
          <a:p>
            <a:r>
              <a:rPr lang="zh-CN" altLang="en-US" sz="1800"/>
              <a:t>摊还代价</a:t>
            </a:r>
            <a:r>
              <a:rPr lang="en-US" altLang="zh-CN" sz="1800"/>
              <a:t>    </a:t>
            </a:r>
            <a:r>
              <a:rPr lang="zh-CN" altLang="en-US" sz="1800"/>
              <a:t> = </a:t>
            </a:r>
            <a:r>
              <a:rPr lang="en-US" altLang="zh-CN" sz="1800"/>
              <a:t>         </a:t>
            </a:r>
            <a:r>
              <a:rPr lang="zh-CN" altLang="en-US" sz="1800"/>
              <a:t>真实代价 + </a:t>
            </a:r>
            <a:r>
              <a:rPr lang="en-US" altLang="zh-CN" sz="1800"/>
              <a:t>ΔΦ       ≤          m − c·(2α −1)m+c</a:t>
            </a:r>
            <a:endParaRPr lang="en-US" altLang="zh-CN" sz="1800"/>
          </a:p>
          <a:p>
            <a:r>
              <a:rPr lang="en-US" altLang="zh-CN" sz="1800"/>
              <a:t> </a:t>
            </a:r>
            <a:endParaRPr lang="en-US" altLang="zh-CN" sz="1800"/>
          </a:p>
          <a:p>
            <a:r>
              <a:rPr lang="zh-CN" altLang="en-US" sz="1800"/>
              <a:t>要令摊还代价为 </a:t>
            </a:r>
            <a:r>
              <a:rPr lang="en-US" altLang="zh-CN" sz="1800"/>
              <a:t>O(1)，</a:t>
            </a:r>
            <a:r>
              <a:rPr lang="zh-CN" altLang="en-US" sz="1800"/>
              <a:t>令 </a:t>
            </a:r>
            <a:r>
              <a:rPr lang="en-US" altLang="zh-CN" sz="1800"/>
              <a:t>m </a:t>
            </a:r>
            <a:r>
              <a:rPr lang="zh-CN" altLang="en-US" sz="1800"/>
              <a:t>的系数满足：</a:t>
            </a:r>
            <a:endParaRPr lang="zh-CN" altLang="en-US" sz="1800"/>
          </a:p>
          <a:p>
            <a:r>
              <a:rPr lang="en-US" altLang="zh-CN" sz="1800"/>
              <a:t>1 − c(2α −1) ≤ 0</a:t>
            </a:r>
            <a:endParaRPr lang="en-US" altLang="zh-CN" sz="1800"/>
          </a:p>
          <a:p>
            <a:r>
              <a:rPr lang="zh-CN" altLang="en-US" sz="1800"/>
              <a:t>解得：</a:t>
            </a:r>
            <a:r>
              <a:rPr lang="en-US" altLang="zh-CN" sz="1800"/>
              <a:t>c ≥ 1/(2α −1)</a:t>
            </a:r>
            <a:endParaRPr lang="en-US" altLang="zh-CN" sz="1800"/>
          </a:p>
          <a:p>
            <a:r>
              <a:rPr lang="en-US" altLang="zh-CN" sz="1800"/>
              <a:t> </a:t>
            </a:r>
            <a:endParaRPr lang="en-US" altLang="zh-CN" sz="1800"/>
          </a:p>
          <a:p>
            <a:r>
              <a:rPr lang="zh-CN" altLang="en-US" sz="1800"/>
              <a:t>当 </a:t>
            </a:r>
            <a:r>
              <a:rPr lang="en-US" altLang="zh-CN" sz="1800"/>
              <a:t>c ≥ 1/(2α −1) </a:t>
            </a:r>
            <a:r>
              <a:rPr lang="zh-CN" altLang="en-US" sz="1800"/>
              <a:t>时，摊还代价为 </a:t>
            </a:r>
            <a:r>
              <a:rPr lang="en-US" altLang="zh-CN" sz="1800"/>
              <a:t>O(1)。</a:t>
            </a:r>
            <a:endParaRPr lang="en-US" altLang="zh-CN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1A365D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A365D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0" y="219075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(e) 插入</a:t>
            </a:r>
            <a:r>
              <a:rPr lang="zh-CN" alt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删除</a:t>
            </a:r>
            <a:r>
              <a:rPr lang="zh-CN" alt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sz="28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摊还时间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080770"/>
            <a:ext cx="10922000" cy="5520690"/>
          </a:xfrm>
          <a:prstGeom prst="roundRect">
            <a:avLst>
              <a:gd name="adj" fmla="val 0"/>
            </a:avLst>
          </a:prstGeom>
          <a:solidFill>
            <a:srgbClr val="1A365D">
              <a:alpha val="5000"/>
            </a:srgbClr>
          </a:solidFill>
          <a:ln w="12700" cap="flat" cmpd="sng">
            <a:solidFill>
              <a:srgbClr val="1A365D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713740" y="1167765"/>
            <a:ext cx="10842625" cy="10090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证明：在一棵 n 个节点的 α-平衡树中，执行插入或删除一个节点的操作，其摊还时间复杂</a:t>
            </a:r>
            <a:r>
              <a:rPr lang="zh-CN" altLang="en-US" sz="2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度</a:t>
            </a:r>
            <a:r>
              <a:rPr lang="en-US" sz="2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 O(lg n)。</a:t>
            </a:r>
            <a:endParaRPr lang="en-US" sz="2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79805" y="2021205"/>
            <a:ext cx="9769475" cy="4276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α-</a:t>
            </a:r>
            <a:r>
              <a:rPr lang="zh-CN" altLang="en-US" sz="2400"/>
              <a:t>平衡树保证树高为 </a:t>
            </a:r>
            <a:r>
              <a:rPr lang="en-US" altLang="zh-CN" sz="2400"/>
              <a:t>O(lg n)：</a:t>
            </a:r>
            <a:endParaRPr lang="en-US" altLang="zh-CN" sz="2400"/>
          </a:p>
          <a:p>
            <a:r>
              <a:rPr lang="en-US" altLang="zh-CN" sz="2400"/>
              <a:t> </a:t>
            </a:r>
            <a:endParaRPr lang="en-US" altLang="zh-CN" sz="2400"/>
          </a:p>
          <a:p>
            <a:r>
              <a:rPr lang="zh-CN" altLang="en-US" sz="2400"/>
              <a:t>1. 先从根向下搜索到目标位置，路径长度 </a:t>
            </a:r>
            <a:r>
              <a:rPr lang="en-US" altLang="zh-CN" sz="2400"/>
              <a:t>O(lg n)，</a:t>
            </a:r>
            <a:r>
              <a:rPr lang="zh-CN" altLang="en-US" sz="2400"/>
              <a:t>执行插入/删除。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2. 沿原路向上回溯，依次更新每个祖先节点的</a:t>
            </a:r>
            <a:r>
              <a:rPr lang="en-US" altLang="zh-CN" sz="2400"/>
              <a:t>size，</a:t>
            </a:r>
            <a:r>
              <a:rPr lang="zh-CN" altLang="en-US" sz="2400"/>
              <a:t>同时检查该节点是否满足</a:t>
            </a:r>
            <a:r>
              <a:rPr lang="en-US" altLang="zh-CN" sz="2400"/>
              <a:t>α-</a:t>
            </a:r>
            <a:r>
              <a:rPr lang="zh-CN" altLang="en-US" sz="2400"/>
              <a:t>平衡；</a:t>
            </a:r>
            <a:r>
              <a:rPr lang="zh-CN" altLang="en-US" sz="2400"/>
              <a:t>若发现不平衡，执行重建。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3. 由</a:t>
            </a:r>
            <a:r>
              <a:rPr lang="en-US" altLang="zh-CN" sz="2400"/>
              <a:t>(d)</a:t>
            </a:r>
            <a:r>
              <a:rPr lang="zh-CN" altLang="en-US" sz="2400"/>
              <a:t>可知，单次重建摊还代价</a:t>
            </a:r>
            <a:r>
              <a:rPr lang="en-US" altLang="zh-CN" sz="2400"/>
              <a:t>O(1)，</a:t>
            </a:r>
            <a:r>
              <a:rPr lang="zh-CN" altLang="en-US" sz="2400"/>
              <a:t>一条回溯链上有 </a:t>
            </a:r>
            <a:r>
              <a:rPr lang="en-US" altLang="zh-CN" sz="2400"/>
              <a:t>O(lg n) </a:t>
            </a:r>
            <a:r>
              <a:rPr lang="zh-CN" altLang="en-US" sz="2400"/>
              <a:t>个祖先节点需要检查。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故总摊还代价 </a:t>
            </a:r>
            <a:r>
              <a:rPr lang="en-US" altLang="zh-CN" sz="2400"/>
              <a:t>O(lg n)。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3810000" cy="3810000"/>
          </a:xfrm>
          <a:prstGeom prst="ellipse">
            <a:avLst/>
          </a:prstGeom>
          <a:solidFill>
            <a:srgbClr val="1A365D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287000" y="4953000"/>
            <a:ext cx="3175000" cy="3175000"/>
          </a:xfrm>
          <a:prstGeom prst="ellipse">
            <a:avLst/>
          </a:prstGeom>
          <a:solidFill>
            <a:srgbClr val="1A365D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0" y="2667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A365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思考题16-3 完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3.7,&quot;left&quot;:40,&quot;top&quot;:115,&quot;width&quot;:880}"/>
</p:tagLst>
</file>

<file path=ppt/tags/tag2.xml><?xml version="1.0" encoding="utf-8"?>
<p:tagLst xmlns:p="http://schemas.openxmlformats.org/presentationml/2006/main">
  <p:tag name="KSO_WM_DIAGRAM_VIRTUALLY_FRAME" val="{&quot;height&quot;:363.7,&quot;left&quot;:40,&quot;top&quot;:115,&quot;width&quot;:880}"/>
</p:tagLst>
</file>

<file path=ppt/tags/tag3.xml><?xml version="1.0" encoding="utf-8"?>
<p:tagLst xmlns:p="http://schemas.openxmlformats.org/presentationml/2006/main">
  <p:tag name="KSO_WM_DIAGRAM_VIRTUALLY_FRAME" val="{&quot;height&quot;:363.7,&quot;left&quot;:40,&quot;top&quot;:115,&quot;width&quot;:880}"/>
</p:tagLst>
</file>

<file path=ppt/tags/tag4.xml><?xml version="1.0" encoding="utf-8"?>
<p:tagLst xmlns:p="http://schemas.openxmlformats.org/presentationml/2006/main">
  <p:tag name="KSO_WM_DIAGRAM_VIRTUALLY_FRAME" val="{&quot;height&quot;:360,&quot;left&quot;:40,&quot;top&quot;:115,&quot;width&quot;:880}"/>
</p:tagLst>
</file>

<file path=ppt/tags/tag5.xml><?xml version="1.0" encoding="utf-8"?>
<p:tagLst xmlns:p="http://schemas.openxmlformats.org/presentationml/2006/main">
  <p:tag name="KSO_WM_DIAGRAM_VIRTUALLY_FRAME" val="{&quot;height&quot;:360,&quot;left&quot;:40,&quot;top&quot;:115,&quot;width&quot;:880}"/>
</p:tagLst>
</file>

<file path=ppt/tags/tag6.xml><?xml version="1.0" encoding="utf-8"?>
<p:tagLst xmlns:p="http://schemas.openxmlformats.org/presentationml/2006/main">
  <p:tag name="KSO_WM_DIAGRAM_VIRTUALLY_FRAME" val="{&quot;height&quot;:360,&quot;left&quot;:40,&quot;top&quot;:115,&quot;width&quot;:880}"/>
</p:tagLst>
</file>

<file path=ppt/tags/tag7.xml><?xml version="1.0" encoding="utf-8"?>
<p:tagLst xmlns:p="http://schemas.openxmlformats.org/presentationml/2006/main">
  <p:tag name="KSO_WM_DIAGRAM_VIRTUALLY_FRAME" val="{&quot;height&quot;:360,&quot;left&quot;:40,&quot;top&quot;:115,&quot;width&quot;:880}"/>
</p:tagLst>
</file>

<file path=ppt/tags/tag8.xml><?xml version="1.0" encoding="utf-8"?>
<p:tagLst xmlns:p="http://schemas.openxmlformats.org/presentationml/2006/main">
  <p:tag name="KSO_WM_DIAGRAM_VIRTUALLY_FRAME" val="{&quot;height&quot;:360,&quot;left&quot;:40,&quot;top&quot;:115,&quot;width&quot;:880}"/>
</p:tagLst>
</file>

<file path=ppt/tags/tag9.xml><?xml version="1.0" encoding="utf-8"?>
<p:tagLst xmlns:p="http://schemas.openxmlformats.org/presentationml/2006/main">
  <p:tag name="KSO_WM_DIAGRAM_VIRTUALLY_FRAME" val="{&quot;height&quot;:360,&quot;left&quot;:40,&quot;top&quot;:115,&quot;width&quot;:880}"/>
</p:tagLst>
</file>

<file path=ppt/tags/tag10.xml><?xml version="1.0" encoding="utf-8"?>
<p:tagLst xmlns:p="http://schemas.openxmlformats.org/presentationml/2006/main">
  <p:tag name="KSO_WM_DIAGRAM_VIRTUALLY_FRAME" val="{&quot;height&quot;:360,&quot;left&quot;:40,&quot;top&quot;:115,&quot;width&quot;:880}"/>
</p:tagLst>
</file>

<file path=ppt/tags/tag11.xml><?xml version="1.0" encoding="utf-8"?>
<p:tagLst xmlns:p="http://schemas.openxmlformats.org/presentationml/2006/main">
  <p:tag name="KSO_WM_DIAGRAM_VIRTUALLY_FRAME" val="{&quot;height&quot;:360,&quot;left&quot;:40,&quot;top&quot;:115,&quot;width&quot;:880}"/>
</p:tagLst>
</file>

<file path=ppt/tags/tag12.xml><?xml version="1.0" encoding="utf-8"?>
<p:tagLst xmlns:p="http://schemas.openxmlformats.org/presentationml/2006/main">
  <p:tag name="KSO_WM_DIAGRAM_VIRTUALLY_FRAME" val="{&quot;height&quot;:363.7,&quot;left&quot;:40,&quot;top&quot;:115,&quot;width&quot;:880}"/>
</p:tagLst>
</file>

<file path=ppt/tags/tag13.xml><?xml version="1.0" encoding="utf-8"?>
<p:tagLst xmlns:p="http://schemas.openxmlformats.org/presentationml/2006/main">
  <p:tag name="KSO_WM_DIAGRAM_VIRTUALLY_FRAME" val="{&quot;height&quot;:363.7,&quot;left&quot;:40,&quot;top&quot;:115,&quot;width&quot;:880}"/>
</p:tagLst>
</file>

<file path=ppt/tags/tag14.xml><?xml version="1.0" encoding="utf-8"?>
<p:tagLst xmlns:p="http://schemas.openxmlformats.org/presentationml/2006/main">
  <p:tag name="KSO_WM_DIAGRAM_VIRTUALLY_FRAME" val="{&quot;height&quot;:378.75,&quot;left&quot;:55,&quot;top&quot;:115.3,&quot;width&quot;:850}"/>
</p:tagLst>
</file>

<file path=ppt/tags/tag15.xml><?xml version="1.0" encoding="utf-8"?>
<p:tagLst xmlns:p="http://schemas.openxmlformats.org/presentationml/2006/main">
  <p:tag name="KSO_WM_DIAGRAM_VIRTUALLY_FRAME" val="{&quot;height&quot;:378.75,&quot;left&quot;:55,&quot;top&quot;:115.3,&quot;width&quot;:850}"/>
</p:tagLst>
</file>

<file path=ppt/tags/tag16.xml><?xml version="1.0" encoding="utf-8"?>
<p:tagLst xmlns:p="http://schemas.openxmlformats.org/presentationml/2006/main">
  <p:tag name="KSO_WM_DIAGRAM_VIRTUALLY_FRAME" val="{&quot;height&quot;:378.75,&quot;left&quot;:55,&quot;top&quot;:115.3,&quot;width&quot;:850}"/>
</p:tagLst>
</file>

<file path=ppt/tags/tag17.xml><?xml version="1.0" encoding="utf-8"?>
<p:tagLst xmlns:p="http://schemas.openxmlformats.org/presentationml/2006/main">
  <p:tag name="KSO_WM_DIAGRAM_VIRTUALLY_FRAME" val="{&quot;height&quot;:447.85,&quot;left&quot;:35.9,&quot;top&quot;:84.75,&quot;width&quot;:869.1}"/>
</p:tagLst>
</file>

<file path=ppt/tags/tag18.xml><?xml version="1.0" encoding="utf-8"?>
<p:tagLst xmlns:p="http://schemas.openxmlformats.org/presentationml/2006/main">
  <p:tag name="KSO_WM_DIAGRAM_VIRTUALLY_FRAME" val="{&quot;height&quot;:447.85,&quot;left&quot;:35.9,&quot;top&quot;:84.75,&quot;width&quot;:869.1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3742</Words>
  <Application>WPS Office WWO_wpscloud_20261011031903-c73fd9270f</Application>
  <PresentationFormat/>
  <Paragraphs>162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思源黑体 CN VF</vt:lpstr>
      <vt:lpstr>宋体</vt:lpstr>
      <vt:lpstr>汉仪书宋二KW</vt:lpstr>
      <vt:lpstr>微软雅黑</vt:lpstr>
      <vt:lpstr>汉仪旗黑KW 55S</vt:lpstr>
      <vt:lpstr>Kingsoft Confetti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李文颖0302</cp:lastModifiedBy>
  <dcterms:created xsi:type="dcterms:W3CDTF">2026-10-12T08:24:34Z</dcterms:created>
  <dcterms:modified xsi:type="dcterms:W3CDTF">2026-10-12T08:24:34Z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{"Label":"1","ContentProducer":"001191110102MACQD9K64010000","ProduceID":"7695287252783729851","ReservedCode1":"","ContentPropagator":"","PropagateID":"","ReservedCode2":""}</vt:lpwstr>
  </property>
  <property fmtid="{D5CDD505-2E9C-101B-9397-08002B2CF9AE}" pid="3" name="KSOProductBuildVer">
    <vt:lpwstr>2052-12.9.0.29222</vt:lpwstr>
  </property>
  <property fmtid="{D5CDD505-2E9C-101B-9397-08002B2CF9AE}" pid="4" name="ICV">
    <vt:lpwstr>1FDC65E24C8C48D99A6071E10E129C2F_13</vt:lpwstr>
  </property>
</Properties>
</file>