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1" r:id="rId3"/>
  </p:sldMasterIdLst>
  <p:notesMasterIdLst>
    <p:notesMasterId r:id="rId23"/>
  </p:notesMasterIdLst>
  <p:sldIdLst>
    <p:sldId id="453" r:id="rId4"/>
    <p:sldId id="454" r:id="rId5"/>
    <p:sldId id="455" r:id="rId6"/>
    <p:sldId id="456" r:id="rId7"/>
    <p:sldId id="457" r:id="rId8"/>
    <p:sldId id="458" r:id="rId9"/>
    <p:sldId id="459" r:id="rId10"/>
    <p:sldId id="460" r:id="rId11"/>
    <p:sldId id="461" r:id="rId12"/>
    <p:sldId id="462" r:id="rId13"/>
    <p:sldId id="463" r:id="rId14"/>
    <p:sldId id="464" r:id="rId15"/>
    <p:sldId id="465" r:id="rId16"/>
    <p:sldId id="466" r:id="rId17"/>
    <p:sldId id="467" r:id="rId18"/>
    <p:sldId id="468" r:id="rId19"/>
    <p:sldId id="469" r:id="rId20"/>
    <p:sldId id="470" r:id="rId21"/>
    <p:sldId id="471" r:id="rId22"/>
    <p:sldId id="472" r:id="rId24"/>
    <p:sldId id="473" r:id="rId25"/>
    <p:sldId id="474" r:id="rId26"/>
    <p:sldId id="475" r:id="rId27"/>
    <p:sldId id="476" r:id="rId28"/>
    <p:sldId id="477" r:id="rId29"/>
    <p:sldId id="478" r:id="rId30"/>
    <p:sldId id="479" r:id="rId31"/>
    <p:sldId id="480" r:id="rId32"/>
    <p:sldId id="481" r:id="rId33"/>
    <p:sldId id="482" r:id="rId34"/>
    <p:sldId id="483" r:id="rId35"/>
    <p:sldId id="484" r:id="rId36"/>
  </p:sldIdLst>
  <p:sldSz cx="12192000" cy="68580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5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9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104889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>
            <a:endParaRPr lang="cs-CZ"/>
          </a:p>
        </p:txBody>
      </p:sp>
      <p:sp>
        <p:nvSpPr>
          <p:cNvPr id="104889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104889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9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各位老师同学大家好，今天我汇报的题目是"变长数据项的高效排序算法研究与C++实现"。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本次汇报围绕《算法导论》第8章思考题8-3的两个子问题展开，分别是变长整数排序和变长字符串排序。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我们将从问题定义、传统方法瓶颈、算法设计、正确性与复杂度证明，以及两个问题的深度对比来进行完整拆解。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68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68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68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今天的汇报分为四个部分。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第一部分我们先解决8-3(a)变长整数排序问题，从定义到算法再到证明完整走一遍。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第二部分同样的思路解决8-3(b)变长字符串排序问题。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第三部分把两个问题放在一起深度对比，看看为什么它们的处理机制完全相反。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最后第四部分展示代码实测结果，并讨论程序瓶颈和优化方向。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68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68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0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0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0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先看8-3(a)的题目。输入是m个正整数，位数各不相同，所有数的总位数加起来是n，要求设计O(n)的线性时间排序算法。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那直接用std::sort行不行？不行，因为大整数比较是逐位的，最坏每对比较O(L)，总复杂度变成O(n log m)。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那用传统基数排序呢？把短的数高位补0对齐。但如果数据分布极端，比如一个n/2位的大数配n/2个1位数，最大位数就是O(n)，补零后矩阵就是O(n²)，直接退化。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0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0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1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1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2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那怎么设计线性时间算法呢？核心思路分三步。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第一步，按位数分组。一次计数排序把所有数按位数分到不同的桶里。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第二步，每个桶内部独立做LSD基数排序。因为位数不同的数大小关系已经确定了——位数多的一定更大，所以桶之间不需要互相排序。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第三步，按位数从小到大把所有桶拼接起来，就是最终结果。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右边是C++核心代码，整数用字符串表示，分桶后逐桶排序再拼接。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2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2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3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3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3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那怎么设计线性时间算法呢？核心思路分三步。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第一步，按位数分组。一次计数排序把所有数按位数分到不同的桶里。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第二步，每个桶内部独立做LSD基数排序。因为位数不同的数大小关系已经确定了——位数多的一定更大，所以桶之间不需要互相排序。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第三步，按位数从小到大把所有桶拼接起来，就是最终结果。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右边是C++核心代码，整数用字符串表示，分桶后逐桶排序再拼接。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3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4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55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5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5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算法的正确性分两层保证。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跨桶层面：因为位数多的数一定更大，所以按位数从小到大排桶，不同桶之间的顺序天然正确。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桶内层面：同位数的数就是定长整数排序，经典LSD基数排序保证内部有序。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复杂度方面，关键在于求和。每个数的每个数字只在自己所在位数的桶里参与一次基数排序，所有桶加起来，每个数字恰好被处理一次。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所以总耗时就是所有数字的总个数n，也就是O(n)线性时间。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5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5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7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7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7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现在看8-3(b)变长字符串排序。输入是m个字符串，总字符数n，要求按标准字典序排好，比如a比ab小，ab比b小。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那能不能照搬整数的分桶方法？不行。因为在字典序里，长度没有绝对的一票否决权。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"a"比"banana"短，但"zoo"只有3个字符却比"apple"5个字符更大。所以不能按长度分桶就完事了。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那把短字符串右边补空字符对齐到最长长度行不行？同样不行，补零后矩阵大小又变成O(n²)了。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7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7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78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78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79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那字符串排序怎么设计呢？思路完全反过来——按长短分组，然后从长到短逆序处理。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第一步，先把所有字符串按长度分到不同的桶里。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第二步，从最长的那一层开始倒着来。每次把长度恰好为当前层的字符串加到"活跃列表"最前面，然后对整个活跃列表按当前这一位的字符做一次稳定计数排序。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这样处理到最后，活跃列表就是排好序的字典序了。右边是对应的C++代码。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79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79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0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0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0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正确性方面，核心原理是字典序的"主导位"——第一个不一样的字符决定大小。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我们从右往左逆序做稳定排序，就像LSD基数排序一样，越靠左的位权重越高。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那短字符串怎么保证排在前面呢？比如a和ab。短字符串是较晚才加入活跃列表的，而且直接拼在最前面。后面做稳定排序时，如果第一位相同，它们的相对顺序就不会变，短的自然在前面。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复杂度方面，每个字符恰好只被计数排序处理一次。所有字符加起来就是n个，再加上字符集大小的常数开销，总复杂度就是O(n)。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0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1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1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1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1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现在把两个问题放在一起做一个系统对比。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从排序依据看，整数是位数优先，位数多的一定更大；字符串是首字符优先，和长度没有绝对关系。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对齐方式也完全相反：整数是右对齐，个位对齐；字符串是左对齐，首字符对齐。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处理顺序也反过来了：整数从短到长分桶各自排序，字符串从长到短逆序加入统一列表。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但两个问题的最终时间复杂度都是O(n)，只是实现机制完全不同。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1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1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3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3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3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那为什么两个问题的处理机制完全相反呢？本质原因有两个。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第一，整数的长度有绝对的一票否决权——6位数必然大于5位数，所以桶之间天然隔离，各自排好就行。但字符串不一样，"zoo"只有3个字母却比"apple"5个字母大，长度完全说了不算，所有字符串必须放在一起比。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字符串为什么要从长到短倒着来？因为短字符串在超出它长度的位置没有字符可比，硬补空字符就会变成O(n²)。倒着来，只在它自己有效的那一位让它参与排序，既省了开销，又利用稳定排序自然实现了短前缀排在前面的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3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3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5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5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5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我们先看两个小测试样例，验证算法的正确性。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样例1是整数排序，输入里有"42"和"042"，按数值它们相等，排在一起是正确的。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样例2是字符串排序，"a"是"ab"的前缀，所以"a"排在前面，符合标准字典序。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再看大规模性能测试，n等于10的7次方个字符。std::sort大概480毫秒，我们的线性算法只要110毫秒，快了4倍多。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5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5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理论上是O(n)，但实际C++实现还是有瓶颈的。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主要两个问题：一是字符串频繁拷贝和堆内存分配开销大；二是字符串在内存里不连续，CPU缓存命中率低。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怎么优化呢？第一，不搬字符串本体，改成索引排序，用string_view或者整数索引来做置换，实现零拷贝。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第二，把所有字符打平存在一维数组里，提升缓存局部性。第三，把基数从8位扩到16位，减少排序趟数。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104888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104889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p/>
        </p:txBody>
      </p:sp>
      <p:sp>
        <p:nvSpPr>
          <p:cNvPr id="104889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最后总结一下。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8-3(a)变长整数排序，利用位数的绝对控制力，分桶后各自做LSD基数排序，实现线性时间。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8-3(b)变长字符串排序，反过来从长到短逆序加入活跃列表，用稳定计数排序自然实现字典序。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两个问题最精妙的地方在于，都避开了盲目补零/补空字符导致的O(n²)陷阱。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我的汇报就到这里，谢谢大家，欢迎提问交流。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104889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104889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3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3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eap.pr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hyperlink" Target="eap.pr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6.png"/><Relationship Id="rId3" Type="http://schemas.openxmlformats.org/officeDocument/2006/relationships/image" Target="../media/image25.png"/><Relationship Id="rId2" Type="http://schemas.openxmlformats.org/officeDocument/2006/relationships/image" Target="../media/image17.png"/><Relationship Id="rId1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rect 2"/>
          <p:cNvSpPr/>
          <p:nvPr/>
        </p:nvSpPr>
        <p:spPr>
          <a:xfrm>
            <a:off x="0" y="8"/>
            <a:ext cx="12192000" cy="6857991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577" name="textbox 4"/>
          <p:cNvSpPr/>
          <p:nvPr/>
        </p:nvSpPr>
        <p:spPr>
          <a:xfrm>
            <a:off x="1002621" y="1483961"/>
            <a:ext cx="8187267" cy="18550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2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" algn="l" rtl="0" eaLnBrk="0">
              <a:lnSpc>
                <a:spcPct val="87000"/>
              </a:lnSpc>
              <a:spcBef>
                <a:spcPts val="910"/>
              </a:spcBef>
            </a:pPr>
            <a:r>
              <a:rPr lang="zh-CN" sz="4800" kern="0" spc="-3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《算法导论》</a:t>
            </a:r>
            <a:endParaRPr sz="48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3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6000"/>
              </a:lnSpc>
              <a:spcBef>
                <a:spcPts val="5"/>
              </a:spcBef>
            </a:pPr>
            <a:r>
              <a:rPr 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           ——6-2 8-3 </a:t>
            </a:r>
            <a:r>
              <a:rPr lang="zh-CN" alt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分析</a:t>
            </a:r>
            <a:r>
              <a:rPr lang="zh-CN" altLang="en-US" sz="40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panose="020B0604020202020204"/>
                <a:ea typeface="Arial" panose="020B0604020202020204"/>
                <a:cs typeface="Arial" panose="020B0604020202020204"/>
              </a:rPr>
              <a:t>讲解</a:t>
            </a:r>
            <a:endParaRPr lang="zh-CN" altLang="en-US" sz="40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578" name="rect 6"/>
          <p:cNvSpPr/>
          <p:nvPr/>
        </p:nvSpPr>
        <p:spPr>
          <a:xfrm>
            <a:off x="0" y="8"/>
            <a:ext cx="152400" cy="6857991"/>
          </a:xfrm>
          <a:prstGeom prst="rect">
            <a:avLst/>
          </a:prstGeom>
          <a:solidFill>
            <a:srgbClr val="2563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579" name="textbox 8"/>
          <p:cNvSpPr/>
          <p:nvPr/>
        </p:nvSpPr>
        <p:spPr>
          <a:xfrm>
            <a:off x="971550" y="4154170"/>
            <a:ext cx="2931795" cy="24250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>
            <a:scene3d>
              <a:camera prst="orthographicFront"/>
              <a:lightRig rig="threePt" dir="t"/>
            </a:scene3d>
          </a:bodyPr>
          <a:p>
            <a:pPr algn="l" rtl="0" eaLnBrk="0">
              <a:lnSpc>
                <a:spcPct val="8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0" algn="l" rtl="0" eaLnBrk="0" fontAlgn="auto" latinLnBrk="0" hangingPunct="1">
              <a:lnSpc>
                <a:spcPct val="150000"/>
              </a:lnSpc>
            </a:pPr>
            <a:r>
              <a:rPr lang="zh-CN" sz="1800" b="1" kern="0" spc="-6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分工：</a:t>
            </a:r>
            <a:endParaRPr sz="1800" b="1" kern="0" spc="-6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0" algn="l" rtl="0" eaLnBrk="0" fontAlgn="auto" latinLnBrk="0" hangingPunct="1">
              <a:lnSpc>
                <a:spcPct val="150000"/>
              </a:lnSpc>
            </a:pPr>
            <a:r>
              <a:rPr lang="en-US" sz="1800" b="1" kern="0" spc="-6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6-2</a:t>
            </a:r>
            <a:r>
              <a:rPr lang="zh-CN" altLang="en-US" sz="1800" b="1" kern="0" spc="-6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</a:t>
            </a:r>
            <a:r>
              <a:rPr sz="1800" b="1" kern="0" spc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邬羽含</a:t>
            </a:r>
            <a:endParaRPr 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0" algn="l" rtl="0" eaLnBrk="0" fontAlgn="auto" latinLnBrk="0" hangingPunct="1"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8-3</a:t>
            </a: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：罗怡鑫</a:t>
            </a:r>
            <a:endParaRPr lang="zh-CN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0" algn="l" rtl="0" eaLnBrk="0" fontAlgn="auto" latinLnBrk="0" hangingPunct="1">
              <a:lnSpc>
                <a:spcPct val="150000"/>
              </a:lnSpc>
            </a:pPr>
            <a:r>
              <a:rPr lang="en-US" altLang="zh-CN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lang="zh-CN" altLang="en-US" sz="18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算法报告：</a:t>
            </a:r>
            <a:r>
              <a:rPr lang="zh-CN" altLang="en-US" sz="18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  <a:sym typeface="+mn-ea"/>
              </a:rPr>
              <a:t>邢芷萌</a:t>
            </a:r>
            <a:endParaRPr lang="zh-CN" altLang="en-US" sz="18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indent="0" algn="l" rtl="0" eaLnBrk="0" fontAlgn="auto" latinLnBrk="0" hangingPunct="1">
              <a:lnSpc>
                <a:spcPct val="150000"/>
              </a:lnSpc>
            </a:pPr>
            <a:endParaRPr lang="zh-CN" altLang="en-US" sz="1800" b="1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48580" name="path 10"/>
          <p:cNvSpPr/>
          <p:nvPr/>
        </p:nvSpPr>
        <p:spPr>
          <a:xfrm>
            <a:off x="1041400" y="3727459"/>
            <a:ext cx="1485952" cy="38100"/>
          </a:xfrm>
          <a:custGeom>
            <a:avLst/>
            <a:gdLst/>
            <a:ahLst/>
            <a:cxnLst/>
            <a:rect l="0" t="0" r="0" b="0"/>
            <a:pathLst>
              <a:path w="1755" h="45">
                <a:moveTo>
                  <a:pt x="0" y="22"/>
                </a:moveTo>
                <a:lnTo>
                  <a:pt x="1755" y="22"/>
                </a:lnTo>
              </a:path>
            </a:pathLst>
          </a:custGeom>
          <a:noFill/>
          <a:ln w="28575" cap="flat">
            <a:solidFill>
              <a:srgbClr val="2563EB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 2"/>
          <p:cNvSpPr/>
          <p:nvPr/>
        </p:nvSpPr>
        <p:spPr>
          <a:xfrm>
            <a:off x="0" y="8"/>
            <a:ext cx="12192000" cy="6857991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582" name="textbox 4"/>
          <p:cNvSpPr/>
          <p:nvPr/>
        </p:nvSpPr>
        <p:spPr>
          <a:xfrm>
            <a:off x="1002621" y="1483961"/>
            <a:ext cx="8187267" cy="18550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2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算法导论  </a:t>
            </a: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335" kern="0" spc="7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习题精讲  </a:t>
            </a: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第六</a:t>
            </a:r>
            <a:r>
              <a:rPr sz="1335" kern="0" spc="1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" algn="l" rtl="0" eaLnBrk="0">
              <a:lnSpc>
                <a:spcPct val="87000"/>
              </a:lnSpc>
              <a:spcBef>
                <a:spcPts val="910"/>
              </a:spcBef>
            </a:pPr>
            <a:r>
              <a:rPr sz="40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习题 </a:t>
            </a:r>
            <a:r>
              <a:rPr sz="4000" kern="0" spc="-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6-2 </a:t>
            </a:r>
            <a:r>
              <a:rPr sz="40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 </a:t>
            </a:r>
            <a:r>
              <a:rPr sz="4000" kern="0" spc="-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40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叉堆的分析</a:t>
            </a:r>
            <a:endParaRPr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73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6000"/>
              </a:lnSpc>
              <a:spcBef>
                <a:spcPts val="5"/>
              </a:spcBef>
            </a:pP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d-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ary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735" kern="0" spc="-2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数组表⽰  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  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 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·</a:t>
            </a:r>
            <a:r>
              <a:rPr sz="1735" kern="0" spc="10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17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·</a:t>
            </a:r>
            <a:r>
              <a:rPr sz="17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INSERT</a:t>
            </a:r>
            <a:endParaRPr sz="173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583" name="rect 6"/>
          <p:cNvSpPr/>
          <p:nvPr/>
        </p:nvSpPr>
        <p:spPr>
          <a:xfrm>
            <a:off x="0" y="8"/>
            <a:ext cx="152400" cy="6857991"/>
          </a:xfrm>
          <a:prstGeom prst="rect">
            <a:avLst/>
          </a:prstGeom>
          <a:solidFill>
            <a:srgbClr val="2563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584" name="textbox 8"/>
          <p:cNvSpPr/>
          <p:nvPr/>
        </p:nvSpPr>
        <p:spPr>
          <a:xfrm>
            <a:off x="1006876" y="4723985"/>
            <a:ext cx="2896447" cy="2294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sz="1465" kern="0" spc="-18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</a:t>
            </a: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2502</a:t>
            </a:r>
            <a:r>
              <a:rPr sz="1465" kern="0" spc="-7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小组</a:t>
            </a: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1465" kern="0" spc="-6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65" kern="0" spc="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邬羽含</a:t>
            </a:r>
            <a:endParaRPr sz="146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585" name="path 10"/>
          <p:cNvSpPr/>
          <p:nvPr/>
        </p:nvSpPr>
        <p:spPr>
          <a:xfrm>
            <a:off x="1041400" y="3727459"/>
            <a:ext cx="1485952" cy="38100"/>
          </a:xfrm>
          <a:custGeom>
            <a:avLst/>
            <a:gdLst/>
            <a:ahLst/>
            <a:cxnLst/>
            <a:rect l="0" t="0" r="0" b="0"/>
            <a:pathLst>
              <a:path w="1755" h="45">
                <a:moveTo>
                  <a:pt x="0" y="22"/>
                </a:moveTo>
                <a:lnTo>
                  <a:pt x="1755" y="22"/>
                </a:lnTo>
              </a:path>
            </a:pathLst>
          </a:custGeom>
          <a:noFill/>
          <a:ln w="28575" cap="flat">
            <a:solidFill>
              <a:srgbClr val="2563EB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8586" name="textbox 14"/>
          <p:cNvSpPr/>
          <p:nvPr/>
        </p:nvSpPr>
        <p:spPr>
          <a:xfrm>
            <a:off x="748203" y="602963"/>
            <a:ext cx="10699325" cy="52603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题目原文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2860" algn="l" rtl="0" eaLnBrk="0">
              <a:lnSpc>
                <a:spcPct val="87000"/>
              </a:lnSpc>
              <a:spcBef>
                <a:spcPts val="1550"/>
              </a:spcBef>
            </a:pPr>
            <a:r>
              <a:rPr sz="28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6-2</a:t>
            </a:r>
            <a:r>
              <a:rPr sz="2800" kern="0" spc="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（对 </a:t>
            </a:r>
            <a:r>
              <a:rPr sz="28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2800" kern="0" spc="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叉堆的分析）</a:t>
            </a:r>
            <a:endParaRPr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" algn="l" rtl="0" eaLnBrk="0">
              <a:lnSpc>
                <a:spcPct val="101000"/>
              </a:lnSpc>
              <a:spcBef>
                <a:spcPts val="385"/>
              </a:spcBef>
              <a:tabLst>
                <a:tab pos="8010525" algn="l"/>
              </a:tabLst>
            </a:pPr>
            <a:r>
              <a:rPr sz="1335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D2DAE6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7645" algn="l" rtl="0" eaLnBrk="0">
              <a:lnSpc>
                <a:spcPct val="98000"/>
              </a:lnSpc>
              <a:spcBef>
                <a:spcPts val="310"/>
              </a:spcBef>
            </a:pP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叉堆（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d-</a:t>
            </a:r>
            <a:r>
              <a:rPr sz="13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ary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sz="1335" kern="0" spc="-17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与二叉堆很类似</a:t>
            </a:r>
            <a:r>
              <a:rPr sz="1335" kern="0" spc="-1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，但其中的每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个非叶节点有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个子节点</a:t>
            </a:r>
            <a:r>
              <a:rPr sz="1335" kern="0" spc="-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，而不是仅仅 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5740" algn="l" rtl="0" eaLnBrk="0">
              <a:lnSpc>
                <a:spcPct val="98000"/>
              </a:lnSpc>
              <a:spcBef>
                <a:spcPts val="625"/>
              </a:spcBef>
            </a:pP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在本题的所有小题中</a:t>
            </a:r>
            <a:r>
              <a:rPr sz="1335" kern="0" spc="-1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，假设维护从对象到堆元素的映射所</a:t>
            </a:r>
            <a:r>
              <a:rPr sz="1335" kern="0" spc="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需时间是每次操作 </a:t>
            </a:r>
            <a:r>
              <a:rPr sz="1335" kern="0" spc="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O(1) </a:t>
            </a:r>
            <a:r>
              <a:rPr sz="1335" kern="0" spc="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8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7000"/>
              </a:lnSpc>
              <a:spcBef>
                <a:spcPts val="340"/>
              </a:spcBef>
            </a:pPr>
            <a:r>
              <a:rPr sz="1465" kern="0" spc="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五个小问</a:t>
            </a:r>
            <a:endParaRPr sz="146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42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3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8000"/>
              </a:lnSpc>
              <a:spcBef>
                <a:spcPts val="310"/>
              </a:spcBef>
            </a:pPr>
            <a:r>
              <a:rPr sz="1335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a. </a:t>
            </a:r>
            <a:r>
              <a:rPr sz="1335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如何用一个数组表⽰一个 </a:t>
            </a:r>
            <a:r>
              <a:rPr sz="1335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335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</a:t>
            </a:r>
            <a:r>
              <a:rPr sz="1335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320" algn="l" rtl="0" eaLnBrk="0">
              <a:lnSpc>
                <a:spcPct val="98000"/>
              </a:lnSpc>
              <a:spcBef>
                <a:spcPts val="925"/>
              </a:spcBef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b.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335" kern="0" spc="1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Θ</a:t>
            </a:r>
            <a:r>
              <a:rPr sz="1335" kern="0" spc="-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符号表⽰一棵包含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个元素的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叉堆的高度</a:t>
            </a:r>
            <a:r>
              <a:rPr sz="1335" kern="0" spc="-1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sz="1335" kern="0" spc="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98000"/>
              </a:lnSpc>
              <a:spcBef>
                <a:spcPts val="925"/>
              </a:spcBef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c.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3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3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的一个高效实现。分析其运行时间</a:t>
            </a:r>
            <a:r>
              <a:rPr sz="1335" kern="0" spc="-1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sz="1335" kern="0" spc="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335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⽰。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98000"/>
              </a:lnSpc>
              <a:spcBef>
                <a:spcPts val="925"/>
              </a:spcBef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d.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3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3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的一个高效实现。分析其运行时间</a:t>
            </a:r>
            <a:r>
              <a:rPr sz="1335" kern="0" spc="-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sz="1335" kern="0" spc="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8000"/>
              </a:lnSpc>
            </a:pPr>
            <a:r>
              <a:rPr sz="1335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e. </a:t>
            </a:r>
            <a:r>
              <a:rPr sz="1335" kern="0" spc="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335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3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1335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35" kern="0" spc="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的一个高效实现。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分析其运行时间</a:t>
            </a:r>
            <a:r>
              <a:rPr sz="1335" kern="0" spc="-1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，用</a:t>
            </a:r>
            <a:r>
              <a:rPr sz="1335" kern="0" spc="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335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表⽰。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3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4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rect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pSp>
        <p:nvGrpSpPr>
          <p:cNvPr id="43" name="group 2"/>
          <p:cNvGrpSpPr/>
          <p:nvPr/>
        </p:nvGrpSpPr>
        <p:grpSpPr>
          <a:xfrm rot="21600000">
            <a:off x="762000" y="1714508"/>
            <a:ext cx="10668000" cy="698500"/>
            <a:chOff x="0" y="0"/>
            <a:chExt cx="8001000" cy="523875"/>
          </a:xfrm>
        </p:grpSpPr>
        <p:sp>
          <p:nvSpPr>
            <p:cNvPr id="1048588" name="path 20"/>
            <p:cNvSpPr/>
            <p:nvPr/>
          </p:nvSpPr>
          <p:spPr>
            <a:xfrm>
              <a:off x="0" y="0"/>
              <a:ext cx="8001000" cy="523875"/>
            </a:xfrm>
            <a:custGeom>
              <a:avLst/>
              <a:gdLst/>
              <a:ahLst/>
              <a:cxnLst/>
              <a:rect l="0" t="0" r="0" b="0"/>
              <a:pathLst>
                <a:path w="12600" h="825">
                  <a:moveTo>
                    <a:pt x="0" y="0"/>
                  </a:moveTo>
                  <a:lnTo>
                    <a:pt x="12600" y="0"/>
                  </a:lnTo>
                  <a:lnTo>
                    <a:pt x="12600" y="825"/>
                  </a:lnTo>
                  <a:lnTo>
                    <a:pt x="0" y="8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588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865"/>
            </a:p>
          </p:txBody>
        </p:sp>
        <p:sp>
          <p:nvSpPr>
            <p:cNvPr id="1048589" name="textbox 22"/>
            <p:cNvSpPr/>
            <p:nvPr/>
          </p:nvSpPr>
          <p:spPr>
            <a:xfrm>
              <a:off x="-12700" y="-12700"/>
              <a:ext cx="8026400" cy="5492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40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5105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1335" kern="0" spc="5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题目问的是：</a:t>
              </a:r>
              <a:r>
                <a:rPr sz="1335" kern="0" spc="-20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335" kern="0" spc="5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 </a:t>
              </a:r>
              <a:r>
                <a:rPr sz="1335" kern="0" spc="5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叉堆在物理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内存里怎么存？父子节点的数组下标关系是什么？</a:t>
              </a:r>
              <a:endParaRPr sz="13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8590" name="textbox 24"/>
          <p:cNvSpPr/>
          <p:nvPr/>
        </p:nvSpPr>
        <p:spPr>
          <a:xfrm>
            <a:off x="762000" y="5588017"/>
            <a:ext cx="10668000" cy="6985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36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770" algn="l" rtl="0" eaLnBrk="0">
              <a:lnSpc>
                <a:spcPts val="1100"/>
              </a:lnSpc>
              <a:spcBef>
                <a:spcPts val="5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结论：</a:t>
            </a:r>
            <a:r>
              <a:rPr sz="1200" kern="0" spc="-1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用一维数组层序存储</a:t>
            </a:r>
            <a:r>
              <a:rPr sz="1200" kern="0" spc="-14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，下标从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开始。</a:t>
            </a:r>
            <a:r>
              <a:rPr sz="1200" kern="0" spc="-1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父节点 </a:t>
            </a:r>
            <a:r>
              <a:rPr sz="12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 =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⌊</a:t>
            </a:r>
            <a:r>
              <a:rPr sz="1200" kern="0" spc="-110" dirty="0">
                <a:solidFill>
                  <a:srgbClr val="FFFFFF">
                    <a:alpha val="90196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(i+d_2)/d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r>
              <a:rPr sz="1200" kern="0" spc="-70" dirty="0">
                <a:solidFill>
                  <a:srgbClr val="FFFFFF">
                    <a:alpha val="90196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，第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 </a:t>
            </a:r>
            <a:r>
              <a:rPr sz="1200" kern="0" spc="5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个子</a:t>
            </a:r>
            <a:r>
              <a:rPr sz="1200" kern="0" spc="4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 </a:t>
            </a:r>
            <a:r>
              <a:rPr sz="12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child</a:t>
            </a:r>
            <a:r>
              <a:rPr sz="12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(i,</a:t>
            </a:r>
            <a:r>
              <a:rPr sz="1200" kern="0" spc="-1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k) = d(i_1)+1+k</a:t>
            </a:r>
            <a:r>
              <a:rPr sz="1200" kern="0" spc="40" dirty="0">
                <a:solidFill>
                  <a:srgbClr val="FFFFFF">
                    <a:alpha val="9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94304" name="table 26"/>
          <p:cNvGraphicFramePr>
            <a:graphicFrameLocks noGrp="1"/>
          </p:cNvGraphicFramePr>
          <p:nvPr/>
        </p:nvGraphicFramePr>
        <p:xfrm>
          <a:off x="6584949" y="4171967"/>
          <a:ext cx="4864100" cy="11176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864100"/>
              </a:tblGrid>
              <a:tr h="1117600">
                <a:tc>
                  <a:txBody>
                    <a:bodyPr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200" kern="0" spc="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 </a:t>
                      </a:r>
                      <a:r>
                        <a:rPr sz="1200" kern="0" spc="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 </a:t>
                      </a:r>
                      <a:r>
                        <a:rPr sz="1200" kern="0" spc="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个子节点（</a:t>
                      </a:r>
                      <a:r>
                        <a:rPr sz="1200" kern="0" spc="-15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9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</a:t>
                      </a:r>
                      <a:r>
                        <a:rPr sz="1200" kern="0" spc="5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</a:t>
                      </a:r>
                      <a:r>
                        <a:rPr sz="1200" kern="0" spc="9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≤ 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200" kern="0" spc="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4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ts val="1370"/>
                        </a:lnSpc>
                        <a:spcBef>
                          <a:spcPts val="0"/>
                        </a:spcBef>
                      </a:pPr>
                      <a:r>
                        <a:rPr sz="1465" b="1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child</a:t>
                      </a:r>
                      <a:r>
                        <a:rPr sz="1465" b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465" b="1" i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</a:t>
                      </a:r>
                      <a:r>
                        <a:rPr sz="1465" b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1465" b="1" kern="0" spc="-8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65" b="1" i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</a:t>
                      </a:r>
                      <a:r>
                        <a:rPr sz="1465" b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 = </a:t>
                      </a:r>
                      <a:r>
                        <a:rPr sz="1465" b="1" i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465" b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465" b="1" i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 </a:t>
                      </a:r>
                      <a:r>
                        <a:rPr sz="1465" b="1" kern="0" spc="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− </a:t>
                      </a:r>
                      <a:r>
                        <a:rPr sz="1465" b="1" kern="0" spc="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1) + 1 +</a:t>
                      </a:r>
                      <a:r>
                        <a:rPr sz="1465" b="1" kern="0" spc="-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65" b="1" i="1" kern="0" spc="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k</a:t>
                      </a:r>
                      <a:endParaRPr sz="14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5" name="table 28"/>
          <p:cNvGraphicFramePr>
            <a:graphicFrameLocks noGrp="1"/>
          </p:cNvGraphicFramePr>
          <p:nvPr/>
        </p:nvGraphicFramePr>
        <p:xfrm>
          <a:off x="6584949" y="2965459"/>
          <a:ext cx="4864100" cy="10541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864100"/>
              </a:tblGrid>
              <a:tr h="1054100">
                <a:tc>
                  <a:txBody>
                    <a:bodyPr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8280" algn="l" rtl="0" eaLnBrk="0">
                        <a:lnSpc>
                          <a:spcPct val="87000"/>
                        </a:lnSpc>
                      </a:pPr>
                      <a:r>
                        <a:rPr sz="1200" kern="0" spc="-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父节点下标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6540" algn="l" rtl="0" eaLnBrk="0">
                        <a:lnSpc>
                          <a:spcPts val="1745"/>
                        </a:lnSpc>
                        <a:tabLst>
                          <a:tab pos="1616075" algn="l"/>
                        </a:tabLst>
                      </a:pPr>
                      <a:r>
                        <a:rPr sz="1335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097154" name="picture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927024" y="3489527"/>
            <a:ext cx="1812876" cy="295311"/>
          </a:xfrm>
          <a:prstGeom prst="rect">
            <a:avLst/>
          </a:prstGeom>
        </p:spPr>
      </p:pic>
      <p:sp>
        <p:nvSpPr>
          <p:cNvPr id="1048591" name="textbox 32"/>
          <p:cNvSpPr/>
          <p:nvPr/>
        </p:nvSpPr>
        <p:spPr>
          <a:xfrm>
            <a:off x="748444" y="2665061"/>
            <a:ext cx="2385060" cy="2001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35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解题思路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7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0000"/>
              </a:lnSpc>
              <a:spcBef>
                <a:spcPts val="280"/>
              </a:spcBef>
            </a:pP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用一维数组按层序遍历存储</a:t>
            </a:r>
            <a:endParaRPr sz="1200" kern="0" spc="80" dirty="0">
              <a:solidFill>
                <a:srgbClr val="2B2F3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ct val="90000"/>
              </a:lnSpc>
              <a:spcBef>
                <a:spcPts val="280"/>
              </a:spcBef>
            </a:pPr>
            <a:r>
              <a:rPr sz="120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● </a:t>
            </a:r>
            <a:r>
              <a:rPr lang="zh-CN" altLang="en-US" sz="120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逻辑是 </a:t>
            </a:r>
            <a:r>
              <a:rPr lang="en-US" altLang="zh-CN" sz="120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 </a:t>
            </a:r>
            <a:r>
              <a:rPr lang="zh-CN" altLang="en-US" sz="120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叉完全树</a:t>
            </a:r>
            <a:endParaRPr lang="zh-CN" altLang="en-US" sz="1200" spc="50" dirty="0">
              <a:solidFill>
                <a:srgbClr val="2B2F3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15875" algn="l" rtl="0" eaLnBrk="0">
              <a:lnSpc>
                <a:spcPts val="1100"/>
              </a:lnSpc>
              <a:spcBef>
                <a:spcPts val="675"/>
              </a:spcBef>
            </a:pP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约定下标从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开始</a:t>
            </a:r>
            <a:r>
              <a:rPr sz="1200" kern="0" spc="-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，根在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A[1]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0000"/>
              </a:lnSpc>
              <a:spcBef>
                <a:spcPts val="550"/>
              </a:spcBef>
            </a:pPr>
            <a:r>
              <a:rPr sz="1200" kern="0" spc="1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r>
              <a:rPr lang="en-US" sz="1200" kern="0" spc="1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200" kern="0" spc="1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满足关系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(i)]&gt;=A</a:t>
            </a:r>
            <a:r>
              <a:rPr sz="1200" kern="0" spc="-1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[i]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592" name="textbox 34"/>
          <p:cNvSpPr/>
          <p:nvPr/>
        </p:nvSpPr>
        <p:spPr>
          <a:xfrm>
            <a:off x="753487" y="539463"/>
            <a:ext cx="4449233" cy="71035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  <a:spcBef>
                <a:spcPts val="5"/>
              </a:spcBef>
            </a:pPr>
            <a:r>
              <a:rPr sz="2400" kern="0" spc="-7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如何用一个数组表⽰一个 </a:t>
            </a:r>
            <a:r>
              <a:rPr sz="2400" kern="0" spc="-7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2400" kern="0" spc="-7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叉堆？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55" name="picture 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3380740" y="3132455"/>
            <a:ext cx="3033395" cy="1390650"/>
          </a:xfrm>
          <a:prstGeom prst="rect">
            <a:avLst/>
          </a:prstGeom>
        </p:spPr>
      </p:pic>
      <p:sp>
        <p:nvSpPr>
          <p:cNvPr id="1048593" name="path 38"/>
          <p:cNvSpPr/>
          <p:nvPr/>
        </p:nvSpPr>
        <p:spPr>
          <a:xfrm>
            <a:off x="774700" y="1441459"/>
            <a:ext cx="10655308" cy="38100"/>
          </a:xfrm>
          <a:custGeom>
            <a:avLst/>
            <a:gdLst/>
            <a:ahLst/>
            <a:cxnLst/>
            <a:rect l="0" t="0" r="0" b="0"/>
            <a:pathLst>
              <a:path w="12585" h="45">
                <a:moveTo>
                  <a:pt x="0" y="22"/>
                </a:moveTo>
                <a:lnTo>
                  <a:pt x="12585" y="22"/>
                </a:lnTo>
              </a:path>
            </a:pathLst>
          </a:custGeom>
          <a:noFill/>
          <a:ln w="2857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56" name="picture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2179300" y="-4224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rect 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595" name="textbox 44"/>
          <p:cNvSpPr/>
          <p:nvPr/>
        </p:nvSpPr>
        <p:spPr>
          <a:xfrm>
            <a:off x="762000" y="1587508"/>
            <a:ext cx="10668000" cy="48895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5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310" algn="l" rtl="0" eaLnBrk="0">
              <a:lnSpc>
                <a:spcPts val="760"/>
              </a:lnSpc>
            </a:pP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 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</a:t>
            </a:r>
            <a:r>
              <a:rPr sz="800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yMaxHeap 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120" algn="l" rtl="0" eaLnBrk="0">
              <a:lnSpc>
                <a:spcPts val="900"/>
              </a:lnSpc>
            </a:pP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public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8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sz="800" kern="0" spc="8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成员变量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685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d; vector&lt;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r>
              <a:rPr sz="800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A; 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heap_size;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900"/>
              </a:lnSpc>
            </a:pPr>
            <a:r>
              <a:rPr sz="800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800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构造函数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8755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d_, vector&lt;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arr) 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ts val="900"/>
              </a:lnSpc>
            </a:pPr>
            <a:r>
              <a:rPr sz="800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= d_;</a:t>
            </a:r>
            <a:r>
              <a:rPr sz="800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A.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push</a:t>
            </a:r>
            <a:r>
              <a:rPr sz="800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</a:t>
            </a:r>
            <a:r>
              <a:rPr sz="800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6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r>
              <a:rPr sz="800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 : arr)</a:t>
            </a:r>
            <a:r>
              <a:rPr sz="800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A.push_back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(x);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120" algn="l" rtl="0" eaLnBrk="0">
              <a:lnSpc>
                <a:spcPts val="760"/>
              </a:lnSpc>
              <a:spcBef>
                <a:spcPts val="210"/>
              </a:spcBef>
            </a:pP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heap_size = arr.s</a:t>
            </a:r>
            <a:r>
              <a:rPr sz="800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ize();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12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buildHeap</a:t>
            </a:r>
            <a:r>
              <a:rPr sz="800" kern="0" spc="9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();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使用建堆函数让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数组拥有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800" kern="0" spc="9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</a:t>
            </a:r>
            <a:r>
              <a:rPr sz="800" kern="0" spc="8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最大堆</a:t>
            </a:r>
            <a:r>
              <a:rPr lang="zh-CN" sz="800" kern="0" spc="8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800" kern="0" spc="80" dirty="0">
                <a:solidFill>
                  <a:srgbClr val="5A627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性质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kern="0" spc="-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5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5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</a:t>
            </a:r>
            <a:r>
              <a:rPr sz="800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 { </a:t>
            </a: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(i+d-</a:t>
            </a:r>
            <a:r>
              <a:rPr sz="800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)/d; 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900"/>
              </a:lnSpc>
            </a:pP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child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i, 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k) { </a:t>
            </a: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d*(i-</a:t>
            </a:r>
            <a:r>
              <a:rPr sz="800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)+</a:t>
            </a:r>
            <a:r>
              <a:rPr sz="800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+k; 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900"/>
              </a:lnSpc>
            </a:pP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下沉：遍历</a:t>
            </a: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个子节点找最</a:t>
            </a:r>
            <a:r>
              <a:rPr sz="800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</a:t>
            </a:r>
            <a:r>
              <a:rPr sz="800" kern="0" spc="-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，交换后递归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1135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5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void </a:t>
            </a:r>
            <a:r>
              <a:rPr sz="800" kern="0" spc="5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dMaxH</a:t>
            </a:r>
            <a:r>
              <a:rPr sz="800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eapify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 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975"/>
              </a:lnSpc>
            </a:pPr>
            <a:r>
              <a:rPr sz="800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largest = i;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800" kern="0" spc="5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800" kern="0" spc="5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800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k&lt;=d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800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k++) 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900"/>
              </a:lnSpc>
            </a:pP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= child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(i,k);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800" kern="0" spc="8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8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(c&lt;=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800" kern="0" spc="8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800" kern="0" spc="8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&amp;&amp;</a:t>
            </a:r>
            <a:r>
              <a:rPr sz="800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800" kern="0" spc="8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A[c]&gt;A</a:t>
            </a:r>
            <a:r>
              <a:rPr sz="800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largest</a:t>
            </a:r>
            <a:r>
              <a:rPr sz="800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]) </a:t>
            </a:r>
            <a:r>
              <a:rPr sz="800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largest</a:t>
            </a:r>
            <a:r>
              <a:rPr sz="800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=c;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kern="0" spc="-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(largest != i) { swap(A[i],A[largest]); d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MaxHeapify(largest); 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kern="0" spc="-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760"/>
              </a:lnSpc>
              <a:spcBef>
                <a:spcPts val="210"/>
              </a:spcBef>
            </a:pP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建堆：</a:t>
            </a:r>
            <a:r>
              <a:rPr sz="800" kern="0" spc="-8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800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从最后一个非</a:t>
            </a:r>
            <a:r>
              <a:rPr sz="800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叶节点自底向上</a:t>
            </a:r>
            <a:endParaRPr sz="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1135" algn="l" rtl="0" eaLnBrk="0">
              <a:lnSpc>
                <a:spcPts val="900"/>
              </a:lnSpc>
            </a:pPr>
            <a:r>
              <a:rPr sz="800" kern="0" spc="5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void </a:t>
            </a:r>
            <a:r>
              <a:rPr sz="800" kern="0" spc="5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</a:t>
            </a:r>
            <a:r>
              <a:rPr sz="800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800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i=parent(heap_size); i&gt;=</a:t>
            </a:r>
            <a:r>
              <a:rPr sz="800" kern="0" spc="3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800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 i--)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ts val="760"/>
              </a:lnSpc>
              <a:spcBef>
                <a:spcPts val="135"/>
              </a:spcBef>
            </a:pPr>
            <a:r>
              <a:rPr sz="800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dMaxHeapify(i);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kern="0" spc="-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800" kern="0" spc="-10" dirty="0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900"/>
              </a:lnSpc>
            </a:pPr>
            <a:r>
              <a:rPr lang="en-US" sz="800">
                <a:solidFill>
                  <a:srgbClr val="4EC9B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void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</a:t>
            </a:r>
            <a:r>
              <a:rPr lang="en-US" sz="800">
                <a:solidFill>
                  <a:srgbClr val="DCDCAA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printHeap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() {</a:t>
            </a:r>
            <a:endParaRPr lang="en-US" sz="800">
              <a:solidFill>
                <a:srgbClr val="FFFFFF">
                  <a:alpha val="90196"/>
                </a:srgbClr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3040" algn="l" rtl="0" eaLnBrk="0">
              <a:lnSpc>
                <a:spcPts val="900"/>
              </a:lnSpc>
            </a:pPr>
            <a:r>
              <a:rPr lang="en-US" sz="800">
                <a:solidFill>
                  <a:srgbClr val="569CD6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(</a:t>
            </a:r>
            <a:r>
              <a:rPr lang="en-US" sz="800">
                <a:solidFill>
                  <a:srgbClr val="4EC9B0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int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 i=</a:t>
            </a:r>
            <a:r>
              <a:rPr lang="en-US" sz="800">
                <a:solidFill>
                  <a:srgbClr val="D69D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1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 i&lt;=heap_size; i++) cout&lt;&lt;A[i]&lt;&lt;</a:t>
            </a:r>
            <a:r>
              <a:rPr lang="en-US" sz="800">
                <a:solidFill>
                  <a:srgbClr val="CE9178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" "</a:t>
            </a: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;</a:t>
            </a:r>
            <a:endParaRPr lang="en-US" sz="800">
              <a:solidFill>
                <a:srgbClr val="FFFFFF">
                  <a:alpha val="90196"/>
                </a:srgbClr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3040" algn="l" rtl="0" eaLnBrk="0">
              <a:lnSpc>
                <a:spcPts val="900"/>
              </a:lnSpc>
            </a:pP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cout&lt;&lt;endl;</a:t>
            </a:r>
            <a:endParaRPr lang="en-US" sz="800" b="0" i="0" u="none" strike="noStrike">
              <a:solidFill>
                <a:srgbClr val="FFFFFF">
                  <a:alpha val="90196"/>
                </a:srgbClr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spc="-10" dirty="0">
                <a:solidFill>
                  <a:srgbClr val="FFFFFF">
                    <a:alpha val="90196"/>
                  </a:srgbClr>
                </a:solidFill>
                <a:sym typeface="+mn-ea"/>
              </a:rPr>
              <a:t>}</a:t>
            </a:r>
            <a:endParaRPr sz="800" kern="0" spc="-10" dirty="0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900"/>
              </a:lnSpc>
            </a:pPr>
            <a:endParaRPr sz="800" kern="0" spc="-10" dirty="0">
              <a:solidFill>
                <a:srgbClr val="FFFFFF">
                  <a:alpha val="9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800" spc="30" dirty="0">
                <a:solidFill>
                  <a:srgbClr val="4EC9B0">
                    <a:alpha val="100000"/>
                  </a:srgbClr>
                </a:solidFill>
                <a:sym typeface="+mn-ea"/>
              </a:rPr>
              <a:t>int </a:t>
            </a:r>
            <a:r>
              <a:rPr sz="800" spc="30" dirty="0">
                <a:solidFill>
                  <a:srgbClr val="DCDCAA">
                    <a:alpha val="100000"/>
                  </a:srgbClr>
                </a:solidFill>
                <a:sym typeface="+mn-ea"/>
              </a:rPr>
              <a:t>main</a:t>
            </a:r>
            <a:r>
              <a:rPr sz="800" spc="30" dirty="0">
                <a:solidFill>
                  <a:srgbClr val="FFFFFF">
                    <a:alpha val="90196"/>
                  </a:srgbClr>
                </a:solidFill>
                <a:sym typeface="+mn-ea"/>
              </a:rPr>
              <a:t>() {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205"/>
              </a:spcBef>
            </a:pPr>
            <a:r>
              <a:rPr sz="800" dirty="0">
                <a:solidFill>
                  <a:srgbClr val="FFFFFF">
                    <a:alpha val="90196"/>
                  </a:srgbClr>
                </a:solidFill>
                <a:sym typeface="+mn-ea"/>
              </a:rPr>
              <a:t>vector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&lt;</a:t>
            </a:r>
            <a:r>
              <a:rPr sz="800" dirty="0">
                <a:solidFill>
                  <a:srgbClr val="4EC9B0">
                    <a:alpha val="100000"/>
                  </a:srgbClr>
                </a:solidFill>
                <a:sym typeface="+mn-ea"/>
              </a:rPr>
              <a:t>int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&gt; </a:t>
            </a:r>
            <a:r>
              <a:rPr sz="800" dirty="0">
                <a:solidFill>
                  <a:srgbClr val="FFFFFF">
                    <a:alpha val="90196"/>
                  </a:srgbClr>
                </a:solidFill>
                <a:sym typeface="+mn-ea"/>
              </a:rPr>
              <a:t>raw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 = {</a:t>
            </a:r>
            <a:r>
              <a:rPr sz="800" spc="40" dirty="0">
                <a:solidFill>
                  <a:srgbClr val="D69D85">
                    <a:alpha val="100000"/>
                  </a:srgbClr>
                </a:solidFill>
                <a:sym typeface="+mn-ea"/>
              </a:rPr>
              <a:t>1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,</a:t>
            </a:r>
            <a:r>
              <a:rPr sz="800" spc="40" dirty="0">
                <a:solidFill>
                  <a:srgbClr val="D69D85">
                    <a:alpha val="100000"/>
                  </a:srgbClr>
                </a:solidFill>
                <a:sym typeface="+mn-ea"/>
              </a:rPr>
              <a:t>4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,</a:t>
            </a:r>
            <a:r>
              <a:rPr sz="800" spc="40" dirty="0">
                <a:solidFill>
                  <a:srgbClr val="D69D85">
                    <a:alpha val="100000"/>
                  </a:srgbClr>
                </a:solidFill>
                <a:sym typeface="+mn-ea"/>
              </a:rPr>
              <a:t>2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,</a:t>
            </a:r>
            <a:r>
              <a:rPr sz="800" spc="40" dirty="0">
                <a:solidFill>
                  <a:srgbClr val="D69D85">
                    <a:alpha val="100000"/>
                  </a:srgbClr>
                </a:solidFill>
                <a:sym typeface="+mn-ea"/>
              </a:rPr>
              <a:t>7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,</a:t>
            </a:r>
            <a:r>
              <a:rPr sz="800" spc="40" dirty="0">
                <a:solidFill>
                  <a:srgbClr val="D69D85">
                    <a:alpha val="100000"/>
                  </a:srgbClr>
                </a:solidFill>
                <a:sym typeface="+mn-ea"/>
              </a:rPr>
              <a:t>5</a:t>
            </a:r>
            <a:r>
              <a:rPr sz="800" spc="40" dirty="0">
                <a:solidFill>
                  <a:srgbClr val="FFFFFF">
                    <a:alpha val="90196"/>
                  </a:srgbClr>
                </a:solidFill>
                <a:sym typeface="+mn-ea"/>
              </a:rPr>
              <a:t>};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0025" algn="l" rtl="0" eaLnBrk="0">
              <a:lnSpc>
                <a:spcPts val="1125"/>
              </a:lnSpc>
            </a:pPr>
            <a:r>
              <a:rPr sz="800" spc="30" dirty="0">
                <a:solidFill>
                  <a:srgbClr val="FFFFFF">
                    <a:alpha val="90196"/>
                  </a:srgbClr>
                </a:solidFill>
                <a:sym typeface="+mn-ea"/>
              </a:rPr>
              <a:t>DaryMaxHeap heap(</a:t>
            </a:r>
            <a:r>
              <a:rPr sz="800" spc="20" dirty="0">
                <a:solidFill>
                  <a:srgbClr val="D69D85">
                    <a:alpha val="100000"/>
                  </a:srgbClr>
                </a:solidFill>
                <a:sym typeface="+mn-ea"/>
              </a:rPr>
              <a:t>3</a:t>
            </a:r>
            <a:r>
              <a:rPr sz="800" spc="20" dirty="0">
                <a:solidFill>
                  <a:srgbClr val="FFFFFF">
                    <a:alpha val="90196"/>
                  </a:srgbClr>
                </a:solidFill>
                <a:sym typeface="+mn-ea"/>
              </a:rPr>
              <a:t>, raw);</a:t>
            </a:r>
            <a:endParaRPr sz="800" spc="20" dirty="0">
              <a:solidFill>
                <a:srgbClr val="FFFFFF">
                  <a:alpha val="90196"/>
                </a:srgbClr>
              </a:solidFill>
              <a:sym typeface="+mn-ea"/>
            </a:endParaRPr>
          </a:p>
          <a:p>
            <a:pPr marL="193040" algn="l" rtl="0" eaLnBrk="0">
              <a:lnSpc>
                <a:spcPts val="900"/>
              </a:lnSpc>
            </a:pPr>
            <a:r>
              <a:rPr lang="en-US" sz="800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heap.printHeap();</a:t>
            </a:r>
            <a:endParaRPr sz="800" dirty="0">
              <a:solidFill>
                <a:srgbClr val="FFFFFF">
                  <a:alpha val="90196"/>
                </a:srgbClr>
              </a:solidFill>
              <a:sym typeface="+mn-ea"/>
            </a:endParaRPr>
          </a:p>
          <a:p>
            <a:pPr marL="193040" algn="l" rtl="0" eaLnBrk="0">
              <a:lnSpc>
                <a:spcPts val="900"/>
              </a:lnSpc>
            </a:pPr>
            <a:r>
              <a:rPr sz="800" dirty="0">
                <a:solidFill>
                  <a:srgbClr val="FFFFFF">
                    <a:alpha val="90196"/>
                  </a:srgbClr>
                </a:solidFill>
                <a:sym typeface="+mn-ea"/>
              </a:rPr>
              <a:t>}</a:t>
            </a: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760"/>
              </a:lnSpc>
              <a:spcBef>
                <a:spcPts val="135"/>
              </a:spcBef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596" name="textbox 46"/>
          <p:cNvSpPr/>
          <p:nvPr/>
        </p:nvSpPr>
        <p:spPr>
          <a:xfrm>
            <a:off x="762000" y="6540508"/>
            <a:ext cx="10668000" cy="254000"/>
          </a:xfrm>
          <a:prstGeom prst="rect">
            <a:avLst/>
          </a:prstGeom>
          <a:solidFill>
            <a:srgbClr val="2563EB">
              <a:alpha val="784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45000"/>
              </a:lnSpc>
            </a:pPr>
            <a:endParaRPr sz="2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ts val="845"/>
              </a:lnSpc>
              <a:spcBef>
                <a:spcPts val="0"/>
              </a:spcBef>
            </a:pPr>
            <a:r>
              <a:rPr sz="935" kern="0" spc="8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构造函数一步建堆；</a:t>
            </a:r>
            <a:r>
              <a:rPr sz="935" kern="0" spc="-1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child</a:t>
            </a:r>
            <a:r>
              <a:rPr sz="935" kern="0" spc="-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是所有操作的基础；</a:t>
            </a:r>
            <a:r>
              <a:rPr sz="935" kern="0" spc="-1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buildHeap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自底向上调用 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dMaxHeapify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，整体 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O(n)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597" name="textbox 48"/>
          <p:cNvSpPr/>
          <p:nvPr/>
        </p:nvSpPr>
        <p:spPr>
          <a:xfrm>
            <a:off x="753487" y="539463"/>
            <a:ext cx="3925147" cy="677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kern="0" spc="9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代码实现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</a:t>
            </a:r>
            <a:r>
              <a:rPr sz="2135" kern="0" spc="20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：类定义与建堆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598" name="path 50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57" name="picture 5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rect 5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aphicFrame>
        <p:nvGraphicFramePr>
          <p:cNvPr id="4194306" name="table 56"/>
          <p:cNvGraphicFramePr>
            <a:graphicFrameLocks noGrp="1"/>
          </p:cNvGraphicFramePr>
          <p:nvPr/>
        </p:nvGraphicFramePr>
        <p:xfrm>
          <a:off x="755649" y="1644659"/>
          <a:ext cx="5154930" cy="2108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3815"/>
                <a:gridCol w="5111115"/>
              </a:tblGrid>
              <a:tr h="2108200"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335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465" kern="0" spc="9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parent(i)</a:t>
                      </a:r>
                      <a:r>
                        <a:rPr sz="1465" kern="0" spc="-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65" kern="0" spc="9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/</a:t>
                      </a:r>
                      <a:r>
                        <a:rPr sz="1465" kern="0" spc="-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465" kern="0" spc="9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child(i, k)</a:t>
                      </a:r>
                      <a:endParaRPr sz="14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0180" algn="l" rtl="0" eaLnBrk="0">
                        <a:lnSpc>
                          <a:spcPts val="1095"/>
                        </a:lnSpc>
                        <a:spcBef>
                          <a:spcPts val="875"/>
                        </a:spcBef>
                      </a:pPr>
                      <a:r>
                        <a:rPr sz="1200" kern="0" spc="5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时间复杂度：</a:t>
                      </a:r>
                      <a:r>
                        <a:rPr sz="1200" kern="0" spc="-14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O(1)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72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4465" algn="l" rtl="0" eaLnBrk="0">
                        <a:lnSpc>
                          <a:spcPct val="86000"/>
                        </a:lnSpc>
                        <a:spcBef>
                          <a:spcPts val="250"/>
                        </a:spcBef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仅含常数次算术运算（</a:t>
                      </a:r>
                      <a:r>
                        <a:rPr sz="1065" kern="0" spc="-1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除法、乘法、加法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），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无循环无递归。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1450" algn="l" rtl="0" eaLnBrk="0">
                        <a:lnSpc>
                          <a:spcPts val="1230"/>
                        </a:lnSpc>
                      </a:pP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parent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(i) =</a:t>
                      </a:r>
                      <a:r>
                        <a:rPr sz="1065" kern="0" spc="-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⌊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(i+d_2)/d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]</a:t>
                      </a:r>
                      <a:r>
                        <a:rPr sz="1065" kern="0" spc="-8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 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child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(i,k)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</a:t>
                      </a:r>
                      <a:r>
                        <a:rPr sz="1065" kern="0" spc="-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65" kern="0" spc="-1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(i_1)+1+k</a:t>
                      </a: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640" algn="l" rtl="0" eaLnBrk="0">
                        <a:lnSpc>
                          <a:spcPct val="88000"/>
                        </a:lnSpc>
                        <a:spcBef>
                          <a:spcPts val="190"/>
                        </a:spcBef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二者是所有堆操作的基础下标计算</a:t>
                      </a:r>
                      <a:r>
                        <a:rPr sz="1065" kern="0" spc="-1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，单次调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用开销可忽略。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7" name="table 58"/>
          <p:cNvGraphicFramePr>
            <a:graphicFrameLocks noGrp="1"/>
          </p:cNvGraphicFramePr>
          <p:nvPr/>
        </p:nvGraphicFramePr>
        <p:xfrm>
          <a:off x="6280149" y="1644659"/>
          <a:ext cx="5154930" cy="2108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3815"/>
                <a:gridCol w="5111115"/>
              </a:tblGrid>
              <a:tr h="2108200"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A5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827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465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dMaxHeapify</a:t>
                      </a:r>
                      <a:r>
                        <a:rPr sz="1465" kern="0" spc="1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(i) </a:t>
                      </a:r>
                      <a:r>
                        <a:rPr sz="1465" kern="0" spc="1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下沉调整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1095"/>
                        </a:lnSpc>
                        <a:spcBef>
                          <a:spcPts val="875"/>
                        </a:spcBef>
                      </a:pP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时间复杂度：</a:t>
                      </a:r>
                      <a:r>
                        <a:rPr sz="1200" kern="0" spc="-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O(d</a:t>
                      </a:r>
                      <a:r>
                        <a:rPr sz="1200" kern="0" spc="17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 </a:t>
                      </a:r>
                      <a:r>
                        <a:rPr sz="1200" kern="0" spc="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log</a:t>
                      </a: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200" kern="0" spc="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200" kern="0" spc="80" dirty="0">
                          <a:solidFill>
                            <a:srgbClr val="EA580C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72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735" algn="l" rtl="0" eaLnBrk="0">
                        <a:lnSpc>
                          <a:spcPct val="97000"/>
                        </a:lnSpc>
                        <a:spcBef>
                          <a:spcPts val="250"/>
                        </a:spcBef>
                      </a:pP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每层遍历</a:t>
                      </a:r>
                      <a:r>
                        <a:rPr sz="1065" kern="0" spc="-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65" kern="0" spc="-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个子节点找最大值：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O(d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次比较。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7005" algn="l" rtl="0" eaLnBrk="0">
                        <a:lnSpc>
                          <a:spcPts val="1125"/>
                        </a:lnSpc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递归下沉最多走树高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 =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Θ(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log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层。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A580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8" name="table 60"/>
          <p:cNvGraphicFramePr>
            <a:graphicFrameLocks noGrp="1"/>
          </p:cNvGraphicFramePr>
          <p:nvPr/>
        </p:nvGraphicFramePr>
        <p:xfrm>
          <a:off x="755649" y="3930659"/>
          <a:ext cx="5154930" cy="2108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3815"/>
                <a:gridCol w="5111115"/>
              </a:tblGrid>
              <a:tr h="2108200"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335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465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buildHeap</a:t>
                      </a:r>
                      <a:r>
                        <a:rPr sz="1465" kern="0" spc="12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() </a:t>
                      </a:r>
                      <a:r>
                        <a:rPr sz="1465" kern="0" spc="12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自底向上建堆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1095"/>
                        </a:lnSpc>
                        <a:spcBef>
                          <a:spcPts val="875"/>
                        </a:spcBef>
                      </a:pPr>
                      <a:r>
                        <a:rPr sz="1200" kern="0" spc="50" dirty="0">
                          <a:solidFill>
                            <a:srgbClr val="16A34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时间复杂度：</a:t>
                      </a:r>
                      <a:r>
                        <a:rPr sz="1200" kern="0" spc="-90" dirty="0">
                          <a:solidFill>
                            <a:srgbClr val="16A34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16A34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72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6370" algn="l" rtl="0" eaLnBrk="0">
                        <a:lnSpc>
                          <a:spcPct val="97000"/>
                        </a:lnSpc>
                        <a:spcBef>
                          <a:spcPts val="250"/>
                        </a:spcBef>
                      </a:pP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从最后一个非叶节点</a:t>
                      </a:r>
                      <a:r>
                        <a:rPr sz="1065" kern="0" spc="-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⌊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(n+d_2)/d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]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倒序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调用 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dMaxHeapify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6370" algn="l" rtl="0" eaLnBrk="0">
                        <a:lnSpc>
                          <a:spcPct val="90000"/>
                        </a:lnSpc>
                        <a:spcBef>
                          <a:spcPts val="190"/>
                        </a:spcBef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大部分节点位于底层</a:t>
                      </a:r>
                      <a:r>
                        <a:rPr sz="1065" kern="0" spc="-1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，下沉距离极短；加权求和后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总量</a:t>
                      </a:r>
                      <a:r>
                        <a:rPr lang="zh-CN"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2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97000"/>
                        </a:lnSpc>
                      </a:pP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严格推导：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Σ_{h=0}^{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⌊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log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]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}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「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n/d^{h+1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}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Cambria Math" panose="02040503050406030204"/>
                          <a:ea typeface="Cambria Math" panose="02040503050406030204"/>
                          <a:cs typeface="Cambria Math" panose="02040503050406030204"/>
                        </a:rPr>
                        <a:t>1 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</a:t>
                      </a:r>
                      <a:r>
                        <a:rPr sz="1065" kern="0" spc="-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O(d</a:t>
                      </a:r>
                      <a:r>
                        <a:rPr sz="1065" kern="0" spc="1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·</a:t>
                      </a:r>
                      <a:r>
                        <a:rPr sz="1065" kern="0" spc="-1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h) =</a:t>
                      </a:r>
                      <a:r>
                        <a:rPr sz="1065" kern="0" spc="-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16A3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09" name="table 62"/>
          <p:cNvGraphicFramePr>
            <a:graphicFrameLocks noGrp="1"/>
          </p:cNvGraphicFramePr>
          <p:nvPr/>
        </p:nvGraphicFramePr>
        <p:xfrm>
          <a:off x="6280149" y="3930659"/>
          <a:ext cx="5154930" cy="2108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3815"/>
                <a:gridCol w="5111115"/>
              </a:tblGrid>
              <a:tr h="2108200">
                <a:tc>
                  <a:txBody>
                    <a:bodyPr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33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46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465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DaryMaxHeap</a:t>
                      </a:r>
                      <a:r>
                        <a:rPr sz="1465" kern="0" spc="2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()</a:t>
                      </a:r>
                      <a:r>
                        <a:rPr sz="1465" kern="0" spc="2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构造函数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70180" algn="l" rtl="0" eaLnBrk="0">
                        <a:lnSpc>
                          <a:spcPts val="1095"/>
                        </a:lnSpc>
                        <a:spcBef>
                          <a:spcPts val="875"/>
                        </a:spcBef>
                      </a:pPr>
                      <a:r>
                        <a:rPr sz="1200" kern="0" spc="50" dirty="0">
                          <a:solidFill>
                            <a:srgbClr val="9333E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时间复杂度：</a:t>
                      </a:r>
                      <a:r>
                        <a:rPr sz="1200" kern="0" spc="-90" dirty="0">
                          <a:solidFill>
                            <a:srgbClr val="9333E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9333E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72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100" algn="l" rtl="0" eaLnBrk="0">
                        <a:lnSpc>
                          <a:spcPct val="97000"/>
                        </a:lnSpc>
                        <a:spcBef>
                          <a:spcPts val="250"/>
                        </a:spcBef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复制输入数组到</a:t>
                      </a:r>
                      <a:r>
                        <a:rPr sz="1065" kern="0" spc="-9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（首位留空作哨兵</a:t>
                      </a:r>
                      <a:r>
                        <a:rPr sz="1065" kern="0" spc="-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r>
                        <a:rPr sz="1065" kern="0" spc="-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-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r>
                        <a:rPr sz="1065" kern="0" spc="1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6370" algn="l" rtl="0" eaLnBrk="0">
                        <a:lnSpc>
                          <a:spcPct val="97000"/>
                        </a:lnSpc>
                        <a:spcBef>
                          <a:spcPts val="195"/>
                        </a:spcBef>
                      </a:pP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 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heap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size</a:t>
                      </a:r>
                      <a:r>
                        <a:rPr sz="1065" kern="0" spc="-6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后调用</a:t>
                      </a:r>
                      <a:r>
                        <a:rPr sz="1065" kern="0" spc="8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buildHeap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()</a:t>
                      </a:r>
                      <a:r>
                        <a:rPr sz="1065" kern="0" spc="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：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r>
                        <a:rPr sz="1065" kern="0" spc="3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68275" algn="l" rtl="0" eaLnBrk="0">
                        <a:lnSpc>
                          <a:spcPct val="97000"/>
                        </a:lnSpc>
                        <a:spcBef>
                          <a:spcPts val="195"/>
                        </a:spcBef>
                      </a:pP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两步均为线性</a:t>
                      </a:r>
                      <a:r>
                        <a:rPr sz="1065" kern="0" spc="-10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，整体构造一个</a:t>
                      </a:r>
                      <a:r>
                        <a:rPr sz="1065" kern="0" spc="-5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65" kern="0" spc="-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叉最大堆只需</a:t>
                      </a:r>
                      <a:r>
                        <a:rPr sz="1065" kern="0" spc="-4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r>
                        <a:rPr sz="1065" kern="0" spc="20" dirty="0">
                          <a:solidFill>
                            <a:srgbClr val="3C424E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时间。</a:t>
                      </a:r>
                      <a:endParaRPr sz="10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933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00" name="textbox 66"/>
          <p:cNvSpPr/>
          <p:nvPr/>
        </p:nvSpPr>
        <p:spPr>
          <a:xfrm>
            <a:off x="753487" y="539463"/>
            <a:ext cx="4547445" cy="677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kern="0" spc="9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时间复杂度分析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各操作运行时间推导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01" name="path 68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58" name="picture 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  <p:pic>
        <p:nvPicPr>
          <p:cNvPr id="2097159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90" y="4726305"/>
            <a:ext cx="4040505" cy="11607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rect 72"/>
          <p:cNvSpPr/>
          <p:nvPr/>
        </p:nvSpPr>
        <p:spPr>
          <a:xfrm>
            <a:off x="20259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aphicFrame>
        <p:nvGraphicFramePr>
          <p:cNvPr id="4194310" name="table 74"/>
          <p:cNvGraphicFramePr>
            <a:graphicFrameLocks noGrp="1"/>
          </p:cNvGraphicFramePr>
          <p:nvPr/>
        </p:nvGraphicFramePr>
        <p:xfrm>
          <a:off x="755650" y="1644650"/>
          <a:ext cx="520827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20827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</a:pPr>
                      <a:r>
                        <a:rPr sz="1465" kern="0" spc="10" dirty="0">
                          <a:solidFill>
                            <a:srgbClr val="B43232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瓶颈在哪？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r>
                        <a:rPr lang="en-US"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dMaxHeapify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每层比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个子节点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295" algn="l" rtl="0" eaLnBrk="0">
                        <a:lnSpc>
                          <a:spcPct val="139000"/>
                        </a:lnSpc>
                        <a:spcBef>
                          <a:spcPts val="120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下沉时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for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循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环遍历全部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个孩子找最大值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，下沉一层的运行</a:t>
                      </a:r>
                      <a:r>
                        <a:rPr sz="1200" kern="0" spc="7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时间为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Θ(d)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，当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比较大时费时。</a:t>
                      </a:r>
                      <a:endParaRPr sz="1200" kern="0" spc="-10" dirty="0">
                        <a:solidFill>
                          <a:srgbClr val="2B2F36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510"/>
                        </a:spcBef>
                      </a:pP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2.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朴素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swap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每层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3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次写</a:t>
                      </a:r>
                      <a:r>
                        <a:rPr sz="1200" spc="-1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常数因子大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9390" algn="l" rtl="0" eaLnBrk="0">
                        <a:lnSpc>
                          <a:spcPct val="130000"/>
                        </a:lnSpc>
                        <a:spcBef>
                          <a:spcPts val="265"/>
                        </a:spcBef>
                      </a:pP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每层用</a:t>
                      </a:r>
                      <a:r>
                        <a:rPr sz="1200" spc="9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swap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交换父子</a:t>
                      </a:r>
                      <a:r>
                        <a:rPr sz="120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，含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3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次内存写</a:t>
                      </a:r>
                      <a:r>
                        <a:rPr sz="120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，路径一长写操</a:t>
                      </a:r>
                      <a:r>
                        <a:rPr sz="120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作总量就很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大</a:t>
                      </a:r>
                      <a:r>
                        <a:rPr sz="1200" spc="-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，实际运行偏慢。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295" algn="l" rtl="0" eaLnBrk="0">
                        <a:lnSpc>
                          <a:spcPct val="139000"/>
                        </a:lnSpc>
                        <a:spcBef>
                          <a:spcPts val="120"/>
                        </a:spcBef>
                      </a:pP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1" name="table 76"/>
          <p:cNvGraphicFramePr>
            <a:graphicFrameLocks noGrp="1"/>
          </p:cNvGraphicFramePr>
          <p:nvPr/>
        </p:nvGraphicFramePr>
        <p:xfrm>
          <a:off x="6343649" y="1644659"/>
          <a:ext cx="509270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660" algn="l" rtl="0" eaLnBrk="0">
                        <a:lnSpc>
                          <a:spcPct val="87000"/>
                        </a:lnSpc>
                      </a:pPr>
                      <a:r>
                        <a:rPr sz="1465" kern="0" spc="0" dirty="0">
                          <a:solidFill>
                            <a:srgbClr val="1678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怎么改进？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针对频繁堆操作场景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9390" indent="5715" algn="l" rtl="0" eaLnBrk="0">
                        <a:lnSpc>
                          <a:spcPct val="137000"/>
                        </a:lnSpc>
                        <a:spcBef>
                          <a:spcPts val="235"/>
                        </a:spcBef>
                      </a:pP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比如遇到大量</a:t>
                      </a:r>
                      <a:r>
                        <a:rPr lang="zh-CN"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改变节点值的</a:t>
                      </a: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操作时：可以用锦标赛树</a:t>
                      </a:r>
                      <a:r>
                        <a:rPr sz="1200" kern="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，把每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次下沉的层比较从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O(d)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降到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O(log d)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。但注意：它对一次性的  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buildHeap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收益不大</a:t>
                      </a:r>
                      <a:r>
                        <a:rPr sz="1200" kern="0" spc="-9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，因为第一次建锦标赛树本身也有接近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O(d)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的开</a:t>
                      </a:r>
                      <a:r>
                        <a:rPr sz="1200" kern="0" spc="-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销。</a:t>
                      </a:r>
                      <a:endParaRPr sz="1200" kern="0" spc="-30" dirty="0">
                        <a:solidFill>
                          <a:srgbClr val="2B2F36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algn="l" rtl="0" eaLnBrk="0">
                        <a:lnSpc>
                          <a:spcPct val="92000"/>
                        </a:lnSpc>
                        <a:spcBef>
                          <a:spcPts val="510"/>
                        </a:spcBef>
                      </a:pPr>
                      <a:r>
                        <a:rPr lang="en-US" sz="1200" dirty="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</a:t>
                      </a:r>
                      <a:r>
                        <a:rPr sz="120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直接赋值代替 </a:t>
                      </a:r>
                      <a:r>
                        <a:rPr sz="1200" dirty="0">
                          <a:solidFill>
                            <a:srgbClr val="2B2F36">
                              <a:alpha val="100000"/>
                            </a:srgbClr>
                          </a:solidFill>
                          <a:sym typeface="+mn-ea"/>
                        </a:rPr>
                        <a:t>swap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r>
                        <a:rPr lang="en-US"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  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下沉时用移动赋值代替三次交换</a:t>
                      </a:r>
                      <a:r>
                        <a:rPr sz="1200" spc="-1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 </a:t>
                      </a:r>
                      <a:r>
                        <a:rPr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，减少写内存次数</a:t>
                      </a:r>
                      <a:r>
                        <a:rPr lang="zh-CN" sz="120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。</a:t>
                      </a:r>
                      <a:endParaRPr lang="zh-CN" sz="1200" spc="-10" dirty="0">
                        <a:solidFill>
                          <a:srgbClr val="2B2F36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03" name="textbox 80"/>
          <p:cNvSpPr/>
          <p:nvPr/>
        </p:nvSpPr>
        <p:spPr>
          <a:xfrm>
            <a:off x="753487" y="539463"/>
            <a:ext cx="4318847" cy="677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程序瓶颈与改进方式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buildHeap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的瓶颈分析与优化方向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04" name="path 82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60" name="pictur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rect 86"/>
          <p:cNvSpPr/>
          <p:nvPr/>
        </p:nvSpPr>
        <p:spPr>
          <a:xfrm>
            <a:off x="0" y="3"/>
            <a:ext cx="12192000" cy="6857995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pSp>
        <p:nvGrpSpPr>
          <p:cNvPr id="48" name="group 4"/>
          <p:cNvGrpSpPr/>
          <p:nvPr/>
        </p:nvGrpSpPr>
        <p:grpSpPr>
          <a:xfrm rot="21600000">
            <a:off x="4359729" y="2627426"/>
            <a:ext cx="7087236" cy="3108960"/>
            <a:chOff x="0" y="-12859"/>
            <a:chExt cx="5315427" cy="2331720"/>
          </a:xfrm>
        </p:grpSpPr>
        <p:pic>
          <p:nvPicPr>
            <p:cNvPr id="2097161" name="picture 8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5302702" cy="2302836"/>
            </a:xfrm>
            <a:prstGeom prst="rect">
              <a:avLst/>
            </a:prstGeom>
          </p:spPr>
        </p:pic>
        <p:sp>
          <p:nvSpPr>
            <p:cNvPr id="1048606" name="textbox 90"/>
            <p:cNvSpPr/>
            <p:nvPr/>
          </p:nvSpPr>
          <p:spPr>
            <a:xfrm>
              <a:off x="711518" y="-12859"/>
              <a:ext cx="4603909" cy="23317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04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82165" algn="l" rtl="0" eaLnBrk="0">
                <a:lnSpc>
                  <a:spcPct val="90000"/>
                </a:lnSpc>
                <a:spcBef>
                  <a:spcPts val="5"/>
                </a:spcBef>
              </a:pPr>
              <a:r>
                <a:rPr sz="1200" kern="0" spc="60" dirty="0">
                  <a:solidFill>
                    <a:srgbClr val="FFFFFF">
                      <a:alpha val="6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最终答案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2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36140" algn="l" rtl="0" eaLnBrk="0">
                <a:lnSpc>
                  <a:spcPts val="2840"/>
                </a:lnSpc>
                <a:spcBef>
                  <a:spcPts val="635"/>
                </a:spcBef>
              </a:pPr>
              <a:r>
                <a:rPr sz="2800" b="1" i="1" kern="0" spc="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</a:t>
              </a:r>
              <a:r>
                <a:rPr sz="2800" b="1" i="1" kern="0" spc="17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8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= Θ</a:t>
              </a:r>
              <a:r>
                <a:rPr sz="2800" b="1" kern="0" spc="-41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28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</a:t>
              </a:r>
              <a:r>
                <a:rPr sz="2800" b="1" kern="0" spc="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log</a:t>
              </a:r>
              <a:r>
                <a:rPr sz="2935" b="1" i="1" kern="0" spc="0" baseline="-80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r>
                <a:rPr sz="1865" b="1" i="1" kern="0" spc="1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800" b="1" i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r>
                <a:rPr sz="2800" b="1" kern="0" spc="30" dirty="0">
                  <a:solidFill>
                    <a:srgbClr val="FFFFFF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2080260" algn="l" rtl="0" eaLnBrk="0">
                <a:lnSpc>
                  <a:spcPct val="94000"/>
                </a:lnSpc>
                <a:spcBef>
                  <a:spcPts val="1125"/>
                </a:spcBef>
              </a:pPr>
              <a:r>
                <a:rPr sz="1200" kern="0" spc="0" dirty="0">
                  <a:solidFill>
                    <a:srgbClr val="FFFFFF">
                      <a:alpha val="70196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等价于 </a:t>
              </a:r>
              <a:r>
                <a:rPr sz="1200" kern="0" spc="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Θ(lg</a:t>
              </a:r>
              <a:r>
                <a:rPr sz="1200" kern="0" spc="7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 </a:t>
              </a:r>
              <a:r>
                <a:rPr sz="1200" kern="0" spc="-1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/</a:t>
              </a:r>
              <a:r>
                <a:rPr sz="1200" kern="0" spc="8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FFFFFF">
                      <a:alpha val="70196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lg d)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0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1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26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81530" algn="l" rtl="0" eaLnBrk="0">
                <a:lnSpc>
                  <a:spcPct val="118000"/>
                </a:lnSpc>
              </a:pP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直觉：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越大</a:t>
              </a:r>
              <a:r>
                <a:rPr sz="1200" kern="0" spc="-1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，每层能放的节点越多</a:t>
              </a:r>
              <a:r>
                <a:rPr sz="1200" kern="0" spc="-15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sz="1200" kern="0" spc="-2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树就越矮。</a:t>
              </a:r>
              <a:r>
                <a:rPr sz="1200" kern="0" spc="-2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d=2</a:t>
              </a:r>
              <a:r>
                <a:rPr sz="1200" kern="0" spc="8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2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时退</a:t>
              </a:r>
              <a:r>
                <a:rPr sz="1200" kern="0" spc="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    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化为二叉堆的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Θ(lg</a:t>
              </a:r>
              <a:r>
                <a:rPr sz="1200" kern="0" spc="7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n)</a:t>
              </a:r>
              <a:r>
                <a:rPr sz="1200" kern="0" spc="-1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。</a:t>
              </a:r>
              <a:endParaRPr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8607" name="textbox 92"/>
          <p:cNvSpPr/>
          <p:nvPr/>
        </p:nvSpPr>
        <p:spPr>
          <a:xfrm>
            <a:off x="748037" y="2601563"/>
            <a:ext cx="3620347" cy="2334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88000"/>
              </a:lnSpc>
            </a:pPr>
            <a:r>
              <a:rPr sz="1335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推导过程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0"/>
              </a:lnSpc>
              <a:spcBef>
                <a:spcPts val="275"/>
              </a:spcBef>
            </a:pP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200" kern="0" spc="-1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 =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根到最远叶子的边数。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4135" indent="-51435" algn="l" rtl="0" eaLnBrk="0">
              <a:lnSpc>
                <a:spcPct val="145000"/>
              </a:lnSpc>
              <a:spcBef>
                <a:spcPts val="460"/>
              </a:spcBef>
              <a:tabLst>
                <a:tab pos="1943735" algn="l"/>
              </a:tabLst>
            </a:pP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200" kern="0" spc="-1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 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叉树的节点总数是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等比数列求和：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35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0"/>
              </a:lnSpc>
              <a:spcBef>
                <a:spcPts val="380"/>
              </a:spcBef>
            </a:pP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知识点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1200" kern="0" spc="-1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叉堆的节点数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满足不等式：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2000"/>
              </a:lnSpc>
            </a:pPr>
            <a:endParaRPr sz="6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6860" algn="l" rtl="0" eaLnBrk="0">
              <a:lnSpc>
                <a:spcPct val="98000"/>
              </a:lnSpc>
              <a:spcBef>
                <a:spcPts val="5"/>
              </a:spcBef>
              <a:tabLst>
                <a:tab pos="337820" algn="l"/>
              </a:tabLst>
            </a:pP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2000" kern="0" spc="-20" baseline="-30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</a:t>
            </a:r>
            <a:r>
              <a:rPr sz="1200" kern="0" spc="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i="1" kern="0" spc="-20" baseline="-700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i="1" kern="0" spc="1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20" baseline="-70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</a:t>
            </a:r>
            <a:r>
              <a:rPr sz="1200" kern="0" spc="2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1335" kern="0" spc="-20" baseline="-4200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</a:t>
            </a:r>
            <a:endParaRPr sz="1335" baseline="-4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62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702107" y="4532115"/>
            <a:ext cx="381000" cy="271077"/>
          </a:xfrm>
          <a:prstGeom prst="rect">
            <a:avLst/>
          </a:prstGeom>
        </p:spPr>
      </p:pic>
      <p:pic>
        <p:nvPicPr>
          <p:cNvPr id="2097163" name="picture 9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74664" y="4531787"/>
            <a:ext cx="268640" cy="257436"/>
          </a:xfrm>
          <a:prstGeom prst="rect">
            <a:avLst/>
          </a:prstGeom>
        </p:spPr>
      </p:pic>
      <p:pic>
        <p:nvPicPr>
          <p:cNvPr id="2097164" name="picture 9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34084" y="3964425"/>
            <a:ext cx="2506015" cy="271077"/>
          </a:xfrm>
          <a:prstGeom prst="rect">
            <a:avLst/>
          </a:prstGeom>
        </p:spPr>
      </p:pic>
      <p:grpSp>
        <p:nvGrpSpPr>
          <p:cNvPr id="49" name="group 6"/>
          <p:cNvGrpSpPr/>
          <p:nvPr/>
        </p:nvGrpSpPr>
        <p:grpSpPr>
          <a:xfrm rot="21600000">
            <a:off x="762000" y="1714511"/>
            <a:ext cx="10668000" cy="635000"/>
            <a:chOff x="0" y="0"/>
            <a:chExt cx="8001000" cy="476250"/>
          </a:xfrm>
        </p:grpSpPr>
        <p:sp>
          <p:nvSpPr>
            <p:cNvPr id="1048608" name="path 100"/>
            <p:cNvSpPr/>
            <p:nvPr/>
          </p:nvSpPr>
          <p:spPr>
            <a:xfrm>
              <a:off x="0" y="0"/>
              <a:ext cx="8001000" cy="476250"/>
            </a:xfrm>
            <a:custGeom>
              <a:avLst/>
              <a:gdLst/>
              <a:ahLst/>
              <a:cxnLst/>
              <a:rect l="0" t="0" r="0" b="0"/>
              <a:pathLst>
                <a:path w="12600" h="750">
                  <a:moveTo>
                    <a:pt x="0" y="0"/>
                  </a:moveTo>
                  <a:lnTo>
                    <a:pt x="12600" y="0"/>
                  </a:lnTo>
                  <a:lnTo>
                    <a:pt x="12600" y="750"/>
                  </a:lnTo>
                  <a:lnTo>
                    <a:pt x="0" y="7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563EB">
                <a:alpha val="5882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p>
              <a:pPr algn="ctr"/>
              <a:endParaRPr lang="zh-CN" altLang="en-US" sz="1865"/>
            </a:p>
          </p:txBody>
        </p:sp>
        <p:sp>
          <p:nvSpPr>
            <p:cNvPr id="1048609" name="textbox 102"/>
            <p:cNvSpPr/>
            <p:nvPr/>
          </p:nvSpPr>
          <p:spPr>
            <a:xfrm>
              <a:off x="-12700" y="-12700"/>
              <a:ext cx="8026400" cy="5016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p>
              <a:pPr algn="l" rtl="0" eaLnBrk="0">
                <a:lnSpc>
                  <a:spcPct val="121000"/>
                </a:lnSpc>
              </a:pPr>
              <a:endParaRPr sz="1335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5105" algn="l" rtl="0" eaLnBrk="0">
                <a:lnSpc>
                  <a:spcPct val="98000"/>
                </a:lnSpc>
                <a:spcBef>
                  <a:spcPts val="5"/>
                </a:spcBef>
              </a:pPr>
              <a:r>
                <a:rPr sz="1335" kern="0" spc="5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题目问的是：</a:t>
              </a:r>
              <a:r>
                <a:rPr sz="1335" kern="0" spc="-19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1335" kern="0" spc="5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高度 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 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和节点数 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、分支数 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r>
                <a:rPr sz="1335" kern="0" spc="40" dirty="0">
                  <a:solidFill>
                    <a:srgbClr val="0D1326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之间是什么量级关系？</a:t>
              </a:r>
              <a:endParaRPr sz="1335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48610" name="textbox 104"/>
          <p:cNvSpPr/>
          <p:nvPr/>
        </p:nvSpPr>
        <p:spPr>
          <a:xfrm>
            <a:off x="751840" y="539750"/>
            <a:ext cx="4556125" cy="711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0000"/>
              </a:lnSpc>
            </a:pP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1200" kern="0" spc="-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  <a:spcBef>
                <a:spcPts val="5"/>
              </a:spcBef>
            </a:pP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⽤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Θ</a:t>
            </a:r>
            <a:r>
              <a:rPr sz="2400" kern="0" spc="-1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2400" kern="0" spc="-11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个元素的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2400" kern="0" spc="-11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</a:t>
            </a:r>
            <a:r>
              <a:rPr sz="24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堆高度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097165" name="picture 10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17060" y="5715000"/>
            <a:ext cx="2506345" cy="635000"/>
          </a:xfrm>
          <a:prstGeom prst="rect">
            <a:avLst/>
          </a:prstGeom>
        </p:spPr>
      </p:pic>
      <p:sp>
        <p:nvSpPr>
          <p:cNvPr id="1048611" name="path 108"/>
          <p:cNvSpPr/>
          <p:nvPr/>
        </p:nvSpPr>
        <p:spPr>
          <a:xfrm>
            <a:off x="774700" y="1441461"/>
            <a:ext cx="10655308" cy="38100"/>
          </a:xfrm>
          <a:custGeom>
            <a:avLst/>
            <a:gdLst/>
            <a:ahLst/>
            <a:cxnLst/>
            <a:rect l="0" t="0" r="0" b="0"/>
            <a:pathLst>
              <a:path w="12585" h="45">
                <a:moveTo>
                  <a:pt x="0" y="22"/>
                </a:moveTo>
                <a:lnTo>
                  <a:pt x="12585" y="22"/>
                </a:lnTo>
              </a:path>
            </a:pathLst>
          </a:custGeom>
          <a:noFill/>
          <a:ln w="2857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66" name="picture 1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12179300" y="-4221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1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8612" name="textbox 114"/>
          <p:cNvSpPr/>
          <p:nvPr/>
        </p:nvSpPr>
        <p:spPr>
          <a:xfrm>
            <a:off x="745561" y="2474565"/>
            <a:ext cx="5573605" cy="245787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88000"/>
              </a:lnSpc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实现步骤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" algn="l" rtl="0" eaLnBrk="0">
              <a:lnSpc>
                <a:spcPts val="1100"/>
              </a:lnSpc>
              <a:spcBef>
                <a:spcPts val="280"/>
              </a:spcBef>
            </a:pP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1200" kern="0" spc="2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取根节点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A[1]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作为最大值</a:t>
            </a:r>
            <a:r>
              <a:rPr lang="zh-CN"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" algn="l" rtl="0" eaLnBrk="0">
              <a:lnSpc>
                <a:spcPts val="1100"/>
              </a:lnSpc>
              <a:spcBef>
                <a:spcPts val="550"/>
              </a:spcBef>
            </a:pP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1200" kern="0" spc="19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把堆尾元素移到根：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200" kern="0" spc="-1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[1] =</a:t>
            </a:r>
            <a:r>
              <a:rPr sz="1200" kern="0" spc="-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200" kern="0" spc="-1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ts val="1100"/>
              </a:lnSpc>
              <a:spcBef>
                <a:spcPts val="550"/>
              </a:spcBef>
            </a:pP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1200" kern="0" spc="2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 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9545" indent="-157480" algn="l" rtl="0" eaLnBrk="0">
              <a:lnSpc>
                <a:spcPct val="151000"/>
              </a:lnSpc>
              <a:spcBef>
                <a:spcPts val="40"/>
              </a:spcBef>
            </a:pPr>
            <a:r>
              <a:rPr sz="1200" kern="0" spc="6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4.</a:t>
            </a:r>
            <a:r>
              <a:rPr sz="1200" kern="0" spc="2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下沉调整</a:t>
            </a:r>
            <a:r>
              <a:rPr lang="zh-CN" sz="1200" kern="0" spc="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200" kern="0" spc="60" dirty="0">
              <a:solidFill>
                <a:srgbClr val="0D13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94312" name="table 116"/>
          <p:cNvGraphicFramePr>
            <a:graphicFrameLocks noGrp="1"/>
          </p:cNvGraphicFramePr>
          <p:nvPr/>
        </p:nvGraphicFramePr>
        <p:xfrm>
          <a:off x="6851649" y="2787663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每下沉一层的代价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00" algn="l" rtl="0" eaLnBrk="0">
                        <a:lnSpc>
                          <a:spcPts val="1460"/>
                        </a:lnSpc>
                      </a:pPr>
                      <a:r>
                        <a:rPr sz="1600" kern="0" spc="-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 d 个子节点〓</a:t>
                      </a:r>
                      <a:r>
                        <a:rPr sz="1600" kern="0" spc="3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600" kern="0" spc="3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sz="1600" b="1" kern="0" spc="-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(</a:t>
                      </a:r>
                      <a:r>
                        <a:rPr sz="1600" b="1" i="1" kern="0" spc="-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600" b="1" kern="0" spc="-5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)</a:t>
                      </a:r>
                      <a:endParaRPr sz="1600" dirty="0">
                        <a:latin typeface="MS Gothic" panose="020B0609070205080204" charset="-128"/>
                        <a:ea typeface="MS Gothic" panose="020B0609070205080204" charset="-128"/>
                        <a:cs typeface="MS Gothic" panose="020B0609070205080204" charset="-128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3" name="table 118"/>
          <p:cNvGraphicFramePr>
            <a:graphicFrameLocks noGrp="1"/>
          </p:cNvGraphicFramePr>
          <p:nvPr/>
        </p:nvGraphicFramePr>
        <p:xfrm>
          <a:off x="6851649" y="3930663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0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最多下沉层数（</a:t>
                      </a:r>
                      <a:r>
                        <a:rPr sz="1200" kern="0" spc="-1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题）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120" algn="l" rtl="0" eaLnBrk="0">
                        <a:lnSpc>
                          <a:spcPts val="1545"/>
                        </a:lnSpc>
                      </a:pPr>
                      <a:r>
                        <a:rPr sz="1600" kern="0" spc="-8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堆的高度</a:t>
                      </a:r>
                      <a:r>
                        <a:rPr sz="1600" kern="0" spc="-12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8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〓</a:t>
                      </a:r>
                      <a:r>
                        <a:rPr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sz="1600" b="1" kern="0" spc="-8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(log</a:t>
                      </a:r>
                      <a:r>
                        <a:rPr sz="1600" b="1" i="1" kern="0" spc="0" baseline="-120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935" b="1" i="1" kern="0" spc="1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i="1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600" b="1" kern="0" spc="13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MS Gothic" panose="020B0609070205080204" charset="-128"/>
                          <a:ea typeface="MS Gothic" panose="020B0609070205080204" charset="-128"/>
                          <a:cs typeface="MS Gothic" panose="020B0609070205080204" charset="-128"/>
                        </a:rPr>
                        <a:t>)</a:t>
                      </a:r>
                      <a:endParaRPr sz="1600" dirty="0">
                        <a:latin typeface="MS Gothic" panose="020B0609070205080204" charset="-128"/>
                        <a:ea typeface="MS Gothic" panose="020B0609070205080204" charset="-128"/>
                        <a:cs typeface="MS Gothic" panose="020B0609070205080204" charset="-128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13" name="textbox 120"/>
          <p:cNvSpPr/>
          <p:nvPr/>
        </p:nvSpPr>
        <p:spPr>
          <a:xfrm>
            <a:off x="6858000" y="5080013"/>
            <a:ext cx="4572000" cy="7620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总运行时间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190" algn="l" rtl="0" eaLnBrk="0">
              <a:lnSpc>
                <a:spcPts val="1955"/>
              </a:lnSpc>
              <a:spcBef>
                <a:spcPts val="375"/>
              </a:spcBef>
            </a:pPr>
            <a:r>
              <a:rPr lang="en-US" sz="1865" spc="300" dirty="0">
                <a:solidFill>
                  <a:schemeClr val="bg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</a:t>
            </a:r>
            <a:r>
              <a:rPr sz="1865" b="1" kern="0" spc="-9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(</a:t>
            </a:r>
            <a:r>
              <a:rPr sz="1865" b="1" i="1" kern="0" spc="-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865" b="1" i="1" kern="0" spc="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65" b="1" kern="0" spc="-9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⋅</a:t>
            </a:r>
            <a:r>
              <a:rPr sz="1865" kern="0" spc="-34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 </a:t>
            </a:r>
            <a:r>
              <a:rPr sz="1865" b="1" kern="0" spc="-9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log</a:t>
            </a:r>
            <a:r>
              <a:rPr sz="2000" b="1" i="1" kern="0" spc="100" baseline="-7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b="1" i="1" kern="0" spc="1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865" b="1" i="1" kern="0" spc="1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865" b="1" kern="0" spc="100" dirty="0">
                <a:solidFill>
                  <a:srgbClr val="FFFFFF">
                    <a:alpha val="100000"/>
                  </a:srgbClr>
                </a:solidFill>
                <a:latin typeface="MS Gothic" panose="020B0609070205080204" charset="-128"/>
                <a:ea typeface="MS Gothic" panose="020B0609070205080204" charset="-128"/>
                <a:cs typeface="MS Gothic" panose="020B0609070205080204" charset="-128"/>
              </a:rPr>
              <a:t>)</a:t>
            </a:r>
            <a:endParaRPr sz="1865" dirty="0">
              <a:latin typeface="MS Gothic" panose="020B0609070205080204" charset="-128"/>
              <a:ea typeface="MS Gothic" panose="020B0609070205080204" charset="-128"/>
              <a:cs typeface="MS Gothic" panose="020B0609070205080204" charset="-128"/>
            </a:endParaRPr>
          </a:p>
        </p:txBody>
      </p:sp>
      <p:sp>
        <p:nvSpPr>
          <p:cNvPr id="1048614" name="textbox 122"/>
          <p:cNvSpPr/>
          <p:nvPr/>
        </p:nvSpPr>
        <p:spPr>
          <a:xfrm>
            <a:off x="752475" y="539750"/>
            <a:ext cx="5923915" cy="711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</a:t>
            </a:r>
            <a:r>
              <a:rPr sz="1200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ct val="88000"/>
              </a:lnSpc>
              <a:spcBef>
                <a:spcPts val="5"/>
              </a:spcBef>
            </a:pPr>
            <a:r>
              <a:rPr sz="2400" kern="0" spc="-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EXTRACT-MAX </a:t>
            </a:r>
            <a:r>
              <a:rPr sz="2400" kern="0" spc="-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的高效实现与运行时间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15" name="textbox 124"/>
          <p:cNvSpPr/>
          <p:nvPr/>
        </p:nvSpPr>
        <p:spPr>
          <a:xfrm>
            <a:off x="1002203" y="1843201"/>
            <a:ext cx="6975687" cy="22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0"/>
              </a:lnSpc>
            </a:pP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题目要求：</a:t>
            </a:r>
            <a:r>
              <a:rPr sz="1200" kern="0" spc="-1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</a:t>
            </a:r>
            <a:r>
              <a:rPr sz="1200" kern="0" spc="-1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，并分析运行时间（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sz="1200" kern="0" spc="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表⽰）</a:t>
            </a:r>
            <a:r>
              <a:rPr sz="1200" kern="0" spc="-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16" name="textbox 126"/>
          <p:cNvSpPr/>
          <p:nvPr/>
        </p:nvSpPr>
        <p:spPr>
          <a:xfrm>
            <a:off x="6845333" y="2474565"/>
            <a:ext cx="918633" cy="2125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1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35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17" name="path 128"/>
          <p:cNvSpPr/>
          <p:nvPr/>
        </p:nvSpPr>
        <p:spPr>
          <a:xfrm>
            <a:off x="774700" y="1454163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68" name="picture 1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5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rect 1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19" name="textbox 134"/>
          <p:cNvSpPr/>
          <p:nvPr/>
        </p:nvSpPr>
        <p:spPr>
          <a:xfrm>
            <a:off x="762000" y="1625613"/>
            <a:ext cx="10668000" cy="48514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0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5"/>
              </a:spcBef>
            </a:pP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extractMax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：取出并删除堆顶最大值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</a:t>
            </a:r>
            <a:r>
              <a:rPr sz="935" kern="0" spc="2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ax</a:t>
            </a:r>
            <a:r>
              <a:rPr sz="935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845"/>
              </a:lnSpc>
              <a:spcBef>
                <a:spcPts val="200"/>
              </a:spcBef>
            </a:pP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935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&lt; 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 </a:t>
            </a: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exit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(-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空堆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935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5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val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=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保存根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最大值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algn="l" rtl="0" eaLnBrk="0">
              <a:lnSpc>
                <a:spcPts val="1050"/>
              </a:lnSpc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 =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堆尾补根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8755" algn="l" rtl="0" eaLnBrk="0">
              <a:lnSpc>
                <a:spcPts val="1125"/>
              </a:lnSpc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--;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缩堆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4945" algn="l" rtl="0" eaLnBrk="0">
              <a:lnSpc>
                <a:spcPts val="1050"/>
              </a:lnSpc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dMaxHeapify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7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从根下沉修复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875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max_val;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ts val="845"/>
              </a:lnSpc>
              <a:spcBef>
                <a:spcPts val="200"/>
              </a:spcBef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1325"/>
              </a:spcBef>
            </a:pP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演⽰：</a:t>
            </a:r>
            <a:r>
              <a:rPr sz="935" kern="0" spc="-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d=3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的三叉堆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205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935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= {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1,4,2,7,5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002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 heap(</a:t>
            </a:r>
            <a:r>
              <a:rPr sz="935" kern="0" spc="2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935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raw);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05"/>
              </a:spcBef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hlinkClick r:id="rId1"/>
              </a:rPr>
              <a:t>eap.pr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intHea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p();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ts val="845"/>
              </a:lnSpc>
              <a:spcBef>
                <a:spcPts val="280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cout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&lt;&lt;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extractMax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&lt;&lt;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endl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ts val="1050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620" name="textbox 136"/>
          <p:cNvSpPr/>
          <p:nvPr/>
        </p:nvSpPr>
        <p:spPr>
          <a:xfrm>
            <a:off x="752475" y="539750"/>
            <a:ext cx="9015095" cy="677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kern="0" spc="8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代码实现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extractMax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：取根 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堆尾补根 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下沉</a:t>
            </a:r>
            <a:r>
              <a:rPr lang="zh-CN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 sz="1200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省略前置建堆等基础代码，仅展示新增操作）</a:t>
            </a:r>
            <a:endParaRPr lang="zh-CN" altLang="en-US" sz="1200" kern="0" spc="80" dirty="0">
              <a:solidFill>
                <a:srgbClr val="0D13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21" name="textbox 138"/>
          <p:cNvSpPr/>
          <p:nvPr/>
        </p:nvSpPr>
        <p:spPr>
          <a:xfrm>
            <a:off x="762000" y="6553213"/>
            <a:ext cx="10668000" cy="254000"/>
          </a:xfrm>
          <a:prstGeom prst="rect">
            <a:avLst/>
          </a:prstGeom>
          <a:solidFill>
            <a:srgbClr val="2563EB">
              <a:alpha val="784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45000"/>
              </a:lnSpc>
            </a:pPr>
            <a:endParaRPr sz="2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5415" algn="l" rtl="0" eaLnBrk="0">
              <a:lnSpc>
                <a:spcPts val="845"/>
              </a:lnSpc>
              <a:spcBef>
                <a:spcPts val="0"/>
              </a:spcBef>
            </a:pPr>
            <a:r>
              <a:rPr sz="935" kern="0" spc="8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extractMax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 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dMaxHeapify</a:t>
            </a:r>
            <a:r>
              <a:rPr sz="935" kern="0" spc="-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从根下沉</a:t>
            </a:r>
            <a:r>
              <a:rPr sz="935" kern="0" spc="-1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，每层比 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935" kern="0" spc="-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个子节点</a:t>
            </a:r>
            <a:r>
              <a:rPr sz="935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 Θ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(d</a:t>
            </a:r>
            <a:r>
              <a:rPr sz="935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935" kern="0" spc="7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22" name="path 140"/>
          <p:cNvSpPr/>
          <p:nvPr/>
        </p:nvSpPr>
        <p:spPr>
          <a:xfrm>
            <a:off x="774700" y="1390663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69" name="picture 1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5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rect 1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aphicFrame>
        <p:nvGraphicFramePr>
          <p:cNvPr id="4194314" name="table 146"/>
          <p:cNvGraphicFramePr>
            <a:graphicFrameLocks noGrp="1"/>
          </p:cNvGraphicFramePr>
          <p:nvPr/>
        </p:nvGraphicFramePr>
        <p:xfrm>
          <a:off x="755649" y="1644663"/>
          <a:ext cx="509270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</a:pPr>
                      <a:r>
                        <a:rPr sz="1465" kern="0" spc="10" dirty="0">
                          <a:solidFill>
                            <a:srgbClr val="B43232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瓶颈在哪？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endParaRPr sz="1200" kern="0" spc="20" dirty="0">
                        <a:solidFill>
                          <a:srgbClr val="2B2F36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endParaRPr sz="1200" kern="0" spc="20" dirty="0">
                        <a:solidFill>
                          <a:srgbClr val="2B2F36">
                            <a:alpha val="100000"/>
                          </a:srgb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每层遍历全部</a:t>
                      </a: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个子节点</a:t>
                      </a:r>
                      <a:r>
                        <a:rPr sz="1200" kern="0" spc="-1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，比较次数随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线性增长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2000"/>
                        </a:lnSpc>
                        <a:spcBef>
                          <a:spcPts val="390"/>
                        </a:spcBef>
                      </a:pPr>
                      <a:r>
                        <a:rPr lang="en-US"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反复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造成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倍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写开销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0025" indent="1270" algn="l" rtl="0" eaLnBrk="0">
                        <a:lnSpc>
                          <a:spcPct val="130000"/>
                        </a:lnSpc>
                        <a:spcBef>
                          <a:spcPts val="265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下沉每层用</a:t>
                      </a:r>
                      <a:r>
                        <a:rPr sz="1200" kern="0" spc="9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交换父子</a:t>
                      </a:r>
                      <a:r>
                        <a:rPr sz="1200" kern="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，每次交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换含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次内存写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lang="zh-CN" sz="1200" kern="0" spc="-140" dirty="0">
                        <a:solidFill>
                          <a:srgbClr val="2B2F36">
                            <a:alpha val="100000"/>
                          </a:srgbClr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5" name="table 148"/>
          <p:cNvGraphicFramePr>
            <a:graphicFrameLocks noGrp="1"/>
          </p:cNvGraphicFramePr>
          <p:nvPr/>
        </p:nvGraphicFramePr>
        <p:xfrm>
          <a:off x="6343649" y="1644663"/>
          <a:ext cx="509270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660" algn="l" rtl="0" eaLnBrk="0">
                        <a:lnSpc>
                          <a:spcPct val="87000"/>
                        </a:lnSpc>
                      </a:pPr>
                      <a:r>
                        <a:rPr sz="1465" kern="0" spc="0" dirty="0">
                          <a:solidFill>
                            <a:srgbClr val="1678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怎么改进？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5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80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锦标赛树预存最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大子节点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1295" algn="l" rtl="0" eaLnBrk="0">
                        <a:lnSpc>
                          <a:spcPct val="139000"/>
                        </a:lnSpc>
                        <a:spcBef>
                          <a:spcPts val="120"/>
                        </a:spcBef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为每个内部节点维护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路锦标赛树</a:t>
                      </a:r>
                      <a:r>
                        <a:rPr sz="1200" kern="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，找最大子节点从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Θ(d)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降为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O(log d)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455"/>
                        </a:spcBef>
                      </a:pPr>
                      <a:r>
                        <a:rPr sz="1200" kern="0" spc="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直接赋值代替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5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下沉时用移动赋值代替三次交换</a:t>
                      </a:r>
                      <a:r>
                        <a:rPr sz="1200" kern="0" spc="-10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，减少写内存次数。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24" name="textbox 152"/>
          <p:cNvSpPr/>
          <p:nvPr/>
        </p:nvSpPr>
        <p:spPr>
          <a:xfrm>
            <a:off x="752331" y="539467"/>
            <a:ext cx="4649893" cy="677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程序瓶颈与改进方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extractMax</a:t>
            </a:r>
            <a:r>
              <a:rPr sz="2135" kern="0" spc="11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35" kern="0" spc="11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的瓶颈</a:t>
            </a:r>
            <a:r>
              <a:rPr lang="zh-CN" sz="2135" kern="0" spc="11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及优化</a:t>
            </a:r>
            <a:r>
              <a:rPr sz="2135" kern="0" spc="-3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25" name="path 154"/>
          <p:cNvSpPr/>
          <p:nvPr/>
        </p:nvSpPr>
        <p:spPr>
          <a:xfrm>
            <a:off x="774700" y="1390663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0" name="picture 1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179300" y="-4225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1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8626" name="textbox 160"/>
          <p:cNvSpPr/>
          <p:nvPr/>
        </p:nvSpPr>
        <p:spPr>
          <a:xfrm>
            <a:off x="746552" y="2474573"/>
            <a:ext cx="5621020" cy="2591647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20" algn="l" rtl="0" eaLnBrk="0">
              <a:lnSpc>
                <a:spcPct val="88000"/>
              </a:lnSpc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实现步骤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3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ts val="1100"/>
              </a:lnSpc>
              <a:spcBef>
                <a:spcPts val="280"/>
              </a:spcBef>
            </a:pP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1200" kern="0" spc="19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若新值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A[i]</a:t>
            </a:r>
            <a:r>
              <a:rPr sz="1200" kern="0" spc="-1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，报错（增大操作不能减小关键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字）。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5875" algn="l" rtl="0" eaLnBrk="0">
              <a:lnSpc>
                <a:spcPts val="1100"/>
              </a:lnSpc>
              <a:spcBef>
                <a:spcPts val="550"/>
              </a:spcBef>
            </a:pP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1200" kern="0" spc="2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A[i] = 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0180" indent="-158115" algn="l" rtl="0" eaLnBrk="0">
              <a:lnSpc>
                <a:spcPct val="143000"/>
              </a:lnSpc>
              <a:spcBef>
                <a:spcPts val="175"/>
              </a:spcBef>
            </a:pPr>
            <a:r>
              <a:rPr sz="1200" kern="0" spc="5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1200" kern="0" spc="20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上浮调整：</a:t>
            </a:r>
            <a:r>
              <a:rPr sz="1200" kern="0" spc="-7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不是根</a:t>
            </a:r>
            <a:r>
              <a:rPr sz="1200" kern="0" spc="-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，且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A[i] &gt;A</a:t>
            </a:r>
            <a:r>
              <a:rPr sz="1200" kern="0" spc="-14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(i)]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200" kern="0" spc="-1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，交换二者；</a:t>
            </a:r>
            <a:r>
              <a:rPr sz="1200" kern="0" spc="-11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上移到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父节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</a:t>
            </a:r>
            <a:r>
              <a:rPr sz="1200" kern="0" spc="-1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，重复直到满足堆性质或到达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indent="-1270" algn="l" rtl="0" eaLnBrk="0">
              <a:lnSpc>
                <a:spcPct val="143000"/>
              </a:lnSpc>
              <a:spcBef>
                <a:spcPts val="215"/>
              </a:spcBef>
            </a:pP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sz="1200" kern="0" spc="-1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题干假设对象到堆元素的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O(1)</a:t>
            </a:r>
            <a:r>
              <a:rPr sz="1200" kern="0" spc="-1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，所以"找到元素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r>
              <a:rPr sz="1200" kern="0" spc="9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的位置"不计入复</a:t>
            </a:r>
            <a:r>
              <a:rPr sz="1200" kern="0" spc="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杂度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94316" name="table 162"/>
          <p:cNvGraphicFramePr>
            <a:graphicFrameLocks noGrp="1"/>
          </p:cNvGraphicFramePr>
          <p:nvPr/>
        </p:nvGraphicFramePr>
        <p:xfrm>
          <a:off x="6851649" y="2787663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每上浮一层的代价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ts val="1460"/>
                        </a:lnSpc>
                        <a:spcBef>
                          <a:spcPts val="5"/>
                        </a:spcBef>
                      </a:pPr>
                      <a:r>
                        <a:rPr sz="1600" kern="0" spc="-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只比</a:t>
                      </a:r>
                      <a:r>
                        <a:rPr sz="1600" kern="0" spc="12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 个父节点〓</a:t>
                      </a:r>
                      <a:r>
                        <a:rPr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b="1" kern="0" spc="-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Θ</a:t>
                      </a:r>
                      <a:r>
                        <a:rPr sz="1600" b="1" kern="0" spc="-2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b="1" kern="0" spc="-4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(1)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7" name="table 164"/>
          <p:cNvGraphicFramePr>
            <a:graphicFrameLocks noGrp="1"/>
          </p:cNvGraphicFramePr>
          <p:nvPr/>
        </p:nvGraphicFramePr>
        <p:xfrm>
          <a:off x="6851649" y="3930663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0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最多上浮层数（</a:t>
                      </a:r>
                      <a:r>
                        <a:rPr sz="1200" kern="0" spc="-1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题）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120" algn="l" rtl="0" eaLnBrk="0">
                        <a:lnSpc>
                          <a:spcPts val="1545"/>
                        </a:lnSpc>
                      </a:pPr>
                      <a:r>
                        <a:rPr sz="1600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堆的高度</a:t>
                      </a:r>
                      <a:r>
                        <a:rPr sz="1600" kern="0" spc="-1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〓</a:t>
                      </a:r>
                      <a:r>
                        <a:rPr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sz="1600" b="1" kern="0" spc="-2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b="1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(log</a:t>
                      </a:r>
                      <a:r>
                        <a:rPr sz="1600" b="1" i="1" kern="0" spc="60" baseline="-80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935" b="1" i="1" kern="0" spc="1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i="1" kern="0" spc="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600" b="1" kern="0" spc="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27" name="textbox 166"/>
          <p:cNvSpPr/>
          <p:nvPr/>
        </p:nvSpPr>
        <p:spPr>
          <a:xfrm>
            <a:off x="752475" y="539750"/>
            <a:ext cx="5614670" cy="7118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kern="0" spc="-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305" algn="l" rtl="0" eaLnBrk="0">
              <a:lnSpc>
                <a:spcPct val="88000"/>
              </a:lnSpc>
              <a:spcBef>
                <a:spcPts val="5"/>
              </a:spcBef>
            </a:pPr>
            <a:r>
              <a:rPr sz="2400" kern="0" spc="-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INCREASE-KEY</a:t>
            </a:r>
            <a:r>
              <a:rPr sz="2400" kern="0" spc="-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400" kern="0" spc="-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的高效实现与运行时间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28" name="textbox 168"/>
          <p:cNvSpPr/>
          <p:nvPr/>
        </p:nvSpPr>
        <p:spPr>
          <a:xfrm>
            <a:off x="6858000" y="5080013"/>
            <a:ext cx="4572000" cy="7620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总运行时间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190" algn="l" rtl="0" eaLnBrk="0">
              <a:lnSpc>
                <a:spcPts val="1955"/>
              </a:lnSpc>
              <a:spcBef>
                <a:spcPts val="375"/>
              </a:spcBef>
            </a:pPr>
            <a:r>
              <a:rPr lang="en-US" sz="2000" b="1" kern="0" spc="-2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2000" b="1" kern="0" spc="-26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</a:t>
            </a:r>
            <a:r>
              <a:rPr sz="2135" b="1" i="1" kern="0" spc="-10" baseline="-5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335" b="1" i="1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b="1" i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29" name="textbox 170"/>
          <p:cNvSpPr/>
          <p:nvPr/>
        </p:nvSpPr>
        <p:spPr>
          <a:xfrm>
            <a:off x="1002203" y="1843201"/>
            <a:ext cx="7026487" cy="22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0"/>
              </a:lnSpc>
            </a:pP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题目要求：</a:t>
            </a:r>
            <a:r>
              <a:rPr sz="1200" kern="0" spc="-1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</a:t>
            </a:r>
            <a:r>
              <a:rPr sz="1200" kern="0" spc="-1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，并分析运行时间（用</a:t>
            </a:r>
            <a:r>
              <a:rPr sz="1200" kern="0" spc="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表⽰）</a:t>
            </a:r>
            <a:r>
              <a:rPr sz="1200" kern="0" spc="-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30" name="textbox 172"/>
          <p:cNvSpPr/>
          <p:nvPr/>
        </p:nvSpPr>
        <p:spPr>
          <a:xfrm>
            <a:off x="6845333" y="2474573"/>
            <a:ext cx="918633" cy="2125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1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35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31" name="path 174"/>
          <p:cNvSpPr/>
          <p:nvPr/>
        </p:nvSpPr>
        <p:spPr>
          <a:xfrm>
            <a:off x="774700" y="1454171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2" name="picture 17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4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rect 178"/>
          <p:cNvSpPr/>
          <p:nvPr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EFF0F1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33" name="rect 180"/>
          <p:cNvSpPr/>
          <p:nvPr/>
        </p:nvSpPr>
        <p:spPr>
          <a:xfrm>
            <a:off x="0" y="9"/>
            <a:ext cx="12192000" cy="6857991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34" name="rect 182"/>
          <p:cNvSpPr/>
          <p:nvPr/>
        </p:nvSpPr>
        <p:spPr>
          <a:xfrm>
            <a:off x="0" y="12"/>
            <a:ext cx="12192000" cy="6857989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35" name="textbox 184"/>
          <p:cNvSpPr/>
          <p:nvPr/>
        </p:nvSpPr>
        <p:spPr>
          <a:xfrm>
            <a:off x="762000" y="1625612"/>
            <a:ext cx="10668000" cy="48514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3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5"/>
              </a:spcBef>
            </a:pP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increaseKey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：把位置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的关键字增大为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1125"/>
              </a:lnSpc>
            </a:pPr>
            <a:r>
              <a:rPr sz="935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void </a:t>
            </a:r>
            <a:r>
              <a:rPr sz="935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</a:t>
            </a:r>
            <a:r>
              <a:rPr sz="935" kern="0" spc="3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eKey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i, </a:t>
            </a: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new_key)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1050"/>
              </a:lnSpc>
            </a:pP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935" kern="0" spc="6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&lt;</a:t>
            </a:r>
            <a:r>
              <a:rPr sz="935" kern="0" spc="-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A[i]) </a:t>
            </a: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return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减小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0500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9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[i] =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new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更新值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040" algn="l" rtl="0" eaLnBrk="0">
              <a:lnSpc>
                <a:spcPts val="845"/>
              </a:lnSpc>
              <a:spcBef>
                <a:spcPts val="200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siftUp</a:t>
            </a:r>
            <a:r>
              <a:rPr sz="935" kern="0" spc="6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(i);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上浮调整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675" algn="l" rtl="0" eaLnBrk="0">
              <a:lnSpc>
                <a:spcPts val="1125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1325"/>
              </a:spcBef>
            </a:pP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siftUp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：上浮</a:t>
            </a:r>
            <a:r>
              <a:rPr sz="935" kern="0" spc="-12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，每层只和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个父节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点比较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1135" algn="l" rtl="0" eaLnBrk="0">
              <a:lnSpc>
                <a:spcPts val="1050"/>
              </a:lnSpc>
            </a:pPr>
            <a:r>
              <a:rPr sz="935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void </a:t>
            </a:r>
            <a:r>
              <a:rPr sz="935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siftUp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i)</a:t>
            </a:r>
            <a:r>
              <a:rPr sz="935" kern="0" spc="-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while</a:t>
            </a:r>
            <a:r>
              <a:rPr sz="935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 &gt; 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&amp;&amp;</a:t>
            </a:r>
            <a:r>
              <a:rPr sz="935" kern="0" spc="-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i] &gt;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(i)])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040" algn="l" rtl="0" eaLnBrk="0">
              <a:lnSpc>
                <a:spcPts val="1050"/>
              </a:lnSpc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swap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(A[i],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(i)]);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和父交换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7485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 =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(i);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上移一层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675" algn="l" rtl="0" eaLnBrk="0">
              <a:lnSpc>
                <a:spcPts val="1050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1330"/>
              </a:spcBef>
            </a:pP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演⽰：</a:t>
            </a:r>
            <a:r>
              <a:rPr sz="935" kern="0" spc="-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d=3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三叉堆</a:t>
            </a:r>
            <a:r>
              <a:rPr sz="935" kern="0" spc="-11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，测试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increaseKey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1050"/>
              </a:lnSpc>
            </a:pP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280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935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= {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0025" algn="l" rtl="0" eaLnBrk="0">
              <a:lnSpc>
                <a:spcPts val="1050"/>
              </a:lnSpc>
            </a:pP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 heap(</a:t>
            </a:r>
            <a:r>
              <a:rPr sz="935" kern="0" spc="2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935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raw);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80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increaseKey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</a:t>
            </a:r>
            <a:r>
              <a:rPr sz="935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位置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增大到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35" kern="0" spc="50" dirty="0">
              <a:solidFill>
                <a:srgbClr val="FFFFFF">
                  <a:alpha val="50196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80"/>
              </a:spcBef>
            </a:pPr>
            <a:r>
              <a:rPr lang="en-US" sz="935">
                <a:solidFill>
                  <a:srgbClr val="FFFFFF">
                    <a:alpha val="90196"/>
                  </a:srgbClr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heap.printHeap();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ts val="1050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636" name="textbox 188"/>
          <p:cNvSpPr/>
          <p:nvPr/>
        </p:nvSpPr>
        <p:spPr>
          <a:xfrm>
            <a:off x="752475" y="539750"/>
            <a:ext cx="8983980" cy="677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代码实现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increaseKey</a:t>
            </a:r>
            <a:r>
              <a:rPr sz="2135" kern="0" spc="1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sz="2135" kern="0" spc="-3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135" kern="0" spc="1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改值 </a:t>
            </a:r>
            <a:r>
              <a:rPr sz="2135" kern="0" spc="12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</a:t>
            </a:r>
            <a:r>
              <a:rPr sz="2135" kern="0" spc="12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上浮调</a:t>
            </a:r>
            <a:r>
              <a:rPr sz="2135" kern="0" spc="11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</a:t>
            </a:r>
            <a:r>
              <a:rPr lang="zh-CN" sz="120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altLang="en-US" sz="120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省略前置建堆等基础代码，仅展示新增操作）</a:t>
            </a:r>
            <a:endParaRPr lang="zh-CN" altLang="en-US" sz="1200" spc="80" dirty="0">
              <a:solidFill>
                <a:srgbClr val="0D1326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48637" name="path 190"/>
          <p:cNvSpPr/>
          <p:nvPr/>
        </p:nvSpPr>
        <p:spPr>
          <a:xfrm>
            <a:off x="774700" y="1390661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3" name="picture 1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4227"/>
            <a:ext cx="121920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rect 1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aphicFrame>
        <p:nvGraphicFramePr>
          <p:cNvPr id="4194318" name="table 196"/>
          <p:cNvGraphicFramePr>
            <a:graphicFrameLocks noGrp="1"/>
          </p:cNvGraphicFramePr>
          <p:nvPr/>
        </p:nvGraphicFramePr>
        <p:xfrm>
          <a:off x="755649" y="1644659"/>
          <a:ext cx="509270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</a:pPr>
                      <a:r>
                        <a:rPr sz="1465" kern="0" spc="10" dirty="0">
                          <a:solidFill>
                            <a:srgbClr val="B43232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瓶颈在哪？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510"/>
                        </a:spcBef>
                      </a:pPr>
                      <a:r>
                        <a:rPr lang="en-US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朴素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次写</a:t>
                      </a:r>
                      <a:r>
                        <a:rPr sz="1200" kern="0" spc="-1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常数因子大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9390" algn="l" rtl="0" eaLnBrk="0">
                        <a:lnSpc>
                          <a:spcPct val="130000"/>
                        </a:lnSpc>
                        <a:spcBef>
                          <a:spcPts val="265"/>
                        </a:spcBef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每层用</a:t>
                      </a:r>
                      <a:r>
                        <a:rPr sz="1200" kern="0" spc="9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交换父子</a:t>
                      </a:r>
                      <a:r>
                        <a:rPr sz="1200" kern="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，含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次内存写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，路径一长写操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作总量就很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</a:t>
                      </a:r>
                      <a:r>
                        <a:rPr sz="1200" kern="0" spc="-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，实际运行偏慢。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2000"/>
                        </a:lnSpc>
                        <a:spcBef>
                          <a:spcPts val="510"/>
                        </a:spcBef>
                      </a:pPr>
                      <a:r>
                        <a:rPr lang="en-US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多次调用重复走祖先路径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indent="1270" algn="l" rtl="0" eaLnBrk="0">
                        <a:lnSpc>
                          <a:spcPct val="130000"/>
                        </a:lnSpc>
                        <a:spcBef>
                          <a:spcPts val="265"/>
                        </a:spcBef>
                      </a:pPr>
                      <a:r>
                        <a:rPr lang="zh-CN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如果在兄弟间多次调用</a:t>
                      </a:r>
                      <a:r>
                        <a:rPr sz="1200" dirty="0">
                          <a:solidFill>
                            <a:srgbClr val="0D1326">
                              <a:alpha val="100000"/>
                            </a:srgbClr>
                          </a:solidFill>
                          <a:sym typeface="+mn-ea"/>
                        </a:rPr>
                        <a:t>increaseKey</a:t>
                      </a:r>
                      <a:r>
                        <a:rPr lang="zh-CN" sz="1200" dirty="0">
                          <a:solidFill>
                            <a:srgbClr val="0D1326">
                              <a:alpha val="100000"/>
                            </a:srgbClr>
                          </a:solidFill>
                          <a:ea typeface="宋体" pitchFamily="2" charset="-122"/>
                          <a:sym typeface="+mn-ea"/>
                        </a:rPr>
                        <a:t>，那么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逐个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increaseKey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时各节点</a:t>
                      </a:r>
                      <a:r>
                        <a:rPr lang="zh-CN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会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独立上浮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，兄弟节点会重复遍历相同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祖先</a:t>
                      </a:r>
                      <a:r>
                        <a:rPr sz="1200" kern="0" spc="-7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，无法共享上浮过程。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19" name="table 198"/>
          <p:cNvGraphicFramePr>
            <a:graphicFrameLocks noGrp="1"/>
          </p:cNvGraphicFramePr>
          <p:nvPr/>
        </p:nvGraphicFramePr>
        <p:xfrm>
          <a:off x="6343649" y="1644659"/>
          <a:ext cx="5092700" cy="36957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570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660" algn="l" rtl="0" eaLnBrk="0">
                        <a:lnSpc>
                          <a:spcPct val="87000"/>
                        </a:lnSpc>
                      </a:pPr>
                      <a:r>
                        <a:rPr sz="1465" kern="0" spc="0" dirty="0">
                          <a:solidFill>
                            <a:srgbClr val="1678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怎么改进？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485"/>
                        </a:spcBef>
                      </a:pPr>
                      <a:r>
                        <a:rPr lang="en-US"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siftUpFast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直接赋值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4000"/>
                        </a:lnSpc>
                        <a:spcBef>
                          <a:spcPts val="430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保存目标值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，父节点依次下移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，写次数从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3h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降为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h+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algn="l" rtl="0" eaLnBrk="0">
                        <a:lnSpc>
                          <a:spcPct val="92000"/>
                        </a:lnSpc>
                        <a:spcBef>
                          <a:spcPts val="410"/>
                        </a:spcBef>
                      </a:pPr>
                      <a:r>
                        <a:rPr lang="en-US"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批量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increaseKey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00" algn="l" rtl="0" eaLnBrk="0">
                        <a:lnSpc>
                          <a:spcPct val="87000"/>
                        </a:lnSpc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多个节点同时增大时批量处理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，减少重复上浮。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39" name="textbox 202"/>
          <p:cNvSpPr/>
          <p:nvPr/>
        </p:nvSpPr>
        <p:spPr>
          <a:xfrm>
            <a:off x="755015" y="539750"/>
            <a:ext cx="3466465" cy="6775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kern="0" spc="-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200" kern="0" spc="6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瓶颈与改进方式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ts val="2820"/>
              </a:lnSpc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increaseKey</a:t>
            </a:r>
            <a:r>
              <a:rPr sz="2135" kern="0" spc="19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35" kern="0" spc="19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的瓶颈与优化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0" name="path 204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4" name="picture 2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5" name="picture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048641" name="textbox 210"/>
          <p:cNvSpPr/>
          <p:nvPr/>
        </p:nvSpPr>
        <p:spPr>
          <a:xfrm>
            <a:off x="749853" y="2474569"/>
            <a:ext cx="3509433" cy="1861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78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88000"/>
              </a:lnSpc>
            </a:pPr>
            <a:r>
              <a:rPr sz="1335" kern="0" spc="2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实现步骤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5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100"/>
              </a:lnSpc>
              <a:spcBef>
                <a:spcPts val="280"/>
              </a:spcBef>
            </a:pP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  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 </a:t>
            </a: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1200" kern="0" spc="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3335" algn="l" rtl="0" eaLnBrk="0">
              <a:lnSpc>
                <a:spcPts val="1100"/>
              </a:lnSpc>
              <a:spcBef>
                <a:spcPts val="550"/>
              </a:spcBef>
            </a:pP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2.</a:t>
            </a:r>
            <a:r>
              <a:rPr sz="1200" kern="0" spc="27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在数组末尾</a:t>
            </a:r>
            <a:r>
              <a:rPr sz="1200" kern="0" spc="-4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A[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1200" kern="0" spc="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</a:t>
            </a:r>
            <a:r>
              <a:rPr sz="1200" kern="0" spc="8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填入新元素。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5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100"/>
              </a:lnSpc>
              <a:spcBef>
                <a:spcPts val="0"/>
              </a:spcBef>
            </a:pP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3.</a:t>
            </a:r>
            <a:r>
              <a:rPr sz="1200" kern="0" spc="210" dirty="0">
                <a:solidFill>
                  <a:srgbClr val="2B2F3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对末尾节点执行上浮调整</a:t>
            </a:r>
            <a:r>
              <a:rPr sz="1200" kern="0" spc="-13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，直</a:t>
            </a:r>
            <a:r>
              <a:rPr sz="1200" kern="0" spc="50" dirty="0">
                <a:solidFill>
                  <a:srgbClr val="2B2F3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到满足堆性质。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2" name="textbox 212"/>
          <p:cNvSpPr/>
          <p:nvPr/>
        </p:nvSpPr>
        <p:spPr>
          <a:xfrm>
            <a:off x="762000" y="5207008"/>
            <a:ext cx="5588000" cy="825500"/>
          </a:xfrm>
          <a:prstGeom prst="rect">
            <a:avLst/>
          </a:prstGeom>
          <a:solidFill>
            <a:srgbClr val="2563EB">
              <a:alpha val="7843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11000"/>
              </a:lnSpc>
            </a:pP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ct val="87000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关键洞察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7000"/>
              </a:lnSpc>
            </a:pPr>
            <a:endParaRPr sz="2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indent="7620" algn="l" rtl="0" eaLnBrk="0">
              <a:lnSpc>
                <a:spcPct val="109000"/>
              </a:lnSpc>
              <a:spcBef>
                <a:spcPts val="0"/>
              </a:spcBef>
            </a:pP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</a:t>
            </a: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 </a:t>
            </a: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 </a:t>
            </a: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堆尾放值后做一次 </a:t>
            </a: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INCREASE-KEY</a:t>
            </a:r>
            <a:r>
              <a:rPr sz="12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（从 一∞ 增大到目标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sz="1200" kern="0" spc="-1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值）。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194320" name="table 214"/>
          <p:cNvGraphicFramePr>
            <a:graphicFrameLocks noGrp="1"/>
          </p:cNvGraphicFramePr>
          <p:nvPr/>
        </p:nvGraphicFramePr>
        <p:xfrm>
          <a:off x="6851649" y="2787659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1200" kern="0" spc="-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每上浮一层的代价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29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1465" kern="0" spc="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只比 </a:t>
                      </a:r>
                      <a:r>
                        <a:rPr sz="1465" kern="0" spc="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 </a:t>
                      </a:r>
                      <a:r>
                        <a:rPr sz="1465" kern="0" spc="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个父节点</a:t>
                      </a:r>
                      <a:r>
                        <a:rPr sz="1465" kern="0" spc="-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65" kern="0" spc="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= Θ(</a:t>
                      </a:r>
                      <a:r>
                        <a:rPr sz="1465" kern="0" spc="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1)</a:t>
                      </a:r>
                      <a:endParaRPr sz="14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21" name="table 216"/>
          <p:cNvGraphicFramePr>
            <a:graphicFrameLocks noGrp="1"/>
          </p:cNvGraphicFramePr>
          <p:nvPr/>
        </p:nvGraphicFramePr>
        <p:xfrm>
          <a:off x="6851649" y="3930659"/>
          <a:ext cx="4584700" cy="96520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4584700"/>
              </a:tblGrid>
              <a:tr h="965200">
                <a:tc>
                  <a:txBody>
                    <a:bodyPr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025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最多上浮层数（</a:t>
                      </a:r>
                      <a:r>
                        <a:rPr sz="1200" kern="0" spc="-11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由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 </a:t>
                      </a:r>
                      <a:r>
                        <a:rPr sz="1200" kern="0" spc="-20" dirty="0">
                          <a:solidFill>
                            <a:srgbClr val="5A627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题）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6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8120" algn="l" rtl="0" eaLnBrk="0">
                        <a:lnSpc>
                          <a:spcPts val="1545"/>
                        </a:lnSpc>
                      </a:pPr>
                      <a:r>
                        <a:rPr sz="1600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堆的高度</a:t>
                      </a:r>
                      <a:r>
                        <a:rPr sz="1600" kern="0" spc="-11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〓</a:t>
                      </a:r>
                      <a:r>
                        <a:rPr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en-US" sz="1600" kern="0" spc="3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</a:t>
                      </a:r>
                      <a:r>
                        <a:rPr sz="1600" b="1" kern="0" spc="-2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600" b="1" kern="0" spc="-7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(log</a:t>
                      </a:r>
                      <a:r>
                        <a:rPr sz="1600" b="1" i="1" kern="0" spc="60" baseline="-80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935" b="1" i="1" kern="0" spc="10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600" b="1" i="1" kern="0" spc="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600" b="1" kern="0" spc="60" dirty="0">
                          <a:solidFill>
                            <a:srgbClr val="0D132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6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43" name="textbox 218"/>
          <p:cNvSpPr/>
          <p:nvPr/>
        </p:nvSpPr>
        <p:spPr>
          <a:xfrm>
            <a:off x="6858000" y="5080008"/>
            <a:ext cx="4572000" cy="7620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4945" algn="l" rtl="0" eaLnBrk="0">
              <a:lnSpc>
                <a:spcPct val="87000"/>
              </a:lnSpc>
              <a:spcBef>
                <a:spcPts val="5"/>
              </a:spcBef>
            </a:pPr>
            <a:r>
              <a:rPr sz="1200" kern="0" spc="-10" dirty="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总运行时间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50190" algn="l" rtl="0" eaLnBrk="0">
              <a:lnSpc>
                <a:spcPts val="1955"/>
              </a:lnSpc>
              <a:spcBef>
                <a:spcPts val="375"/>
              </a:spcBef>
            </a:pPr>
            <a:r>
              <a:rPr lang="en-US"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</a:t>
            </a:r>
            <a:r>
              <a:rPr sz="2135" b="1" i="1" kern="0" spc="-10" baseline="-50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335" b="1" i="1" kern="0" spc="1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b="1" i="1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2000" b="1" kern="0" spc="-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4" name="textbox 220"/>
          <p:cNvSpPr/>
          <p:nvPr/>
        </p:nvSpPr>
        <p:spPr>
          <a:xfrm>
            <a:off x="752331" y="539463"/>
            <a:ext cx="4230793" cy="7120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940" algn="l" rtl="0" eaLnBrk="0">
              <a:lnSpc>
                <a:spcPct val="88000"/>
              </a:lnSpc>
              <a:spcBef>
                <a:spcPts val="5"/>
              </a:spcBef>
            </a:pPr>
            <a:r>
              <a:rPr sz="2400" kern="0" spc="-3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</a:t>
            </a:r>
            <a:r>
              <a:rPr sz="2400" kern="0" spc="-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的高效实现与运行时间</a:t>
            </a:r>
            <a:endParaRPr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5" name="textbox 222"/>
          <p:cNvSpPr/>
          <p:nvPr/>
        </p:nvSpPr>
        <p:spPr>
          <a:xfrm>
            <a:off x="1002203" y="1843197"/>
            <a:ext cx="6467687" cy="220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0"/>
              </a:lnSpc>
            </a:pPr>
            <a:r>
              <a:rPr sz="1200" kern="0" spc="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题目要求：</a:t>
            </a:r>
            <a:r>
              <a:rPr sz="1200" kern="0" spc="-1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6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200" kern="0" spc="6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叉最大堆中 </a:t>
            </a:r>
            <a:r>
              <a:rPr sz="1200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的高效实现</a:t>
            </a:r>
            <a:r>
              <a:rPr sz="1200" kern="0" spc="-1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，并分析运行时间（用</a:t>
            </a:r>
            <a:r>
              <a:rPr sz="1200" kern="0" spc="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表⽰）</a:t>
            </a:r>
            <a:r>
              <a:rPr sz="1200" kern="0" spc="-1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5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6" name="textbox 224"/>
          <p:cNvSpPr/>
          <p:nvPr/>
        </p:nvSpPr>
        <p:spPr>
          <a:xfrm>
            <a:off x="6845333" y="2474569"/>
            <a:ext cx="918633" cy="21251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1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335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复杂度分析</a:t>
            </a:r>
            <a:endParaRPr sz="13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47" name="path 226"/>
          <p:cNvSpPr/>
          <p:nvPr/>
        </p:nvSpPr>
        <p:spPr>
          <a:xfrm>
            <a:off x="774700" y="1454167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6" name="picture 2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rect 2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49" name="textbox 232"/>
          <p:cNvSpPr/>
          <p:nvPr/>
        </p:nvSpPr>
        <p:spPr>
          <a:xfrm>
            <a:off x="762000" y="1625608"/>
            <a:ext cx="10668000" cy="48514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3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3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5"/>
              </a:spcBef>
            </a:pP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：在堆尾插入新元素</a:t>
            </a:r>
            <a:r>
              <a:rPr sz="935" kern="0" spc="-11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，再上浮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1135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4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void </a:t>
            </a:r>
            <a:r>
              <a:rPr sz="935" kern="0" spc="4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1050"/>
              </a:lnSpc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++;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堆大小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+1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935" kern="0" spc="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if</a:t>
            </a:r>
            <a:r>
              <a:rPr sz="935" kern="0" spc="4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&gt;= (</a:t>
            </a:r>
            <a:r>
              <a:rPr sz="935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)A.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())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1050"/>
              </a:lnSpc>
            </a:pP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push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back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扩容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4945" algn="l" rtl="0" eaLnBrk="0">
              <a:lnSpc>
                <a:spcPts val="845"/>
              </a:lnSpc>
              <a:spcBef>
                <a:spcPts val="275"/>
              </a:spcBef>
            </a:pPr>
            <a:r>
              <a:rPr sz="935" kern="0" spc="10" dirty="0">
                <a:solidFill>
                  <a:srgbClr val="569CD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else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ts val="845"/>
              </a:lnSpc>
              <a:spcBef>
                <a:spcPts val="200"/>
              </a:spcBef>
            </a:pP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935" kern="0" spc="-1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[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] =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key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;</a:t>
            </a: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堆尾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放新元素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040" algn="l" rtl="0" eaLnBrk="0">
              <a:lnSpc>
                <a:spcPts val="1125"/>
              </a:lnSpc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siftUp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size</a:t>
            </a:r>
            <a:r>
              <a:rPr sz="935" kern="0" spc="7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-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7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上浮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调整（</a:t>
            </a:r>
            <a:r>
              <a:rPr sz="935" kern="0" spc="-11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935" kern="0" spc="6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题）</a:t>
            </a:r>
            <a:endParaRPr sz="9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93675" algn="l" rtl="0" eaLnBrk="0">
              <a:lnSpc>
                <a:spcPts val="1050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1325"/>
              </a:spcBef>
            </a:pP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siftUp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</a:t>
            </a:r>
            <a:r>
              <a:rPr sz="935" kern="0" spc="9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题：每层只比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个父节点 </a:t>
            </a:r>
            <a:r>
              <a:rPr sz="935" kern="0" spc="3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 Θ(1)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1325"/>
              </a:spcBef>
            </a:pP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演⽰：</a:t>
            </a:r>
            <a:r>
              <a:rPr sz="935" kern="0" spc="-8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d=3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三叉堆</a:t>
            </a:r>
            <a:r>
              <a:rPr sz="935" kern="0" spc="-11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，测</a:t>
            </a:r>
            <a:r>
              <a:rPr sz="935" kern="0" spc="4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试 </a:t>
            </a:r>
            <a:r>
              <a:rPr sz="935" kern="0" spc="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748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 </a:t>
            </a:r>
            <a:r>
              <a:rPr sz="935" kern="0" spc="30" dirty="0">
                <a:solidFill>
                  <a:srgbClr val="DCDCA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main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() {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1135" algn="l" rtl="0" eaLnBrk="0">
              <a:lnSpc>
                <a:spcPts val="845"/>
              </a:lnSpc>
              <a:spcBef>
                <a:spcPts val="205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vector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&lt;</a:t>
            </a:r>
            <a:r>
              <a:rPr sz="935" kern="0" spc="0" dirty="0">
                <a:solidFill>
                  <a:srgbClr val="4EC9B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 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raw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= {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935" kern="0" spc="4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0025" algn="l" rtl="0" eaLnBrk="0">
              <a:lnSpc>
                <a:spcPts val="1125"/>
              </a:lnSpc>
            </a:pP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DaryMaxHeap heap(</a:t>
            </a:r>
            <a:r>
              <a:rPr sz="935" kern="0" spc="2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935" kern="0" spc="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raw);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05"/>
              </a:spcBef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hlinkClick r:id="rId1"/>
              </a:rPr>
              <a:t>eap.pr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intHea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p();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80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</a:t>
            </a:r>
            <a:r>
              <a:rPr sz="935" kern="0" spc="1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05"/>
              </a:spcBef>
            </a:pP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heap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935" kern="0" spc="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935" kern="0" spc="50" dirty="0">
                <a:solidFill>
                  <a:srgbClr val="D69D85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r>
              <a:rPr sz="935" kern="0" spc="5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);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//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插入 </a:t>
            </a:r>
            <a:r>
              <a:rPr sz="935" kern="0" spc="50" dirty="0">
                <a:solidFill>
                  <a:srgbClr val="FFFFFF">
                    <a:alpha val="5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755" algn="l" rtl="0" eaLnBrk="0">
              <a:lnSpc>
                <a:spcPts val="845"/>
              </a:lnSpc>
              <a:spcBef>
                <a:spcPts val="280"/>
              </a:spcBef>
            </a:pP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hlinkClick r:id="rId1"/>
              </a:rPr>
              <a:t>eap.pr</a:t>
            </a:r>
            <a:r>
              <a:rPr sz="935" kern="0" spc="4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intHea</a:t>
            </a:r>
            <a:r>
              <a:rPr sz="935" kern="0" spc="3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p();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3675" algn="l" rtl="0" eaLnBrk="0">
              <a:lnSpc>
                <a:spcPts val="1050"/>
              </a:lnSpc>
            </a:pPr>
            <a:r>
              <a:rPr sz="935" kern="0" spc="-20" dirty="0">
                <a:solidFill>
                  <a:srgbClr val="FFFFFF">
                    <a:alpha val="90196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}</a:t>
            </a:r>
            <a:endParaRPr sz="935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048651" name="textbox 236"/>
          <p:cNvSpPr/>
          <p:nvPr/>
        </p:nvSpPr>
        <p:spPr>
          <a:xfrm>
            <a:off x="752331" y="539463"/>
            <a:ext cx="4327421" cy="803792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200" kern="0" spc="4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代码实</a:t>
            </a:r>
            <a:r>
              <a:rPr sz="1200" kern="0" spc="3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2135" kern="0" spc="9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：堆尾插入 </a:t>
            </a:r>
            <a:r>
              <a:rPr sz="2135" kern="0" spc="9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 </a:t>
            </a:r>
            <a:r>
              <a:rPr sz="2135" kern="0" spc="9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上浮</a:t>
            </a:r>
            <a:r>
              <a:rPr sz="2135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r>
              <a:rPr lang="zh-CN" sz="1200" kern="0" spc="8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（省略前置建堆等基础代码，仅展示新增操作）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52" name="path 238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7" name="picture 2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2179300" y="-4228"/>
            <a:ext cx="127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rect 24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graphicFrame>
        <p:nvGraphicFramePr>
          <p:cNvPr id="4194322" name="table 244"/>
          <p:cNvGraphicFramePr>
            <a:graphicFrameLocks noGrp="1"/>
          </p:cNvGraphicFramePr>
          <p:nvPr/>
        </p:nvGraphicFramePr>
        <p:xfrm>
          <a:off x="755649" y="1644659"/>
          <a:ext cx="5092700" cy="369443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443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9390" algn="l" rtl="0" eaLnBrk="0">
                        <a:lnSpc>
                          <a:spcPct val="87000"/>
                        </a:lnSpc>
                      </a:pPr>
                      <a:r>
                        <a:rPr sz="1465" kern="0" spc="10" dirty="0">
                          <a:solidFill>
                            <a:srgbClr val="B43232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瓶颈在哪？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447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algn="l" rtl="0" eaLnBrk="0">
                        <a:lnSpc>
                          <a:spcPct val="92000"/>
                        </a:lnSpc>
                        <a:spcBef>
                          <a:spcPts val="345"/>
                        </a:spcBef>
                      </a:pPr>
                      <a:r>
                        <a:rPr lang="en-US"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push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_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back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扩容触发全量</a:t>
                      </a:r>
                      <a:r>
                        <a:rPr sz="1200" kern="0" spc="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复制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algn="l" rtl="0" eaLnBrk="0">
                        <a:lnSpc>
                          <a:spcPct val="117000"/>
                        </a:lnSpc>
                        <a:spcBef>
                          <a:spcPts val="175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超容量时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vector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扩容需复制全部元素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，单次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最坏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O(n)</a:t>
                      </a:r>
                      <a:r>
                        <a:rPr sz="1200" kern="0" spc="-1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，造成性能突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刺。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2000"/>
                        </a:lnSpc>
                        <a:spcBef>
                          <a:spcPts val="355"/>
                        </a:spcBef>
                      </a:pPr>
                      <a:r>
                        <a:rPr lang="en-US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朴素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每层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次写</a:t>
                      </a:r>
                      <a:r>
                        <a:rPr sz="1200" kern="0" spc="-1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，常数开销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大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9390" indent="635" algn="l" rtl="0" eaLnBrk="0">
                        <a:lnSpc>
                          <a:spcPct val="117000"/>
                        </a:lnSpc>
                        <a:spcBef>
                          <a:spcPts val="170"/>
                        </a:spcBef>
                      </a:pP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上浮每层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swap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含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次内存写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，路径长时写操作总量大</a:t>
                      </a:r>
                      <a:r>
                        <a:rPr sz="1200" kern="0" spc="-1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拖慢实际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速度。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2000"/>
                        </a:lnSpc>
                        <a:spcBef>
                          <a:spcPts val="360"/>
                        </a:spcBef>
                      </a:pPr>
                      <a:r>
                        <a:rPr lang="en-US"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批量逐个插入重复走祖先路径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755" indent="4445" algn="l" rtl="0" eaLnBrk="0">
                        <a:lnSpc>
                          <a:spcPct val="117000"/>
                        </a:lnSpc>
                        <a:spcBef>
                          <a:spcPts val="170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多元素逐个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insert</a:t>
                      </a:r>
                      <a:r>
                        <a:rPr sz="1200" kern="0" spc="8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时各自独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立上浮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，兄弟节点重复遍历相同祖先</a:t>
                      </a:r>
                      <a:r>
                        <a:rPr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 kern="0" spc="-1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</a:t>
                      </a:r>
                      <a:r>
                        <a:rPr sz="1200" kern="0" spc="-2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效率低。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94323" name="table 246"/>
          <p:cNvGraphicFramePr>
            <a:graphicFrameLocks noGrp="1"/>
          </p:cNvGraphicFramePr>
          <p:nvPr/>
        </p:nvGraphicFramePr>
        <p:xfrm>
          <a:off x="6343649" y="1644659"/>
          <a:ext cx="5092700" cy="3694430"/>
        </p:xfrm>
        <a:graphic>
          <a:graphicData uri="http://schemas.openxmlformats.org/drawingml/2006/table">
            <a:tbl>
              <a:tblPr>
                <a:solidFill>
                  <a:srgbClr val="FFFFFF"/>
                </a:solidFill>
              </a:tblPr>
              <a:tblGrid>
                <a:gridCol w="5092700"/>
              </a:tblGrid>
              <a:tr h="3694430">
                <a:tc>
                  <a:txBody>
                    <a:bodyPr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0660" algn="l" rtl="0" eaLnBrk="0">
                        <a:lnSpc>
                          <a:spcPct val="87000"/>
                        </a:lnSpc>
                      </a:pPr>
                      <a:r>
                        <a:rPr sz="1465" kern="0" spc="0" dirty="0">
                          <a:solidFill>
                            <a:srgbClr val="16785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怎么改进？</a:t>
                      </a:r>
                      <a:endParaRPr sz="1465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335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7330" algn="l" rtl="0" eaLnBrk="0">
                        <a:lnSpc>
                          <a:spcPct val="92000"/>
                        </a:lnSpc>
                        <a:spcBef>
                          <a:spcPts val="560"/>
                        </a:spcBef>
                      </a:pPr>
                      <a:r>
                        <a:rPr lang="en-US"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预分配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reserve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740" algn="l" rtl="0" eaLnBrk="0">
                        <a:lnSpc>
                          <a:spcPct val="94000"/>
                        </a:lnSpc>
                        <a:spcBef>
                          <a:spcPts val="505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已知元素规模时调用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A.reserve(n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1200" kern="0" spc="-13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，避免频繁扩容复制。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8120" algn="l" rtl="0" eaLnBrk="0">
                        <a:lnSpc>
                          <a:spcPct val="92000"/>
                        </a:lnSpc>
                        <a:spcBef>
                          <a:spcPts val="560"/>
                        </a:spcBef>
                      </a:pPr>
                      <a:r>
                        <a:rPr lang="en-US"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siftUpFast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直接赋值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205105" algn="l" rtl="0" eaLnBrk="0">
                        <a:lnSpc>
                          <a:spcPct val="94000"/>
                        </a:lnSpc>
                        <a:spcBef>
                          <a:spcPts val="505"/>
                        </a:spcBef>
                      </a:pP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题优化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，写次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数从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3h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降为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h+</a:t>
                      </a:r>
                      <a:r>
                        <a:rPr sz="1200" kern="0" spc="-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97485" algn="l" rtl="0" eaLnBrk="0">
                        <a:lnSpc>
                          <a:spcPct val="92000"/>
                        </a:lnSpc>
                        <a:spcBef>
                          <a:spcPts val="485"/>
                        </a:spcBef>
                      </a:pPr>
                      <a:r>
                        <a:rPr lang="en-US"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3</a:t>
                      </a:r>
                      <a:r>
                        <a:rPr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 </a:t>
                      </a:r>
                      <a:r>
                        <a:rPr sz="1200" kern="0" spc="6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批量插入用</a:t>
                      </a:r>
                      <a:r>
                        <a:rPr sz="1200" kern="0" spc="15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buildHeap</a:t>
                      </a:r>
                      <a:endParaRPr sz="1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5105" indent="-5080" algn="l" rtl="0" eaLnBrk="0">
                        <a:lnSpc>
                          <a:spcPct val="140000"/>
                        </a:lnSpc>
                        <a:spcBef>
                          <a:spcPts val="110"/>
                        </a:spcBef>
                      </a:pP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一次性插入同一个父节点下的多个元素时</a:t>
                      </a:r>
                      <a:r>
                        <a:rPr sz="1200" kern="0" spc="-8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-1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，拼到数组末尾后统一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buildHeap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，比逐个 </a:t>
                      </a:r>
                      <a:r>
                        <a:rPr sz="1200" kern="0" spc="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insert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200" kern="0" spc="40" dirty="0">
                          <a:solidFill>
                            <a:srgbClr val="2B2F36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快。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8654" name="textbox 250"/>
          <p:cNvSpPr/>
          <p:nvPr/>
        </p:nvSpPr>
        <p:spPr>
          <a:xfrm>
            <a:off x="752331" y="539463"/>
            <a:ext cx="2579793" cy="677333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·  </a:t>
            </a: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程序瓶颈与改进方式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4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" algn="l" rtl="0" eaLnBrk="0">
              <a:lnSpc>
                <a:spcPct val="95000"/>
              </a:lnSpc>
              <a:spcBef>
                <a:spcPts val="0"/>
              </a:spcBef>
            </a:pPr>
            <a:r>
              <a:rPr sz="2135" kern="0" spc="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35" kern="0" spc="1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的瓶颈与优化</a:t>
            </a:r>
            <a:endParaRPr sz="21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55" name="path 252"/>
          <p:cNvSpPr/>
          <p:nvPr/>
        </p:nvSpPr>
        <p:spPr>
          <a:xfrm>
            <a:off x="774700" y="1390659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8" name="picture 2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4228"/>
            <a:ext cx="121920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rect 256"/>
          <p:cNvSpPr/>
          <p:nvPr/>
        </p:nvSpPr>
        <p:spPr>
          <a:xfrm>
            <a:off x="0" y="1016"/>
            <a:ext cx="12192000" cy="6855968"/>
          </a:xfrm>
          <a:prstGeom prst="rect">
            <a:avLst/>
          </a:prstGeom>
          <a:solidFill>
            <a:srgbClr val="F2F4F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p>
            <a:pPr algn="ctr"/>
            <a:endParaRPr lang="zh-CN" altLang="en-US" sz="1865"/>
          </a:p>
        </p:txBody>
      </p:sp>
      <p:sp>
        <p:nvSpPr>
          <p:cNvPr id="1048657" name="textbox 258"/>
          <p:cNvSpPr/>
          <p:nvPr/>
        </p:nvSpPr>
        <p:spPr>
          <a:xfrm>
            <a:off x="1158731" y="2404203"/>
            <a:ext cx="9166012" cy="1866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3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9000"/>
              </a:lnSpc>
            </a:pPr>
            <a:r>
              <a:rPr sz="1200" kern="0" spc="1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         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如何用数组表⽰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叉堆？                                                                  层序存储；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parent</a:t>
            </a:r>
            <a:r>
              <a:rPr sz="1200" kern="0" spc="-14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(i)=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⌊</a:t>
            </a:r>
            <a:r>
              <a:rPr sz="1200" kern="0" spc="-90" dirty="0">
                <a:solidFill>
                  <a:srgbClr val="1F2329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(i+d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2)/d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]</a:t>
            </a:r>
            <a:r>
              <a:rPr sz="1200" kern="0" spc="-40" dirty="0">
                <a:solidFill>
                  <a:srgbClr val="1F2329">
                    <a:alpha val="100000"/>
                  </a:srgbClr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rPr>
              <a:t> 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child</a:t>
            </a:r>
            <a:r>
              <a:rPr sz="1200" kern="0" spc="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i,k)=d(i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_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1)+</a:t>
            </a:r>
            <a:r>
              <a:rPr sz="1200" kern="0" spc="-15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1+</a:t>
            </a:r>
            <a:r>
              <a:rPr sz="1200" kern="0" spc="-14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ts val="1220"/>
              </a:lnSpc>
              <a:spcBef>
                <a:spcPts val="1330"/>
              </a:spcBef>
            </a:pPr>
            <a:r>
              <a:rPr sz="1200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</a:t>
            </a:r>
            <a:r>
              <a:rPr sz="1200" kern="0" spc="2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个元素的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叉堆高度？                                                                     Θ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</a:t>
            </a:r>
            <a:r>
              <a:rPr sz="1200" i="1" kern="0" spc="-10" baseline="-1200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i="1" kern="0" spc="-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" algn="l" rtl="0" eaLnBrk="0">
              <a:lnSpc>
                <a:spcPts val="1220"/>
              </a:lnSpc>
              <a:spcBef>
                <a:spcPts val="1180"/>
              </a:spcBef>
            </a:pPr>
            <a:r>
              <a:rPr sz="1200" kern="0" spc="-1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            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EXTRACT-MAX 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实现与时间？                                                                取根→</a:t>
            </a:r>
            <a:r>
              <a:rPr sz="1200" kern="0" spc="-2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补尾→下沉；</a:t>
            </a:r>
            <a:r>
              <a:rPr sz="1200" kern="0" spc="16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kern="0" spc="16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1200" kern="0" spc="-2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sz="1200" i="1" kern="0" spc="-2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kern="0" spc="-2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</a:t>
            </a:r>
            <a:r>
              <a:rPr sz="1200" i="1" kern="0" spc="-20" baseline="-1100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i="1" kern="0" spc="-2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-2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2700" algn="l" rtl="0" eaLnBrk="0">
              <a:lnSpc>
                <a:spcPts val="1220"/>
              </a:lnSpc>
              <a:spcBef>
                <a:spcPts val="1180"/>
              </a:spcBef>
            </a:pPr>
            <a:r>
              <a:rPr sz="1200" kern="0" spc="-1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            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INCREASE-KEY 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实现与时间？                                                              改值→上浮；</a:t>
            </a:r>
            <a:r>
              <a:rPr sz="1200" kern="0" spc="15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kern="0" spc="15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</a:t>
            </a:r>
            <a:r>
              <a:rPr sz="1200" i="1" kern="0" spc="-20" baseline="-1100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i="1" kern="0" spc="-2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-2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9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20"/>
              </a:lnSpc>
              <a:spcBef>
                <a:spcPts val="5"/>
              </a:spcBef>
            </a:pPr>
            <a:r>
              <a:rPr sz="1200" kern="0" spc="0" dirty="0">
                <a:solidFill>
                  <a:srgbClr val="2563EB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           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INSERT </a:t>
            </a:r>
            <a:r>
              <a:rPr sz="1200" kern="0" spc="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实现与时间？                           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堆尾插入→上浮；</a:t>
            </a:r>
            <a:r>
              <a:rPr sz="1200" kern="0" spc="15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200" kern="0" spc="15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(log</a:t>
            </a:r>
            <a:r>
              <a:rPr sz="1200" i="1" kern="0" spc="-10" baseline="-1100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1200" i="1" kern="0" spc="-10" dirty="0">
                <a:solidFill>
                  <a:srgbClr val="1F2329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1200" kern="0" spc="-10" dirty="0">
                <a:solidFill>
                  <a:srgbClr val="1F2329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58" name="textbox 262"/>
          <p:cNvSpPr/>
          <p:nvPr/>
        </p:nvSpPr>
        <p:spPr>
          <a:xfrm>
            <a:off x="774700" y="1791724"/>
            <a:ext cx="10668000" cy="508000"/>
          </a:xfrm>
          <a:prstGeom prst="rect">
            <a:avLst/>
          </a:prstGeom>
          <a:solidFill>
            <a:srgbClr val="0D1326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106000"/>
              </a:lnSpc>
            </a:pPr>
            <a:endParaRPr sz="106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1455" algn="l" rtl="0" eaLnBrk="0">
              <a:lnSpc>
                <a:spcPct val="90000"/>
              </a:lnSpc>
              <a:spcBef>
                <a:spcPts val="5"/>
              </a:spcBef>
            </a:pP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题号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r>
              <a:rPr sz="1200" kern="0" spc="1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</a:t>
            </a:r>
            <a:r>
              <a:rPr sz="1200" kern="0" spc="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                                             </a:t>
            </a:r>
            <a:r>
              <a:rPr sz="1200" kern="0" spc="50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59" name="textbox 264"/>
          <p:cNvSpPr/>
          <p:nvPr/>
        </p:nvSpPr>
        <p:spPr>
          <a:xfrm>
            <a:off x="750019" y="540477"/>
            <a:ext cx="3661833" cy="7247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86000"/>
              </a:lnSpc>
            </a:pPr>
            <a:endParaRPr sz="135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</a:pPr>
            <a:r>
              <a:rPr sz="1200" kern="0" spc="50" dirty="0">
                <a:solidFill>
                  <a:srgbClr val="2563EB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87000"/>
              </a:lnSpc>
              <a:spcBef>
                <a:spcPts val="5"/>
              </a:spcBef>
            </a:pPr>
            <a:r>
              <a:rPr sz="2535" kern="0" spc="4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五题答案速查与核心权</a:t>
            </a:r>
            <a:r>
              <a:rPr sz="2535" kern="0" spc="30" dirty="0">
                <a:solidFill>
                  <a:srgbClr val="0D132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衡</a:t>
            </a:r>
            <a:endParaRPr sz="2535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8660" name="path 268"/>
          <p:cNvSpPr/>
          <p:nvPr/>
        </p:nvSpPr>
        <p:spPr>
          <a:xfrm>
            <a:off x="774700" y="1455181"/>
            <a:ext cx="10655308" cy="12700"/>
          </a:xfrm>
          <a:custGeom>
            <a:avLst/>
            <a:gdLst/>
            <a:ahLst/>
            <a:cxnLst/>
            <a:rect l="0" t="0" r="0" b="0"/>
            <a:pathLst>
              <a:path w="12585" h="15">
                <a:moveTo>
                  <a:pt x="0" y="7"/>
                </a:moveTo>
                <a:lnTo>
                  <a:pt x="12585" y="7"/>
                </a:lnTo>
              </a:path>
            </a:pathLst>
          </a:custGeom>
          <a:noFill/>
          <a:ln w="9525" cap="flat">
            <a:solidFill>
              <a:srgbClr val="D2DAE6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 sz="1865"/>
          </a:p>
        </p:txBody>
      </p:sp>
      <p:pic>
        <p:nvPicPr>
          <p:cNvPr id="2097179" name="picture 27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-3211"/>
            <a:ext cx="12192000" cy="84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62" name="AutoShape 3"/>
          <p:cNvSpPr/>
          <p:nvPr/>
        </p:nvSpPr>
        <p:spPr>
          <a:xfrm>
            <a:off x="0" y="0"/>
            <a:ext cx="101600" cy="6858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63" name="AutoShape 4"/>
          <p:cNvSpPr txBox="1"/>
          <p:nvPr/>
        </p:nvSpPr>
        <p:spPr>
          <a:xfrm>
            <a:off x="1016000" y="177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08000"/>
              </a:lnSpc>
            </a:pPr>
            <a:r>
              <a:rPr lang="zh-CN" altLang="en-US" sz="3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习题</a:t>
            </a:r>
            <a:r>
              <a:rPr lang="en-US" altLang="zh-CN" sz="3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</a:t>
            </a:r>
            <a:r>
              <a:rPr lang="en-US" sz="3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变长数据项的高效排序算法研究</a:t>
            </a:r>
            <a:endParaRPr lang="en-US" sz="1100"/>
          </a:p>
        </p:txBody>
      </p:sp>
      <p:cxnSp>
        <p:nvCxnSpPr>
          <p:cNvPr id="3145728" name="Connector 6"/>
          <p:cNvCxnSpPr/>
          <p:nvPr/>
        </p:nvCxnSpPr>
        <p:spPr>
          <a:xfrm rot="-28647">
            <a:off x="1016026" y="34226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64" name="AutoShape 7"/>
          <p:cNvSpPr txBox="1"/>
          <p:nvPr/>
        </p:nvSpPr>
        <p:spPr>
          <a:xfrm>
            <a:off x="1016000" y="37465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600" b="0" i="0" u="none" strike="noStrike">
                <a:solidFill>
                  <a:srgbClr val="47556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《算法导论（第 4 版）》思考题 8-3 (a) 与 (b) 深度拆解及对比</a:t>
            </a:r>
            <a:endParaRPr lang="en-US" sz="1100"/>
          </a:p>
        </p:txBody>
      </p:sp>
      <p:cxnSp>
        <p:nvCxnSpPr>
          <p:cNvPr id="3145729" name="Connector 8"/>
          <p:cNvCxnSpPr/>
          <p:nvPr/>
        </p:nvCxnSpPr>
        <p:spPr>
          <a:xfrm rot="-4297">
            <a:off x="1016004" y="532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AutoShape 2"/>
          <p:cNvSpPr txBox="1"/>
          <p:nvPr/>
        </p:nvSpPr>
        <p:spPr>
          <a:xfrm>
            <a:off x="762000" y="50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汇报提纲</a:t>
            </a:r>
            <a:endParaRPr lang="en-US" sz="1100"/>
          </a:p>
        </p:txBody>
      </p:sp>
      <p:cxnSp>
        <p:nvCxnSpPr>
          <p:cNvPr id="3145730" name="Connector 3"/>
          <p:cNvCxnSpPr/>
          <p:nvPr/>
        </p:nvCxnSpPr>
        <p:spPr>
          <a:xfrm rot="-57290">
            <a:off x="762053" y="1136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72" name="AutoShape 4"/>
          <p:cNvSpPr txBox="1"/>
          <p:nvPr/>
        </p:nvSpPr>
        <p:spPr>
          <a:xfrm>
            <a:off x="762000" y="1524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1048673" name="AutoShape 5"/>
          <p:cNvSpPr txBox="1"/>
          <p:nvPr/>
        </p:nvSpPr>
        <p:spPr>
          <a:xfrm>
            <a:off x="1651000" y="1549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8-3(a) 变长整数排序</a:t>
            </a:r>
            <a:endParaRPr lang="en-US" sz="1100"/>
          </a:p>
        </p:txBody>
      </p:sp>
      <p:sp>
        <p:nvSpPr>
          <p:cNvPr id="1048674" name="AutoShape 6"/>
          <p:cNvSpPr txBox="1"/>
          <p:nvPr/>
        </p:nvSpPr>
        <p:spPr>
          <a:xfrm>
            <a:off x="1651000" y="19304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问题定义与传统方法局限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算法设计、C++ 实现与正确性/复杂度分析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45731" name="Connector 7"/>
          <p:cNvCxnSpPr/>
          <p:nvPr/>
        </p:nvCxnSpPr>
        <p:spPr>
          <a:xfrm rot="-4092">
            <a:off x="762004" y="2724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75" name="AutoShape 8"/>
          <p:cNvSpPr txBox="1"/>
          <p:nvPr/>
        </p:nvSpPr>
        <p:spPr>
          <a:xfrm>
            <a:off x="762000" y="2984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048676" name="AutoShape 9"/>
          <p:cNvSpPr txBox="1"/>
          <p:nvPr/>
        </p:nvSpPr>
        <p:spPr>
          <a:xfrm>
            <a:off x="1651000" y="30099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 8-3(b) 变长字符串排序</a:t>
            </a:r>
            <a:endParaRPr lang="en-US" sz="1100"/>
          </a:p>
        </p:txBody>
      </p:sp>
      <p:sp>
        <p:nvSpPr>
          <p:cNvPr id="1048677" name="AutoShape 10"/>
          <p:cNvSpPr txBox="1"/>
          <p:nvPr/>
        </p:nvSpPr>
        <p:spPr>
          <a:xfrm>
            <a:off x="1651000" y="33909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问题定义与字典序挑战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算法设计、C++ 实现与正确性/复杂度分析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45732" name="Connector 11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78" name="AutoShape 12"/>
          <p:cNvSpPr txBox="1"/>
          <p:nvPr/>
        </p:nvSpPr>
        <p:spPr>
          <a:xfrm>
            <a:off x="762000" y="444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048679" name="AutoShape 13"/>
          <p:cNvSpPr txBox="1"/>
          <p:nvPr/>
        </p:nvSpPr>
        <p:spPr>
          <a:xfrm>
            <a:off x="1651000" y="4470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8-3(a) 与 8-3(b) 的对比分析</a:t>
            </a:r>
            <a:endParaRPr lang="en-US" sz="1100"/>
          </a:p>
        </p:txBody>
      </p:sp>
      <p:sp>
        <p:nvSpPr>
          <p:cNvPr id="1048680" name="AutoShape 14"/>
          <p:cNvSpPr txBox="1"/>
          <p:nvPr/>
        </p:nvSpPr>
        <p:spPr>
          <a:xfrm>
            <a:off x="1651000" y="48514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排序机制、对齐方式、边界条件等核心维度对比</a:t>
            </a:r>
            <a:endParaRPr lang="en-US" sz="1100"/>
          </a:p>
        </p:txBody>
      </p:sp>
      <p:cxnSp>
        <p:nvCxnSpPr>
          <p:cNvPr id="3145733" name="Connector 15"/>
          <p:cNvCxnSpPr/>
          <p:nvPr/>
        </p:nvCxnSpPr>
        <p:spPr>
          <a:xfrm rot="-4092">
            <a:off x="762004" y="5391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81" name="AutoShape 16"/>
          <p:cNvSpPr txBox="1"/>
          <p:nvPr/>
        </p:nvSpPr>
        <p:spPr>
          <a:xfrm>
            <a:off x="762000" y="56515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048682" name="AutoShape 17"/>
          <p:cNvSpPr txBox="1"/>
          <p:nvPr/>
        </p:nvSpPr>
        <p:spPr>
          <a:xfrm>
            <a:off x="1651000" y="56769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总结与改进</a:t>
            </a:r>
            <a:endParaRPr lang="en-US" sz="1100"/>
          </a:p>
        </p:txBody>
      </p:sp>
      <p:sp>
        <p:nvSpPr>
          <p:cNvPr id="1048683" name="AutoShape 18"/>
          <p:cNvSpPr txBox="1"/>
          <p:nvPr/>
        </p:nvSpPr>
        <p:spPr>
          <a:xfrm>
            <a:off x="1651000" y="6057900"/>
            <a:ext cx="889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代码运行结果实测、程序瓶颈与 C++ 工程优化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0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变长整数排序</a:t>
            </a:r>
            <a:endParaRPr lang="en-US" sz="1100"/>
          </a:p>
        </p:txBody>
      </p:sp>
      <p:sp>
        <p:nvSpPr>
          <p:cNvPr id="1048691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8-3(a) 变长整数排序 —— 题目解析与传统方法瓶颈</a:t>
            </a:r>
            <a:endParaRPr lang="en-US" sz="1100"/>
          </a:p>
        </p:txBody>
      </p:sp>
      <p:cxnSp>
        <p:nvCxnSpPr>
          <p:cNvPr id="3145734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692" name="AutoShape 5"/>
          <p:cNvSpPr/>
          <p:nvPr/>
        </p:nvSpPr>
        <p:spPr>
          <a:xfrm>
            <a:off x="762000" y="15875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693" name="AutoShape 6"/>
          <p:cNvSpPr txBox="1"/>
          <p:nvPr/>
        </p:nvSpPr>
        <p:spPr>
          <a:xfrm>
            <a:off x="1016000" y="171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题目定义</a:t>
            </a:r>
            <a:endParaRPr lang="en-US" sz="1100"/>
          </a:p>
        </p:txBody>
      </p:sp>
      <p:sp>
        <p:nvSpPr>
          <p:cNvPr id="1048694" name="AutoShap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16000" y="2095500"/>
            <a:ext cx="10160000" cy="635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695" name="AutoShape 8"/>
          <p:cNvSpPr txBox="1"/>
          <p:nvPr/>
        </p:nvSpPr>
        <p:spPr>
          <a:xfrm>
            <a:off x="762000" y="317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传统方法有什么问题？</a:t>
            </a:r>
            <a:endParaRPr lang="en-US" sz="1100"/>
          </a:p>
        </p:txBody>
      </p:sp>
      <p:sp>
        <p:nvSpPr>
          <p:cNvPr id="1048696" name="AutoShape 9"/>
          <p:cNvSpPr txBox="1"/>
          <p:nvPr/>
        </p:nvSpPr>
        <p:spPr>
          <a:xfrm>
            <a:off x="762000" y="3683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697" name="AutoShap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3683000"/>
            <a:ext cx="10223500" cy="762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698" name="AutoShape 11"/>
          <p:cNvSpPr txBox="1"/>
          <p:nvPr/>
        </p:nvSpPr>
        <p:spPr>
          <a:xfrm>
            <a:off x="762000" y="4699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699" name="AutoShap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4699000"/>
            <a:ext cx="10223500" cy="1270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6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变长整数排序</a:t>
            </a:r>
            <a:endParaRPr lang="en-US" sz="1100"/>
          </a:p>
        </p:txBody>
      </p:sp>
      <p:sp>
        <p:nvSpPr>
          <p:cNvPr id="1048707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根据数字长度进行分组</a:t>
            </a:r>
            <a:endParaRPr lang="zh-CN" altLang="en-US" sz="2400" b="1" i="0" u="none" strike="noStrike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45735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08" name="AutoShape 5"/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核心算法策略</a:t>
            </a:r>
            <a:endParaRPr lang="en-US" sz="1100"/>
          </a:p>
        </p:txBody>
      </p:sp>
      <p:sp>
        <p:nvSpPr>
          <p:cNvPr id="1048709" name="AutoShape 6"/>
          <p:cNvSpPr txBox="1"/>
          <p:nvPr>
            <p:custDataLst>
              <p:tags r:id="rId1"/>
            </p:custDataLst>
          </p:nvPr>
        </p:nvSpPr>
        <p:spPr>
          <a:xfrm>
            <a:off x="762000" y="1968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10" name="AutoShape 7"/>
          <p:cNvSpPr txBox="1"/>
          <p:nvPr>
            <p:custDataLst>
              <p:tags r:id="rId2"/>
            </p:custDataLst>
          </p:nvPr>
        </p:nvSpPr>
        <p:spPr>
          <a:xfrm>
            <a:off x="1143000" y="1930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按位数分组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用计数排序按"位数 d"将整数分桶，位数相同的放同一桶。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11" name="AutoShape 8"/>
          <p:cNvSpPr txBox="1"/>
          <p:nvPr>
            <p:custDataLst>
              <p:tags r:id="rId3"/>
            </p:custDataLst>
          </p:nvPr>
        </p:nvSpPr>
        <p:spPr>
          <a:xfrm>
            <a:off x="762000" y="29210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12" name="AutoShape 9"/>
          <p:cNvSpPr txBox="1"/>
          <p:nvPr>
            <p:custDataLst>
              <p:tags r:id="rId4"/>
            </p:custDataLst>
          </p:nvPr>
        </p:nvSpPr>
        <p:spPr>
          <a:xfrm>
            <a:off x="1143000" y="28829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分桶基数排序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位数多的数一定更大，桶内独立做 LSD 基数排序即可。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13" name="AutoShape 10"/>
          <p:cNvSpPr txBox="1"/>
          <p:nvPr>
            <p:custDataLst>
              <p:tags r:id="rId5"/>
            </p:custDataLst>
          </p:nvPr>
        </p:nvSpPr>
        <p:spPr>
          <a:xfrm>
            <a:off x="762000" y="3873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48714" name="AutoShape 11"/>
          <p:cNvSpPr txBox="1"/>
          <p:nvPr>
            <p:custDataLst>
              <p:tags r:id="rId6"/>
            </p:custDataLst>
          </p:nvPr>
        </p:nvSpPr>
        <p:spPr>
          <a:xfrm>
            <a:off x="1143000" y="3835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结果拼接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按位数 d = 1, 2, ..., L_max 依次拼接排好序的桶。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15" name="AutoShape 12"/>
          <p:cNvSpPr/>
          <p:nvPr/>
        </p:nvSpPr>
        <p:spPr>
          <a:xfrm>
            <a:off x="6181090" y="882650"/>
            <a:ext cx="5207000" cy="482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16" name="AutoShape 14"/>
          <p:cNvSpPr txBox="1"/>
          <p:nvPr/>
        </p:nvSpPr>
        <p:spPr>
          <a:xfrm>
            <a:off x="6329680" y="882650"/>
            <a:ext cx="4826000" cy="425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 按数字位数分桶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void bucket_sort(vector&lt;string&gt;&amp; A)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int maxLen = 0;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// 找最大位数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for(auto &amp;s:A)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s = removeLeadingZero(s);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maxLen = max(maxLen,(int)s.length());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// 创建长度桶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vector&lt;vector&lt;string&gt;&gt; buckets(maxLen+1);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// 按长度放入对应桶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for(auto &amp;s:A)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buckets[s.length()].push_back(s);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变长整数排序</a:t>
            </a:r>
            <a:endParaRPr lang="en-US" sz="1100"/>
          </a:p>
        </p:txBody>
      </p:sp>
      <p:sp>
        <p:nvSpPr>
          <p:cNvPr id="1048724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同位数整数采用</a:t>
            </a:r>
            <a:r>
              <a:rPr lang="en-US" altLang="zh-CN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LSD</a:t>
            </a: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基数排序</a:t>
            </a:r>
            <a:endParaRPr lang="zh-CN" altLang="en-US" sz="2400" b="1" i="0" u="none" strike="noStrike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45736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25" name="AutoShape 5"/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核心算法策略</a:t>
            </a:r>
            <a:endParaRPr lang="en-US" sz="1100"/>
          </a:p>
        </p:txBody>
      </p:sp>
      <p:sp>
        <p:nvSpPr>
          <p:cNvPr id="1048726" name="AutoShape 6"/>
          <p:cNvSpPr txBox="1"/>
          <p:nvPr>
            <p:custDataLst>
              <p:tags r:id="rId1"/>
            </p:custDataLst>
          </p:nvPr>
        </p:nvSpPr>
        <p:spPr>
          <a:xfrm>
            <a:off x="762000" y="1968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27" name="AutoShape 7"/>
          <p:cNvSpPr txBox="1"/>
          <p:nvPr>
            <p:custDataLst>
              <p:tags r:id="rId2"/>
            </p:custDataLst>
          </p:nvPr>
        </p:nvSpPr>
        <p:spPr>
          <a:xfrm>
            <a:off x="1143000" y="19304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按位数分组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用计数排序按"位数 d"将整数分桶，位数相同的放同一桶。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28" name="AutoShape 8"/>
          <p:cNvSpPr txBox="1"/>
          <p:nvPr>
            <p:custDataLst>
              <p:tags r:id="rId3"/>
            </p:custDataLst>
          </p:nvPr>
        </p:nvSpPr>
        <p:spPr>
          <a:xfrm>
            <a:off x="762000" y="29210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29" name="AutoShape 9"/>
          <p:cNvSpPr txBox="1"/>
          <p:nvPr>
            <p:custDataLst>
              <p:tags r:id="rId4"/>
            </p:custDataLst>
          </p:nvPr>
        </p:nvSpPr>
        <p:spPr>
          <a:xfrm>
            <a:off x="1143000" y="2882900"/>
            <a:ext cx="4826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分桶基数排序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位数多的数一定更大，桶内独立做 LSD 基数排序即可。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30" name="AutoShape 10"/>
          <p:cNvSpPr txBox="1"/>
          <p:nvPr>
            <p:custDataLst>
              <p:tags r:id="rId5"/>
            </p:custDataLst>
          </p:nvPr>
        </p:nvSpPr>
        <p:spPr>
          <a:xfrm>
            <a:off x="762000" y="3873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48731" name="AutoShape 11"/>
          <p:cNvSpPr txBox="1"/>
          <p:nvPr>
            <p:custDataLst>
              <p:tags r:id="rId6"/>
            </p:custDataLst>
          </p:nvPr>
        </p:nvSpPr>
        <p:spPr>
          <a:xfrm>
            <a:off x="1143000" y="3835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结果拼接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按位数 d = 1, 2, ..., L_max 依次拼接排好序的桶。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32" name="AutoShape 12"/>
          <p:cNvSpPr/>
          <p:nvPr/>
        </p:nvSpPr>
        <p:spPr>
          <a:xfrm>
            <a:off x="6223000" y="469900"/>
            <a:ext cx="5207000" cy="56515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33" name="AutoShape 13"/>
          <p:cNvSpPr txBox="1"/>
          <p:nvPr/>
        </p:nvSpPr>
        <p:spPr>
          <a:xfrm>
            <a:off x="6346825" y="1207135"/>
            <a:ext cx="4826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endParaRPr lang="en-US" sz="1100"/>
          </a:p>
        </p:txBody>
      </p:sp>
      <p:sp>
        <p:nvSpPr>
          <p:cNvPr id="1048734" name="AutoShape 14"/>
          <p:cNvSpPr txBox="1"/>
          <p:nvPr/>
        </p:nvSpPr>
        <p:spPr>
          <a:xfrm>
            <a:off x="6346825" y="495300"/>
            <a:ext cx="4826000" cy="565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1000"/>
              </a:lnSpc>
            </a:pPr>
            <a:r>
              <a:rPr lang="zh-CN" altLang="en-US" sz="105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// 从最低位开始处理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for(int pos=len-1;pos&gt;=0;pos--)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vector&lt;int&gt; cnt(10,0);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统计当前位数字出现次数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for(auto &amp;s:bucket)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int digit=s[pos]-'0';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cnt[digit]++;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// 前缀和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for(int i=1;i&lt;10;i++)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cnt[i]+=cnt[i-1];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// 稳定排序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for(int i=bucket.size()-1;i&gt;=0;i--)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int digit=bucket[i][pos]-'0';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output[cnt[digit]-1]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= bucket[i];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cnt[digit]--;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bucket = output;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1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· 变长整数排序</a:t>
            </a:r>
            <a:endParaRPr lang="en-US" sz="1100"/>
          </a:p>
        </p:txBody>
      </p:sp>
      <p:sp>
        <p:nvSpPr>
          <p:cNvPr id="1048742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8-3(a) 变长整数排序 —— 正确性与复杂度证明</a:t>
            </a:r>
            <a:endParaRPr lang="en-US" sz="1100"/>
          </a:p>
        </p:txBody>
      </p:sp>
      <p:cxnSp>
        <p:nvCxnSpPr>
          <p:cNvPr id="3145737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43" name="AutoShape 5"/>
          <p:cNvSpPr txBox="1"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算法为什么正确？</a:t>
            </a:r>
            <a:endParaRPr lang="en-US" sz="1100"/>
          </a:p>
        </p:txBody>
      </p:sp>
      <p:sp>
        <p:nvSpPr>
          <p:cNvPr id="1048744" name="AutoShape 6"/>
          <p:cNvSpPr txBox="1"/>
          <p:nvPr/>
        </p:nvSpPr>
        <p:spPr>
          <a:xfrm>
            <a:off x="762000" y="2095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45" name="AutoShape 7"/>
          <p:cNvSpPr txBox="1"/>
          <p:nvPr/>
        </p:nvSpPr>
        <p:spPr>
          <a:xfrm>
            <a:off x="1143000" y="20574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跨桶正确性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不含前导零时，位数多的整数一定大于位数少的。按位数升序排列桶，保证不同位数间大小关系绝对正确。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46" name="AutoShape 8"/>
          <p:cNvSpPr txBox="1"/>
          <p:nvPr/>
        </p:nvSpPr>
        <p:spPr>
          <a:xfrm>
            <a:off x="762000" y="3111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47" name="AutoShape 9"/>
          <p:cNvSpPr txBox="1"/>
          <p:nvPr/>
        </p:nvSpPr>
        <p:spPr>
          <a:xfrm>
            <a:off x="1143000" y="3073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桶内正确性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相同位数的整数构成"定长整数排序"问题，经典 LSD 基数排序的正确性保证桶内部升序。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48" name="AutoShap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1587500"/>
            <a:ext cx="5080000" cy="3556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49" name="AutoShap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2095500"/>
            <a:ext cx="5080000" cy="508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50" name="AutoShap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2667000"/>
            <a:ext cx="5207000" cy="6985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51" name="AutoShape 13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3492500"/>
            <a:ext cx="5207000" cy="889000"/>
          </a:xfrm>
          <a:prstGeom prst="rect">
            <a:avLst/>
          </a:prstGeom>
          <a:blipFill rotWithShape="1">
            <a:blip r:embed="rId4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52" name="AutoShape 14"/>
          <p:cNvSpPr/>
          <p:nvPr/>
        </p:nvSpPr>
        <p:spPr>
          <a:xfrm>
            <a:off x="6223000" y="4572000"/>
            <a:ext cx="5207000" cy="6985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53" name="AutoShape 15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0" y="4699000"/>
            <a:ext cx="4699000" cy="444500"/>
          </a:xfrm>
          <a:prstGeom prst="rect">
            <a:avLst/>
          </a:prstGeom>
          <a:blipFill rotWithShape="1">
            <a:blip r:embed="rId5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 · 变长字符串排序</a:t>
            </a:r>
            <a:endParaRPr lang="en-US" sz="1100"/>
          </a:p>
        </p:txBody>
      </p:sp>
      <p:sp>
        <p:nvSpPr>
          <p:cNvPr id="1048761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8-3(b) 变长字符串排序 —— 题目解析与字典序挑战</a:t>
            </a:r>
            <a:endParaRPr lang="en-US" sz="1100"/>
          </a:p>
        </p:txBody>
      </p:sp>
      <p:cxnSp>
        <p:nvCxnSpPr>
          <p:cNvPr id="3145738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62" name="AutoShape 5"/>
          <p:cNvSpPr/>
          <p:nvPr/>
        </p:nvSpPr>
        <p:spPr>
          <a:xfrm>
            <a:off x="762000" y="1587500"/>
            <a:ext cx="10668000" cy="1270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63" name="AutoShape 6"/>
          <p:cNvSpPr txBox="1"/>
          <p:nvPr/>
        </p:nvSpPr>
        <p:spPr>
          <a:xfrm>
            <a:off x="1016000" y="171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题目定义</a:t>
            </a:r>
            <a:endParaRPr lang="en-US" sz="1100"/>
          </a:p>
        </p:txBody>
      </p:sp>
      <p:sp>
        <p:nvSpPr>
          <p:cNvPr id="1048764" name="AutoShap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016000" y="2095500"/>
            <a:ext cx="10160000" cy="635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65" name="AutoShape 8"/>
          <p:cNvSpPr txBox="1"/>
          <p:nvPr/>
        </p:nvSpPr>
        <p:spPr>
          <a:xfrm>
            <a:off x="762000" y="317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传统方法有什么问题？</a:t>
            </a:r>
            <a:endParaRPr lang="en-US" sz="1100"/>
          </a:p>
        </p:txBody>
      </p:sp>
      <p:sp>
        <p:nvSpPr>
          <p:cNvPr id="1048766" name="AutoShape 9"/>
          <p:cNvSpPr txBox="1"/>
          <p:nvPr/>
        </p:nvSpPr>
        <p:spPr>
          <a:xfrm>
            <a:off x="762000" y="36830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67" name="AutoShape 10"/>
          <p:cNvSpPr txBox="1"/>
          <p:nvPr/>
        </p:nvSpPr>
        <p:spPr>
          <a:xfrm>
            <a:off x="1206500" y="3644900"/>
            <a:ext cx="10223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不能像整数那样"位数多的放后面"：</a:t>
            </a:r>
            <a:r>
              <a:rPr lang="en-US" sz="14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在字典序中，较长字符串可能更小（例如 "a" &lt; "banana"，但 "zoo" &gt; "apple"）。长度没有绝对的一票否决权。</a:t>
            </a:r>
            <a:endParaRPr lang="en-US" sz="1100"/>
          </a:p>
        </p:txBody>
      </p:sp>
      <p:sp>
        <p:nvSpPr>
          <p:cNvPr id="1048768" name="AutoShape 11"/>
          <p:cNvSpPr txBox="1"/>
          <p:nvPr/>
        </p:nvSpPr>
        <p:spPr>
          <a:xfrm>
            <a:off x="762000" y="47625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69" name="AutoShape 12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4724400"/>
            <a:ext cx="10223500" cy="762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 · 变长字符串排序</a:t>
            </a:r>
            <a:endParaRPr lang="en-US" sz="1100"/>
          </a:p>
        </p:txBody>
      </p:sp>
      <p:sp>
        <p:nvSpPr>
          <p:cNvPr id="1048777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字符串排序核心实现 —— </a:t>
            </a:r>
            <a:r>
              <a:rPr lang="en-US" altLang="zh-CN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MSD</a:t>
            </a: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基数排序</a:t>
            </a:r>
            <a:endParaRPr lang="zh-CN" altLang="en-US" sz="2400" b="1" i="0" u="none" strike="noStrike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145739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78" name="AutoShape 5"/>
          <p:cNvSpPr txBox="1"/>
          <p:nvPr/>
        </p:nvSpPr>
        <p:spPr>
          <a:xfrm>
            <a:off x="762000" y="15240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核心算法策略（按长短分组 + 逆序处理）</a:t>
            </a:r>
            <a:endParaRPr lang="en-US" sz="1100"/>
          </a:p>
        </p:txBody>
      </p:sp>
      <p:sp>
        <p:nvSpPr>
          <p:cNvPr id="1048779" name="AutoShape 6"/>
          <p:cNvSpPr txBox="1"/>
          <p:nvPr/>
        </p:nvSpPr>
        <p:spPr>
          <a:xfrm>
            <a:off x="762000" y="20320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80" name="AutoShape 7"/>
          <p:cNvSpPr txBox="1"/>
          <p:nvPr/>
        </p:nvSpPr>
        <p:spPr>
          <a:xfrm>
            <a:off x="1143000" y="19939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按长度分桶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将字符串按长度 L 归入 Bucket[L]。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81" name="AutoShape 8"/>
          <p:cNvSpPr txBox="1"/>
          <p:nvPr/>
        </p:nvSpPr>
        <p:spPr>
          <a:xfrm>
            <a:off x="762000" y="2857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82" name="AutoShape 9"/>
          <p:cNvSpPr txBox="1"/>
          <p:nvPr/>
        </p:nvSpPr>
        <p:spPr>
          <a:xfrm>
            <a:off x="1143000" y="2819400"/>
            <a:ext cx="482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从长到短逆序处理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d = L_max 倒序循环到 1：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长度恰好为 d 的字符串插入 activeList 最前面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 对 activeList 按第 d 个字符做一次稳定计数排序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83" name="AutoShape 10"/>
          <p:cNvSpPr txBox="1"/>
          <p:nvPr/>
        </p:nvSpPr>
        <p:spPr>
          <a:xfrm>
            <a:off x="762000" y="43180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48784" name="AutoShape 11"/>
          <p:cNvSpPr txBox="1"/>
          <p:nvPr/>
        </p:nvSpPr>
        <p:spPr>
          <a:xfrm>
            <a:off x="1143000" y="42799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最终结果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循环结束后 activeList 即为字典序结果。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785" name="AutoShape 12"/>
          <p:cNvSpPr/>
          <p:nvPr/>
        </p:nvSpPr>
        <p:spPr>
          <a:xfrm>
            <a:off x="6223000" y="1524000"/>
            <a:ext cx="5207000" cy="4953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786" name="AutoShape 14"/>
          <p:cNvSpPr txBox="1"/>
          <p:nvPr/>
        </p:nvSpPr>
        <p:spPr>
          <a:xfrm>
            <a:off x="6533515" y="1677035"/>
            <a:ext cx="4826000" cy="438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/根据第</a:t>
            </a: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d</a:t>
            </a: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位字符分桶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for(int i=left;i&lt;=right;i++)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int c;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if(d&gt;=a[i].length())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c=-1;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else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c=(unsigned char)a[i][d];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aux[count[c+1]++] = a[i];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zh-CN" altLang="en-US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// 放回原数组</a:t>
            </a:r>
            <a:endParaRPr lang="zh-CN" altLang="en-US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for(int i=left;i&lt;=right;i++)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    a[i]=aux[i-left];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altLang="zh-CN" sz="1200" b="0" i="0" u="none" strike="noStrike">
                <a:solidFill>
                  <a:srgbClr val="1E293B"/>
                </a:solidFill>
                <a:latin typeface="Roboto Mono"/>
                <a:ea typeface="Roboto Mono"/>
                <a:cs typeface="Roboto Mono"/>
                <a:sym typeface="Roboto Mono"/>
              </a:rPr>
              <a:t>    }</a:t>
            </a:r>
            <a:endParaRPr lang="en-US" altLang="zh-CN" sz="1200" b="0" i="0" u="none" strike="noStrike">
              <a:solidFill>
                <a:srgbClr val="1E293B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 · 变长字符串排序</a:t>
            </a:r>
            <a:endParaRPr lang="en-US" sz="1100"/>
          </a:p>
        </p:txBody>
      </p:sp>
      <p:sp>
        <p:nvSpPr>
          <p:cNvPr id="1048794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8-3(b) 变长字符串排序 —— 正确性与复杂度证明</a:t>
            </a:r>
            <a:endParaRPr lang="en-US" sz="1100"/>
          </a:p>
        </p:txBody>
      </p:sp>
      <p:cxnSp>
        <p:nvCxnSpPr>
          <p:cNvPr id="3145740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795" name="AutoShape 5"/>
          <p:cNvSpPr txBox="1"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算法为什么正确？</a:t>
            </a:r>
            <a:endParaRPr lang="en-US" sz="1100"/>
          </a:p>
        </p:txBody>
      </p:sp>
      <p:sp>
        <p:nvSpPr>
          <p:cNvPr id="1048796" name="AutoShape 6"/>
          <p:cNvSpPr txBox="1"/>
          <p:nvPr/>
        </p:nvSpPr>
        <p:spPr>
          <a:xfrm>
            <a:off x="762000" y="2095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797" name="AutoShap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143000" y="2057400"/>
            <a:ext cx="4826000" cy="1143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798" name="AutoShape 8"/>
          <p:cNvSpPr txBox="1"/>
          <p:nvPr/>
        </p:nvSpPr>
        <p:spPr>
          <a:xfrm>
            <a:off x="762000" y="3365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799" name="AutoShape 9"/>
          <p:cNvSpPr txBox="1"/>
          <p:nvPr/>
        </p:nvSpPr>
        <p:spPr>
          <a:xfrm>
            <a:off x="1143000" y="33274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短前缀优先性（a &lt; ab）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短字符串较晚加入 activeList，直接拼在前面；由于后续排序是稳定排序，第 1 位字符相同时，短前缀始终排在长字符串前面。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00" name="AutoShape 10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1587500"/>
            <a:ext cx="5080000" cy="3556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801" name="AutoShap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223000" y="2095500"/>
            <a:ext cx="5207000" cy="762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802" name="AutoShape 12"/>
          <p:cNvSpPr txBox="1"/>
          <p:nvPr/>
        </p:nvSpPr>
        <p:spPr>
          <a:xfrm>
            <a:off x="6223000" y="2984500"/>
            <a:ext cx="520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所有字符串的所有字符，在整个算法生命周期中恰好只参与了一次计数排序！</a:t>
            </a:r>
            <a:endParaRPr lang="en-US" sz="1100"/>
          </a:p>
        </p:txBody>
      </p:sp>
      <p:sp>
        <p:nvSpPr>
          <p:cNvPr id="1048803" name="AutoShape 13"/>
          <p:cNvSpPr/>
          <p:nvPr/>
        </p:nvSpPr>
        <p:spPr>
          <a:xfrm>
            <a:off x="6223000" y="4000500"/>
            <a:ext cx="5207000" cy="1016000"/>
          </a:xfrm>
          <a:prstGeom prst="roundRect">
            <a:avLst>
              <a:gd name="adj" fmla="val 0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04" name="AutoShape 14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6477000" y="4127500"/>
            <a:ext cx="4699000" cy="762000"/>
          </a:xfrm>
          <a:prstGeom prst="rect">
            <a:avLst/>
          </a:prstGeom>
          <a:blipFill rotWithShape="1">
            <a:blip r:embed="rId4"/>
            <a:stretch>
              <a:fillRect t="-19083" b="-19250"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1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 · 对比分析</a:t>
            </a:r>
            <a:endParaRPr lang="en-US" sz="1100"/>
          </a:p>
        </p:txBody>
      </p:sp>
      <p:sp>
        <p:nvSpPr>
          <p:cNvPr id="1048812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三、对比</a:t>
            </a: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</a:t>
            </a: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—— 变长整数排序 vs 变长字符串排序</a:t>
            </a:r>
            <a:endParaRPr lang="en-US" sz="1100"/>
          </a:p>
        </p:txBody>
      </p:sp>
      <p:cxnSp>
        <p:nvCxnSpPr>
          <p:cNvPr id="3145741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graphicFrame>
        <p:nvGraphicFramePr>
          <p:cNvPr id="4194324" name="Table 5"/>
          <p:cNvGraphicFramePr>
            <a:graphicFrameLocks noGrp="1"/>
          </p:cNvGraphicFramePr>
          <p:nvPr/>
        </p:nvGraphicFramePr>
        <p:xfrm>
          <a:off x="762000" y="1587500"/>
          <a:ext cx="10668000" cy="4699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4318000"/>
                <a:gridCol w="4318000"/>
              </a:tblGrid>
              <a:tr h="571500">
                <a:tc>
                  <a:txBody>
                    <a:bodyPr rtlCol="0"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8-3(a) 变长整数排序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8-3(b) 变长字符串排序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>
                        <a:alpha val="100000"/>
                      </a:srgbClr>
                    </a:solidFill>
                  </a:tcPr>
                </a:tc>
              </a:tr>
              <a:tr h="6731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排序依据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数值大小（位数优先，高位次之）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字典序（高位字符优先，长度次之）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731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对齐机制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右对齐（个位对齐，高位补 0）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左对齐（首字符对齐）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分组与排序顺序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从短到长处理各桶，桶内独立 LSD 基数排序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从长到短逆序加入列表，全列表统一按位基数排序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短数据的处理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长度不同的数绝不合并，位数多的一定排在后面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较短字符串是较长前缀时，较短者排在前面 (a &lt; ab)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715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字符集/基数 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数字 0~9 (K = 10)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ASCII 字符 (K = 256)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85800"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1" i="0" u="none" strike="noStrike">
                          <a:solidFill>
                            <a:srgbClr val="1E40A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时间复杂度本质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F6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各桶数据字符总数之和为 n → 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100" b="0" i="0" u="none" strike="noStrike">
                          <a:solidFill>
                            <a:srgbClr val="334155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字符串每个字符只参与一次计数排序 → O(n)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9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 · 对比分析</a:t>
            </a:r>
            <a:endParaRPr lang="en-US" sz="1100"/>
          </a:p>
        </p:txBody>
      </p:sp>
      <p:sp>
        <p:nvSpPr>
          <p:cNvPr id="1048820" name="AutoShape 3"/>
          <p:cNvSpPr txBox="1"/>
          <p:nvPr/>
        </p:nvSpPr>
        <p:spPr>
          <a:xfrm>
            <a:off x="762000" y="1005840"/>
            <a:ext cx="10668000" cy="2006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三、</a:t>
            </a:r>
            <a:r>
              <a:rPr lang="zh-CN" alt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</a:t>
            </a: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2400" b="1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 变长整数排序 vs 变长字符串排序</a:t>
            </a:r>
            <a:endParaRPr lang="en-US" sz="2400"/>
          </a:p>
          <a:p>
            <a:pPr marL="0" indent="0" algn="l">
              <a:lnSpc>
                <a:spcPct val="125000"/>
              </a:lnSpc>
            </a:pPr>
            <a:endParaRPr lang="en-US" sz="2400"/>
          </a:p>
        </p:txBody>
      </p:sp>
      <p:cxnSp>
        <p:nvCxnSpPr>
          <p:cNvPr id="3145742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821" name="AutoShape 5"/>
          <p:cNvSpPr txBox="1"/>
          <p:nvPr/>
        </p:nvSpPr>
        <p:spPr>
          <a:xfrm>
            <a:off x="762000" y="1587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 1：为什么 8-3(a) 可以桶间隔离，而 8-3(b) 必须全列表统一处理？</a:t>
            </a:r>
            <a:endParaRPr lang="en-US" sz="1100"/>
          </a:p>
        </p:txBody>
      </p:sp>
      <p:sp>
        <p:nvSpPr>
          <p:cNvPr id="1048822" name="AutoShape 6"/>
          <p:cNvSpPr/>
          <p:nvPr/>
        </p:nvSpPr>
        <p:spPr>
          <a:xfrm>
            <a:off x="762000" y="2095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23" name="AutoShape 7"/>
          <p:cNvSpPr txBox="1"/>
          <p:nvPr/>
        </p:nvSpPr>
        <p:spPr>
          <a:xfrm>
            <a:off x="1016000" y="2222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整数：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长度具有绝对一票否决权（6 位数必然大于 5 位数），桶与桶之间天然隔离。</a:t>
            </a:r>
            <a:endParaRPr lang="en-US" sz="1100"/>
          </a:p>
        </p:txBody>
      </p:sp>
      <p:sp>
        <p:nvSpPr>
          <p:cNvPr id="1048824" name="AutoShape 8"/>
          <p:cNvSpPr/>
          <p:nvPr/>
        </p:nvSpPr>
        <p:spPr>
          <a:xfrm>
            <a:off x="6223000" y="2095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25" name="AutoShape 9"/>
          <p:cNvSpPr txBox="1"/>
          <p:nvPr/>
        </p:nvSpPr>
        <p:spPr>
          <a:xfrm>
            <a:off x="6477000" y="2222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字符串：</a:t>
            </a: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长度没有一票否决权（"zoo" 只有 3 位，却大于 5 位的 "apple"）。所有字符串必须放在同一框架下根据首字符相互竞争。</a:t>
            </a:r>
            <a:endParaRPr lang="en-US" sz="1100"/>
          </a:p>
        </p:txBody>
      </p:sp>
      <p:sp>
        <p:nvSpPr>
          <p:cNvPr id="1048826" name="AutoShape 10"/>
          <p:cNvSpPr txBox="1"/>
          <p:nvPr/>
        </p:nvSpPr>
        <p:spPr>
          <a:xfrm>
            <a:off x="762000" y="3556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差异 2：为什么 8-3(b) 必须采取"从长到短"倒序加入的策略？</a:t>
            </a:r>
            <a:endParaRPr lang="en-US" sz="1100"/>
          </a:p>
        </p:txBody>
      </p:sp>
      <p:sp>
        <p:nvSpPr>
          <p:cNvPr id="1048827" name="AutoShape 11"/>
          <p:cNvSpPr txBox="1"/>
          <p:nvPr/>
        </p:nvSpPr>
        <p:spPr>
          <a:xfrm>
            <a:off x="762000" y="40640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endParaRPr lang="en-US" sz="1100"/>
          </a:p>
        </p:txBody>
      </p:sp>
      <p:sp>
        <p:nvSpPr>
          <p:cNvPr id="1048828" name="AutoShape 12"/>
          <p:cNvSpPr txBox="1"/>
          <p:nvPr/>
        </p:nvSpPr>
        <p:spPr>
          <a:xfrm>
            <a:off x="1079500" y="4025900"/>
            <a:ext cx="1035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如果一开始就把短字符串加入，它在处理超出其长度的第 d 位时没有字符可比。</a:t>
            </a:r>
            <a:endParaRPr lang="en-US" sz="1100"/>
          </a:p>
        </p:txBody>
      </p:sp>
      <p:sp>
        <p:nvSpPr>
          <p:cNvPr id="1048829" name="AutoShape 13"/>
          <p:cNvSpPr txBox="1"/>
          <p:nvPr/>
        </p:nvSpPr>
        <p:spPr>
          <a:xfrm>
            <a:off x="762000" y="4762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·</a:t>
            </a:r>
            <a:endParaRPr lang="en-US" sz="1100"/>
          </a:p>
        </p:txBody>
      </p:sp>
      <p:sp>
        <p:nvSpPr>
          <p:cNvPr id="1048830" name="AutoShape 14"/>
          <p:cNvSpPr txBox="1"/>
          <p:nvPr/>
        </p:nvSpPr>
        <p:spPr>
          <a:xfrm>
            <a:off x="1079500" y="4724400"/>
            <a:ext cx="1035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倒序加入的好处：只有当处理到字符串自身覆盖的有效长度 d 时才让它参与排序，既避免了伪字符补齐的额外开销，又利用稳定排序自然实现了"前缀相同的短字符串排在前面"的要求！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7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总结与改进</a:t>
            </a:r>
            <a:endParaRPr lang="en-US" sz="1100"/>
          </a:p>
        </p:txBody>
      </p:sp>
      <p:sp>
        <p:nvSpPr>
          <p:cNvPr id="1048838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四、实测验证 —— 测试样例与性能表现</a:t>
            </a:r>
            <a:endParaRPr lang="en-US" sz="1100"/>
          </a:p>
        </p:txBody>
      </p:sp>
      <p:cxnSp>
        <p:nvCxnSpPr>
          <p:cNvPr id="3145743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839" name="AutoShape 5"/>
          <p:cNvSpPr txBox="1"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测试样例 1（8-3a 整数）</a:t>
            </a:r>
            <a:endParaRPr lang="en-US" sz="1100"/>
          </a:p>
        </p:txBody>
      </p:sp>
      <p:sp>
        <p:nvSpPr>
          <p:cNvPr id="1048840" name="AutoShape 6"/>
          <p:cNvSpPr/>
          <p:nvPr/>
        </p:nvSpPr>
        <p:spPr>
          <a:xfrm>
            <a:off x="762000" y="2032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41" name="AutoShape 7"/>
          <p:cNvSpPr txBox="1"/>
          <p:nvPr/>
        </p:nvSpPr>
        <p:spPr>
          <a:xfrm>
            <a:off x="952500" y="21336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输入: ["1024", "9", "42", "100", "5", "042"]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输出: ["5", "9", "42", "042", "100", "1024"]</a:t>
            </a:r>
            <a:endParaRPr lang="en-US" sz="1100" b="0" i="0" u="none" strike="noStrike">
              <a:solidFill>
                <a:srgbClr val="33415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8842" name="AutoShape 8"/>
          <p:cNvSpPr txBox="1"/>
          <p:nvPr/>
        </p:nvSpPr>
        <p:spPr>
          <a:xfrm>
            <a:off x="6223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测试样例 2（8-3b 字符串）</a:t>
            </a:r>
            <a:endParaRPr lang="en-US" sz="1100"/>
          </a:p>
        </p:txBody>
      </p:sp>
      <p:sp>
        <p:nvSpPr>
          <p:cNvPr id="1048843" name="AutoShape 9"/>
          <p:cNvSpPr/>
          <p:nvPr/>
        </p:nvSpPr>
        <p:spPr>
          <a:xfrm>
            <a:off x="6223000" y="2032000"/>
            <a:ext cx="5207000" cy="889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44" name="AutoShape 10"/>
          <p:cNvSpPr txBox="1"/>
          <p:nvPr/>
        </p:nvSpPr>
        <p:spPr>
          <a:xfrm>
            <a:off x="6413500" y="21336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输入: ["banana", "apple", "app", "b", "band", "a", "bandana"]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100" b="0" i="0" u="none" strike="noStrike">
                <a:solidFill>
                  <a:srgbClr val="334155"/>
                </a:solidFill>
                <a:latin typeface="Roboto Mono"/>
                <a:ea typeface="Roboto Mono"/>
                <a:cs typeface="Roboto Mono"/>
                <a:sym typeface="Roboto Mono"/>
              </a:rPr>
              <a:t>输出: ["a", "app", "apple", "b", "banana", "band", "bandana"]</a:t>
            </a:r>
            <a:endParaRPr lang="en-US" sz="1100" b="0" i="0" u="none" strike="noStrike">
              <a:solidFill>
                <a:srgbClr val="334155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8845" name="AutoShape 11"/>
          <p:cNvSpPr txBox="1"/>
          <p:nvPr/>
        </p:nvSpPr>
        <p:spPr>
          <a:xfrm>
            <a:off x="762000" y="3302000"/>
            <a:ext cx="1016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5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大规模性能对比（n = 10^7 字符/位数）</a:t>
            </a:r>
            <a:endParaRPr lang="en-US" sz="1100"/>
          </a:p>
        </p:txBody>
      </p:sp>
      <p:sp>
        <p:nvSpPr>
          <p:cNvPr id="1048846" name="AutoShape 12"/>
          <p:cNvSpPr txBox="1"/>
          <p:nvPr/>
        </p:nvSpPr>
        <p:spPr>
          <a:xfrm>
            <a:off x="1524000" y="3937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std::sort（比较排序）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3200" b="1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~480</a:t>
            </a: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ms</a:t>
            </a:r>
            <a:endParaRPr lang="en-US" sz="14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47" name="AutoShape 13"/>
          <p:cNvSpPr txBox="1"/>
          <p:nvPr/>
        </p:nvSpPr>
        <p:spPr>
          <a:xfrm>
            <a:off x="5334000" y="4064000"/>
            <a:ext cx="152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VS</a:t>
            </a:r>
            <a:endParaRPr lang="en-US" sz="1100"/>
          </a:p>
        </p:txBody>
      </p:sp>
      <p:sp>
        <p:nvSpPr>
          <p:cNvPr id="1048848" name="AutoShape 14"/>
          <p:cNvSpPr txBox="1"/>
          <p:nvPr/>
        </p:nvSpPr>
        <p:spPr>
          <a:xfrm>
            <a:off x="7112000" y="3937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17000"/>
              </a:lnSpc>
            </a:pPr>
            <a:r>
              <a:rPr lang="en-US" sz="14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本线性时间算法</a:t>
            </a:r>
            <a:endParaRPr lang="en-US" sz="1100"/>
          </a:p>
          <a:p>
            <a:pPr marL="0" indent="0" algn="ctr">
              <a:lnSpc>
                <a:spcPct val="117000"/>
              </a:lnSpc>
            </a:pPr>
            <a:r>
              <a:rPr lang="en-US" sz="32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~110</a:t>
            </a:r>
            <a:r>
              <a:rPr lang="en-US" sz="14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ms</a:t>
            </a:r>
            <a:endParaRPr lang="en-US" sz="1400" b="0" i="0" u="none" strike="noStrike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49" name="AutoShape 15"/>
          <p:cNvSpPr txBox="1"/>
          <p:nvPr/>
        </p:nvSpPr>
        <p:spPr>
          <a:xfrm>
            <a:off x="762000" y="5207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线性时间算法性能提升约 4.4 倍，显著优于基于比较的排序算法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6" name="AutoShape 2"/>
          <p:cNvSpPr txBox="1"/>
          <p:nvPr/>
        </p:nvSpPr>
        <p:spPr>
          <a:xfrm>
            <a:off x="762000" y="381000"/>
            <a:ext cx="2540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1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· 总结与改进</a:t>
            </a:r>
            <a:endParaRPr lang="en-US" sz="1100"/>
          </a:p>
        </p:txBody>
      </p:sp>
      <p:sp>
        <p:nvSpPr>
          <p:cNvPr id="1048857" name="AutoShape 3"/>
          <p:cNvSpPr txBox="1"/>
          <p:nvPr/>
        </p:nvSpPr>
        <p:spPr>
          <a:xfrm>
            <a:off x="762000" y="69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2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四、思考交流 —— 瓶颈分析与改进方式</a:t>
            </a:r>
            <a:endParaRPr lang="en-US" sz="1100"/>
          </a:p>
        </p:txBody>
      </p:sp>
      <p:cxnSp>
        <p:nvCxnSpPr>
          <p:cNvPr id="3145744" name="Connector 4"/>
          <p:cNvCxnSpPr/>
          <p:nvPr/>
        </p:nvCxnSpPr>
        <p:spPr>
          <a:xfrm rot="-85925">
            <a:off x="762079" y="1327150"/>
            <a:ext cx="50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858" name="AutoShape 5"/>
          <p:cNvSpPr txBox="1"/>
          <p:nvPr/>
        </p:nvSpPr>
        <p:spPr>
          <a:xfrm>
            <a:off x="762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当前程序的瓶颈 (Bottlenecks)</a:t>
            </a:r>
            <a:endParaRPr lang="en-US" sz="1100"/>
          </a:p>
        </p:txBody>
      </p:sp>
      <p:sp>
        <p:nvSpPr>
          <p:cNvPr id="1048859" name="AutoShape 6"/>
          <p:cNvSpPr txBox="1"/>
          <p:nvPr/>
        </p:nvSpPr>
        <p:spPr>
          <a:xfrm>
            <a:off x="762000" y="2095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860" name="AutoShape 7"/>
          <p:cNvSpPr txBox="1"/>
          <p:nvPr/>
        </p:nvSpPr>
        <p:spPr>
          <a:xfrm>
            <a:off x="1143000" y="2057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内存拷贝频繁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 中频繁在 vector&lt;string&gt; 之间移动或插入字符串，产生额外的堆内存分配开销。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61" name="AutoShape 8"/>
          <p:cNvSpPr txBox="1"/>
          <p:nvPr/>
        </p:nvSpPr>
        <p:spPr>
          <a:xfrm>
            <a:off x="762000" y="2984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862" name="AutoShape 9"/>
          <p:cNvSpPr txBox="1"/>
          <p:nvPr/>
        </p:nvSpPr>
        <p:spPr>
          <a:xfrm>
            <a:off x="1143000" y="29464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Cache Miss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字符串在内存中不连续存储，指针跳转易导致 CPU 缓存失效。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63" name="AutoShape 10"/>
          <p:cNvSpPr txBox="1"/>
          <p:nvPr/>
        </p:nvSpPr>
        <p:spPr>
          <a:xfrm>
            <a:off x="6223000" y="1587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优化与改进方式 (Improvements)</a:t>
            </a:r>
            <a:endParaRPr lang="en-US" sz="1100"/>
          </a:p>
        </p:txBody>
      </p:sp>
      <p:sp>
        <p:nvSpPr>
          <p:cNvPr id="1048864" name="AutoShape 11"/>
          <p:cNvSpPr txBox="1"/>
          <p:nvPr/>
        </p:nvSpPr>
        <p:spPr>
          <a:xfrm>
            <a:off x="6223000" y="2095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865" name="AutoShape 12"/>
          <p:cNvSpPr txBox="1"/>
          <p:nvPr/>
        </p:nvSpPr>
        <p:spPr>
          <a:xfrm>
            <a:off x="6604000" y="2057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索引排序 / 指针排序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不移动字符串本体，改用 string_view 或 int 索引数组进行置换，实现零拷贝。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66" name="AutoShape 13"/>
          <p:cNvSpPr txBox="1"/>
          <p:nvPr/>
        </p:nvSpPr>
        <p:spPr>
          <a:xfrm>
            <a:off x="6223000" y="2984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867" name="AutoShape 14"/>
          <p:cNvSpPr txBox="1"/>
          <p:nvPr/>
        </p:nvSpPr>
        <p:spPr>
          <a:xfrm>
            <a:off x="6604000" y="2946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预分配连续内存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用打平的一维数组存储字符，提升 Cache 局部性。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68" name="AutoShape 15"/>
          <p:cNvSpPr txBox="1"/>
          <p:nvPr/>
        </p:nvSpPr>
        <p:spPr>
          <a:xfrm>
            <a:off x="6223000" y="3873500"/>
            <a:ext cx="381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48869" name="AutoShape 16"/>
          <p:cNvSpPr txBox="1"/>
          <p:nvPr/>
        </p:nvSpPr>
        <p:spPr>
          <a:xfrm>
            <a:off x="6604000" y="3835400"/>
            <a:ext cx="469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基数扩充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字符串可采用 16-bit（2 字节）作为一趟计数排序的基数，减少循环趟数。</a:t>
            </a:r>
            <a:endParaRPr lang="en-US" sz="1300" b="0" i="0" u="none" strike="noStrike">
              <a:solidFill>
                <a:srgbClr val="3341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48870" name="AutoShape 17"/>
          <p:cNvSpPr/>
          <p:nvPr/>
        </p:nvSpPr>
        <p:spPr>
          <a:xfrm>
            <a:off x="762000" y="5207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71" name="AutoShape 18"/>
          <p:cNvSpPr txBox="1"/>
          <p:nvPr/>
        </p:nvSpPr>
        <p:spPr>
          <a:xfrm>
            <a:off x="1016000" y="5334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 O(n) 复杂度与实际工程性能之间，仍有充足的优化空间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8" name="AutoShape 2"/>
          <p:cNvSpPr/>
          <p:nvPr/>
        </p:nvSpPr>
        <p:spPr>
          <a:xfrm>
            <a:off x="0" y="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B82F6">
                  <a:alpha val="100000"/>
                </a:srgbClr>
              </a:gs>
              <a:gs pos="100000">
                <a:srgbClr val="93C5FD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p>
            <a:pPr algn="ctr"/>
          </a:p>
        </p:txBody>
      </p:sp>
      <p:sp>
        <p:nvSpPr>
          <p:cNvPr id="1048879" name="AutoShape 3"/>
          <p:cNvSpPr txBox="1"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 (Summary)</a:t>
            </a:r>
            <a:endParaRPr lang="en-US" sz="1100"/>
          </a:p>
        </p:txBody>
      </p:sp>
      <p:cxnSp>
        <p:nvCxnSpPr>
          <p:cNvPr id="3145745" name="Connector 4"/>
          <p:cNvCxnSpPr/>
          <p:nvPr/>
        </p:nvCxnSpPr>
        <p:spPr>
          <a:xfrm rot="-57290">
            <a:off x="762053" y="1517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3B82F6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880" name="AutoShape 5"/>
          <p:cNvSpPr txBox="1"/>
          <p:nvPr/>
        </p:nvSpPr>
        <p:spPr>
          <a:xfrm>
            <a:off x="762000" y="1905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核心结语</a:t>
            </a:r>
            <a:endParaRPr lang="en-US" sz="1100"/>
          </a:p>
        </p:txBody>
      </p:sp>
      <p:sp>
        <p:nvSpPr>
          <p:cNvPr id="1048881" name="AutoShape 6"/>
          <p:cNvSpPr txBox="1"/>
          <p:nvPr/>
        </p:nvSpPr>
        <p:spPr>
          <a:xfrm>
            <a:off x="762000" y="24765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</a:t>
            </a:r>
            <a:endParaRPr lang="en-US" sz="1100"/>
          </a:p>
        </p:txBody>
      </p:sp>
      <p:sp>
        <p:nvSpPr>
          <p:cNvPr id="1048882" name="AutoShape 7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2438400"/>
            <a:ext cx="10223500" cy="76200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883" name="AutoShape 8"/>
          <p:cNvSpPr txBox="1"/>
          <p:nvPr/>
        </p:nvSpPr>
        <p:spPr>
          <a:xfrm>
            <a:off x="762000" y="33655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</a:t>
            </a:r>
            <a:endParaRPr lang="en-US" sz="1100"/>
          </a:p>
        </p:txBody>
      </p:sp>
      <p:sp>
        <p:nvSpPr>
          <p:cNvPr id="1048884" name="AutoShape 9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3327400"/>
            <a:ext cx="10223500" cy="762000"/>
          </a:xfrm>
          <a:prstGeom prst="rect">
            <a:avLst/>
          </a:prstGeom>
          <a:blipFill rotWithShape="1">
            <a:blip r:embed="rId2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sp>
        <p:nvSpPr>
          <p:cNvPr id="1048885" name="AutoShape 10"/>
          <p:cNvSpPr txBox="1"/>
          <p:nvPr/>
        </p:nvSpPr>
        <p:spPr>
          <a:xfrm>
            <a:off x="762000" y="4254500"/>
            <a:ext cx="38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</a:t>
            </a:r>
            <a:endParaRPr lang="en-US" sz="1100"/>
          </a:p>
        </p:txBody>
      </p:sp>
      <p:sp>
        <p:nvSpPr>
          <p:cNvPr id="1048886" name="AutoShape 11"/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206500" y="4216400"/>
            <a:ext cx="10223500" cy="762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 w="12700" cap="flat" cmpd="sng">
            <a:noFill/>
            <a:prstDash val="solid"/>
            <a:round/>
          </a:ln>
        </p:spPr>
        <p:txBody>
          <a:bodyPr/>
          <a:p>
            <a:r>
              <a:rPr lang="zh-CN" altLang="en-US">
                <a:noFill/>
              </a:rPr>
              <a:t> </a:t>
            </a:r>
            <a:endParaRPr lang="zh-CN" altLang="en-US">
              <a:noFill/>
            </a:endParaRPr>
          </a:p>
        </p:txBody>
      </p:sp>
      <p:cxnSp>
        <p:nvCxnSpPr>
          <p:cNvPr id="3145746" name="Connector 12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887" name="AutoShape 13"/>
          <p:cNvSpPr txBox="1"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p>
            <a:pPr marL="0" indent="0" algn="ctr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 · 欢迎提问交流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2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3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4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5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6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7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8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9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10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11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ags/tag12.xml><?xml version="1.0" encoding="utf-8"?>
<p:tagLst xmlns:p="http://schemas.openxmlformats.org/presentationml/2006/main">
  <p:tag name="KSO_WM_DIAGRAM_VIRTUALLY_FRAME" val="{&quot;height&quot;:210,&quot;left&quot;:60,&quot;top&quot;:152,&quot;width&quot;:410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10623</Words>
  <Application>WPS Office WWO_wpscloud_20260916174450-7bfc4fa662</Application>
  <PresentationFormat/>
  <Paragraphs>846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4" baseType="lpstr">
      <vt:lpstr>Arial</vt:lpstr>
      <vt:lpstr>宋体</vt:lpstr>
      <vt:lpstr>Wingdings</vt:lpstr>
      <vt:lpstr>Arial</vt:lpstr>
      <vt:lpstr>微软雅黑</vt:lpstr>
      <vt:lpstr>汉仪旗黑KW 55S</vt:lpstr>
      <vt:lpstr>黑体</vt:lpstr>
      <vt:lpstr>Cambria Math</vt:lpstr>
      <vt:lpstr>Consolas</vt:lpstr>
      <vt:lpstr>宋体</vt:lpstr>
      <vt:lpstr>汉仪书宋二KW</vt:lpstr>
      <vt:lpstr>MS Gothic</vt:lpstr>
      <vt:lpstr>Noto Sans SC</vt:lpstr>
      <vt:lpstr>思源黑体 CN VF</vt:lpstr>
      <vt:lpstr>Roboto Mono</vt:lpstr>
      <vt:lpstr>Kingsoft Confetti</vt:lpstr>
      <vt:lpstr>Kingsoft Math</vt:lpstr>
      <vt:lpstr>DejaVu Sans</vt:lpstr>
      <vt:lpstr>MS PGothic</vt:lpstr>
      <vt:lpstr>Noto Sans Mono CJK JP</vt:lpstr>
      <vt:lpstr>默认主题</vt:lpstr>
      <vt:lpstr>1_默认主题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PLJ110</dc:creator>
  <cp:lastModifiedBy>邬羽含0117</cp:lastModifiedBy>
  <dcterms:created xsi:type="dcterms:W3CDTF">2026-10-14T02:17:18Z</dcterms:created>
  <dcterms:modified xsi:type="dcterms:W3CDTF">2026-10-14T02:17:18Z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{"Label":"1","ContentProducer":"001191110102MACQD9K64010000","ProduceID":"7696083786924690630","ReservedCode1":"","ContentPropagator":"","PropagateID":"","ReservedCode2":""}</vt:lpwstr>
  </property>
  <property fmtid="{D5CDD505-2E9C-101B-9397-08002B2CF9AE}" pid="3" name="KSOProductBuildVer">
    <vt:lpwstr>2052-12.9.0.29121</vt:lpwstr>
  </property>
  <property fmtid="{D5CDD505-2E9C-101B-9397-08002B2CF9AE}" pid="4" name="ICV">
    <vt:lpwstr>F4BBA6905C3844FA9A0C5A1028A041C6_13</vt:lpwstr>
  </property>
</Properties>
</file>