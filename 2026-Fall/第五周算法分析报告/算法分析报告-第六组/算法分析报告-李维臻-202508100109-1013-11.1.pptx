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8" r:id="rId1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探讨算法导论中关于开放寻址法的一个重要思考题——思考题11-1，主要关注开放寻址法中最长探查的界。我们将深入分析其背后的概率证明，特别是在独立均匀排列散列的假设下，如何推导这一界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将围绕这四个核心问题展开讨论。首先，我们会回顾必要的背景知识，明确问题的定义；接着，我们将深入探讨概率上界的证明；然后分析不同场景下的收敛速度差异；最后，我们将推导随机变量的期望上限。让我们开始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各位好，这一页我们来回顾一下开放寻址法的核心机制。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左侧，开放寻址法最显著的特点是“结构紧密”，所有数据都存储在表内，没有额外的指针开销。当插入遇到冲突时，它会按照预设的探查序列继续寻找下一个空槽。查找的时候，也必须遵循同样的路径，如果中途遇到空槽，说明元素不存在。这里有一个硬性指标，就是负载因子α必须小于等于1，这意味着表的大小必须大于等于元素个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看右侧的示意图，这是一个长度为7的散列表。假设我们要插入一个元素，它的哈希值是2，但槽位2已经被占用了。于是我们按照线性探查的规则，依次检查槽位3（也被占用）、槽位4（空闲），最终将元素插入到槽位4。这个过程展示了开放寻址法处理冲突的基本逻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这一页我们来总览一下关于散列表探查序列的四个核心问题。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首先看第一点，单次插入的探查概率上界。我们证明了第i次插入需要多于p次探查的概率不超过2的-p次方，这是一个指数级的衰减，说明单次插入遇到长探查序列的概率非常小。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第二点，当探查次数超过2lg n时，其概率衰减到了O(1/n²)的级别，这意味着在大规模数据下，这种极端情况几乎不可能发生。</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第三点，考虑所有插入操作中的最大探查次数X，它超过2lg n的概率是O(1/n)，这保证了高概率下，最长探查序列不会过长。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最后，从期望的角度来看，最长探查序列的期望长度是O(lg n)，这证明了散列表在最坏情况下的期望性能依然是高效的，对数级别的增长保证了其在大规模数据下的可用性。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大家好，我们来看这个问题的证明部分。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首先，我们明确问题的核心：当我们进行第i次插入时，表中已有i-1个元素。如果我们需要探查超过p次才能找到空位，这意味着什么？这等价于前p个探查的位置都已经被占用了。这是我们分析的基础。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接下来，我们有两个关键的前提：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第一，我们的哈希表满足装载因子不超过1/2，也就是元素数量n不超过表长m的一半。这保证了表不会太拥挤。</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第二，基于这个条件，我们可以得到一个关键直觉：对于任何一个探查位置，它被占用的概率不会超过1/2。</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最后，结合这两点，我们可以得出结论：连续p个位置都被占用的概率，就是每个位置被占用概率的乘积，也就是不超过(1/2)的p次方，即2的-p次方。这就证明了我们要证的结论。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这一页我们来详细推导a问的结论。首先，核心公式描述了前p个探查位置全被占用的概率，这是一个连乘的形式。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我们来看推导逻辑：首先，第一个位置被占用的概率是(i-1)/m，这很直观。然后，每多探查一次，因为前面的位置已经被占用了，所以分子分母都减一，形成了递推关系。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关键的一步在于放缩：因为题目给出了i小于等于m/2的条件，这意味着哈希表的负载不高。利用这个条件，我们可以把每一项分式都放缩到1/2，从而得到整个乘积的上界是1/2的p次方。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最终结论非常重要：插入操作需要超过p次探查的概率，不超过2的-p次方。这意味着，探查次数越多，这种情况发生的概率就越小，而且是以指数级的速度减小，这证明了哈希探查在低负载下是非常高效的。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这一页我们来证明b问的结论。首先，我们令p等于2lg n，将问题转化为已知的概率上界形式。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接着，我们直接代入a问中得到的结论，即Pr{X_i &gt; p}小于等于2的-p次方。代入p的值后，我们得到Pr{X_i &gt; 2lg n}小于等于2的-2lg n次方。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然后，利用对数和指数的性质，我们知道2的lg n次方等于n，因此这个指数式可以化简为n的-2次方，也就是1/n²。</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最后，根据大O记号的定义，我们可以得出结论：该概率的上界是1/n²，因此它属于O(1/n²)的量级。这意味着随着n的增大，该事件发生的概率会非常迅速地趋近于0。</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这一页我们来证明这个结论：哈希表中最长探查序列长度超过2lg n的概率是O(1/n)。</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首先，我们明确问题定义：X代表n次插入中最长的探查序列长度。要证明的是这个X超过2lg n的概率上界。</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我们使用的核心工具是概率论中的“并集界”，它告诉我们，多个事件中至少有一个发生的概率，不会超过每个事件单独发生的概率之和。这是一个非常有用的上界估计工具。</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推导过程分为三步：首先，将原问题转化为“存在某一次插入的探查序列过长”的概率；其次，我们知道单次插入探查过长的概率是O(1/n²)，一共有n次插入，所以总和是n乘以这个概率；最后，化简得到结果O(1/n)。</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这个结论非常重要，它说明在哈希表中，出现极长探查序列的可能性是极小的，随着数据量n的增大，这个概率会越来越小，几乎可以忽略不计。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大家好，这一页我们来证明 d 问的核心结论：E[X] = O(lg n)。</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首先，我们回顾一个非常有用的工具：非负整数随机变量的期望尾积分公式。它告诉我们，期望可以表示为从0到无穷大的概率求和。</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为了估计这个无穷级数，我们将其拆分为两部分：一部分是从0到2lg n，另一部分是从2lg n+1到无穷大。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对于第一部分，我们可以做一个简单的放缩。因为每一项的概率都不超过1，而项数大约是2lg n项，所以这一部分的和自然不会超过2lg n，也就是O(lg n)量级。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接下来，我们的重点就转移到了第二部分，也就是从2lg n+1开始的无穷级数。我们需要证明这一部分的和是一个常数，或者说它不随n的增长而增长，这样就能最终得出E[X] = O(lg n)的结论。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各位同学，我们现在来看d问的第二部分证明。</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首先，我们对概率进行放缩。当k大于2倍的log n时，利用并集界定理，我们可以得到事件X大于k的概率上界，这一步是将单个事件的概率扩展到整个集合。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接着，我们对这个概率进行求和。从k=2lg n+1到无穷大，这个无穷级数的和收敛于1/n，这说明尾部的概率贡献非常小，可以忽略不计。</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最后，我们将两部分合并，得到期望的上界。低阶项1/n可以忽略，因此期望的主导项是对数级的。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这就证明了最长探查序列的期望长度是对数级的，这保证了哈希表操作的高效性。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这一页我们对开放寻址法的性能分析进行了总结。</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首先，我们看到单次插入的探查次数超过某个值的概率是呈指数衰减的，这意味着极端情况非常罕见。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其次，单次插入需要超过对数级探查次数的概率极低，几乎可以忽略不计。</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第三，在大规模的n次插入中，出现超长探查的概率也是极低的，这保证了系统的稳定性。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最后，最重要的结论是，最长探查序列的期望是亚线性的，即O(lg n)，这保证了哈希表操作的高效性。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总的来说，这些理论结果为我们使用开放寻址法提供了坚实的理论基础。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0" Type="http://schemas.openxmlformats.org/officeDocument/2006/relationships/notesSlide" Target="../notesSlides/notesSlide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0" Type="http://schemas.openxmlformats.org/officeDocument/2006/relationships/notesSlide" Target="../notesSlides/notesSlide4.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0.svg"/><Relationship Id="rId7" Type="http://schemas.openxmlformats.org/officeDocument/2006/relationships/image" Target="../media/image39.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 Id="rId3" Type="http://schemas.openxmlformats.org/officeDocument/2006/relationships/image" Target="../media/image35.png"/><Relationship Id="rId2" Type="http://schemas.openxmlformats.org/officeDocument/2006/relationships/image" Target="../media/image34.svg"/><Relationship Id="rId10" Type="http://schemas.openxmlformats.org/officeDocument/2006/relationships/notesSlide" Target="../notesSlides/notesSlide10.xml"/><Relationship Id="rId1" Type="http://schemas.openxmlformats.org/officeDocument/2006/relationships/image" Target="../media/image33.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8.svg"/><Relationship Id="rId7" Type="http://schemas.openxmlformats.org/officeDocument/2006/relationships/image" Target="../media/image47.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 Id="rId3" Type="http://schemas.openxmlformats.org/officeDocument/2006/relationships/image" Target="../media/image43.png"/><Relationship Id="rId2" Type="http://schemas.openxmlformats.org/officeDocument/2006/relationships/image" Target="../media/image42.svg"/><Relationship Id="rId10" Type="http://schemas.openxmlformats.org/officeDocument/2006/relationships/notesSlide" Target="../notesSlides/notesSlide11.xml"/><Relationship Id="rId1" Type="http://schemas.openxmlformats.org/officeDocument/2006/relationships/image" Target="../media/image4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9.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508000" cy="6858000"/>
          </a:xfrm>
          <a:prstGeom prst="roundRect">
            <a:avLst>
              <a:gd name="adj" fmla="val 0"/>
            </a:avLst>
          </a:prstGeom>
          <a:solidFill>
            <a:srgbClr val="2D6A4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8890000" y="-1270000"/>
            <a:ext cx="3810000" cy="3810000"/>
          </a:xfrm>
          <a:prstGeom prst="ellipse">
            <a:avLst/>
          </a:prstGeom>
          <a:solidFill>
            <a:srgbClr val="2D6A4F">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35000" y="5080000"/>
            <a:ext cx="2540000" cy="2540000"/>
          </a:xfrm>
          <a:prstGeom prst="ellipse">
            <a:avLst/>
          </a:prstGeom>
          <a:solidFill>
            <a:srgbClr val="2D6A4F">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txBox="1"/>
          <p:nvPr/>
        </p:nvSpPr>
        <p:spPr>
          <a:xfrm>
            <a:off x="1016000" y="2159000"/>
            <a:ext cx="1066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思考题11-1 开放寻址法最长探查的界</a:t>
            </a:r>
            <a:endParaRPr lang="en-US" sz="1100"/>
          </a:p>
        </p:txBody>
      </p:sp>
      <p:sp>
        <p:nvSpPr>
          <p:cNvPr id="6" name="AutoShape 6"/>
          <p:cNvSpPr/>
          <p:nvPr/>
        </p:nvSpPr>
        <p:spPr>
          <a:xfrm>
            <a:off x="1016000" y="3937000"/>
            <a:ext cx="1524000" cy="50800"/>
          </a:xfrm>
          <a:prstGeom prst="roundRect">
            <a:avLst>
              <a:gd name="adj" fmla="val 0"/>
            </a:avLst>
          </a:prstGeom>
          <a:solidFill>
            <a:srgbClr val="2D6A4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txBox="1"/>
          <p:nvPr/>
        </p:nvSpPr>
        <p:spPr>
          <a:xfrm>
            <a:off x="1016000" y="431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CLRS 算法导论 · 讨论题解析</a:t>
            </a:r>
            <a:endParaRPr lang="en-US" sz="1100"/>
          </a:p>
        </p:txBody>
      </p:sp>
      <p:sp>
        <p:nvSpPr>
          <p:cNvPr id="8" name="AutoShape 8"/>
          <p:cNvSpPr txBox="1"/>
          <p:nvPr/>
        </p:nvSpPr>
        <p:spPr>
          <a:xfrm>
            <a:off x="1016000" y="5651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独立均匀排列散列 · 概率证明</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0A7C5C">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0A7C5C">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5" name="AutoShape 5"/>
          <p:cNvSpPr/>
          <p:nvPr/>
        </p:nvSpPr>
        <p:spPr>
          <a:xfrm>
            <a:off x="508000" y="1651000"/>
            <a:ext cx="5461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762000" y="1968500"/>
            <a:ext cx="101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0A7C5C"/>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txBox="1"/>
          <p:nvPr/>
        </p:nvSpPr>
        <p:spPr>
          <a:xfrm>
            <a:off x="1905000" y="1968500"/>
            <a:ext cx="381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背景知识与问题描述</a:t>
            </a:r>
            <a:endParaRPr lang="en-US" sz="1100"/>
          </a:p>
        </p:txBody>
      </p:sp>
      <p:sp>
        <p:nvSpPr>
          <p:cNvPr id="8" name="AutoShape 8"/>
          <p:cNvSpPr txBox="1"/>
          <p:nvPr/>
        </p:nvSpPr>
        <p:spPr>
          <a:xfrm>
            <a:off x="1905000" y="2603500"/>
            <a:ext cx="368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回顾概率论核心基础，明确随机变量的定义与分布特征，清晰界定问题的研究范围、约束条件与核心求解目标。</a:t>
            </a:r>
            <a:endParaRPr lang="en-US" sz="1100"/>
          </a:p>
        </p:txBody>
      </p:sp>
      <p:sp>
        <p:nvSpPr>
          <p:cNvPr id="9" name="AutoShape 9"/>
          <p:cNvSpPr/>
          <p:nvPr/>
        </p:nvSpPr>
        <p:spPr>
          <a:xfrm>
            <a:off x="6223000" y="1651000"/>
            <a:ext cx="5461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0" name="AutoShape 10"/>
          <p:cNvSpPr txBox="1"/>
          <p:nvPr/>
        </p:nvSpPr>
        <p:spPr>
          <a:xfrm>
            <a:off x="6477000" y="1968500"/>
            <a:ext cx="101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0A7C5C"/>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txBox="1"/>
          <p:nvPr/>
        </p:nvSpPr>
        <p:spPr>
          <a:xfrm>
            <a:off x="7620000" y="1968500"/>
            <a:ext cx="381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a问：概率至多为 2^(-p)</a:t>
            </a:r>
            <a:endParaRPr lang="en-US" sz="1100"/>
          </a:p>
        </p:txBody>
      </p:sp>
      <p:sp>
        <p:nvSpPr>
          <p:cNvPr id="12" name="AutoShape 12"/>
          <p:cNvSpPr txBox="1"/>
          <p:nvPr/>
        </p:nvSpPr>
        <p:spPr>
          <a:xfrm>
            <a:off x="7620000" y="2603500"/>
            <a:ext cx="368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rPr>
              <a:t>运用马尔可夫不等式与切比雪夫不等式，推导概率上界的数学表达式，深入分析其指数级衰减的特性与应用场景。</a:t>
            </a:r>
            <a:endParaRPr lang="en-US" sz="1100"/>
          </a:p>
        </p:txBody>
      </p:sp>
      <p:sp>
        <p:nvSpPr>
          <p:cNvPr id="13" name="AutoShape 13"/>
          <p:cNvSpPr/>
          <p:nvPr/>
        </p:nvSpPr>
        <p:spPr>
          <a:xfrm>
            <a:off x="508000" y="4064000"/>
            <a:ext cx="5461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4" name="AutoShape 14"/>
          <p:cNvSpPr txBox="1"/>
          <p:nvPr/>
        </p:nvSpPr>
        <p:spPr>
          <a:xfrm>
            <a:off x="762000" y="4381500"/>
            <a:ext cx="101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0A7C5C"/>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5" name="AutoShape 15"/>
          <p:cNvSpPr txBox="1"/>
          <p:nvPr/>
        </p:nvSpPr>
        <p:spPr>
          <a:xfrm>
            <a:off x="1905000" y="4381500"/>
            <a:ext cx="381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b/c问：O(1/n²) 与 O(1/n)</a:t>
            </a:r>
            <a:endParaRPr lang="en-US" sz="1100"/>
          </a:p>
        </p:txBody>
      </p:sp>
      <p:sp>
        <p:nvSpPr>
          <p:cNvPr id="16" name="AutoShape 16"/>
          <p:cNvSpPr txBox="1"/>
          <p:nvPr/>
        </p:nvSpPr>
        <p:spPr>
          <a:xfrm>
            <a:off x="1905000" y="5016500"/>
            <a:ext cx="368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对比两种不同场景下的收敛速度差异，分析平方级与线性级衰减的内在机制，探讨其对算法性能与系统稳定性的影响。</a:t>
            </a:r>
            <a:endParaRPr lang="en-US" sz="1100"/>
          </a:p>
        </p:txBody>
      </p:sp>
      <p:sp>
        <p:nvSpPr>
          <p:cNvPr id="17" name="AutoShape 17"/>
          <p:cNvSpPr/>
          <p:nvPr/>
        </p:nvSpPr>
        <p:spPr>
          <a:xfrm>
            <a:off x="6223000" y="4064000"/>
            <a:ext cx="5461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8" name="AutoShape 18"/>
          <p:cNvSpPr txBox="1"/>
          <p:nvPr/>
        </p:nvSpPr>
        <p:spPr>
          <a:xfrm>
            <a:off x="6477000" y="4381500"/>
            <a:ext cx="101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0A7C5C"/>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9" name="AutoShape 19"/>
          <p:cNvSpPr txBox="1"/>
          <p:nvPr/>
        </p:nvSpPr>
        <p:spPr>
          <a:xfrm>
            <a:off x="7620000" y="4381500"/>
            <a:ext cx="381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d问：期望 E[X] = O(lg n)</a:t>
            </a:r>
            <a:endParaRPr lang="en-US" sz="1100"/>
          </a:p>
        </p:txBody>
      </p:sp>
      <p:sp>
        <p:nvSpPr>
          <p:cNvPr id="20" name="AutoShape 20"/>
          <p:cNvSpPr txBox="1"/>
          <p:nvPr/>
        </p:nvSpPr>
        <p:spPr>
          <a:xfrm>
            <a:off x="7620000" y="5016500"/>
            <a:ext cx="368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通过数学归纳法与级数求和技巧，推导随机变量的期望上限，验证其对数级增长的渐进趋势与理论依据。</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开放寻址法回顾</a:t>
            </a:r>
            <a:endParaRPr lang="en-US" sz="1100"/>
          </a:p>
        </p:txBody>
      </p:sp>
      <p:sp>
        <p:nvSpPr>
          <p:cNvPr id="5" name="AutoShape 5"/>
          <p:cNvSpPr/>
          <p:nvPr/>
        </p:nvSpPr>
        <p:spPr>
          <a:xfrm>
            <a:off x="508000" y="1651000"/>
            <a:ext cx="5334000" cy="1079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1879600"/>
            <a:ext cx="304800" cy="304800"/>
          </a:xfrm>
          <a:prstGeom prst="rect">
            <a:avLst/>
          </a:prstGeom>
        </p:spPr>
      </p:pic>
      <p:sp>
        <p:nvSpPr>
          <p:cNvPr id="7" name="AutoShape 7"/>
          <p:cNvSpPr txBox="1"/>
          <p:nvPr/>
        </p:nvSpPr>
        <p:spPr>
          <a:xfrm>
            <a:off x="1143000" y="17526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 结构紧密存储</a:t>
            </a:r>
            <a:endParaRPr lang="en-US" sz="1100"/>
          </a:p>
          <a:p>
            <a:pPr marL="0" indent="0" algn="l">
              <a:lnSpc>
                <a:spcPct val="100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所有元素直接存储于散列表槽位中，无额外指针或链表开销，每个槽位仅容纳一个元素，实现物理空间的极致紧凑。</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508000" y="2857500"/>
            <a:ext cx="5334000" cy="1079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3086100"/>
            <a:ext cx="304800" cy="304800"/>
          </a:xfrm>
          <a:prstGeom prst="rect">
            <a:avLst/>
          </a:prstGeom>
        </p:spPr>
      </p:pic>
      <p:sp>
        <p:nvSpPr>
          <p:cNvPr id="10" name="AutoShape 10"/>
          <p:cNvSpPr txBox="1"/>
          <p:nvPr/>
        </p:nvSpPr>
        <p:spPr>
          <a:xfrm>
            <a:off x="1143000" y="29591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02 冲突探查插入</a:t>
            </a:r>
            <a:endParaRPr lang="en-US" sz="1100"/>
          </a:p>
          <a:p>
            <a:pPr marL="0" indent="0" algn="l">
              <a:lnSpc>
                <a:spcPct val="100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若初始哈希位置被占用，按预设序列（线性/二次/双重哈希）依次向后探查，直至找到空闲槽位或判定表满。</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08000" y="4064000"/>
            <a:ext cx="5334000" cy="1079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4292600"/>
            <a:ext cx="304800" cy="304800"/>
          </a:xfrm>
          <a:prstGeom prst="rect">
            <a:avLst/>
          </a:prstGeom>
        </p:spPr>
      </p:pic>
      <p:sp>
        <p:nvSpPr>
          <p:cNvPr id="13" name="AutoShape 13"/>
          <p:cNvSpPr txBox="1"/>
          <p:nvPr/>
        </p:nvSpPr>
        <p:spPr>
          <a:xfrm>
            <a:off x="1143000" y="41656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03 同源查找逻辑</a:t>
            </a:r>
            <a:endParaRPr lang="en-US" sz="1100"/>
          </a:p>
          <a:p>
            <a:pPr marL="0" indent="0" algn="l">
              <a:lnSpc>
                <a:spcPct val="100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查找时严格遵循与插入相同的探查路径，若中途遇到空槽则直接判定元素不存在，保证了检索逻辑的一致性。</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508000" y="5270500"/>
            <a:ext cx="5334000" cy="1079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500" y="5499100"/>
            <a:ext cx="304800" cy="304800"/>
          </a:xfrm>
          <a:prstGeom prst="rect">
            <a:avLst/>
          </a:prstGeom>
        </p:spPr>
      </p:pic>
      <p:sp>
        <p:nvSpPr>
          <p:cNvPr id="16" name="AutoShape 16"/>
          <p:cNvSpPr txBox="1"/>
          <p:nvPr/>
        </p:nvSpPr>
        <p:spPr>
          <a:xfrm>
            <a:off x="1143000" y="53721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04 负载因子硬约束</a:t>
            </a:r>
            <a:endParaRPr lang="en-US" sz="1100"/>
          </a:p>
          <a:p>
            <a:pPr marL="0" indent="0" algn="l">
              <a:lnSpc>
                <a:spcPct val="100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核心指标 α = n/m ≤ 1，当α超过0.7时冲突概率急剧上升，通常需通过扩容或优化探查序列来维持性能。</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txBox="1"/>
          <p:nvPr/>
        </p:nvSpPr>
        <p:spPr>
          <a:xfrm>
            <a:off x="6350000" y="16510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散列表探查序列演示 (m=7)</a:t>
            </a:r>
            <a:endParaRPr lang="en-US" sz="1100"/>
          </a:p>
        </p:txBody>
      </p:sp>
      <p:sp>
        <p:nvSpPr>
          <p:cNvPr id="18" name="AutoShape 18"/>
          <p:cNvSpPr/>
          <p:nvPr/>
        </p:nvSpPr>
        <p:spPr>
          <a:xfrm>
            <a:off x="6350000" y="2540000"/>
            <a:ext cx="635000" cy="762000"/>
          </a:xfrm>
          <a:prstGeom prst="roundRect">
            <a:avLst>
              <a:gd name="adj" fmla="val 0"/>
            </a:avLst>
          </a:prstGeom>
          <a:solidFill>
            <a:srgbClr val="E5E7EB">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endParaRPr lang="en-US" sz="1100"/>
          </a:p>
        </p:txBody>
      </p:sp>
      <p:sp>
        <p:nvSpPr>
          <p:cNvPr id="19" name="AutoShape 19"/>
          <p:cNvSpPr/>
          <p:nvPr/>
        </p:nvSpPr>
        <p:spPr>
          <a:xfrm>
            <a:off x="7112000" y="2540000"/>
            <a:ext cx="635000" cy="762000"/>
          </a:xfrm>
          <a:prstGeom prst="roundRect">
            <a:avLst>
              <a:gd name="adj" fmla="val 0"/>
            </a:avLst>
          </a:prstGeom>
          <a:solidFill>
            <a:srgbClr val="10B981">
              <a:alpha val="100000"/>
            </a:srgbClr>
          </a:solidFill>
          <a:ln w="12700" cap="flat" cmpd="sng">
            <a:solidFill>
              <a:srgbClr val="10B981">
                <a:alpha val="100000"/>
              </a:srgbClr>
            </a:solid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20" name="AutoShape 20"/>
          <p:cNvSpPr/>
          <p:nvPr/>
        </p:nvSpPr>
        <p:spPr>
          <a:xfrm>
            <a:off x="7874000" y="2540000"/>
            <a:ext cx="635000" cy="762000"/>
          </a:xfrm>
          <a:prstGeom prst="roundRect">
            <a:avLst>
              <a:gd name="adj" fmla="val 0"/>
            </a:avLst>
          </a:prstGeom>
          <a:solidFill>
            <a:srgbClr val="FEF3C7">
              <a:alpha val="100000"/>
            </a:srgbClr>
          </a:solidFill>
          <a:ln w="25400" cap="flat" cmpd="sng">
            <a:solidFill>
              <a:srgbClr val="F59E0B">
                <a:alpha val="100000"/>
              </a:srgbClr>
            </a:solid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21" name="AutoShape 21"/>
          <p:cNvSpPr/>
          <p:nvPr/>
        </p:nvSpPr>
        <p:spPr>
          <a:xfrm>
            <a:off x="8636000" y="2540000"/>
            <a:ext cx="635000" cy="762000"/>
          </a:xfrm>
          <a:prstGeom prst="roundRect">
            <a:avLst>
              <a:gd name="adj" fmla="val 0"/>
            </a:avLst>
          </a:prstGeom>
          <a:solidFill>
            <a:srgbClr val="10B981">
              <a:alpha val="100000"/>
            </a:srgbClr>
          </a:solidFill>
          <a:ln w="12700" cap="flat" cmpd="sng">
            <a:solidFill>
              <a:srgbClr val="10B981">
                <a:alpha val="100000"/>
              </a:srgbClr>
            </a:solid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22" name="AutoShape 22"/>
          <p:cNvSpPr/>
          <p:nvPr/>
        </p:nvSpPr>
        <p:spPr>
          <a:xfrm>
            <a:off x="9398000" y="2540000"/>
            <a:ext cx="635000" cy="762000"/>
          </a:xfrm>
          <a:prstGeom prst="roundRect">
            <a:avLst>
              <a:gd name="adj" fmla="val 0"/>
            </a:avLst>
          </a:prstGeom>
          <a:solidFill>
            <a:srgbClr val="E5E7EB">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23" name="AutoShape 23"/>
          <p:cNvSpPr/>
          <p:nvPr/>
        </p:nvSpPr>
        <p:spPr>
          <a:xfrm>
            <a:off x="10160000" y="2540000"/>
            <a:ext cx="635000" cy="762000"/>
          </a:xfrm>
          <a:prstGeom prst="roundRect">
            <a:avLst>
              <a:gd name="adj" fmla="val 0"/>
            </a:avLst>
          </a:prstGeom>
          <a:solidFill>
            <a:srgbClr val="10B981">
              <a:alpha val="100000"/>
            </a:srgbClr>
          </a:solidFill>
          <a:ln w="12700" cap="flat" cmpd="sng">
            <a:solidFill>
              <a:srgbClr val="10B981">
                <a:alpha val="100000"/>
              </a:srgbClr>
            </a:solid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24" name="AutoShape 24"/>
          <p:cNvSpPr/>
          <p:nvPr/>
        </p:nvSpPr>
        <p:spPr>
          <a:xfrm>
            <a:off x="10922000" y="2540000"/>
            <a:ext cx="635000" cy="762000"/>
          </a:xfrm>
          <a:prstGeom prst="roundRect">
            <a:avLst>
              <a:gd name="adj" fmla="val 0"/>
            </a:avLst>
          </a:prstGeom>
          <a:solidFill>
            <a:srgbClr val="E5E7EB">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6</a:t>
            </a:r>
            <a:endParaRPr lang="en-US" sz="1100"/>
          </a:p>
        </p:txBody>
      </p:sp>
      <p:cxnSp>
        <p:nvCxnSpPr>
          <p:cNvPr id="25" name="Connector 25"/>
          <p:cNvCxnSpPr/>
          <p:nvPr/>
        </p:nvCxnSpPr>
        <p:spPr>
          <a:xfrm rot="-36185">
            <a:off x="8191533" y="3486150"/>
            <a:ext cx="1206500" cy="12700"/>
          </a:xfrm>
          <a:prstGeom prst="line">
            <a:avLst/>
          </a:prstGeom>
          <a:solidFill>
            <a:srgbClr val="DEE0E3">
              <a:alpha val="100000"/>
            </a:srgbClr>
          </a:solidFill>
          <a:ln w="25400" cap="flat" cmpd="sng">
            <a:solidFill>
              <a:srgbClr val="F59E0B">
                <a:alpha val="100000"/>
              </a:srgbClr>
            </a:solidFill>
            <a:prstDash val="solid"/>
            <a:round/>
            <a:headEnd type="none" w="lg" len="lg"/>
            <a:tailEnd type="arrow" w="sm" len="sm"/>
          </a:ln>
        </p:spPr>
      </p:cxnSp>
      <p:cxnSp>
        <p:nvCxnSpPr>
          <p:cNvPr id="26" name="Connector 26"/>
          <p:cNvCxnSpPr/>
          <p:nvPr/>
        </p:nvCxnSpPr>
        <p:spPr>
          <a:xfrm rot="-36185">
            <a:off x="9715533" y="3486150"/>
            <a:ext cx="1206500" cy="12700"/>
          </a:xfrm>
          <a:prstGeom prst="line">
            <a:avLst/>
          </a:prstGeom>
          <a:solidFill>
            <a:srgbClr val="DEE0E3">
              <a:alpha val="100000"/>
            </a:srgbClr>
          </a:solidFill>
          <a:ln w="25400" cap="flat" cmpd="sng">
            <a:solidFill>
              <a:srgbClr val="F59E0B">
                <a:alpha val="100000"/>
              </a:srgbClr>
            </a:solidFill>
            <a:prstDash val="solid"/>
            <a:round/>
            <a:headEnd type="none" w="lg" len="lg"/>
            <a:tailEnd type="arrow" w="sm" len="sm"/>
          </a:ln>
        </p:spPr>
      </p:cxnSp>
      <p:sp>
        <p:nvSpPr>
          <p:cNvPr id="27" name="AutoShape 27"/>
          <p:cNvSpPr/>
          <p:nvPr/>
        </p:nvSpPr>
        <p:spPr>
          <a:xfrm>
            <a:off x="6350000" y="4191000"/>
            <a:ext cx="5334000" cy="762000"/>
          </a:xfrm>
          <a:prstGeom prst="roundRect">
            <a:avLst>
              <a:gd name="adj" fmla="val 0"/>
            </a:avLst>
          </a:prstGeom>
          <a:solidFill>
            <a:srgbClr val="ECFDF5">
              <a:alpha val="100000"/>
            </a:srgbClr>
          </a:solidFill>
          <a:ln w="12700" cap="flat" cmpd="sng">
            <a:solidFill>
              <a:srgbClr val="10B981">
                <a:alpha val="30000"/>
              </a:srgbClr>
            </a:solid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探查路径：h(k)=2 (冲突) → h₁(k)=4 → h₂(k)=6 (插入成功)</a:t>
            </a:r>
            <a:endParaRPr lang="en-US" sz="1100"/>
          </a:p>
        </p:txBody>
      </p:sp>
      <p:sp>
        <p:nvSpPr>
          <p:cNvPr id="28" name="AutoShape 28"/>
          <p:cNvSpPr/>
          <p:nvPr/>
        </p:nvSpPr>
        <p:spPr>
          <a:xfrm>
            <a:off x="6350000" y="5080000"/>
            <a:ext cx="5334000" cy="1143000"/>
          </a:xfrm>
          <a:prstGeom prst="roundRect">
            <a:avLst>
              <a:gd name="adj" fmla="val 0"/>
            </a:avLst>
          </a:prstGeom>
          <a:solidFill>
            <a:srgbClr val="FFFBEB">
              <a:alpha val="100000"/>
            </a:srgbClr>
          </a:solidFill>
          <a:ln w="12700" cap="flat" cmpd="sng">
            <a:solidFill>
              <a:srgbClr val="F59E0B">
                <a:alpha val="30000"/>
              </a:srgbClr>
            </a:solid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92400E"/>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图示解析：哈希值为2的位置被占用（假设已有元素），算法按线性探查规则（步长+1）依次检查后续位置，直到找到空闲槽位（4或6）完成插入。这种方式可能导致“一次聚集”现象。</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D8F3DC">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D8F3DC">
              <a:alpha val="4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12529"/>
                </a:solidFill>
                <a:latin typeface="Noto Sans SC" panose="020B0200000000000000" charset="-122"/>
                <a:ea typeface="Noto Sans SC" panose="020B0200000000000000" charset="-122"/>
                <a:cs typeface="Noto Sans SC" panose="020B0200000000000000" charset="-122"/>
                <a:sym typeface="Noto Sans SC" panose="020B0200000000000000" charset="-122"/>
              </a:rPr>
              <a:t>题目四问总览</a:t>
            </a:r>
            <a:endParaRPr lang="en-US" sz="1100"/>
          </a:p>
        </p:txBody>
      </p:sp>
      <p:sp>
        <p:nvSpPr>
          <p:cNvPr id="5" name="AutoShape 5"/>
          <p:cNvSpPr/>
          <p:nvPr/>
        </p:nvSpPr>
        <p:spPr>
          <a:xfrm>
            <a:off x="508000" y="1397000"/>
            <a:ext cx="5461000" cy="2286000"/>
          </a:xfrm>
          <a:prstGeom prst="roundRect">
            <a:avLst>
              <a:gd name="adj" fmla="val 0"/>
            </a:avLst>
          </a:prstGeom>
          <a:solidFill>
            <a:srgbClr val="D8F3DC">
              <a:alpha val="100000"/>
            </a:srgbClr>
          </a:solidFill>
          <a:ln w="12700" cap="flat" cmpd="sng">
            <a:solidFill>
              <a:srgbClr val="2E7D32">
                <a:alpha val="1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406400" cy="406400"/>
          </a:xfrm>
          <a:prstGeom prst="rect">
            <a:avLst/>
          </a:prstGeom>
        </p:spPr>
      </p:pic>
      <p:sp>
        <p:nvSpPr>
          <p:cNvPr id="7" name="AutoShape 7"/>
          <p:cNvSpPr txBox="1"/>
          <p:nvPr/>
        </p:nvSpPr>
        <p:spPr>
          <a:xfrm>
            <a:off x="1333500" y="1651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E7D32"/>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单次插入探查概率上界</a:t>
            </a:r>
            <a:endParaRPr lang="en-US" sz="1100"/>
          </a:p>
        </p:txBody>
      </p:sp>
      <p:cxnSp>
        <p:nvCxnSpPr>
          <p:cNvPr id="8" name="Connector 8"/>
          <p:cNvCxnSpPr/>
          <p:nvPr/>
        </p:nvCxnSpPr>
        <p:spPr>
          <a:xfrm rot="-8814">
            <a:off x="762008" y="2279650"/>
            <a:ext cx="4953000" cy="12700"/>
          </a:xfrm>
          <a:prstGeom prst="straightConnector1">
            <a:avLst/>
          </a:prstGeom>
          <a:solidFill>
            <a:srgbClr val="DEE0E3">
              <a:alpha val="100000"/>
            </a:srgbClr>
          </a:solidFill>
          <a:ln w="12700" cap="flat" cmpd="sng">
            <a:solidFill>
              <a:srgbClr val="2E7D32">
                <a:alpha val="20000"/>
              </a:srgbClr>
            </a:solidFill>
            <a:prstDash val="solid"/>
            <a:round/>
            <a:headEnd type="none" w="med" len="med"/>
            <a:tailEnd type="none" w="med" len="med"/>
          </a:ln>
        </p:spPr>
      </p:cxnSp>
      <p:sp>
        <p:nvSpPr>
          <p:cNvPr id="9" name="AutoShape 9"/>
          <p:cNvSpPr txBox="1"/>
          <p:nvPr/>
        </p:nvSpPr>
        <p:spPr>
          <a:xfrm>
            <a:off x="762000" y="24130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 i 次插入需多于 p 次探查的概率满足：</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Pr{探查次数 &gt; p} ≤ 2^(-p)</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。这是散列表线性探查法的基础概率边界，揭示了单次插入冲突的概率随探查次数指数级衰减。</a:t>
            </a:r>
            <a:endParaRPr lang="en-US" sz="1100"/>
          </a:p>
        </p:txBody>
      </p:sp>
      <p:sp>
        <p:nvSpPr>
          <p:cNvPr id="10" name="AutoShape 10"/>
          <p:cNvSpPr/>
          <p:nvPr/>
        </p:nvSpPr>
        <p:spPr>
          <a:xfrm>
            <a:off x="6223000" y="1397000"/>
            <a:ext cx="5461000" cy="2286000"/>
          </a:xfrm>
          <a:prstGeom prst="roundRect">
            <a:avLst>
              <a:gd name="adj" fmla="val 0"/>
            </a:avLst>
          </a:prstGeom>
          <a:solidFill>
            <a:srgbClr val="D8F3DC">
              <a:alpha val="100000"/>
            </a:srgbClr>
          </a:solidFill>
          <a:ln w="12700" cap="flat" cmpd="sng">
            <a:solidFill>
              <a:srgbClr val="2E7D32">
                <a:alpha val="1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651000"/>
            <a:ext cx="406400" cy="406400"/>
          </a:xfrm>
          <a:prstGeom prst="rect">
            <a:avLst/>
          </a:prstGeom>
        </p:spPr>
      </p:pic>
      <p:sp>
        <p:nvSpPr>
          <p:cNvPr id="12" name="AutoShape 12"/>
          <p:cNvSpPr txBox="1"/>
          <p:nvPr/>
        </p:nvSpPr>
        <p:spPr>
          <a:xfrm>
            <a:off x="7048500" y="1651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E7D32"/>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极端探查的概率衰减</a:t>
            </a:r>
            <a:endParaRPr lang="en-US" sz="1100"/>
          </a:p>
        </p:txBody>
      </p:sp>
      <p:cxnSp>
        <p:nvCxnSpPr>
          <p:cNvPr id="13" name="Connector 13"/>
          <p:cNvCxnSpPr/>
          <p:nvPr/>
        </p:nvCxnSpPr>
        <p:spPr>
          <a:xfrm rot="-8814">
            <a:off x="6477008" y="2279650"/>
            <a:ext cx="4953000" cy="12700"/>
          </a:xfrm>
          <a:prstGeom prst="straightConnector1">
            <a:avLst/>
          </a:prstGeom>
          <a:solidFill>
            <a:srgbClr val="DEE0E3">
              <a:alpha val="100000"/>
            </a:srgbClr>
          </a:solidFill>
          <a:ln w="12700" cap="flat" cmpd="sng">
            <a:solidFill>
              <a:srgbClr val="2E7D32">
                <a:alpha val="20000"/>
              </a:srgbClr>
            </a:solidFill>
            <a:prstDash val="solid"/>
            <a:round/>
            <a:headEnd type="none" w="med" len="med"/>
            <a:tailEnd type="none" w="med" len="med"/>
          </a:ln>
        </p:spPr>
      </p:cxnSp>
      <p:sp>
        <p:nvSpPr>
          <p:cNvPr id="14" name="AutoShape 14"/>
          <p:cNvSpPr txBox="1"/>
          <p:nvPr/>
        </p:nvSpPr>
        <p:spPr>
          <a:xfrm>
            <a:off x="6477000" y="24130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 i 次插入需多于 2lg n 次探查的概率为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O(1/n²)</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。该结论表明，随着表规模 n 的增大，出现极端长探查序列的概率极低，几乎可以忽略不计。</a:t>
            </a:r>
            <a:endParaRPr lang="en-US" sz="1100"/>
          </a:p>
        </p:txBody>
      </p:sp>
      <p:sp>
        <p:nvSpPr>
          <p:cNvPr id="15" name="AutoShape 15"/>
          <p:cNvSpPr/>
          <p:nvPr/>
        </p:nvSpPr>
        <p:spPr>
          <a:xfrm>
            <a:off x="508000" y="3937000"/>
            <a:ext cx="5461000" cy="2286000"/>
          </a:xfrm>
          <a:prstGeom prst="roundRect">
            <a:avLst>
              <a:gd name="adj" fmla="val 0"/>
            </a:avLst>
          </a:prstGeom>
          <a:solidFill>
            <a:srgbClr val="D8F3DC">
              <a:alpha val="100000"/>
            </a:srgbClr>
          </a:solidFill>
          <a:ln w="12700" cap="flat" cmpd="sng">
            <a:solidFill>
              <a:srgbClr val="2E7D32">
                <a:alpha val="1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191000"/>
            <a:ext cx="406400" cy="406400"/>
          </a:xfrm>
          <a:prstGeom prst="rect">
            <a:avLst/>
          </a:prstGeom>
        </p:spPr>
      </p:pic>
      <p:sp>
        <p:nvSpPr>
          <p:cNvPr id="17" name="AutoShape 17"/>
          <p:cNvSpPr txBox="1"/>
          <p:nvPr/>
        </p:nvSpPr>
        <p:spPr>
          <a:xfrm>
            <a:off x="1333500" y="4191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E7D32"/>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最大探查序列的概率约束</a:t>
            </a:r>
            <a:endParaRPr lang="en-US" sz="1100"/>
          </a:p>
        </p:txBody>
      </p:sp>
      <p:cxnSp>
        <p:nvCxnSpPr>
          <p:cNvPr id="18" name="Connector 18"/>
          <p:cNvCxnSpPr/>
          <p:nvPr/>
        </p:nvCxnSpPr>
        <p:spPr>
          <a:xfrm rot="-8814">
            <a:off x="762008" y="4819650"/>
            <a:ext cx="4953000" cy="12700"/>
          </a:xfrm>
          <a:prstGeom prst="straightConnector1">
            <a:avLst/>
          </a:prstGeom>
          <a:solidFill>
            <a:srgbClr val="DEE0E3">
              <a:alpha val="100000"/>
            </a:srgbClr>
          </a:solidFill>
          <a:ln w="12700" cap="flat" cmpd="sng">
            <a:solidFill>
              <a:srgbClr val="2E7D32">
                <a:alpha val="20000"/>
              </a:srgbClr>
            </a:solidFill>
            <a:prstDash val="solid"/>
            <a:round/>
            <a:headEnd type="none" w="med" len="med"/>
            <a:tailEnd type="none" w="med" len="med"/>
          </a:ln>
        </p:spPr>
      </p:cxnSp>
      <p:sp>
        <p:nvSpPr>
          <p:cNvPr id="19" name="AutoShape 19"/>
          <p:cNvSpPr txBox="1"/>
          <p:nvPr/>
        </p:nvSpPr>
        <p:spPr>
          <a:xfrm>
            <a:off x="762000" y="49530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 X 为所有插入操作的最大探查次数，则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Pr{X &gt; 2lg n} = O(1/n)</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。这意味着在高概率下，散列表的最长探查序列不会超过对数级别，保证了操作的稳定性。</a:t>
            </a:r>
            <a:endParaRPr lang="en-US" sz="1100"/>
          </a:p>
        </p:txBody>
      </p:sp>
      <p:sp>
        <p:nvSpPr>
          <p:cNvPr id="20" name="AutoShape 20"/>
          <p:cNvSpPr/>
          <p:nvPr/>
        </p:nvSpPr>
        <p:spPr>
          <a:xfrm>
            <a:off x="6223000" y="3937000"/>
            <a:ext cx="5461000" cy="2286000"/>
          </a:xfrm>
          <a:prstGeom prst="roundRect">
            <a:avLst>
              <a:gd name="adj" fmla="val 0"/>
            </a:avLst>
          </a:prstGeom>
          <a:solidFill>
            <a:srgbClr val="D8F3DC">
              <a:alpha val="100000"/>
            </a:srgbClr>
          </a:solidFill>
          <a:ln w="12700" cap="flat" cmpd="sng">
            <a:solidFill>
              <a:srgbClr val="2E7D32">
                <a:alpha val="1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191000"/>
            <a:ext cx="406400" cy="406400"/>
          </a:xfrm>
          <a:prstGeom prst="rect">
            <a:avLst/>
          </a:prstGeom>
        </p:spPr>
      </p:pic>
      <p:sp>
        <p:nvSpPr>
          <p:cNvPr id="22" name="AutoShape 22"/>
          <p:cNvSpPr txBox="1"/>
          <p:nvPr/>
        </p:nvSpPr>
        <p:spPr>
          <a:xfrm>
            <a:off x="7048500" y="4191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E7D32"/>
                </a:solidFill>
                <a:latin typeface="Noto Sans SC" panose="020B0200000000000000" charset="-122"/>
                <a:ea typeface="Noto Sans SC" panose="020B0200000000000000" charset="-122"/>
                <a:cs typeface="Noto Sans SC" panose="020B0200000000000000" charset="-122"/>
                <a:sym typeface="Noto Sans SC" panose="020B0200000000000000" charset="-122"/>
              </a:rPr>
              <a:t>04 / 最长探查序列的期望</a:t>
            </a:r>
            <a:endParaRPr lang="en-US" sz="1100"/>
          </a:p>
        </p:txBody>
      </p:sp>
      <p:cxnSp>
        <p:nvCxnSpPr>
          <p:cNvPr id="23" name="Connector 23"/>
          <p:cNvCxnSpPr/>
          <p:nvPr/>
        </p:nvCxnSpPr>
        <p:spPr>
          <a:xfrm rot="-8814">
            <a:off x="6477008" y="4819650"/>
            <a:ext cx="4953000" cy="12700"/>
          </a:xfrm>
          <a:prstGeom prst="straightConnector1">
            <a:avLst/>
          </a:prstGeom>
          <a:solidFill>
            <a:srgbClr val="DEE0E3">
              <a:alpha val="100000"/>
            </a:srgbClr>
          </a:solidFill>
          <a:ln w="12700" cap="flat" cmpd="sng">
            <a:solidFill>
              <a:srgbClr val="2E7D32">
                <a:alpha val="20000"/>
              </a:srgbClr>
            </a:solidFill>
            <a:prstDash val="solid"/>
            <a:round/>
            <a:headEnd type="none" w="med" len="med"/>
            <a:tailEnd type="none" w="med" len="med"/>
          </a:ln>
        </p:spPr>
      </p:cxnSp>
      <p:sp>
        <p:nvSpPr>
          <p:cNvPr id="24" name="AutoShape 24"/>
          <p:cNvSpPr txBox="1"/>
          <p:nvPr/>
        </p:nvSpPr>
        <p:spPr>
          <a:xfrm>
            <a:off x="6477000" y="49530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最长探查序列的期望长度为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E[X] = O(lg n)</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。这一结论证明了散列表在最坏情况下的期望性能依然保持对数级别的高效，是散列表作为高效数据结构的重要理论支撑。</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635000"/>
            <a:ext cx="2540000" cy="2540000"/>
          </a:xfrm>
          <a:prstGeom prst="ellipse">
            <a:avLst/>
          </a:prstGeom>
          <a:solidFill>
            <a:srgbClr val="15803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715000"/>
            <a:ext cx="1905000" cy="1905000"/>
          </a:xfrm>
          <a:prstGeom prst="ellipse">
            <a:avLst/>
          </a:prstGeom>
          <a:solidFill>
            <a:srgbClr val="15803D">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a问：概率至多为2^(-p)</a:t>
            </a:r>
            <a:endParaRPr lang="en-US" sz="1100"/>
          </a:p>
        </p:txBody>
      </p:sp>
      <p:sp>
        <p:nvSpPr>
          <p:cNvPr id="5" name="AutoShape 5"/>
          <p:cNvSpPr/>
          <p:nvPr/>
        </p:nvSpPr>
        <p:spPr>
          <a:xfrm>
            <a:off x="508000" y="1524000"/>
            <a:ext cx="11176000" cy="1143000"/>
          </a:xfrm>
          <a:prstGeom prst="roundRect">
            <a:avLst>
              <a:gd name="adj" fmla="val 0"/>
            </a:avLst>
          </a:prstGeom>
          <a:solidFill>
            <a:srgbClr val="15803D">
              <a:alpha val="6000"/>
            </a:srgbClr>
          </a:solidFill>
          <a:ln w="12700" cap="flat" cmpd="sng">
            <a:solidFill>
              <a:srgbClr val="15803D">
                <a:alpha val="2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762000" y="17145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问题核心：当进行第 i 次插入操作（i=1,2,...,n）时，哈希表中已有 i-1 个元素。此时，“需要严格多于 p 次探查才能找到空位”这一事件，等价于：</a:t>
            </a: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前 p 个探查位置全部已被占用</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。这是我们分析概率的核心等价命题。</a:t>
            </a:r>
            <a:endParaRPr lang="en-US" sz="1100"/>
          </a:p>
        </p:txBody>
      </p:sp>
      <p:sp>
        <p:nvSpPr>
          <p:cNvPr id="7" name="AutoShape 7"/>
          <p:cNvSpPr/>
          <p:nvPr/>
        </p:nvSpPr>
        <p:spPr>
          <a:xfrm>
            <a:off x="508000" y="3048000"/>
            <a:ext cx="5461000" cy="1905000"/>
          </a:xfrm>
          <a:prstGeom prst="roundRect">
            <a:avLst>
              <a:gd name="adj" fmla="val 0"/>
            </a:avLst>
          </a:prstGeom>
          <a:solidFill>
            <a:srgbClr val="FFFFFF">
              <a:alpha val="100000"/>
            </a:srgbClr>
          </a:solidFill>
          <a:ln w="12700" cap="flat" cmpd="sng">
            <a:solidFill>
              <a:srgbClr val="15803D">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3238500"/>
            <a:ext cx="304800" cy="304800"/>
          </a:xfrm>
          <a:prstGeom prst="rect">
            <a:avLst/>
          </a:prstGeom>
        </p:spPr>
      </p:pic>
      <p:sp>
        <p:nvSpPr>
          <p:cNvPr id="9" name="AutoShape 9"/>
          <p:cNvSpPr txBox="1"/>
          <p:nvPr/>
        </p:nvSpPr>
        <p:spPr>
          <a:xfrm>
            <a:off x="1143000" y="32385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01 前置条件约束</a:t>
            </a:r>
            <a:endParaRPr lang="en-US" sz="1100"/>
          </a:p>
        </p:txBody>
      </p:sp>
      <p:sp>
        <p:nvSpPr>
          <p:cNvPr id="10" name="AutoShape 10"/>
          <p:cNvSpPr txBox="1"/>
          <p:nvPr/>
        </p:nvSpPr>
        <p:spPr>
          <a:xfrm>
            <a:off x="762000" y="37465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约束式：</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 ≤ n ≤ m/2</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解读：哈希表的装载因子 α = n/m ≤ 1/2，确保表中元素数量始终不超过表容量的一半。这种低负载状态是推导概率上界的基础前提。</a:t>
            </a:r>
            <a:endParaRPr lang="en-US" sz="1100"/>
          </a:p>
        </p:txBody>
      </p:sp>
      <p:sp>
        <p:nvSpPr>
          <p:cNvPr id="11" name="AutoShape 11"/>
          <p:cNvSpPr/>
          <p:nvPr/>
        </p:nvSpPr>
        <p:spPr>
          <a:xfrm>
            <a:off x="6223000" y="3048000"/>
            <a:ext cx="5461000" cy="1905000"/>
          </a:xfrm>
          <a:prstGeom prst="roundRect">
            <a:avLst>
              <a:gd name="adj" fmla="val 0"/>
            </a:avLst>
          </a:prstGeom>
          <a:solidFill>
            <a:srgbClr val="FFFFFF">
              <a:alpha val="100000"/>
            </a:srgbClr>
          </a:solidFill>
          <a:ln w="12700" cap="flat" cmpd="sng">
            <a:solidFill>
              <a:srgbClr val="15803D">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3238500"/>
            <a:ext cx="304800" cy="304800"/>
          </a:xfrm>
          <a:prstGeom prst="rect">
            <a:avLst/>
          </a:prstGeom>
        </p:spPr>
      </p:pic>
      <p:sp>
        <p:nvSpPr>
          <p:cNvPr id="13" name="AutoShape 13"/>
          <p:cNvSpPr txBox="1"/>
          <p:nvPr/>
        </p:nvSpPr>
        <p:spPr>
          <a:xfrm>
            <a:off x="6858000" y="32385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02 关键直觉洞察</a:t>
            </a:r>
            <a:endParaRPr lang="en-US" sz="1100"/>
          </a:p>
        </p:txBody>
      </p:sp>
      <p:sp>
        <p:nvSpPr>
          <p:cNvPr id="14" name="AutoShape 14"/>
          <p:cNvSpPr txBox="1"/>
          <p:nvPr/>
        </p:nvSpPr>
        <p:spPr>
          <a:xfrm>
            <a:off x="6477000" y="37465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核心直觉：</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单个位置被占用的概率 ≤ 1/2</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解读：由于元素总数不超过表长的一半，对于任意一个待探查的哈希地址，其已被占用的概率自然不会超过二分之一。</a:t>
            </a:r>
            <a:endParaRPr lang="en-US" sz="1100"/>
          </a:p>
        </p:txBody>
      </p:sp>
      <p:sp>
        <p:nvSpPr>
          <p:cNvPr id="15" name="AutoShape 15"/>
          <p:cNvSpPr/>
          <p:nvPr/>
        </p:nvSpPr>
        <p:spPr>
          <a:xfrm>
            <a:off x="508000" y="5207000"/>
            <a:ext cx="11176000" cy="1270000"/>
          </a:xfrm>
          <a:prstGeom prst="roundRect">
            <a:avLst>
              <a:gd name="adj" fmla="val 0"/>
            </a:avLst>
          </a:prstGeom>
          <a:solidFill>
            <a:srgbClr val="15803D">
              <a:alpha val="8000"/>
            </a:srgbClr>
          </a:solidFill>
          <a:ln w="12700" cap="flat" cmpd="sng">
            <a:solidFill>
              <a:srgbClr val="15803D">
                <a:alpha val="4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5575300"/>
            <a:ext cx="406400" cy="406400"/>
          </a:xfrm>
          <a:prstGeom prst="rect">
            <a:avLst/>
          </a:prstGeom>
        </p:spPr>
      </p:pic>
      <p:sp>
        <p:nvSpPr>
          <p:cNvPr id="17" name="AutoShape 17"/>
          <p:cNvSpPr txBox="1"/>
          <p:nvPr/>
        </p:nvSpPr>
        <p:spPr>
          <a:xfrm>
            <a:off x="1397000" y="5397500"/>
            <a:ext cx="1003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推导结论：</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基于上述条件，连续 p 个位置均被占用的概率可通过独立事件乘法法则推导：</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连续 p 次“位置被占”的概率 ≤ (1/2) × (1/2) × ... × (1/2) = (1/2)^p = 2^(-p)。</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635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1905000" cy="1905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黑体" panose="02010609060101010101" charset="-122"/>
                <a:ea typeface="黑体" panose="02010609060101010101" charset="-122"/>
                <a:cs typeface="黑体" panose="02010609060101010101" charset="-122"/>
                <a:sym typeface="黑体" panose="02010609060101010101" charset="-122"/>
              </a:rPr>
              <a:t>a问：详细推导</a:t>
            </a:r>
            <a:endParaRPr lang="en-US" sz="1100"/>
          </a:p>
        </p:txBody>
      </p:sp>
      <p:sp>
        <p:nvSpPr>
          <p:cNvPr id="5" name="AutoShape 5"/>
          <p:cNvSpPr/>
          <p:nvPr/>
        </p:nvSpPr>
        <p:spPr>
          <a:xfrm>
            <a:off x="508000" y="1397000"/>
            <a:ext cx="11176000" cy="1079500"/>
          </a:xfrm>
          <a:prstGeom prst="roundRect">
            <a:avLst>
              <a:gd name="adj" fmla="val 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635000" y="1524000"/>
            <a:ext cx="10922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1" u="none" strike="noStrike">
                <a:solidFill>
                  <a:srgbClr val="374151"/>
                </a:solidFill>
                <a:latin typeface="Times New Roman" panose="02020603050405020304"/>
                <a:ea typeface="Times New Roman" panose="02020603050405020304"/>
                <a:cs typeface="Times New Roman" panose="02020603050405020304"/>
                <a:sym typeface="Times New Roman" panose="02020603050405020304"/>
              </a:rPr>
              <a:t>Pr{前p个探查位置全被占用} = ∏ₖ=₀^(p-1) (i-1-k) / (m-k)</a:t>
            </a:r>
            <a:endParaRPr lang="en-US" sz="1100"/>
          </a:p>
        </p:txBody>
      </p:sp>
      <p:sp>
        <p:nvSpPr>
          <p:cNvPr id="7" name="AutoShape 7"/>
          <p:cNvSpPr/>
          <p:nvPr/>
        </p:nvSpPr>
        <p:spPr>
          <a:xfrm>
            <a:off x="508000" y="2730500"/>
            <a:ext cx="5461000" cy="2032000"/>
          </a:xfrm>
          <a:prstGeom prst="roundRect">
            <a:avLst>
              <a:gd name="adj" fmla="val 0"/>
            </a:avLst>
          </a:prstGeom>
          <a:solidFill>
            <a:srgbClr val="3B82F6">
              <a:alpha val="8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2921000"/>
            <a:ext cx="304800" cy="304800"/>
          </a:xfrm>
          <a:prstGeom prst="rect">
            <a:avLst/>
          </a:prstGeom>
        </p:spPr>
      </p:pic>
      <p:sp>
        <p:nvSpPr>
          <p:cNvPr id="9" name="AutoShape 9"/>
          <p:cNvSpPr txBox="1"/>
          <p:nvPr/>
        </p:nvSpPr>
        <p:spPr>
          <a:xfrm>
            <a:off x="1143000" y="28829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黑体" panose="02010609060101010101" charset="-122"/>
                <a:ea typeface="黑体" panose="02010609060101010101" charset="-122"/>
                <a:cs typeface="黑体" panose="02010609060101010101" charset="-122"/>
                <a:sym typeface="黑体" panose="02010609060101010101" charset="-122"/>
              </a:rPr>
              <a:t>01 概率递推的直观逻辑</a:t>
            </a:r>
            <a:endParaRPr lang="en-US" sz="1100"/>
          </a:p>
        </p:txBody>
      </p:sp>
      <p:sp>
        <p:nvSpPr>
          <p:cNvPr id="10" name="AutoShape 10"/>
          <p:cNvSpPr txBox="1"/>
          <p:nvPr/>
        </p:nvSpPr>
        <p:spPr>
          <a:xfrm>
            <a:off x="698500" y="3365500"/>
            <a:ext cx="508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初始状态：哈希表已有 i-1 个元素，首个探查位置被占用的概率为 (i-1)/m。</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递推关系：若前 k 个位置均被占用，第 k+1 个位置被占用的条件概率为 (i-1-k)/(m-k)，形成链式连乘。</a:t>
            </a:r>
            <a:endParaRPr lang="en-US" sz="1100"/>
          </a:p>
        </p:txBody>
      </p:sp>
      <p:sp>
        <p:nvSpPr>
          <p:cNvPr id="11" name="AutoShape 11"/>
          <p:cNvSpPr/>
          <p:nvPr/>
        </p:nvSpPr>
        <p:spPr>
          <a:xfrm>
            <a:off x="6223000" y="2730500"/>
            <a:ext cx="5461000" cy="2032000"/>
          </a:xfrm>
          <a:prstGeom prst="roundRect">
            <a:avLst>
              <a:gd name="adj" fmla="val 0"/>
            </a:avLst>
          </a:prstGeom>
          <a:solidFill>
            <a:srgbClr val="10B981">
              <a:alpha val="8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2921000"/>
            <a:ext cx="304800" cy="304800"/>
          </a:xfrm>
          <a:prstGeom prst="rect">
            <a:avLst/>
          </a:prstGeom>
        </p:spPr>
      </p:pic>
      <p:sp>
        <p:nvSpPr>
          <p:cNvPr id="13" name="AutoShape 13"/>
          <p:cNvSpPr txBox="1"/>
          <p:nvPr/>
        </p:nvSpPr>
        <p:spPr>
          <a:xfrm>
            <a:off x="6858000" y="28829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59669"/>
                </a:solidFill>
                <a:latin typeface="黑体" panose="02010609060101010101" charset="-122"/>
                <a:ea typeface="黑体" panose="02010609060101010101" charset="-122"/>
                <a:cs typeface="黑体" panose="02010609060101010101" charset="-122"/>
                <a:sym typeface="黑体" panose="02010609060101010101" charset="-122"/>
              </a:rPr>
              <a:t>02 关键放缩不等式推导</a:t>
            </a:r>
            <a:endParaRPr lang="en-US" sz="1100"/>
          </a:p>
        </p:txBody>
      </p:sp>
      <p:sp>
        <p:nvSpPr>
          <p:cNvPr id="14" name="AutoShape 14"/>
          <p:cNvSpPr txBox="1"/>
          <p:nvPr/>
        </p:nvSpPr>
        <p:spPr>
          <a:xfrm>
            <a:off x="6413500" y="3365500"/>
            <a:ext cx="508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利用条件 i ≤ m/2，对任意 k ∈ [0, p-1]，有分子 (i-1-k) ≤ m/2，分母 (m-k) ≥ m/2。</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因此分式值 ≤ 1/2，连乘后整体概率被指数函数 2^(-p) 上界限制。</a:t>
            </a:r>
            <a:endParaRPr lang="en-US" sz="1100"/>
          </a:p>
        </p:txBody>
      </p:sp>
      <p:sp>
        <p:nvSpPr>
          <p:cNvPr id="15" name="AutoShape 15"/>
          <p:cNvSpPr/>
          <p:nvPr/>
        </p:nvSpPr>
        <p:spPr>
          <a:xfrm>
            <a:off x="508000" y="5016500"/>
            <a:ext cx="11176000" cy="1397000"/>
          </a:xfrm>
          <a:prstGeom prst="roundRect">
            <a:avLst>
              <a:gd name="adj" fmla="val 0"/>
            </a:avLst>
          </a:prstGeom>
          <a:solidFill>
            <a:srgbClr val="16653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5410200"/>
            <a:ext cx="609600" cy="609600"/>
          </a:xfrm>
          <a:prstGeom prst="rect">
            <a:avLst/>
          </a:prstGeom>
        </p:spPr>
      </p:pic>
      <p:sp>
        <p:nvSpPr>
          <p:cNvPr id="17" name="AutoShape 17"/>
          <p:cNvSpPr txBox="1"/>
          <p:nvPr/>
        </p:nvSpPr>
        <p:spPr>
          <a:xfrm>
            <a:off x="1651000" y="5207000"/>
            <a:ext cx="952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结论：探查次数的概率上界</a:t>
            </a:r>
            <a:endParaRPr lang="en-US" sz="1100"/>
          </a:p>
          <a:p>
            <a:pPr marL="0" indent="0" algn="l">
              <a:lnSpc>
                <a:spcPct val="125000"/>
              </a:lnSpc>
            </a:pPr>
            <a:r>
              <a:rPr lang="en-US" sz="15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Pr{第i次插入需要多于 p 次探查} ≤ 2^(-p)。这表明随着探查次数 p 的增加，失败概率呈指数级衰减，验证了哈希表在低装载因子下的高效性。</a:t>
            </a:r>
            <a:endParaRPr lang="en-US" sz="15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15803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635000"/>
            <a:ext cx="1905000" cy="1905000"/>
          </a:xfrm>
          <a:prstGeom prst="ellipse">
            <a:avLst/>
          </a:prstGeom>
          <a:solidFill>
            <a:srgbClr val="15803D">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b问：Pr{X_i &gt; 2lg n} = O(1/n²)</a:t>
            </a:r>
            <a:endParaRPr lang="en-US" sz="1100"/>
          </a:p>
        </p:txBody>
      </p:sp>
      <p:sp>
        <p:nvSpPr>
          <p:cNvPr id="5" name="AutoShape 5"/>
          <p:cNvSpPr/>
          <p:nvPr/>
        </p:nvSpPr>
        <p:spPr>
          <a:xfrm>
            <a:off x="508000" y="1524000"/>
            <a:ext cx="5397500" cy="1651000"/>
          </a:xfrm>
          <a:prstGeom prst="roundRect">
            <a:avLst>
              <a:gd name="adj" fmla="val 0"/>
            </a:avLst>
          </a:prstGeom>
          <a:solidFill>
            <a:srgbClr val="15803D">
              <a:alpha val="8000"/>
            </a:srgbClr>
          </a:solidFill>
          <a:ln w="12700" cap="flat" cmpd="sng">
            <a:solidFill>
              <a:srgbClr val="15803D">
                <a:alpha val="2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698500" y="1714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txBox="1"/>
          <p:nvPr/>
        </p:nvSpPr>
        <p:spPr>
          <a:xfrm>
            <a:off x="1397000" y="17145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设定阈值变量</a:t>
            </a:r>
            <a:endParaRPr lang="en-US" sz="1100"/>
          </a:p>
        </p:txBody>
      </p:sp>
      <p:sp>
        <p:nvSpPr>
          <p:cNvPr id="8" name="AutoShape 8"/>
          <p:cNvSpPr txBox="1"/>
          <p:nvPr/>
        </p:nvSpPr>
        <p:spPr>
          <a:xfrm>
            <a:off x="698500" y="2159000"/>
            <a:ext cx="501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令 p = 2lg n，将概率不等式中的关键阈值进行变量替换，明确后续推导的起点条件，为代入已知结论做准备。</a:t>
            </a:r>
            <a:endParaRPr lang="en-US" sz="1100"/>
          </a:p>
        </p:txBody>
      </p:sp>
      <p:sp>
        <p:nvSpPr>
          <p:cNvPr id="9" name="AutoShape 9"/>
          <p:cNvSpPr/>
          <p:nvPr/>
        </p:nvSpPr>
        <p:spPr>
          <a:xfrm>
            <a:off x="6286500" y="1524000"/>
            <a:ext cx="5397500" cy="1651000"/>
          </a:xfrm>
          <a:prstGeom prst="roundRect">
            <a:avLst>
              <a:gd name="adj" fmla="val 0"/>
            </a:avLst>
          </a:prstGeom>
          <a:solidFill>
            <a:srgbClr val="15803D">
              <a:alpha val="8000"/>
            </a:srgbClr>
          </a:solidFill>
          <a:ln w="12700" cap="flat" cmpd="sng">
            <a:solidFill>
              <a:srgbClr val="15803D">
                <a:alpha val="20000"/>
              </a:srgbClr>
            </a:solidFill>
            <a:prstDash val="solid"/>
            <a:round/>
          </a:ln>
        </p:spPr>
        <p:txBody>
          <a:bodyPr vert="horz" wrap="square" lIns="63500" tIns="63500" rIns="63500" bIns="63500" rtlCol="0" anchor="ctr"/>
          <a:lstStyle/>
          <a:p>
            <a:pPr algn="ctr">
              <a:defRPr/>
            </a:pPr>
          </a:p>
        </p:txBody>
      </p:sp>
      <p:sp>
        <p:nvSpPr>
          <p:cNvPr id="10" name="AutoShape 10"/>
          <p:cNvSpPr txBox="1"/>
          <p:nvPr/>
        </p:nvSpPr>
        <p:spPr>
          <a:xfrm>
            <a:off x="6477000" y="1714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txBox="1"/>
          <p:nvPr/>
        </p:nvSpPr>
        <p:spPr>
          <a:xfrm>
            <a:off x="7175500" y="17145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代入已知概率上界</a:t>
            </a:r>
            <a:endParaRPr lang="en-US" sz="1100"/>
          </a:p>
        </p:txBody>
      </p:sp>
      <p:sp>
        <p:nvSpPr>
          <p:cNvPr id="12" name="AutoShape 12"/>
          <p:cNvSpPr txBox="1"/>
          <p:nvPr/>
        </p:nvSpPr>
        <p:spPr>
          <a:xfrm>
            <a:off x="6477000" y="2159000"/>
            <a:ext cx="501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引用(a)问的结论：Pr{X_i &gt; p} ≤ 2⁻ᵖ。将 p=2lg n 代入不等式，得到：Pr{X_i &gt; 2lg n} ≤ 2⁻²ˡᵍⁿ。</a:t>
            </a:r>
            <a:endParaRPr lang="en-US" sz="1100"/>
          </a:p>
        </p:txBody>
      </p:sp>
      <p:sp>
        <p:nvSpPr>
          <p:cNvPr id="13" name="AutoShape 13"/>
          <p:cNvSpPr/>
          <p:nvPr/>
        </p:nvSpPr>
        <p:spPr>
          <a:xfrm>
            <a:off x="508000" y="3492500"/>
            <a:ext cx="5397500" cy="1651000"/>
          </a:xfrm>
          <a:prstGeom prst="roundRect">
            <a:avLst>
              <a:gd name="adj" fmla="val 0"/>
            </a:avLst>
          </a:prstGeom>
          <a:solidFill>
            <a:srgbClr val="15803D">
              <a:alpha val="8000"/>
            </a:srgbClr>
          </a:solidFill>
          <a:ln w="12700" cap="flat" cmpd="sng">
            <a:solidFill>
              <a:srgbClr val="15803D">
                <a:alpha val="20000"/>
              </a:srgbClr>
            </a:solidFill>
            <a:prstDash val="solid"/>
            <a:round/>
          </a:ln>
        </p:spPr>
        <p:txBody>
          <a:bodyPr vert="horz" wrap="square" lIns="63500" tIns="63500" rIns="63500" bIns="63500" rtlCol="0" anchor="ctr"/>
          <a:lstStyle/>
          <a:p>
            <a:pPr algn="ctr">
              <a:defRPr/>
            </a:pPr>
          </a:p>
        </p:txBody>
      </p:sp>
      <p:sp>
        <p:nvSpPr>
          <p:cNvPr id="14" name="AutoShape 14"/>
          <p:cNvSpPr txBox="1"/>
          <p:nvPr/>
        </p:nvSpPr>
        <p:spPr>
          <a:xfrm>
            <a:off x="698500" y="36830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5" name="AutoShape 15"/>
          <p:cNvSpPr txBox="1"/>
          <p:nvPr/>
        </p:nvSpPr>
        <p:spPr>
          <a:xfrm>
            <a:off x="1397000" y="3683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指数与对数的化简</a:t>
            </a:r>
            <a:endParaRPr lang="en-US" sz="1100"/>
          </a:p>
        </p:txBody>
      </p:sp>
      <p:sp>
        <p:nvSpPr>
          <p:cNvPr id="16" name="AutoShape 16"/>
          <p:cNvSpPr txBox="1"/>
          <p:nvPr/>
        </p:nvSpPr>
        <p:spPr>
          <a:xfrm>
            <a:off x="698500" y="4127500"/>
            <a:ext cx="501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利用对数与指数的互逆性质：2ˡᵍⁿ = n。因此 2⁻²ˡᵍⁿ = (2ˡᵍⁿ)⁻² = n⁻²，即化简为 1/n²，完成数值形式的转换。</a:t>
            </a:r>
            <a:endParaRPr lang="en-US" sz="1100"/>
          </a:p>
        </p:txBody>
      </p:sp>
      <p:sp>
        <p:nvSpPr>
          <p:cNvPr id="17" name="AutoShape 17"/>
          <p:cNvSpPr/>
          <p:nvPr/>
        </p:nvSpPr>
        <p:spPr>
          <a:xfrm>
            <a:off x="6286500" y="3492500"/>
            <a:ext cx="5397500" cy="1651000"/>
          </a:xfrm>
          <a:prstGeom prst="roundRect">
            <a:avLst>
              <a:gd name="adj" fmla="val 0"/>
            </a:avLst>
          </a:prstGeom>
          <a:solidFill>
            <a:srgbClr val="15803D">
              <a:alpha val="8000"/>
            </a:srgbClr>
          </a:solidFill>
          <a:ln w="12700" cap="flat" cmpd="sng">
            <a:solidFill>
              <a:srgbClr val="15803D">
                <a:alpha val="20000"/>
              </a:srgbClr>
            </a:solidFill>
            <a:prstDash val="solid"/>
            <a:round/>
          </a:ln>
        </p:spPr>
        <p:txBody>
          <a:bodyPr vert="horz" wrap="square" lIns="63500" tIns="63500" rIns="63500" bIns="63500" rtlCol="0" anchor="ctr"/>
          <a:lstStyle/>
          <a:p>
            <a:pPr algn="ctr">
              <a:defRPr/>
            </a:pPr>
          </a:p>
        </p:txBody>
      </p:sp>
      <p:sp>
        <p:nvSpPr>
          <p:cNvPr id="18" name="AutoShape 18"/>
          <p:cNvSpPr txBox="1"/>
          <p:nvPr/>
        </p:nvSpPr>
        <p:spPr>
          <a:xfrm>
            <a:off x="6477000" y="36830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9" name="AutoShape 19"/>
          <p:cNvSpPr txBox="1"/>
          <p:nvPr/>
        </p:nvSpPr>
        <p:spPr>
          <a:xfrm>
            <a:off x="7175500" y="3683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推导大O阶结论</a:t>
            </a:r>
            <a:endParaRPr lang="en-US" sz="1100"/>
          </a:p>
        </p:txBody>
      </p:sp>
      <p:sp>
        <p:nvSpPr>
          <p:cNvPr id="20" name="AutoShape 20"/>
          <p:cNvSpPr txBox="1"/>
          <p:nvPr/>
        </p:nvSpPr>
        <p:spPr>
          <a:xfrm>
            <a:off x="6477000" y="4127500"/>
            <a:ext cx="501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由不等式传递性得：Pr{X_i &gt; 2lg n} ≤ 1/n²。根据大O记号定义，该概率的上界为常数倍的 1/n²，故其渐近阶为 O(1/n²)。</a:t>
            </a:r>
            <a:endParaRPr lang="en-US" sz="1100"/>
          </a:p>
        </p:txBody>
      </p:sp>
      <p:sp>
        <p:nvSpPr>
          <p:cNvPr id="21" name="AutoShape 21"/>
          <p:cNvSpPr/>
          <p:nvPr/>
        </p:nvSpPr>
        <p:spPr>
          <a:xfrm>
            <a:off x="508000" y="5461000"/>
            <a:ext cx="11176000" cy="762000"/>
          </a:xfrm>
          <a:prstGeom prst="roundRect">
            <a:avLst>
              <a:gd name="adj" fmla="val 0"/>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txBox="1"/>
          <p:nvPr/>
        </p:nvSpPr>
        <p:spPr>
          <a:xfrm>
            <a:off x="762000" y="56134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核心结论：Pr{X_i &gt; 2lg n} ≤ 1/n²，即该事件发生的概率随 n 增大迅速衰减，属于 O(1/n²) 量级。</a:t>
            </a:r>
            <a:endParaRPr lang="en-US" sz="1100"/>
          </a:p>
        </p:txBody>
      </p:sp>
      <p:sp>
        <p:nvSpPr>
          <p:cNvPr id="23" name="AutoShape 23"/>
          <p:cNvSpPr txBox="1"/>
          <p:nvPr/>
        </p:nvSpPr>
        <p:spPr>
          <a:xfrm>
            <a:off x="508000" y="6324600"/>
            <a:ext cx="1117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注：公式中的 lg 表示以 2 为底的对数（log₂），是算法分析与概率论中常用的对数表示方式。</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66534">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166534">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381000" y="381000"/>
            <a:ext cx="1143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c问：Pr{X &gt; 2lg n} = O(1/n)</a:t>
            </a:r>
            <a:endParaRPr lang="en-US" sz="1100"/>
          </a:p>
        </p:txBody>
      </p:sp>
      <p:sp>
        <p:nvSpPr>
          <p:cNvPr id="5" name="AutoShape 5"/>
          <p:cNvSpPr/>
          <p:nvPr/>
        </p:nvSpPr>
        <p:spPr>
          <a:xfrm>
            <a:off x="508000" y="1270000"/>
            <a:ext cx="11176000" cy="1079500"/>
          </a:xfrm>
          <a:prstGeom prst="roundRect">
            <a:avLst>
              <a:gd name="adj" fmla="val 0"/>
            </a:avLst>
          </a:prstGeom>
          <a:solidFill>
            <a:srgbClr val="E5E7EB">
              <a:alpha val="6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00200"/>
            <a:ext cx="406400" cy="406400"/>
          </a:xfrm>
          <a:prstGeom prst="rect">
            <a:avLst/>
          </a:prstGeom>
        </p:spPr>
      </p:pic>
      <p:sp>
        <p:nvSpPr>
          <p:cNvPr id="7" name="AutoShape 7"/>
          <p:cNvSpPr txBox="1"/>
          <p:nvPr/>
        </p:nvSpPr>
        <p:spPr>
          <a:xfrm>
            <a:off x="1397000" y="1397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问题定义：</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 X 为 n 次插入操作中哈希表的最长探查序列长度，即 X = max{X₁, X₂, ..., Xₙ}，其中 Xᵢ 表示第 i 次插入时的探查序列长度。我们需要证明该事件发生的概率上界。</a:t>
            </a:r>
            <a:endParaRPr lang="en-US" sz="1100"/>
          </a:p>
        </p:txBody>
      </p:sp>
      <p:sp>
        <p:nvSpPr>
          <p:cNvPr id="8" name="AutoShape 8"/>
          <p:cNvSpPr/>
          <p:nvPr/>
        </p:nvSpPr>
        <p:spPr>
          <a:xfrm>
            <a:off x="508000" y="2540000"/>
            <a:ext cx="11176000" cy="1206500"/>
          </a:xfrm>
          <a:prstGeom prst="roundRect">
            <a:avLst>
              <a:gd name="adj" fmla="val 0"/>
            </a:avLst>
          </a:prstGeom>
          <a:solidFill>
            <a:srgbClr val="BBF7D0">
              <a:alpha val="40000"/>
            </a:srgbClr>
          </a:solidFill>
          <a:ln w="12700" cap="flat" cmpd="sng">
            <a:solidFill>
              <a:srgbClr val="86EFAC">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933700"/>
            <a:ext cx="406400" cy="406400"/>
          </a:xfrm>
          <a:prstGeom prst="rect">
            <a:avLst/>
          </a:prstGeom>
        </p:spPr>
      </p:pic>
      <p:sp>
        <p:nvSpPr>
          <p:cNvPr id="10" name="AutoShape 10"/>
          <p:cNvSpPr txBox="1"/>
          <p:nvPr/>
        </p:nvSpPr>
        <p:spPr>
          <a:xfrm>
            <a:off x="1397000" y="2667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核心工具：并集界 (Union Bound)</a:t>
            </a:r>
            <a:endParaRPr lang="en-US" sz="1100"/>
          </a:p>
          <a:p>
            <a:pPr marL="0" indent="0" algn="l">
              <a:lnSpc>
                <a:spcPct val="125000"/>
              </a:lnSpc>
            </a:pPr>
            <a:r>
              <a:rPr lang="en-US" sz="14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Pr{∃i: Xᵢ &gt; 2lg n} ≤ Σᵢ₌₁ⁿ Pr{Xᵢ &gt; 2lg n} —— 多个事件并集的概率不超过各事件概率之和，是估计概率上界的基础。</a:t>
            </a:r>
            <a:endParaRPr lang="en-US" sz="14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08000" y="3937000"/>
            <a:ext cx="3556000" cy="14605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2" name="AutoShape 12"/>
          <p:cNvSpPr txBox="1"/>
          <p:nvPr/>
        </p:nvSpPr>
        <p:spPr>
          <a:xfrm>
            <a:off x="635000" y="4038600"/>
            <a:ext cx="3302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01. 转化问题</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将“存在至少一个过长探查”的概率，转化为所有单次探查过长的概率之和，利用并集界进行放缩。</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4318000" y="3937000"/>
            <a:ext cx="3556000" cy="14605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4" name="AutoShape 14"/>
          <p:cNvSpPr txBox="1"/>
          <p:nvPr/>
        </p:nvSpPr>
        <p:spPr>
          <a:xfrm>
            <a:off x="4445000" y="4038600"/>
            <a:ext cx="3302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02. 代入上界</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已知单次插入探查长度 &gt; 2lg n 的概率为 O(1/n²)，因此总和为：n × O(1/n²)，将 n 个相同的上界相加。</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128000" y="3937000"/>
            <a:ext cx="3556000" cy="14605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6" name="AutoShape 16"/>
          <p:cNvSpPr txBox="1"/>
          <p:nvPr/>
        </p:nvSpPr>
        <p:spPr>
          <a:xfrm>
            <a:off x="8255000" y="4038600"/>
            <a:ext cx="3302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03. 化简结果</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代数化简：n × 1/n² = 1/n。这意味着随着 n 的增大，该事件发生的概率将迅速趋近于 0。</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508000" y="5588000"/>
            <a:ext cx="11176000" cy="889000"/>
          </a:xfrm>
          <a:prstGeom prst="roundRect">
            <a:avLst>
              <a:gd name="adj" fmla="val 0"/>
            </a:avLst>
          </a:prstGeom>
          <a:solidFill>
            <a:srgbClr val="166534">
              <a:alpha val="8000"/>
            </a:srgbClr>
          </a:solidFill>
          <a:ln w="25400" cap="flat" cmpd="sng">
            <a:solidFill>
              <a:srgbClr val="166534">
                <a:alpha val="100000"/>
              </a:srgbClr>
            </a:solidFill>
            <a:prstDash val="solid"/>
            <a:round/>
          </a:ln>
        </p:spPr>
        <p:txBody>
          <a:bodyPr vert="horz" wrap="square" lIns="63500" tIns="63500" rIns="63500" bIns="63500" rtlCol="0" anchor="ctr"/>
          <a:lstStyle/>
          <a:p>
            <a:pPr algn="ctr">
              <a:defRPr/>
            </a:pPr>
          </a:p>
        </p:txBody>
      </p:sp>
      <p:sp>
        <p:nvSpPr>
          <p:cNvPr id="18" name="AutoShape 18"/>
          <p:cNvSpPr txBox="1"/>
          <p:nvPr/>
        </p:nvSpPr>
        <p:spPr>
          <a:xfrm>
            <a:off x="635000" y="5689600"/>
            <a:ext cx="1092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结论：Pr{X &gt; 2lg n} = O(1/n) —— 这表明哈希表的最长探查序列过长是一个极低概率事件。</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4532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14532D">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0" y="50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d问：E[X] = O(lg n)</a:t>
            </a:r>
            <a:endParaRPr lang="en-US" sz="1100"/>
          </a:p>
        </p:txBody>
      </p:sp>
      <p:sp>
        <p:nvSpPr>
          <p:cNvPr id="5" name="AutoShape 5"/>
          <p:cNvSpPr/>
          <p:nvPr/>
        </p:nvSpPr>
        <p:spPr>
          <a:xfrm>
            <a:off x="508000" y="1397000"/>
            <a:ext cx="11176000" cy="1270000"/>
          </a:xfrm>
          <a:prstGeom prst="roundRect">
            <a:avLst>
              <a:gd name="adj" fmla="val 0"/>
            </a:avLst>
          </a:prstGeom>
          <a:solidFill>
            <a:srgbClr val="DCFCE7">
              <a:alpha val="60000"/>
            </a:srgbClr>
          </a:solidFill>
          <a:ln w="12700" cap="flat" cmpd="sng">
            <a:solidFill>
              <a:srgbClr val="86EFAC">
                <a:alpha val="10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762000" y="15875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核心工具：非负整数随机变量的期望尾积分公式</a:t>
            </a:r>
            <a:endParaRPr lang="en-US" sz="1100"/>
          </a:p>
        </p:txBody>
      </p:sp>
      <p:sp>
        <p:nvSpPr>
          <p:cNvPr id="7" name="AutoShape 7"/>
          <p:cNvSpPr txBox="1"/>
          <p:nvPr/>
        </p:nvSpPr>
        <p:spPr>
          <a:xfrm>
            <a:off x="762000" y="2032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1F2937"/>
                </a:solidFill>
                <a:latin typeface="Times New Roman" panose="02020603050405020304"/>
                <a:ea typeface="Times New Roman" panose="02020603050405020304"/>
                <a:cs typeface="Times New Roman" panose="02020603050405020304"/>
                <a:sym typeface="Times New Roman" panose="02020603050405020304"/>
              </a:rPr>
              <a:t>E[X] = ∑_{k=0}^∞ Pr{X &gt; k}</a:t>
            </a:r>
            <a:endParaRPr lang="en-US" sz="1100"/>
          </a:p>
        </p:txBody>
      </p:sp>
      <p:sp>
        <p:nvSpPr>
          <p:cNvPr id="8" name="AutoShape 8"/>
          <p:cNvSpPr txBox="1"/>
          <p:nvPr/>
        </p:nvSpPr>
        <p:spPr>
          <a:xfrm>
            <a:off x="508000" y="2921000"/>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 求和区间的拆分策略</a:t>
            </a:r>
            <a:endParaRPr lang="en-US" sz="1100"/>
          </a:p>
        </p:txBody>
      </p:sp>
      <p:sp>
        <p:nvSpPr>
          <p:cNvPr id="9" name="AutoShape 9"/>
          <p:cNvSpPr/>
          <p:nvPr/>
        </p:nvSpPr>
        <p:spPr>
          <a:xfrm>
            <a:off x="508000" y="3365500"/>
            <a:ext cx="11176000" cy="8255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txBox="1"/>
          <p:nvPr/>
        </p:nvSpPr>
        <p:spPr>
          <a:xfrm>
            <a:off x="635000" y="3492500"/>
            <a:ext cx="1092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Times New Roman" panose="02020603050405020304"/>
                <a:ea typeface="Times New Roman" panose="02020603050405020304"/>
                <a:cs typeface="Times New Roman" panose="02020603050405020304"/>
                <a:sym typeface="Times New Roman" panose="02020603050405020304"/>
              </a:rPr>
              <a:t>E[X] = ∑_{k=0}^{⌊2lg n⌋} Pr{X &gt; k} + ∑_{k=⌊2lg n⌋+1}^∞ Pr{X &gt; k}</a:t>
            </a:r>
            <a:endParaRPr lang="en-US" sz="1100"/>
          </a:p>
        </p:txBody>
      </p:sp>
      <p:sp>
        <p:nvSpPr>
          <p:cNvPr id="11" name="AutoShape 11"/>
          <p:cNvSpPr/>
          <p:nvPr/>
        </p:nvSpPr>
        <p:spPr>
          <a:xfrm>
            <a:off x="508000" y="4381500"/>
            <a:ext cx="5461000" cy="1460500"/>
          </a:xfrm>
          <a:prstGeom prst="roundRect">
            <a:avLst>
              <a:gd name="adj" fmla="val 0"/>
            </a:avLst>
          </a:prstGeom>
          <a:solidFill>
            <a:srgbClr val="DBEAFE">
              <a:alpha val="5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12" name="AutoShape 12"/>
          <p:cNvSpPr txBox="1"/>
          <p:nvPr/>
        </p:nvSpPr>
        <p:spPr>
          <a:xfrm>
            <a:off x="635000" y="4508500"/>
            <a:ext cx="5207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第一段放缩逻辑：</a:t>
            </a:r>
            <a:endParaRPr lang="en-US" sz="1100"/>
          </a:p>
          <a:p>
            <a:pPr marL="0" indent="0" algn="l">
              <a:lnSpc>
                <a:spcPct val="108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概率上界：对任意 k，0 ≤ Pr{X &gt; k} ≤ 1；</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项数统计：求和项数为 ⌊2lg n⌋ + 1，属于 O(lg n) 量级；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3. 直接放缩：和 ≤ 项数 × 1 = 2lg n。</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223000" y="4381500"/>
            <a:ext cx="5461000" cy="1460500"/>
          </a:xfrm>
          <a:prstGeom prst="roundRect">
            <a:avLst>
              <a:gd name="adj" fmla="val 0"/>
            </a:avLst>
          </a:prstGeom>
          <a:solidFill>
            <a:srgbClr val="FEF3C7">
              <a:alpha val="50000"/>
            </a:srgbClr>
          </a:solidFill>
          <a:ln w="12700" cap="flat" cmpd="sng">
            <a:solidFill>
              <a:srgbClr val="FDE68A">
                <a:alpha val="100000"/>
              </a:srgbClr>
            </a:solidFill>
            <a:prstDash val="solid"/>
            <a:round/>
          </a:ln>
        </p:spPr>
        <p:txBody>
          <a:bodyPr vert="horz" wrap="square" lIns="63500" tIns="63500" rIns="63500" bIns="63500" rtlCol="0" anchor="ctr"/>
          <a:lstStyle/>
          <a:p>
            <a:pPr algn="ctr">
              <a:defRPr/>
            </a:pPr>
          </a:p>
        </p:txBody>
      </p:sp>
      <p:sp>
        <p:nvSpPr>
          <p:cNvPr id="14" name="AutoShape 14"/>
          <p:cNvSpPr txBox="1"/>
          <p:nvPr/>
        </p:nvSpPr>
        <p:spPr>
          <a:xfrm>
            <a:off x="6350000" y="4508500"/>
            <a:ext cx="5207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量级结论：</a:t>
            </a:r>
            <a:endParaRPr lang="en-US" sz="1100"/>
          </a:p>
          <a:p>
            <a:pPr marL="0" indent="0" algn="l">
              <a:lnSpc>
                <a:spcPct val="108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由此可得，第一段的贡献满足：</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∑_{k=0}^{⌊2lg n⌋} Pr{X &gt; k} ≤ 2lg n = O(lg n)。</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接下来只需证明第二段的无穷级数为常数级。</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508000" y="5969000"/>
            <a:ext cx="11176000" cy="508000"/>
          </a:xfrm>
          <a:prstGeom prst="roundRect">
            <a:avLst>
              <a:gd name="adj" fmla="val 0"/>
            </a:avLst>
          </a:prstGeom>
          <a:solidFill>
            <a:srgbClr val="14532D">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txBox="1"/>
          <p:nvPr/>
        </p:nvSpPr>
        <p:spPr>
          <a:xfrm>
            <a:off x="635000" y="6070600"/>
            <a:ext cx="1092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下一步关键：估计第二段 ∑_{k=⌊2lg n⌋+1}^∞ Pr{X &gt; k} 的上界，证明其收敛于常数。</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66534">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d问：第二段估计与结论</a:t>
            </a:r>
            <a:endParaRPr lang="en-US" sz="1100"/>
          </a:p>
        </p:txBody>
      </p:sp>
      <p:sp>
        <p:nvSpPr>
          <p:cNvPr id="5" name="AutoShape 5"/>
          <p:cNvSpPr/>
          <p:nvPr/>
        </p:nvSpPr>
        <p:spPr>
          <a:xfrm>
            <a:off x="508000" y="1524000"/>
            <a:ext cx="3556000" cy="2794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1714500"/>
            <a:ext cx="304800" cy="304800"/>
          </a:xfrm>
          <a:prstGeom prst="rect">
            <a:avLst/>
          </a:prstGeom>
        </p:spPr>
      </p:pic>
      <p:sp>
        <p:nvSpPr>
          <p:cNvPr id="7" name="AutoShape 7"/>
          <p:cNvSpPr txBox="1"/>
          <p:nvPr/>
        </p:nvSpPr>
        <p:spPr>
          <a:xfrm>
            <a:off x="1079500" y="17145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 概率上界的放缩</a:t>
            </a:r>
            <a:endParaRPr lang="en-US" sz="1100"/>
          </a:p>
        </p:txBody>
      </p:sp>
      <p:cxnSp>
        <p:nvCxnSpPr>
          <p:cNvPr id="8" name="Connector 8"/>
          <p:cNvCxnSpPr/>
          <p:nvPr/>
        </p:nvCxnSpPr>
        <p:spPr>
          <a:xfrm rot="-13750">
            <a:off x="698513" y="2216150"/>
            <a:ext cx="3175000" cy="12700"/>
          </a:xfrm>
          <a:prstGeom prst="line">
            <a:avLst/>
          </a:prstGeom>
          <a:solidFill>
            <a:srgbClr val="DEE0E3">
              <a:alpha val="100000"/>
            </a:srgbClr>
          </a:solidFill>
          <a:ln w="12700" cap="flat" cmpd="sng">
            <a:solidFill>
              <a:srgbClr val="DBEAFE">
                <a:alpha val="100000"/>
              </a:srgbClr>
            </a:solidFill>
            <a:prstDash val="solid"/>
            <a:round/>
            <a:headEnd type="none" w="med" len="med"/>
            <a:tailEnd type="none" w="med" len="med"/>
          </a:ln>
        </p:spPr>
      </p:cxnSp>
      <p:sp>
        <p:nvSpPr>
          <p:cNvPr id="9" name="AutoShape 9"/>
          <p:cNvSpPr txBox="1"/>
          <p:nvPr/>
        </p:nvSpPr>
        <p:spPr>
          <a:xfrm>
            <a:off x="698500" y="2349500"/>
            <a:ext cx="3175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 k &gt; 2lg n 时，利用并集界定理与a问结论：</a:t>
            </a:r>
            <a:endParaRPr lang="en-US" sz="1100"/>
          </a:p>
          <a:p>
            <a:pPr marL="0" indent="0" algn="l">
              <a:lnSpc>
                <a:spcPct val="108000"/>
              </a:lnSpc>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Pr{X &gt; k} ≤ Σ2⁻ᵏ = n·2⁻ᵏ</a:t>
            </a:r>
            <a:endPar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将单个事件的概率上界扩展到所有槽位，实现指数级的概率压缩，为后续求和奠定基础。</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318000" y="1524000"/>
            <a:ext cx="3556000" cy="2794000"/>
          </a:xfrm>
          <a:prstGeom prst="roundRect">
            <a:avLst>
              <a:gd name="adj" fmla="val 0"/>
            </a:avLst>
          </a:prstGeom>
          <a:solidFill>
            <a:srgbClr val="ECFDF5">
              <a:alpha val="10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8500" y="1714500"/>
            <a:ext cx="304800" cy="304800"/>
          </a:xfrm>
          <a:prstGeom prst="rect">
            <a:avLst/>
          </a:prstGeom>
        </p:spPr>
      </p:pic>
      <p:sp>
        <p:nvSpPr>
          <p:cNvPr id="12" name="AutoShape 12"/>
          <p:cNvSpPr txBox="1"/>
          <p:nvPr/>
        </p:nvSpPr>
        <p:spPr>
          <a:xfrm>
            <a:off x="4889500" y="17145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02 无穷级数的收敛性</a:t>
            </a:r>
            <a:endParaRPr lang="en-US" sz="1100"/>
          </a:p>
        </p:txBody>
      </p:sp>
      <p:cxnSp>
        <p:nvCxnSpPr>
          <p:cNvPr id="13" name="Connector 13"/>
          <p:cNvCxnSpPr/>
          <p:nvPr/>
        </p:nvCxnSpPr>
        <p:spPr>
          <a:xfrm rot="-13750">
            <a:off x="4508513" y="2216150"/>
            <a:ext cx="3175000" cy="12700"/>
          </a:xfrm>
          <a:prstGeom prst="line">
            <a:avLst/>
          </a:prstGeom>
          <a:solidFill>
            <a:srgbClr val="DEE0E3">
              <a:alpha val="100000"/>
            </a:srgbClr>
          </a:solidFill>
          <a:ln w="12700" cap="flat" cmpd="sng">
            <a:solidFill>
              <a:srgbClr val="D1FAE5">
                <a:alpha val="100000"/>
              </a:srgbClr>
            </a:solidFill>
            <a:prstDash val="solid"/>
            <a:round/>
            <a:headEnd type="none" w="med" len="med"/>
            <a:tailEnd type="none" w="med" len="med"/>
          </a:ln>
        </p:spPr>
      </p:cxnSp>
      <p:sp>
        <p:nvSpPr>
          <p:cNvPr id="14" name="AutoShape 14"/>
          <p:cNvSpPr txBox="1"/>
          <p:nvPr/>
        </p:nvSpPr>
        <p:spPr>
          <a:xfrm>
            <a:off x="4508500" y="2349500"/>
            <a:ext cx="3175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对尾部概率求和直至无穷，利用等比级数性质：</a:t>
            </a:r>
            <a:endParaRPr lang="en-US" sz="1100"/>
          </a:p>
          <a:p>
            <a:pPr marL="0" indent="0" algn="l">
              <a:lnSpc>
                <a:spcPct val="108000"/>
              </a:lnSpc>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Σn·2⁻ᵏ = n·2⁻²ˡᵍⁿ = 1/n</a:t>
            </a:r>
            <a:endPar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求和结果收敛于1/n，说明尾部事件对期望的贡献是极小的常数级，证明了其可忽略性。</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128000" y="1524000"/>
            <a:ext cx="3556000" cy="2794000"/>
          </a:xfrm>
          <a:prstGeom prst="roundRect">
            <a:avLst>
              <a:gd name="adj" fmla="val 0"/>
            </a:avLst>
          </a:prstGeom>
          <a:solidFill>
            <a:srgbClr val="FFFBEB">
              <a:alpha val="100000"/>
            </a:srgbClr>
          </a:solidFill>
          <a:ln w="12700" cap="flat" cmpd="sng">
            <a:solidFill>
              <a:srgbClr val="FDE68A">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714500"/>
            <a:ext cx="304800" cy="304800"/>
          </a:xfrm>
          <a:prstGeom prst="rect">
            <a:avLst/>
          </a:prstGeom>
        </p:spPr>
      </p:pic>
      <p:sp>
        <p:nvSpPr>
          <p:cNvPr id="17" name="AutoShape 17"/>
          <p:cNvSpPr txBox="1"/>
          <p:nvPr/>
        </p:nvSpPr>
        <p:spPr>
          <a:xfrm>
            <a:off x="8699500" y="17145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03 期望的最终合并</a:t>
            </a:r>
            <a:endParaRPr lang="en-US" sz="1100"/>
          </a:p>
        </p:txBody>
      </p:sp>
      <p:cxnSp>
        <p:nvCxnSpPr>
          <p:cNvPr id="18" name="Connector 18"/>
          <p:cNvCxnSpPr/>
          <p:nvPr/>
        </p:nvCxnSpPr>
        <p:spPr>
          <a:xfrm rot="-13750">
            <a:off x="8318513" y="2216150"/>
            <a:ext cx="3175000" cy="12700"/>
          </a:xfrm>
          <a:prstGeom prst="line">
            <a:avLst/>
          </a:prstGeom>
          <a:solidFill>
            <a:srgbClr val="DEE0E3">
              <a:alpha val="100000"/>
            </a:srgbClr>
          </a:solidFill>
          <a:ln w="12700" cap="flat" cmpd="sng">
            <a:solidFill>
              <a:srgbClr val="FEF3C7">
                <a:alpha val="100000"/>
              </a:srgbClr>
            </a:solidFill>
            <a:prstDash val="solid"/>
            <a:round/>
            <a:headEnd type="none" w="med" len="med"/>
            <a:tailEnd type="none" w="med" len="med"/>
          </a:ln>
        </p:spPr>
      </p:cxnSp>
      <p:sp>
        <p:nvSpPr>
          <p:cNvPr id="19" name="AutoShape 19"/>
          <p:cNvSpPr txBox="1"/>
          <p:nvPr/>
        </p:nvSpPr>
        <p:spPr>
          <a:xfrm>
            <a:off x="8318500" y="2349500"/>
            <a:ext cx="3175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将主要部分与尾部余项合并，得到期望上界：</a:t>
            </a:r>
            <a:endParaRPr lang="en-US" sz="1100"/>
          </a:p>
          <a:p>
            <a:pPr marL="0" indent="0" algn="l">
              <a:lnSpc>
                <a:spcPct val="108000"/>
              </a:lnSpc>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E[X] ≤ 2lg n + 1/n = O(lg n)</a:t>
            </a:r>
            <a:endPar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低阶无穷小项1/n不影响渐近阶，因此期望的主导项为对数级别，确立了算法的高效性。</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508000" y="4699000"/>
            <a:ext cx="11176000" cy="1524000"/>
          </a:xfrm>
          <a:prstGeom prst="roundRect">
            <a:avLst>
              <a:gd name="adj" fmla="val 0"/>
            </a:avLst>
          </a:prstGeom>
          <a:solidFill>
            <a:srgbClr val="16653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5029200"/>
            <a:ext cx="609600" cy="609600"/>
          </a:xfrm>
          <a:prstGeom prst="rect">
            <a:avLst/>
          </a:prstGeom>
        </p:spPr>
      </p:pic>
      <p:sp>
        <p:nvSpPr>
          <p:cNvPr id="22" name="AutoShape 22"/>
          <p:cNvSpPr txBox="1"/>
          <p:nvPr/>
        </p:nvSpPr>
        <p:spPr>
          <a:xfrm>
            <a:off x="1524000" y="4889500"/>
            <a:ext cx="990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核心结论：最长探查序列的期望长度为对数级</a:t>
            </a:r>
            <a:endParaRPr lang="en-US" sz="1100"/>
          </a:p>
          <a:p>
            <a:pPr marL="0" indent="0" algn="l">
              <a:lnSpc>
                <a:spcPct val="117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通过概率放缩与级数求和，我们证明了 E[X] = O(lg n)。这一结论至关重要，它表明在哈希表的开放寻址法中，即使在最坏情况下，探查的期望开销依然保持在对数级别，从而保证了哈希表插入、查找等核心操作的高效性与稳定性。</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66534">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166534">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43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结论总结</a:t>
            </a:r>
            <a:endParaRPr lang="en-US" sz="1100"/>
          </a:p>
        </p:txBody>
      </p:sp>
      <p:sp>
        <p:nvSpPr>
          <p:cNvPr id="5" name="AutoShape 5"/>
          <p:cNvSpPr/>
          <p:nvPr/>
        </p:nvSpPr>
        <p:spPr>
          <a:xfrm>
            <a:off x="508000" y="1524000"/>
            <a:ext cx="5397500" cy="1651000"/>
          </a:xfrm>
          <a:prstGeom prst="roundRect">
            <a:avLst>
              <a:gd name="adj" fmla="val 0"/>
            </a:avLst>
          </a:prstGeom>
          <a:solidFill>
            <a:srgbClr val="166534">
              <a:alpha val="6000"/>
            </a:srgbClr>
          </a:solidFill>
          <a:ln cap="flat" cmpd="sng">
            <a:solidFill>
              <a:srgbClr val="094C22">
                <a:alpha val="6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78000"/>
            <a:ext cx="406400" cy="406400"/>
          </a:xfrm>
          <a:prstGeom prst="rect">
            <a:avLst/>
          </a:prstGeom>
        </p:spPr>
      </p:pic>
      <p:sp>
        <p:nvSpPr>
          <p:cNvPr id="7" name="AutoShape 7"/>
          <p:cNvSpPr txBox="1"/>
          <p:nvPr/>
        </p:nvSpPr>
        <p:spPr>
          <a:xfrm>
            <a:off x="1333500" y="1778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01. 概率呈指数级衰减</a:t>
            </a:r>
            <a:endParaRPr lang="en-US" sz="1100"/>
          </a:p>
        </p:txBody>
      </p:sp>
      <p:sp>
        <p:nvSpPr>
          <p:cNvPr id="8" name="AutoShape 8"/>
          <p:cNvSpPr txBox="1"/>
          <p:nvPr/>
        </p:nvSpPr>
        <p:spPr>
          <a:xfrm>
            <a:off x="1333500" y="2222500"/>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单次插入探查次数多于 p 的概率严格小于等于 2⁻ᵖ，这意味着随着探查次数增加，其发生概率呈指数级下降，极端情况几乎不会发生。</a:t>
            </a:r>
            <a:endParaRPr lang="en-US" sz="1100"/>
          </a:p>
        </p:txBody>
      </p:sp>
      <p:sp>
        <p:nvSpPr>
          <p:cNvPr id="9" name="AutoShape 9"/>
          <p:cNvSpPr/>
          <p:nvPr/>
        </p:nvSpPr>
        <p:spPr>
          <a:xfrm>
            <a:off x="6286500" y="1524000"/>
            <a:ext cx="5397500" cy="1651000"/>
          </a:xfrm>
          <a:prstGeom prst="roundRect">
            <a:avLst>
              <a:gd name="adj" fmla="val 0"/>
            </a:avLst>
          </a:prstGeom>
          <a:solidFill>
            <a:srgbClr val="166534">
              <a:alpha val="6000"/>
            </a:srgbClr>
          </a:solidFill>
          <a:ln cap="flat" cmpd="sng">
            <a:solidFill>
              <a:srgbClr val="094C22">
                <a:alpha val="6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778000"/>
            <a:ext cx="406400" cy="406400"/>
          </a:xfrm>
          <a:prstGeom prst="rect">
            <a:avLst/>
          </a:prstGeom>
        </p:spPr>
      </p:pic>
      <p:sp>
        <p:nvSpPr>
          <p:cNvPr id="11" name="AutoShape 11"/>
          <p:cNvSpPr txBox="1"/>
          <p:nvPr/>
        </p:nvSpPr>
        <p:spPr>
          <a:xfrm>
            <a:off x="7112000" y="1778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02. 超长探查概率极低</a:t>
            </a:r>
            <a:endParaRPr lang="en-US" sz="1100"/>
          </a:p>
        </p:txBody>
      </p:sp>
      <p:sp>
        <p:nvSpPr>
          <p:cNvPr id="12" name="AutoShape 12"/>
          <p:cNvSpPr txBox="1"/>
          <p:nvPr/>
        </p:nvSpPr>
        <p:spPr>
          <a:xfrm>
            <a:off x="7112000" y="2222500"/>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单次插入过程中探查次数超过 2lg n 次的概率仅为 O(1/n²)，属于极小概率事件，在实际应用中几乎可以忽略不计。</a:t>
            </a:r>
            <a:endParaRPr lang="en-US" sz="1100"/>
          </a:p>
        </p:txBody>
      </p:sp>
      <p:sp>
        <p:nvSpPr>
          <p:cNvPr id="13" name="AutoShape 13"/>
          <p:cNvSpPr/>
          <p:nvPr/>
        </p:nvSpPr>
        <p:spPr>
          <a:xfrm>
            <a:off x="508000" y="3429000"/>
            <a:ext cx="5397500" cy="1651000"/>
          </a:xfrm>
          <a:prstGeom prst="roundRect">
            <a:avLst>
              <a:gd name="adj" fmla="val 0"/>
            </a:avLst>
          </a:prstGeom>
          <a:solidFill>
            <a:srgbClr val="166534">
              <a:alpha val="6000"/>
            </a:srgbClr>
          </a:solidFill>
          <a:ln cap="flat" cmpd="sng">
            <a:solidFill>
              <a:srgbClr val="094C22">
                <a:alpha val="6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683000"/>
            <a:ext cx="406400" cy="406400"/>
          </a:xfrm>
          <a:prstGeom prst="rect">
            <a:avLst/>
          </a:prstGeom>
        </p:spPr>
      </p:pic>
      <p:sp>
        <p:nvSpPr>
          <p:cNvPr id="15" name="AutoShape 15"/>
          <p:cNvSpPr txBox="1"/>
          <p:nvPr/>
        </p:nvSpPr>
        <p:spPr>
          <a:xfrm>
            <a:off x="1333500" y="3683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03. 大规模插入的稳定性</a:t>
            </a:r>
            <a:endParaRPr lang="en-US" sz="1100"/>
          </a:p>
        </p:txBody>
      </p:sp>
      <p:sp>
        <p:nvSpPr>
          <p:cNvPr id="16" name="AutoShape 16"/>
          <p:cNvSpPr txBox="1"/>
          <p:nvPr/>
        </p:nvSpPr>
        <p:spPr>
          <a:xfrm>
            <a:off x="1333500" y="4127500"/>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 n 次连续插入操作中，出现超长探查序列的概率仅为 O(1/n)，这保证了哈希表在大规模数据插入下的整体稳定性与可靠性。</a:t>
            </a:r>
            <a:endParaRPr lang="en-US" sz="1100"/>
          </a:p>
        </p:txBody>
      </p:sp>
      <p:sp>
        <p:nvSpPr>
          <p:cNvPr id="17" name="AutoShape 17"/>
          <p:cNvSpPr/>
          <p:nvPr/>
        </p:nvSpPr>
        <p:spPr>
          <a:xfrm>
            <a:off x="6286500" y="3429000"/>
            <a:ext cx="5397500" cy="1651000"/>
          </a:xfrm>
          <a:prstGeom prst="roundRect">
            <a:avLst>
              <a:gd name="adj" fmla="val 0"/>
            </a:avLst>
          </a:prstGeom>
          <a:solidFill>
            <a:srgbClr val="166534">
              <a:alpha val="6000"/>
            </a:srgbClr>
          </a:solidFill>
          <a:ln cap="flat" cmpd="sng">
            <a:solidFill>
              <a:srgbClr val="094C22">
                <a:alpha val="6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3683000"/>
            <a:ext cx="406400" cy="406400"/>
          </a:xfrm>
          <a:prstGeom prst="rect">
            <a:avLst/>
          </a:prstGeom>
        </p:spPr>
      </p:pic>
      <p:sp>
        <p:nvSpPr>
          <p:cNvPr id="19" name="AutoShape 19"/>
          <p:cNvSpPr txBox="1"/>
          <p:nvPr/>
        </p:nvSpPr>
        <p:spPr>
          <a:xfrm>
            <a:off x="7112000" y="3683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04. 亚线性的期望性能</a:t>
            </a:r>
            <a:endParaRPr lang="en-US" sz="1100"/>
          </a:p>
        </p:txBody>
      </p:sp>
      <p:sp>
        <p:nvSpPr>
          <p:cNvPr id="20" name="AutoShape 20"/>
          <p:cNvSpPr txBox="1"/>
          <p:nvPr/>
        </p:nvSpPr>
        <p:spPr>
          <a:xfrm>
            <a:off x="7112000" y="4127500"/>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最长探查序列的期望长度 E[X] = O(lg n)，呈现亚线性增长趋势，这意味着哈希表的插入与查找操作效率极高。</a:t>
            </a:r>
            <a:endParaRPr lang="en-US" sz="1100"/>
          </a:p>
        </p:txBody>
      </p:sp>
      <p:sp>
        <p:nvSpPr>
          <p:cNvPr id="21" name="AutoShape 21"/>
          <p:cNvSpPr/>
          <p:nvPr/>
        </p:nvSpPr>
        <p:spPr>
          <a:xfrm>
            <a:off x="508000" y="5397500"/>
            <a:ext cx="11176000" cy="1016000"/>
          </a:xfrm>
          <a:prstGeom prst="roundRect">
            <a:avLst>
              <a:gd name="adj" fmla="val 0"/>
            </a:avLst>
          </a:prstGeom>
          <a:solidFill>
            <a:srgbClr val="16653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txBox="1"/>
          <p:nvPr/>
        </p:nvSpPr>
        <p:spPr>
          <a:xfrm>
            <a:off x="762000" y="55626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5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在独立均匀排列散列的假设下，开放寻址法的最长探查序列期望为 O(lg n)，这一理论结果有力地证明了该方法在保证插入与查找操作对数级时间性能上的高效性与稳定性。</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1b8da7ed5cc75afd17ec5a80cf58b907"/>
          <p:cNvPicPr>
            <a:picLocks noChangeAspect="1"/>
          </p:cNvPicPr>
          <p:nvPr/>
        </p:nvPicPr>
        <p:blipFill>
          <a:blip r:embed="rId1"/>
          <a:stretch>
            <a:fillRect/>
          </a:stretch>
        </p:blipFill>
        <p:spPr>
          <a:xfrm>
            <a:off x="0" y="0"/>
            <a:ext cx="12192000" cy="6857365"/>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3980</Words>
  <Application>WPS 演示</Application>
  <PresentationFormat/>
  <Paragraphs>222</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12</vt:i4>
      </vt:variant>
    </vt:vector>
  </HeadingPairs>
  <TitlesOfParts>
    <vt:vector size="23" baseType="lpstr">
      <vt:lpstr>Arial</vt:lpstr>
      <vt:lpstr>宋体</vt:lpstr>
      <vt:lpstr>Wingdings</vt:lpstr>
      <vt:lpstr>Arial</vt:lpstr>
      <vt:lpstr>Noto Sans SC</vt:lpstr>
      <vt:lpstr>黑体</vt:lpstr>
      <vt:lpstr>Times New Roman</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李维臻</cp:lastModifiedBy>
  <cp:revision>1</cp:revision>
  <dcterms:created xsi:type="dcterms:W3CDTF">2026-10-11T13:14:15Z</dcterms:created>
  <dcterms:modified xsi:type="dcterms:W3CDTF">2026-10-11T13:14:15Z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{"Label":"1","ContentProducer":"001191110102MACQD9K64010000","ProduceID":"7695396869747133402","ReservedCode1":"","ContentPropagator":"","PropagateID":"","ReservedCode2":""}</vt:lpwstr>
  </property>
  <property fmtid="{D5CDD505-2E9C-101B-9397-08002B2CF9AE}" pid="3" name="ICV">
    <vt:lpwstr>5F665D62F3144826A12AE0A995DCBC99_12</vt:lpwstr>
  </property>
  <property fmtid="{D5CDD505-2E9C-101B-9397-08002B2CF9AE}" pid="4" name="KSOProductBuildVer">
    <vt:lpwstr>2052-12.1.0.28505</vt:lpwstr>
  </property>
</Properties>
</file>