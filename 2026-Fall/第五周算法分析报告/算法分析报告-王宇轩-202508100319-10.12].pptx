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9" r:id="rId4"/>
    <p:sldId id="267" r:id="rId5"/>
    <p:sldId id="268" r:id="rId6"/>
    <p:sldId id="270" r:id="rId7"/>
    <p:sldId id="273" r:id="rId8"/>
    <p:sldId id="271" r:id="rId9"/>
    <p:sldId id="274" r:id="rId10"/>
    <p:sldId id="259" r:id="rId11"/>
    <p:sldId id="275" r:id="rId12"/>
    <p:sldId id="262" r:id="rId13"/>
    <p:sldId id="276" r:id="rId14"/>
    <p:sldId id="278" r:id="rId15"/>
  </p:sldIdLst>
  <p:sldSz cx="11658600" cy="6667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" y="80010"/>
            <a:ext cx="11658600" cy="6667500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2259330" y="1942465"/>
            <a:ext cx="5553710" cy="893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sz="4800" b="1" kern="0" spc="0" dirty="0">
                <a:solidFill>
                  <a:srgbClr val="C1FB4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7-1.</a:t>
            </a:r>
            <a:r>
              <a:rPr sz="4800" b="1" kern="0" spc="0" dirty="0">
                <a:solidFill>
                  <a:srgbClr val="C1FB4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Hoare划分算法</a:t>
            </a:r>
            <a:r>
              <a:rPr lang="zh-CN" sz="4800" b="1" kern="0" spc="0" dirty="0">
                <a:solidFill>
                  <a:srgbClr val="C1FB4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</a:t>
            </a:r>
            <a:endParaRPr lang="zh-CN" sz="4800" b="1" kern="0" spc="0" dirty="0">
              <a:solidFill>
                <a:srgbClr val="C1FB44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87085" y="4963795"/>
            <a:ext cx="5619115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小组成员：王宇轩，王浩嘉，刘洋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原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4185"/>
            <a:ext cx="11658600" cy="5509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658600" cy="6667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2710" y="237490"/>
            <a:ext cx="4951095" cy="601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题</a:t>
            </a:r>
            <a:r>
              <a:rPr lang="en-US" altLang="zh-CN">
                <a:solidFill>
                  <a:schemeClr val="bg1"/>
                </a:solidFill>
              </a:rPr>
              <a:t>a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具体代码：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0" y="928370"/>
            <a:ext cx="6657340" cy="595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#include&lt;iostream&gt;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#include&lt;vector&gt;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using namespace std;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vector&lt;int&gt;v={13,19,9,5,12,8,7,4,11,2,6,21};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void f(vector&lt;int&gt;&amp; v)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for(int i=0;i&lt;v.size()-1;i++)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	cout&lt;&lt;v[i]&lt;&lt;",";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cout&lt;&lt;v[v.size()-1]&lt;&lt;endl;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}//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输出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void Hoare_Partition(vector&lt;int&gt;&amp;v,int p,int r)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int x=v[p];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int i=p-1;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int j=r+1;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while(true)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	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96710" y="838835"/>
            <a:ext cx="4866005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sym typeface="+mn-ea"/>
              </a:rPr>
              <a:t>do{j=j-1;}		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while(v[j]&gt;x);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do{i=i+1;}		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while(v[i]&lt;x);		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if(i&lt;j){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      int tmp=v[i];			v[i]=v[j];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	v[j]=tmp;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			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	f(v);		cout&lt;&lt;"i:"&lt;&lt;i&lt;&lt;endl&lt;&lt;"j:"&lt;&lt;j&lt;&lt;endl;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if(i&gt;=j){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       return;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}}//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划分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int main()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	Hoare_Partition(v,0,11);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return 0;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</a:t>
            </a:r>
            <a:endParaRPr lang="en-US" altLang="zh-CN">
              <a:solidFill>
                <a:schemeClr val="bg1"/>
              </a:solidFill>
            </a:endParaRPr>
          </a:p>
          <a:p>
            <a:endParaRPr lang="zh-CN" altLang="en-US"/>
          </a:p>
        </p:txBody>
      </p:sp>
      <p:pic>
        <p:nvPicPr>
          <p:cNvPr id="10" name="图片 9" descr="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1658600" cy="8007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92275" y="1038225"/>
            <a:ext cx="8499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1793240" y="1294765"/>
          <a:ext cx="816102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510"/>
                <a:gridCol w="40805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ea typeface="宋体" panose="02010600030101010101" pitchFamily="2" charset="-122"/>
                        </a:rPr>
                        <a:t>分析维度</a:t>
                      </a:r>
                      <a:endParaRPr lang="zh-CN" altLang="en-US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1. 时间复杂度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核心算法：</a:t>
                      </a:r>
                      <a:r>
                        <a:rPr lang="en-US" altLang="zh-CN"/>
                        <a:t>Hoare </a:t>
                      </a:r>
                      <a:r>
                        <a:rPr lang="zh-CN" altLang="en-US"/>
                        <a:t>分区逻辑本身是 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O(N)，</a:t>
                      </a:r>
                      <a:r>
                        <a:rPr lang="zh-CN" altLang="en-US"/>
                        <a:t>因为指针 </a:t>
                      </a:r>
                      <a:r>
                        <a:rPr lang="en-US" altLang="zh-CN"/>
                        <a:t>i </a:t>
                      </a:r>
                      <a:r>
                        <a:rPr lang="zh-CN" altLang="en-US"/>
                        <a:t>和 </a:t>
                      </a:r>
                      <a:r>
                        <a:rPr lang="en-US" altLang="zh-CN"/>
                        <a:t>j </a:t>
                      </a:r>
                      <a:r>
                        <a:rPr lang="zh-CN" altLang="en-US"/>
                        <a:t>总共最多移动 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N </a:t>
                      </a:r>
                      <a:r>
                        <a:rPr lang="zh-CN" altLang="en-US"/>
                        <a:t>步。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2. 程序瓶颈与问题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潜在风险 (边界检查)：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缺乏对输入参数 </a:t>
                      </a:r>
                      <a:r>
                        <a:rPr lang="en-US" altLang="zh-CN"/>
                        <a:t>p </a:t>
                      </a:r>
                      <a:r>
                        <a:rPr lang="zh-CN" altLang="en-US"/>
                        <a:t>和 </a:t>
                      </a:r>
                      <a:r>
                        <a:rPr lang="en-US" altLang="zh-CN"/>
                        <a:t>r </a:t>
                      </a:r>
                      <a:r>
                        <a:rPr lang="zh-CN" altLang="en-US"/>
                        <a:t>的合法性检查（如 </a:t>
                      </a:r>
                      <a:r>
                        <a:rPr lang="en-US" altLang="zh-CN"/>
                        <a:t>p &gt; r </a:t>
                      </a:r>
                      <a:r>
                        <a:rPr lang="zh-CN" altLang="en-US"/>
                        <a:t>或空数组情况），可能导致未定义行为。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</a:t>
                      </a:r>
                      <a:r>
                        <a:rPr lang="zh-CN" altLang="en-US"/>
                        <a:t> 改进方法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添加边界保护：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在函数开头添加 </a:t>
                      </a:r>
                      <a:r>
                        <a:rPr lang="en-US" altLang="zh-CN"/>
                        <a:t>if (p &gt;= r) return p; </a:t>
                      </a:r>
                      <a:r>
                        <a:rPr lang="zh-CN" altLang="en-US"/>
                        <a:t>以防止非法输入导致的错误。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658600" cy="6667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-48895" y="816610"/>
            <a:ext cx="4951095" cy="482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题</a:t>
            </a:r>
            <a:r>
              <a:rPr lang="en-US" altLang="zh-CN">
                <a:solidFill>
                  <a:schemeClr val="bg1"/>
                </a:solidFill>
              </a:rPr>
              <a:t>bHoare_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Partition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具体代码：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-48895" y="1180465"/>
            <a:ext cx="6657340" cy="595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#include&lt;iostream&gt;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#include&lt;vector&gt;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using namespace std;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vector&lt;int&gt;v(12,10);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void Hoare_Partition(vector&lt;int&gt;&amp;v,int p,int r)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int x=v[p];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int j=r+1;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   int i=p-1;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while(true){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                do{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              j=j-1;}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while(v[j]&gt;x);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do{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i=i+1;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                  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while(v[i]&lt;x);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13220" y="1299210"/>
            <a:ext cx="422148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sym typeface="+mn-ea"/>
              </a:rPr>
              <a:t>if(i&lt;j){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	 int tmp=v[i];			v[i]=v[j];			v[j]=tmp;		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else{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	cout&lt;&lt; j&lt;&lt;endl;	return;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int main()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Hoare_Partition(v,0,11);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return 0;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</a:t>
            </a:r>
            <a:endParaRPr lang="zh-CN" altLang="en-US"/>
          </a:p>
        </p:txBody>
      </p:sp>
      <p:pic>
        <p:nvPicPr>
          <p:cNvPr id="2" name="图片 1" descr="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895" y="31115"/>
            <a:ext cx="11658600" cy="7854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615440" y="626110"/>
          <a:ext cx="816102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510"/>
                <a:gridCol w="40805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ea typeface="宋体" panose="02010600030101010101" pitchFamily="2" charset="-122"/>
                          <a:sym typeface="+mn-ea"/>
                        </a:rPr>
                        <a:t>分析维度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1. 时间复杂度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理论算法复杂度：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en-US" altLang="zh-CN"/>
                        <a:t>O(N)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 Hoare </a:t>
                      </a:r>
                      <a:r>
                        <a:rPr lang="zh-CN" altLang="en-US"/>
                        <a:t>分区算法本身通过双指针相向移动，每个元素最多被访问常数次，因此核心逻辑是线性的 </a:t>
                      </a:r>
                      <a:r>
                        <a:rPr lang="en-US" altLang="zh-CN"/>
                        <a:t>O(N)。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2. 程序瓶颈与问题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潜在风险 (边界检查)：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缺乏对输入参数 </a:t>
                      </a:r>
                      <a:r>
                        <a:rPr lang="en-US" altLang="zh-CN" sz="1800">
                          <a:sym typeface="+mn-ea"/>
                        </a:rPr>
                        <a:t>p </a:t>
                      </a:r>
                      <a:r>
                        <a:rPr lang="zh-CN" altLang="en-US" sz="1800">
                          <a:sym typeface="+mn-ea"/>
                        </a:rPr>
                        <a:t>和 </a:t>
                      </a:r>
                      <a:r>
                        <a:rPr lang="en-US" altLang="zh-CN" sz="1800">
                          <a:sym typeface="+mn-ea"/>
                        </a:rPr>
                        <a:t>r </a:t>
                      </a:r>
                      <a:r>
                        <a:rPr lang="zh-CN" altLang="en-US" sz="1800">
                          <a:sym typeface="+mn-ea"/>
                        </a:rPr>
                        <a:t>的合法性检查（如 </a:t>
                      </a:r>
                      <a:r>
                        <a:rPr lang="en-US" altLang="zh-CN" sz="1800">
                          <a:sym typeface="+mn-ea"/>
                        </a:rPr>
                        <a:t>p &gt; r </a:t>
                      </a:r>
                      <a:r>
                        <a:rPr lang="zh-CN" altLang="en-US" sz="1800">
                          <a:sym typeface="+mn-ea"/>
                        </a:rPr>
                        <a:t>或空数组情况），可能导致未定义行为。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3.</a:t>
                      </a:r>
                      <a:r>
                        <a:rPr lang="zh-CN" altLang="en-US" sz="1800">
                          <a:sym typeface="+mn-ea"/>
                        </a:rPr>
                        <a:t> 改进方法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E. </a:t>
                      </a:r>
                      <a:r>
                        <a:rPr lang="zh-CN" altLang="en-US"/>
                        <a:t>添加边界检查：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• 在函数开头添加 </a:t>
                      </a:r>
                      <a:r>
                        <a:rPr lang="en-US" altLang="zh-CN"/>
                        <a:t>if (p &gt;= r) return p;，</a:t>
                      </a:r>
                      <a:r>
                        <a:rPr lang="zh-CN" altLang="en-US"/>
                        <a:t>以防止因非法参数（如 </a:t>
                      </a:r>
                      <a:r>
                        <a:rPr lang="en-US" altLang="zh-CN"/>
                        <a:t>p &gt; r）</a:t>
                      </a:r>
                      <a:r>
                        <a:rPr lang="zh-CN" altLang="en-US"/>
                        <a:t>导致的未定义行为。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658600" cy="6667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2710" y="237490"/>
            <a:ext cx="4951095" cy="601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题</a:t>
            </a:r>
            <a:r>
              <a:rPr lang="en-US" altLang="zh-CN">
                <a:solidFill>
                  <a:schemeClr val="bg1"/>
                </a:solidFill>
              </a:rPr>
              <a:t>bPartition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具体代码：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92710" y="643890"/>
            <a:ext cx="6657340" cy="595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#include&lt;iostream&gt;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#include&lt;vector&gt;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using namespace std;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vector&lt;int&gt;v(12,10);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void Partition(vector&lt;int&gt;&amp;v,int p,int r)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int x=v[r];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int i=p-1;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for(int j=p;j&lt;r;j++)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    if(v[j]&lt;=x)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    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        i++;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        int temp=v[i];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        v[i]=v[j];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        v[j]=temp;              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54850" y="437515"/>
            <a:ext cx="42214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sym typeface="+mn-ea"/>
              </a:rPr>
              <a:t> 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    }</a:t>
            </a:r>
            <a:endParaRPr lang="en-US" altLang="zh-CN">
              <a:solidFill>
                <a:schemeClr val="bg1"/>
              </a:solidFill>
              <a:sym typeface="+mn-ea"/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    int temp=v[i+1];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    v[i+1]=v[r];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    v[r]=temp;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    cout&lt;&lt;i+1&lt;&lt;endl;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int main()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    Partition(v,0,11);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    return 0;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}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467485" y="80645"/>
          <a:ext cx="816102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510"/>
                <a:gridCol w="40805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ea typeface="宋体" panose="02010600030101010101" pitchFamily="2" charset="-122"/>
                          <a:sym typeface="+mn-ea"/>
                        </a:rPr>
                        <a:t>分析维度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1.</a:t>
                      </a:r>
                      <a:r>
                        <a:rPr lang="zh-CN" altLang="en-US" sz="1800">
                          <a:sym typeface="+mn-ea"/>
                        </a:rPr>
                        <a:t> 时间复杂度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理论算法复杂度：</a:t>
                      </a:r>
                      <a:r>
                        <a:rPr lang="en-US" altLang="zh-CN"/>
                        <a:t>O(N)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zh-CN" altLang="en-US"/>
                        <a:t>分区算法使用单指针 </a:t>
                      </a:r>
                      <a:r>
                        <a:rPr lang="en-US" altLang="zh-CN"/>
                        <a:t>i </a:t>
                      </a:r>
                      <a:r>
                        <a:rPr lang="zh-CN" altLang="en-US"/>
                        <a:t>和遍历指针 </a:t>
                      </a:r>
                      <a:r>
                        <a:rPr lang="en-US" altLang="zh-CN"/>
                        <a:t>j。j </a:t>
                      </a:r>
                      <a:r>
                        <a:rPr lang="zh-CN" altLang="en-US"/>
                        <a:t>从 </a:t>
                      </a:r>
                      <a:r>
                        <a:rPr lang="en-US" altLang="zh-CN"/>
                        <a:t>p </a:t>
                      </a:r>
                      <a:r>
                        <a:rPr lang="zh-CN" altLang="en-US"/>
                        <a:t>遍历到 </a:t>
                      </a:r>
                      <a:r>
                        <a:rPr lang="en-US" altLang="zh-CN"/>
                        <a:t>r，</a:t>
                      </a:r>
                      <a:r>
                        <a:rPr lang="zh-CN" altLang="en-US"/>
                        <a:t>每个元素被访问一次。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循环内部的操作（比较、自增、交换）均为常数时间 </a:t>
                      </a:r>
                      <a:r>
                        <a:rPr lang="en-US" altLang="zh-CN"/>
                        <a:t>O(1)。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zh-CN" altLang="en-US"/>
                        <a:t>• 因此，总时间复杂度为线性 </a:t>
                      </a:r>
                      <a:r>
                        <a:rPr lang="en-US" altLang="zh-CN"/>
                        <a:t>O(N)，</a:t>
                      </a:r>
                      <a:r>
                        <a:rPr lang="zh-CN" altLang="en-US"/>
                        <a:t>其中 </a:t>
                      </a:r>
                      <a:r>
                        <a:rPr lang="en-US" altLang="zh-CN"/>
                        <a:t>N=r−p+1。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473835" y="2466975"/>
          <a:ext cx="81610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510"/>
                <a:gridCol w="4080510"/>
              </a:tblGrid>
              <a:tr h="20116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2. 程序瓶颈与问题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枢轴选择策略单一 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• 问题：</a:t>
                      </a:r>
                      <a:r>
                        <a:rPr lang="en-US" altLang="zh-CN" sz="1800">
                          <a:sym typeface="+mn-ea"/>
                        </a:rPr>
                        <a:t>int x = v[p]; </a:t>
                      </a:r>
                      <a:r>
                        <a:rPr lang="zh-CN" altLang="en-US" sz="1800">
                          <a:sym typeface="+mn-ea"/>
                        </a:rPr>
                        <a:t>固定选取子数组的第一个元素作为枢轴。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• 影响：对于近乎有序的数组，这会导致快速排序退化为冒泡排序的效果，时间复杂度飙升至 </a:t>
                      </a:r>
                      <a:r>
                        <a:rPr lang="en-US" altLang="zh-CN" sz="1800">
                          <a:sym typeface="+mn-ea"/>
                        </a:rPr>
                        <a:t>O(N^2)。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3.</a:t>
                      </a:r>
                      <a:r>
                        <a:rPr lang="zh-CN" altLang="en-US" sz="1800">
                          <a:sym typeface="+mn-ea"/>
                        </a:rPr>
                        <a:t> 改进方法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优化枢轴选择 (三数取中法)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• 方法：在 </a:t>
                      </a:r>
                      <a:r>
                        <a:rPr lang="en-US" altLang="zh-CN" sz="1800">
                          <a:sym typeface="+mn-ea"/>
                        </a:rPr>
                        <a:t>Hoare_Partition </a:t>
                      </a:r>
                      <a:r>
                        <a:rPr lang="zh-CN" altLang="en-US" sz="1800">
                          <a:sym typeface="+mn-ea"/>
                        </a:rPr>
                        <a:t>开始时，选取 </a:t>
                      </a:r>
                      <a:r>
                        <a:rPr lang="en-US" altLang="zh-CN" sz="1800">
                          <a:sym typeface="+mn-ea"/>
                        </a:rPr>
                        <a:t>v[p], v[r], v[(p+r)/2] </a:t>
                      </a:r>
                      <a:r>
                        <a:rPr lang="zh-CN" altLang="en-US" sz="1800">
                          <a:sym typeface="+mn-ea"/>
                        </a:rPr>
                        <a:t>三个数的中位数作为枢轴，并将其交换到 </a:t>
                      </a:r>
                      <a:r>
                        <a:rPr lang="en-US" altLang="zh-CN" sz="1800">
                          <a:sym typeface="+mn-ea"/>
                        </a:rPr>
                        <a:t>v[p] </a:t>
                      </a:r>
                      <a:r>
                        <a:rPr lang="zh-CN" altLang="en-US" sz="1800">
                          <a:sym typeface="+mn-ea"/>
                        </a:rPr>
                        <a:t>位置。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• 效果：极大降低最坏情况发生的概率，使算法在有序数组上也能保</a:t>
                      </a:r>
                      <a:r>
                        <a:rPr lang="en-US" altLang="zh-CN" sz="1800">
                          <a:sym typeface="+mn-ea"/>
                        </a:rPr>
                        <a:t>O(NlogN)。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picture 1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960"/>
            <a:ext cx="11658600" cy="6667500"/>
          </a:xfrm>
          <a:prstGeom prst="rect">
            <a:avLst/>
          </a:prstGeom>
        </p:spPr>
      </p:pic>
      <p:sp>
        <p:nvSpPr>
          <p:cNvPr id="188" name="textbox 188"/>
          <p:cNvSpPr/>
          <p:nvPr/>
        </p:nvSpPr>
        <p:spPr>
          <a:xfrm>
            <a:off x="238125" y="371475"/>
            <a:ext cx="11201400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1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Hoare 划分在交换次数与平衡性上全面优于 Lomuto</a:t>
            </a:r>
            <a:endParaRPr sz="3100" dirty="0"/>
          </a:p>
        </p:txBody>
      </p:sp>
      <p:pic>
        <p:nvPicPr>
          <p:cNvPr id="4" name="图片 3" descr="屏幕截图 2026-10-12 0004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85" y="1136015"/>
            <a:ext cx="9829800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658600" cy="66675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56640" y="1617345"/>
            <a:ext cx="6200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</a:rPr>
              <a:t>题</a:t>
            </a:r>
            <a:r>
              <a:rPr lang="en-US" altLang="zh-CN" sz="2000">
                <a:solidFill>
                  <a:schemeClr val="bg1"/>
                </a:solidFill>
              </a:rPr>
              <a:t>c</a:t>
            </a:r>
            <a:r>
              <a:rPr lang="zh-CN" altLang="en-US" sz="2000">
                <a:solidFill>
                  <a:schemeClr val="bg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000">
                <a:solidFill>
                  <a:schemeClr val="bg1"/>
                </a:solidFill>
              </a:rPr>
              <a:t>d</a:t>
            </a:r>
            <a:r>
              <a:rPr lang="zh-CN" altLang="en-US" sz="2000">
                <a:solidFill>
                  <a:schemeClr val="bg1"/>
                </a:solidFill>
                <a:ea typeface="宋体" panose="02010600030101010101" pitchFamily="2" charset="-122"/>
              </a:rPr>
              <a:t>证明；</a:t>
            </a:r>
            <a:endParaRPr lang="zh-CN" altLang="en-US" sz="20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2205" y="2328545"/>
            <a:ext cx="44405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极端情况</a:t>
            </a:r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（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6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句执行次数尽可能少即第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9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句执行尽可能多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）：第一次循环中，此时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j=r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。由于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A[i]=x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，第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9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句必只执行一次。第二次循环中，最差情况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j=r-1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i=j=r-1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，此时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j&lt;r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符合上界。</a:t>
            </a:r>
            <a:endParaRPr lang="zh-CN" altLang="en-US" sz="24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5" name="图片 4" descr="IMG_20261011_1858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834630" y="1283335"/>
            <a:ext cx="4427220" cy="55835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32205" y="4751070"/>
            <a:ext cx="4451985" cy="1537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</a:rPr>
              <a:t>极端情况</a:t>
            </a:r>
            <a:r>
              <a:rPr lang="en-US" altLang="zh-CN" sz="2400">
                <a:solidFill>
                  <a:schemeClr val="bg1"/>
                </a:solidFill>
              </a:rPr>
              <a:t>2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（第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6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句执行次数尽可能多即第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9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句执行尽可能少）：第一次循环中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j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最多减少到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p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A[p]=x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），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i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则必然增至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p,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此时</a:t>
            </a: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i=j,j&gt;=p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符合下界。</a:t>
            </a:r>
            <a:endParaRPr lang="zh-CN" altLang="en-US" sz="24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图片 7" descr="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0" y="1032510"/>
            <a:ext cx="11317605" cy="443865"/>
          </a:xfrm>
          <a:prstGeom prst="rect">
            <a:avLst/>
          </a:prstGeom>
        </p:spPr>
      </p:pic>
      <p:pic>
        <p:nvPicPr>
          <p:cNvPr id="9" name="图片 8" descr="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" y="462915"/>
            <a:ext cx="1165860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picture 3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658600" cy="6667500"/>
          </a:xfrm>
          <a:prstGeom prst="rect">
            <a:avLst/>
          </a:prstGeom>
        </p:spPr>
      </p:pic>
      <p:sp>
        <p:nvSpPr>
          <p:cNvPr id="394" name="textbox 394"/>
          <p:cNvSpPr/>
          <p:nvPr/>
        </p:nvSpPr>
        <p:spPr>
          <a:xfrm>
            <a:off x="590550" y="1802765"/>
            <a:ext cx="10477500" cy="552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zh-CN" sz="3100" b="1" kern="0" spc="0" dirty="0">
                <a:solidFill>
                  <a:srgbClr val="D6F4F2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</a:t>
            </a:r>
            <a:r>
              <a:rPr lang="en-US" altLang="zh-CN" sz="3100" b="1" kern="0" spc="0" dirty="0">
                <a:solidFill>
                  <a:srgbClr val="D6F4F2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</a:t>
            </a:r>
            <a:r>
              <a:rPr lang="zh-CN" altLang="en-US" sz="3100" b="1" kern="0" spc="0" dirty="0">
                <a:solidFill>
                  <a:srgbClr val="D6F4F2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证明：</a:t>
            </a:r>
            <a:endParaRPr lang="zh-CN" altLang="en-US" sz="3100" b="1" kern="0" spc="0" dirty="0">
              <a:solidFill>
                <a:srgbClr val="D6F4F2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0" name="textbox 400"/>
          <p:cNvSpPr/>
          <p:nvPr/>
        </p:nvSpPr>
        <p:spPr>
          <a:xfrm>
            <a:off x="690245" y="2453640"/>
            <a:ext cx="5086350" cy="160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循环因 i≥j 终止时，j 将数组划分为</a:t>
            </a:r>
            <a:endParaRPr sz="1500" dirty="0"/>
          </a:p>
          <a:p>
            <a:pPr algn="l" rtl="0" eaLnBrk="0">
              <a:spcBef>
                <a:spcPts val="375"/>
              </a:spcBef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A[p..j] 与 A[j+1..r] 两段。左段每个元素</a:t>
            </a:r>
            <a:endParaRPr sz="1500" dirty="0"/>
          </a:p>
          <a:p>
            <a:pPr algn="l" rtl="0" eaLnBrk="0">
              <a:spcBef>
                <a:spcPts val="375"/>
              </a:spcBef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 右段任意元素，保证快排递归分别排序后整体</a:t>
            </a:r>
            <a:endParaRPr sz="1500" dirty="0"/>
          </a:p>
          <a:p>
            <a:pPr algn="l" rtl="0" eaLnBrk="0">
              <a:spcBef>
                <a:spcPts val="375"/>
              </a:spcBef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有序，无需合并。对应代码</a:t>
            </a:r>
            <a:endParaRPr sz="1500" dirty="0"/>
          </a:p>
          <a:p>
            <a:pPr algn="l" rtl="0" eaLnBrk="0">
              <a:spcBef>
                <a:spcPts val="375"/>
              </a:spcBef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return j 语句。</a:t>
            </a:r>
            <a:endParaRPr sz="1500" dirty="0"/>
          </a:p>
        </p:txBody>
      </p:sp>
      <p:pic>
        <p:nvPicPr>
          <p:cNvPr id="404" name="picture 4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4152900"/>
            <a:ext cx="5181600" cy="2333625"/>
          </a:xfrm>
          <a:prstGeom prst="rect">
            <a:avLst/>
          </a:prstGeom>
        </p:spPr>
      </p:pic>
      <p:sp>
        <p:nvSpPr>
          <p:cNvPr id="406" name="textbox 406"/>
          <p:cNvSpPr/>
          <p:nvPr/>
        </p:nvSpPr>
        <p:spPr>
          <a:xfrm>
            <a:off x="409575" y="3981450"/>
            <a:ext cx="1962150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9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A[p…j]</a:t>
            </a:r>
            <a:endParaRPr sz="2400" dirty="0"/>
          </a:p>
        </p:txBody>
      </p:sp>
      <p:sp>
        <p:nvSpPr>
          <p:cNvPr id="408" name="textbox 408"/>
          <p:cNvSpPr/>
          <p:nvPr/>
        </p:nvSpPr>
        <p:spPr>
          <a:xfrm>
            <a:off x="3048000" y="3981450"/>
            <a:ext cx="2324100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525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[j+1..] r</a:t>
            </a:r>
            <a:endParaRPr sz="2400" dirty="0"/>
          </a:p>
        </p:txBody>
      </p:sp>
      <p:sp>
        <p:nvSpPr>
          <p:cNvPr id="410" name="textbox 410"/>
          <p:cNvSpPr/>
          <p:nvPr/>
        </p:nvSpPr>
        <p:spPr>
          <a:xfrm>
            <a:off x="809625" y="4927600"/>
            <a:ext cx="146685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∀ 元素 ≤ x</a:t>
            </a:r>
            <a:endParaRPr sz="1700" dirty="0"/>
          </a:p>
        </p:txBody>
      </p:sp>
      <p:sp>
        <p:nvSpPr>
          <p:cNvPr id="412" name="textbox 412"/>
          <p:cNvSpPr/>
          <p:nvPr/>
        </p:nvSpPr>
        <p:spPr>
          <a:xfrm>
            <a:off x="3510280" y="4918075"/>
            <a:ext cx="1457325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700" b="1" kern="0" spc="0" dirty="0">
                <a:solidFill>
                  <a:srgbClr val="FFF8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∀ 元素 ≥ x</a:t>
            </a:r>
            <a:endParaRPr sz="1700" dirty="0"/>
          </a:p>
        </p:txBody>
      </p:sp>
      <p:sp>
        <p:nvSpPr>
          <p:cNvPr id="414" name="textbox 414"/>
          <p:cNvSpPr/>
          <p:nvPr/>
        </p:nvSpPr>
        <p:spPr>
          <a:xfrm>
            <a:off x="1038225" y="5657850"/>
            <a:ext cx="380047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全局性质 A[p..j] ≤ </a:t>
            </a: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A[j+1..r]</a:t>
            </a:r>
            <a:endParaRPr sz="1700" dirty="0"/>
          </a:p>
        </p:txBody>
      </p:sp>
      <p:sp>
        <p:nvSpPr>
          <p:cNvPr id="446" name="textbox 446"/>
          <p:cNvSpPr/>
          <p:nvPr/>
        </p:nvSpPr>
        <p:spPr>
          <a:xfrm>
            <a:off x="9020175" y="6057900"/>
            <a:ext cx="22669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 ≤ x ≤ b 故 a ≤ b</a:t>
            </a:r>
            <a:endParaRPr sz="1800" dirty="0"/>
          </a:p>
        </p:txBody>
      </p:sp>
      <p:pic>
        <p:nvPicPr>
          <p:cNvPr id="2" name="图片 1" descr="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658600" cy="17037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6" name="picture 1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658600" cy="66675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2250" y="801370"/>
            <a:ext cx="6297295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#include&lt;iostream&gt;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#include&lt;vector&gt;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using namespace std;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vector&lt;int&gt;v={13,19,9,5,12,8,7,4,11,2,6,21};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void f(vector&lt;int&gt;&amp; v)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for(int i=0;i&lt;v.size()-1;i++)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	cout&lt;&lt;v[i]&lt;&lt;",";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cout&lt;&lt;v[v.size()-1]&lt;&lt;endl;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}//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输出数组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int Hoare_Partition(vector&lt;int&gt;&amp;v,int p,int r)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int x=v[p];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int i=p-1;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int j=r+1;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while(true)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           do{j=j-1;}		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                                while(v[j]&gt;x);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19545" y="76835"/>
            <a:ext cx="4752975" cy="7293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sym typeface="+mn-ea"/>
              </a:rPr>
              <a:t>do{i=i+1;}		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while(v[i]&lt;x);		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if(i&lt;j){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      int tmp=v[i];			v[i]=v[j];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	v[j]=tmp;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			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else {return j;			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}}//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划分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void quick_sort(vector&lt;int&gt;&amp; v,int p,int r)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if(p&lt;r)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int q=Hoare_Partition(v,p,r);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quick_sort(v,p,q);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    quick_sort(v,q+1,r);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}//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快排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int main()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	quick_sort(v,0,11);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f(v);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    return 0;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sym typeface="+mn-ea"/>
              </a:rPr>
              <a:t>}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6700" y="374650"/>
            <a:ext cx="4982845" cy="494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题</a:t>
            </a:r>
            <a:r>
              <a:rPr lang="en-US" altLang="zh-CN">
                <a:solidFill>
                  <a:schemeClr val="bg1"/>
                </a:solidFill>
              </a:rPr>
              <a:t>f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实现代码：</a:t>
            </a:r>
            <a:endParaRPr lang="zh-CN" altLang="en-US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5" name="图片 4" descr="f"/>
          <p:cNvPicPr>
            <a:picLocks noChangeAspect="1"/>
          </p:cNvPicPr>
          <p:nvPr/>
        </p:nvPicPr>
        <p:blipFill>
          <a:blip r:embed="rId2"/>
          <a:srcRect r="48668" b="-31429"/>
          <a:stretch>
            <a:fillRect/>
          </a:stretch>
        </p:blipFill>
        <p:spPr>
          <a:xfrm>
            <a:off x="128905" y="116840"/>
            <a:ext cx="600964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92275" y="1038225"/>
            <a:ext cx="8499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269240" y="31115"/>
          <a:ext cx="11389360" cy="6574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4680"/>
                <a:gridCol w="56946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ea typeface="宋体" panose="02010600030101010101" pitchFamily="2" charset="-122"/>
                        </a:rPr>
                        <a:t>分析维度</a:t>
                      </a:r>
                      <a:endParaRPr lang="zh-CN" altLang="en-US"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28682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1. 时间复杂度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平均情况：</a:t>
                      </a:r>
                      <a:r>
                        <a:rPr lang="en-US" altLang="zh-CN"/>
                        <a:t>O(NlogN)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zh-CN" altLang="en-US"/>
                        <a:t>• 快速排序在数据随机分布时，每次分区能将数组大致均分，递归深度</a:t>
                      </a:r>
                      <a:r>
                        <a:rPr lang="en-US" altLang="zh-CN"/>
                        <a:t>logN，</a:t>
                      </a:r>
                      <a:r>
                        <a:rPr lang="zh-CN" altLang="en-US"/>
                        <a:t>每层处理</a:t>
                      </a:r>
                      <a:r>
                        <a:rPr lang="en-US" altLang="zh-CN"/>
                        <a:t>N</a:t>
                      </a:r>
                      <a:r>
                        <a:rPr lang="zh-CN" altLang="en-US"/>
                        <a:t>个元素。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zh-CN" altLang="en-US"/>
                        <a:t>最坏情况：</a:t>
                      </a:r>
                      <a:r>
                        <a:rPr lang="en-US" altLang="zh-CN"/>
                        <a:t>O(N^ 2)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zh-CN" altLang="en-US"/>
                        <a:t>• 原因：代码始终选择第一个元素 </a:t>
                      </a:r>
                      <a:r>
                        <a:rPr lang="en-US" altLang="zh-CN"/>
                        <a:t>v[p] </a:t>
                      </a:r>
                      <a:r>
                        <a:rPr lang="zh-CN" altLang="en-US"/>
                        <a:t>作为枢轴。如果数组已经有序或逆序，或者像本例中数据分布极端，分区可能极不平衡（例如一边为空，另一边为 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en-US" altLang="zh-CN"/>
                        <a:t>N−1)</a:t>
                      </a:r>
                      <a:r>
                        <a:rPr lang="zh-CN" altLang="en-US">
                          <a:ea typeface="宋体" panose="02010600030101010101" pitchFamily="2" charset="-122"/>
                        </a:rPr>
                        <a:t>。</a:t>
                      </a:r>
                      <a:endParaRPr lang="zh-CN" altLang="en-US"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16027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2. 程序瓶颈与问题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枢轴选择策略单一 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zh-CN" altLang="en-US"/>
                        <a:t>• 问题：</a:t>
                      </a:r>
                      <a:r>
                        <a:rPr lang="en-US" altLang="zh-CN"/>
                        <a:t>int x = v[p]; </a:t>
                      </a:r>
                      <a:r>
                        <a:rPr lang="zh-CN" altLang="en-US"/>
                        <a:t>固定选取子数组的第一个元素作为枢轴。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• 影响：对于近乎有序的数组，这会导致快速排序退化为冒泡排序的效果，时间复杂度飙升至 </a:t>
                      </a:r>
                      <a:r>
                        <a:rPr lang="en-US" altLang="zh-CN"/>
                        <a:t>O(N^2)。</a:t>
                      </a:r>
                      <a:endParaRPr lang="en-US" altLang="zh-CN"/>
                    </a:p>
                  </a:txBody>
                  <a:tcPr/>
                </a:tc>
              </a:tr>
              <a:tr h="17373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3.</a:t>
                      </a:r>
                      <a:r>
                        <a:rPr lang="zh-CN" altLang="en-US"/>
                        <a:t> 改进方法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优化枢轴选择 (三数取中法)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• 方法：在 </a:t>
                      </a:r>
                      <a:r>
                        <a:rPr lang="en-US" altLang="zh-CN"/>
                        <a:t>Hoare_Partition </a:t>
                      </a:r>
                      <a:r>
                        <a:rPr lang="zh-CN" altLang="en-US"/>
                        <a:t>开始时，选取 </a:t>
                      </a:r>
                      <a:r>
                        <a:rPr lang="en-US" altLang="zh-CN"/>
                        <a:t>v[p], v[r], v[(p+r)/2] </a:t>
                      </a:r>
                      <a:r>
                        <a:rPr lang="zh-CN" altLang="en-US"/>
                        <a:t>三个数的中位数作为枢轴，并将其交换到 </a:t>
                      </a:r>
                      <a:r>
                        <a:rPr lang="en-US" altLang="zh-CN"/>
                        <a:t>v[p] </a:t>
                      </a:r>
                      <a:r>
                        <a:rPr lang="zh-CN" altLang="en-US"/>
                        <a:t>位置。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• 效果：极大降低最坏情况发生的概率，使算法在有序数组上也能保</a:t>
                      </a:r>
                      <a:r>
                        <a:rPr lang="en-US" altLang="zh-CN"/>
                        <a:t>O(NlogN)。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42*164"/>
  <p:tag name="TABLE_ENDDRAG_RECT" val="130*214*642*164"/>
</p:tagLst>
</file>

<file path=ppt/tags/tag2.xml><?xml version="1.0" encoding="utf-8"?>
<p:tagLst xmlns:p="http://schemas.openxmlformats.org/presentationml/2006/main">
  <p:tag name="TABLE_ENDDRAG_ORIGIN_RECT" val="896*511"/>
  <p:tag name="TABLE_ENDDRAG_RECT" val="21*2*896*511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4046</Words>
  <Application>WPS 演示</Application>
  <PresentationFormat/>
  <Paragraphs>275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王宇轩0319</cp:lastModifiedBy>
  <cp:revision>13</cp:revision>
  <dcterms:created xsi:type="dcterms:W3CDTF">2026-10-11T11:11:00Z</dcterms:created>
  <dcterms:modified xsi:type="dcterms:W3CDTF">2026-10-12T02:32:11Z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N">
    <vt:lpwstr>V1BTLUFJLUVuZ2luZQ</vt:lpwstr>
  </property>
  <property fmtid="{D5CDD505-2E9C-101B-9397-08002B2CF9AE}" pid="3" name="KSOProductBuildVer">
    <vt:lpwstr>2052-12.1.0.28022</vt:lpwstr>
  </property>
  <property fmtid="{D5CDD505-2E9C-101B-9397-08002B2CF9AE}" pid="4" name="ICV">
    <vt:lpwstr>572BED6A8FCA42C5931F248549F61D11_12</vt:lpwstr>
  </property>
</Properties>
</file>