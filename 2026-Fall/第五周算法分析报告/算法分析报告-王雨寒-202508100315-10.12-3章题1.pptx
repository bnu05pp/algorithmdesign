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66" r:id="rId4"/>
    <p:sldId id="258" r:id="rId5"/>
    <p:sldId id="26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0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0" userDrawn="1">
          <p15:clr>
            <a:srgbClr val="A4A3A4"/>
          </p15:clr>
        </p15:guide>
        <p15:guide id="2" pos="38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750"/>
        <p:guide pos="384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image" Target="../media/image3.png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2.png"/><Relationship Id="rId2" Type="http://schemas.openxmlformats.org/officeDocument/2006/relationships/tags" Target="../tags/tag18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23.xml"/><Relationship Id="rId1" Type="http://schemas.openxmlformats.org/officeDocument/2006/relationships/tags" Target="../tags/tag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image" Target="../media/image15.png"/><Relationship Id="rId10" Type="http://schemas.openxmlformats.org/officeDocument/2006/relationships/tags" Target="../tags/tag31.xml"/><Relationship Id="rId1" Type="http://schemas.openxmlformats.org/officeDocument/2006/relationships/tags" Target="../tags/tag2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6" Type="http://schemas.openxmlformats.org/officeDocument/2006/relationships/slideLayout" Target="../slideLayouts/slideLayout7.xml"/><Relationship Id="rId25" Type="http://schemas.openxmlformats.org/officeDocument/2006/relationships/tags" Target="../tags/tag60.xml"/><Relationship Id="rId24" Type="http://schemas.openxmlformats.org/officeDocument/2006/relationships/tags" Target="../tags/tag59.xml"/><Relationship Id="rId23" Type="http://schemas.openxmlformats.org/officeDocument/2006/relationships/tags" Target="../tags/tag58.xml"/><Relationship Id="rId22" Type="http://schemas.openxmlformats.org/officeDocument/2006/relationships/tags" Target="../tags/tag57.xml"/><Relationship Id="rId21" Type="http://schemas.openxmlformats.org/officeDocument/2006/relationships/tags" Target="../tags/tag56.xml"/><Relationship Id="rId20" Type="http://schemas.openxmlformats.org/officeDocument/2006/relationships/tags" Target="../tags/tag55.xml"/><Relationship Id="rId2" Type="http://schemas.openxmlformats.org/officeDocument/2006/relationships/tags" Target="../tags/tag37.xml"/><Relationship Id="rId19" Type="http://schemas.openxmlformats.org/officeDocument/2006/relationships/tags" Target="../tags/tag54.xml"/><Relationship Id="rId18" Type="http://schemas.openxmlformats.org/officeDocument/2006/relationships/tags" Target="../tags/tag53.xml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7" name="Ocean."/>
          <p:cNvSpPr txBox="1"/>
          <p:nvPr>
            <p:custDataLst>
              <p:tags r:id="rId1"/>
            </p:custDataLst>
          </p:nvPr>
        </p:nvSpPr>
        <p:spPr>
          <a:xfrm>
            <a:off x="3629025" y="2239645"/>
            <a:ext cx="4944745" cy="778510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 anchorCtr="0">
            <a:spAutoFit/>
          </a:bodyPr>
          <a:p>
            <a:pPr algn="dist"/>
            <a:r>
              <a:rPr lang="zh-CN" altLang="en-US"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Kabond"/>
              </a:rPr>
              <a:t>多项式的渐</a:t>
            </a:r>
            <a:r>
              <a:rPr lang="zh-CN" altLang="en-US" sz="4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Kabond"/>
              </a:rPr>
              <a:t>近行为</a:t>
            </a:r>
            <a:endParaRPr lang="zh-CN" altLang="en-US" sz="4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Kabond"/>
            </a:endParaRPr>
          </a:p>
        </p:txBody>
      </p:sp>
      <p:sp>
        <p:nvSpPr>
          <p:cNvPr id="23" name="TextBox 6"/>
          <p:cNvSpPr txBox="1"/>
          <p:nvPr/>
        </p:nvSpPr>
        <p:spPr>
          <a:xfrm>
            <a:off x="4255770" y="3342005"/>
            <a:ext cx="3691255" cy="4438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zh-CN" altLang="en-US" sz="20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五个渐近符号性质的定义与证明</a:t>
            </a:r>
            <a:endParaRPr lang="zh-CN" altLang="en-US" sz="2000" b="0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TextBox 6"/>
          <p:cNvSpPr txBox="1"/>
          <p:nvPr/>
        </p:nvSpPr>
        <p:spPr>
          <a:xfrm>
            <a:off x="3461385" y="4311015"/>
            <a:ext cx="6069965" cy="2787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zh-CN" altLang="en-US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算法设计与分析 大数据</a:t>
            </a:r>
            <a:r>
              <a:rPr lang="en-US" altLang="zh-CN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2501 </a:t>
            </a:r>
            <a:r>
              <a:rPr lang="zh-CN" altLang="en-US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李文颖</a:t>
            </a:r>
            <a:r>
              <a:rPr lang="en-US" altLang="zh-CN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王雨寒</a:t>
            </a:r>
            <a:r>
              <a:rPr lang="en-US" altLang="zh-CN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董姝曼</a:t>
            </a:r>
            <a:r>
              <a:rPr lang="en-US" altLang="zh-CN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徐涵文</a:t>
            </a:r>
            <a:r>
              <a:rPr lang="en-US" altLang="zh-CN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b="0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175385" y="658495"/>
            <a:ext cx="1495425" cy="4400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zh-CN" sz="2700" b="1" i="0">
                <a:solidFill>
                  <a:srgbClr val="172A4D"/>
                </a:solidFill>
                <a:latin typeface="微软雅黑" panose="020B0503020204020204" charset="-122"/>
              </a:rPr>
              <a:t>思考题</a:t>
            </a:r>
            <a:endParaRPr lang="zh-CN" sz="2700" b="1" i="0">
              <a:solidFill>
                <a:srgbClr val="172A4D"/>
              </a:solidFill>
              <a:latin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85800" y="1407160"/>
                <a:ext cx="10881360" cy="1178560"/>
              </a:xfrm>
              <a:prstGeom prst="rect">
                <a:avLst/>
              </a:prstGeom>
              <a:noFill/>
            </p:spPr>
            <p:txBody>
              <a:bodyPr wrap="square" lIns="73152" tIns="73152" rIns="73152" bIns="73152" anchor="t">
                <a:spAutoFit/>
              </a:bodyPr>
              <a:lstStyle/>
              <a:p>
                <a:pPr algn="l">
                  <a:lnSpc>
                    <a:spcPct val="150000"/>
                  </a:lnSpc>
                  <a:spcAft>
                    <a:spcPts val="0"/>
                  </a:spcAft>
                </a:pPr>
                <a:r>
                  <a:rPr lang="zh-CN" altLang="fr-FR" sz="20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Kabond"/>
                  </a:rPr>
                  <a:t>令</a:t>
                </a:r>
                <a:r>
                  <a:rPr lang="en-US" altLang="zh-CN" sz="20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Kabond"/>
                  </a:rPr>
                  <a:t>p(n)=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limLoc m:val="undOvr"/>
                        <m:ctrlP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Kabond"/>
                          </a:rPr>
                        </m:ctrlPr>
                      </m:naryPr>
                      <m:sub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Kabond"/>
                          </a:rPr>
                          <m:t>𝒊</m:t>
                        </m:r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  <a:sym typeface="Kabond"/>
                          </a:rPr>
                          <m:t>=</m:t>
                        </m:r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  <a:sym typeface="Kabond"/>
                          </a:rPr>
                          <m:t>𝟎</m:t>
                        </m:r>
                      </m:sub>
                      <m:sup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Kabond"/>
                          </a:rPr>
                          <m:t>𝒅</m:t>
                        </m:r>
                      </m:sup>
                      <m:e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Kabond"/>
                          </a:rPr>
                          <m:t>𝒂</m:t>
                        </m:r>
                        <m:r>
                          <a:rPr lang="en-US" altLang="zh-CN" sz="2000" b="1" i="1" baseline="-2500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Kabond"/>
                          </a:rPr>
                          <m:t>𝒊</m:t>
                        </m:r>
                        <m:r>
                          <a:rPr lang="en-US" altLang="zh-CN" sz="2000" b="1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Kabond"/>
                          </a:rPr>
                          <m:t>𝒏</m:t>
                        </m:r>
                        <m:r>
                          <a:rPr lang="en-US" altLang="zh-CN" sz="2000" b="1" i="1" baseline="30000">
                            <a:solidFill>
                              <a:schemeClr val="tx1"/>
                            </a:solidFill>
                            <a:latin typeface="Cambria Math" panose="02040503050406030204" charset="0"/>
                            <a:ea typeface="宋体" panose="02010600030101010101" pitchFamily="2" charset="-122"/>
                            <a:cs typeface="Cambria Math" panose="02040503050406030204" charset="0"/>
                            <a:sym typeface="Kabond"/>
                          </a:rPr>
                          <m:t>𝒊</m:t>
                        </m:r>
                      </m:e>
                    </m:nary>
                  </m:oMath>
                </a14:m>
                <a:r>
                  <a:rPr lang="zh-CN" altLang="en-US" sz="20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Kabond"/>
                  </a:rPr>
                  <a:t>是一个关于</a:t>
                </a:r>
                <a:r>
                  <a:rPr lang="en-US" altLang="zh-CN" sz="20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Kabond"/>
                  </a:rPr>
                  <a:t>n</a:t>
                </a:r>
                <a:r>
                  <a:rPr lang="zh-CN" altLang="en-US" sz="20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Kabond"/>
                  </a:rPr>
                  <a:t>的</a:t>
                </a:r>
                <a:r>
                  <a:rPr lang="en-US" altLang="zh-CN" sz="20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Kabond"/>
                  </a:rPr>
                  <a:t>d</a:t>
                </a:r>
                <a:r>
                  <a:rPr lang="zh-CN" altLang="en-US" sz="20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Kabond"/>
                  </a:rPr>
                  <a:t>次多项式，其中</a:t>
                </a:r>
                <a:r>
                  <a:rPr lang="en-US" altLang="zh-CN" sz="20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Kabond"/>
                  </a:rPr>
                  <a:t>a</a:t>
                </a:r>
                <a:r>
                  <a:rPr lang="en-US" altLang="zh-CN" sz="2000" b="1" baseline="-2500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Kabond"/>
                  </a:rPr>
                  <a:t>d</a:t>
                </a:r>
                <a:r>
                  <a:rPr lang="en-US" altLang="zh-CN" sz="20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Kabond"/>
                  </a:rPr>
                  <a:t>&gt;0</a:t>
                </a:r>
                <a:r>
                  <a:rPr lang="zh-CN" altLang="en-US" sz="20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Kabond"/>
                  </a:rPr>
                  <a:t>，并令</a:t>
                </a:r>
                <a:r>
                  <a:rPr lang="en-US" altLang="zh-CN" sz="20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Kabond"/>
                  </a:rPr>
                  <a:t>k</a:t>
                </a:r>
                <a:r>
                  <a:rPr lang="zh-CN" altLang="en-US" sz="2000" b="1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  <a:sym typeface="Kabond"/>
                  </a:rPr>
                  <a:t>是一个常量。使用渐进符号的定义来证明下列性质：</a:t>
                </a:r>
                <a:endParaRPr lang="zh-CN" altLang="en-US" sz="2000" b="1" i="0">
                  <a:solidFill>
                    <a:srgbClr val="28303C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  <a:sym typeface="Kabond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407160"/>
                <a:ext cx="10881360" cy="117856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part 01."/>
          <p:cNvSpPr txBox="1"/>
          <p:nvPr>
            <p:custDataLst>
              <p:tags r:id="rId2"/>
            </p:custDataLst>
          </p:nvPr>
        </p:nvSpPr>
        <p:spPr>
          <a:xfrm>
            <a:off x="1466215" y="2907665"/>
            <a:ext cx="4581525" cy="607695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 anchorCtr="0">
            <a:noAutofit/>
          </a:bodyPr>
          <a:p>
            <a:pPr lvl="0" algn="dist">
              <a:lnSpc>
                <a:spcPct val="100000"/>
              </a:lnSpc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Kabond"/>
              </a:rPr>
              <a:t>a.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Kabond"/>
              </a:rPr>
              <a:t>若</a:t>
            </a: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k≥d</a:t>
            </a:r>
            <a:r>
              <a:rPr lang="zh-CN" altLang="en-US" sz="24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Kabond"/>
              </a:rPr>
              <a:t>，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Kabond"/>
              </a:rPr>
              <a:t>则</a:t>
            </a: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p(n)=O(n</a:t>
            </a:r>
            <a:r>
              <a:rPr lang="en-US" altLang="zh-CN" sz="2000" b="1" baseline="30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k</a:t>
            </a: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)</a:t>
            </a:r>
            <a:endParaRPr lang="en-US" altLang="zh-CN" sz="2000" b="1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宋体" panose="02010600030101010101" pitchFamily="2" charset="-122"/>
              <a:sym typeface="Kabond"/>
            </a:endParaRPr>
          </a:p>
        </p:txBody>
      </p:sp>
      <p:sp>
        <p:nvSpPr>
          <p:cNvPr id="23" name="part 01."/>
          <p:cNvSpPr txBox="1"/>
          <p:nvPr>
            <p:custDataLst>
              <p:tags r:id="rId3"/>
            </p:custDataLst>
          </p:nvPr>
        </p:nvSpPr>
        <p:spPr>
          <a:xfrm>
            <a:off x="1466215" y="3493135"/>
            <a:ext cx="4572000" cy="607695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 anchorCtr="0">
            <a:noAutofit/>
          </a:bodyPr>
          <a:p>
            <a:pPr algn="dist">
              <a:buClrTx/>
              <a:buSzTx/>
              <a:buFontTx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Kabond"/>
              </a:rPr>
              <a:t>b.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Kabond"/>
              </a:rPr>
              <a:t>若</a:t>
            </a: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k≤d</a:t>
            </a:r>
            <a:r>
              <a:rPr lang="zh-CN" altLang="en-US"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Kabond"/>
              </a:rPr>
              <a:t>，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Kabond"/>
              </a:rPr>
              <a:t>则</a:t>
            </a: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p(n)=Ω(n</a:t>
            </a:r>
            <a:r>
              <a:rPr lang="en-US" altLang="zh-CN" sz="2000" b="1" baseline="30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k</a:t>
            </a: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)</a:t>
            </a:r>
            <a:endParaRPr lang="en-US" altLang="zh-CN" sz="2000" b="1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宋体" panose="02010600030101010101" pitchFamily="2" charset="-122"/>
              <a:sym typeface="Kabond"/>
            </a:endParaRPr>
          </a:p>
        </p:txBody>
      </p:sp>
      <p:sp>
        <p:nvSpPr>
          <p:cNvPr id="24" name="part 01."/>
          <p:cNvSpPr txBox="1"/>
          <p:nvPr>
            <p:custDataLst>
              <p:tags r:id="rId4"/>
            </p:custDataLst>
          </p:nvPr>
        </p:nvSpPr>
        <p:spPr>
          <a:xfrm>
            <a:off x="1466215" y="4078605"/>
            <a:ext cx="4572000" cy="607695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 anchorCtr="0">
            <a:noAutofit/>
          </a:bodyPr>
          <a:p>
            <a:pPr algn="dist">
              <a:buClrTx/>
              <a:buSzTx/>
              <a:buFontTx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Kabond"/>
              </a:rPr>
              <a:t>c.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Kabond"/>
              </a:rPr>
              <a:t>若</a:t>
            </a: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k=d</a:t>
            </a:r>
            <a:r>
              <a:rPr lang="zh-CN" altLang="en-US"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Kabond"/>
              </a:rPr>
              <a:t>，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Kabond"/>
              </a:rPr>
              <a:t>则</a:t>
            </a: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p(n)=Θ(n</a:t>
            </a:r>
            <a:r>
              <a:rPr lang="en-US" altLang="zh-CN" sz="2000" b="1" baseline="30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k</a:t>
            </a: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)</a:t>
            </a:r>
            <a:endParaRPr lang="en-US" altLang="zh-CN" sz="2000" b="1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宋体" panose="02010600030101010101" pitchFamily="2" charset="-122"/>
              <a:sym typeface="Kabond"/>
            </a:endParaRPr>
          </a:p>
        </p:txBody>
      </p:sp>
      <p:sp>
        <p:nvSpPr>
          <p:cNvPr id="25" name="part 01."/>
          <p:cNvSpPr txBox="1"/>
          <p:nvPr>
            <p:custDataLst>
              <p:tags r:id="rId5"/>
            </p:custDataLst>
          </p:nvPr>
        </p:nvSpPr>
        <p:spPr>
          <a:xfrm>
            <a:off x="1466215" y="4664075"/>
            <a:ext cx="4572000" cy="607695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 anchorCtr="0">
            <a:noAutofit/>
          </a:bodyPr>
          <a:p>
            <a:pPr algn="dist">
              <a:buClrTx/>
              <a:buSzTx/>
              <a:buFontTx/>
            </a:pPr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Kabond"/>
              </a:rPr>
              <a:t>d.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Kabond"/>
              </a:rPr>
              <a:t>若</a:t>
            </a: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k&gt;d</a:t>
            </a:r>
            <a:r>
              <a:rPr lang="zh-CN" altLang="en-US"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Kabond"/>
              </a:rPr>
              <a:t>，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Kabond"/>
              </a:rPr>
              <a:t>则</a:t>
            </a: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p(n)=o(n</a:t>
            </a:r>
            <a:r>
              <a:rPr lang="en-US" altLang="zh-CN" sz="2000" b="1" baseline="30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k</a:t>
            </a: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)</a:t>
            </a:r>
            <a:endParaRPr lang="en-US" altLang="zh-CN" sz="2000" b="1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宋体" panose="02010600030101010101" pitchFamily="2" charset="-122"/>
              <a:sym typeface="Kabond"/>
            </a:endParaRPr>
          </a:p>
        </p:txBody>
      </p:sp>
      <p:sp>
        <p:nvSpPr>
          <p:cNvPr id="26" name="part 01."/>
          <p:cNvSpPr txBox="1"/>
          <p:nvPr>
            <p:custDataLst>
              <p:tags r:id="rId6"/>
            </p:custDataLst>
          </p:nvPr>
        </p:nvSpPr>
        <p:spPr>
          <a:xfrm>
            <a:off x="1466215" y="5249545"/>
            <a:ext cx="4572000" cy="607695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 anchorCtr="0">
            <a:noAutofit/>
          </a:bodyPr>
          <a:p>
            <a:pPr algn="dist"/>
            <a:r>
              <a:rPr lang="en-US" altLang="zh-CN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Kabond"/>
              </a:rPr>
              <a:t>e.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Kabond"/>
              </a:rPr>
              <a:t>若</a:t>
            </a: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k&lt;d</a:t>
            </a:r>
            <a:r>
              <a:rPr lang="zh-CN" altLang="en-US" sz="2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Kabond"/>
              </a:rPr>
              <a:t>，</a:t>
            </a:r>
            <a:r>
              <a:rPr lang="zh-CN" altLang="en-US" sz="20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Kabond"/>
              </a:rPr>
              <a:t>则</a:t>
            </a: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p(n)=ω(n</a:t>
            </a:r>
            <a:r>
              <a:rPr lang="en-US" altLang="zh-CN" sz="2000" b="1" baseline="30000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k</a:t>
            </a:r>
            <a:r>
              <a:rPr lang="en-US" altLang="zh-CN" sz="2000" b="1">
                <a:solidFill>
                  <a:schemeClr val="tx1"/>
                </a:solidFill>
                <a:latin typeface="等线" panose="02010600030101010101" charset="-122"/>
                <a:ea typeface="等线" panose="02010600030101010101" charset="-122"/>
                <a:cs typeface="宋体" panose="02010600030101010101" pitchFamily="2" charset="-122"/>
                <a:sym typeface="Kabond"/>
              </a:rPr>
              <a:t>)</a:t>
            </a:r>
            <a:endParaRPr lang="en-US" altLang="zh-CN" sz="2000" b="1">
              <a:solidFill>
                <a:schemeClr val="tx1"/>
              </a:solidFill>
              <a:latin typeface="等线" panose="02010600030101010101" charset="-122"/>
              <a:ea typeface="等线" panose="02010600030101010101" charset="-122"/>
              <a:cs typeface="宋体" panose="02010600030101010101" pitchFamily="2" charset="-122"/>
              <a:sym typeface="Kab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57580" y="658495"/>
            <a:ext cx="3292475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2700" b="1" i="0">
                <a:solidFill>
                  <a:schemeClr val="tx1"/>
                </a:solidFill>
                <a:latin typeface="微软雅黑" panose="020B0503020204020204" charset="-122"/>
              </a:rPr>
              <a:t>五种渐近符号的定义</a:t>
            </a:r>
            <a:endParaRPr lang="zh-CN" sz="2700" b="1" i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612900" y="1435100"/>
            <a:ext cx="3496310" cy="4159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zh-CN" sz="2000" b="1">
                <a:solidFill>
                  <a:schemeClr val="accent1"/>
                </a:solidFill>
                <a:latin typeface="微软雅黑" panose="020B0503020204020204" charset="-122"/>
                <a:sym typeface="Kabond"/>
              </a:rPr>
              <a:t>O</a:t>
            </a:r>
            <a:r>
              <a:rPr lang="zh-CN" sz="2000" b="1" i="0">
                <a:solidFill>
                  <a:schemeClr val="accent1"/>
                </a:solidFill>
                <a:latin typeface="微软雅黑" panose="020B0503020204020204" charset="-122"/>
              </a:rPr>
              <a:t>：上界</a:t>
            </a:r>
            <a:r>
              <a:rPr lang="en-US" altLang="zh-CN" sz="2000" b="1" i="0">
                <a:solidFill>
                  <a:schemeClr val="accent1"/>
                </a:solidFill>
                <a:latin typeface="微软雅黑" panose="020B0503020204020204" charset="-122"/>
              </a:rPr>
              <a:t> </a:t>
            </a:r>
            <a:r>
              <a:rPr lang="zh-CN" sz="2000">
                <a:solidFill>
                  <a:schemeClr val="accent1"/>
                </a:solidFill>
                <a:latin typeface="微软雅黑" panose="020B0503020204020204" charset="-122"/>
                <a:sym typeface="+mn-ea"/>
              </a:rPr>
              <a:t>f(n)=O(g(n))</a:t>
            </a:r>
            <a:endParaRPr lang="zh-CN" sz="2400" b="0" i="0">
              <a:solidFill>
                <a:schemeClr val="accent1"/>
              </a:solidFill>
              <a:latin typeface="微软雅黑" panose="020B0503020204020204" charset="-122"/>
            </a:endParaRPr>
          </a:p>
          <a:p>
            <a:pPr algn="l">
              <a:spcAft>
                <a:spcPts val="700"/>
              </a:spcAft>
            </a:pPr>
            <a:endParaRPr lang="zh-CN" altLang="zh-CN" sz="2400" b="0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2391410" y="1809750"/>
            <a:ext cx="6202045" cy="342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dist">
              <a:spcAft>
                <a:spcPts val="700"/>
              </a:spcAft>
            </a:pP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存在常数c&gt;0与</a:t>
            </a:r>
            <a:r>
              <a:rPr lang="en-US" altLang="zh-CN" sz="2000" b="0" i="0">
                <a:solidFill>
                  <a:srgbClr val="28303C"/>
                </a:solidFill>
                <a:latin typeface="微软雅黑" panose="020B0503020204020204" charset="-122"/>
              </a:rPr>
              <a:t>n</a:t>
            </a:r>
            <a:r>
              <a:rPr lang="en-US" altLang="zh-CN" sz="2000" b="0" i="0" baseline="-25000">
                <a:solidFill>
                  <a:srgbClr val="28303C"/>
                </a:solidFill>
                <a:latin typeface="微软雅黑" panose="020B0503020204020204" charset="-122"/>
              </a:rPr>
              <a:t>0</a:t>
            </a: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，使 n≥</a:t>
            </a:r>
            <a:r>
              <a:rPr lang="en-US" altLang="zh-CN" sz="2000" b="0" i="0">
                <a:solidFill>
                  <a:srgbClr val="28303C"/>
                </a:solidFill>
                <a:latin typeface="微软雅黑" panose="020B0503020204020204" charset="-122"/>
              </a:rPr>
              <a:t>n</a:t>
            </a:r>
            <a:r>
              <a:rPr lang="en-US" altLang="zh-CN" sz="2000" b="0" i="0" baseline="-25000">
                <a:solidFill>
                  <a:srgbClr val="28303C"/>
                </a:solidFill>
                <a:latin typeface="微软雅黑" panose="020B0503020204020204" charset="-122"/>
              </a:rPr>
              <a:t>0</a:t>
            </a:r>
            <a:r>
              <a:rPr lang="zh-CN" sz="2000" b="0" i="0" baseline="-25000">
                <a:solidFill>
                  <a:srgbClr val="28303C"/>
                </a:solidFill>
                <a:latin typeface="微软雅黑" panose="020B0503020204020204" charset="-122"/>
              </a:rPr>
              <a:t> </a:t>
            </a: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时0≤f(n)≤cg(n)</a:t>
            </a:r>
            <a:endParaRPr lang="zh-CN" sz="2000" b="0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1612900" y="2438400"/>
            <a:ext cx="3362960" cy="4146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zh-CN" sz="2000" b="1">
                <a:solidFill>
                  <a:schemeClr val="accent1"/>
                </a:solidFill>
                <a:latin typeface="微软雅黑" panose="020B0503020204020204" charset="-122"/>
                <a:sym typeface="Kabond"/>
              </a:rPr>
              <a:t>Ω</a:t>
            </a:r>
            <a:r>
              <a:rPr lang="zh-CN" sz="2000" b="1" i="0">
                <a:solidFill>
                  <a:schemeClr val="accent1"/>
                </a:solidFill>
                <a:latin typeface="微软雅黑" panose="020B0503020204020204" charset="-122"/>
              </a:rPr>
              <a:t>：</a:t>
            </a:r>
            <a:r>
              <a:rPr lang="zh-CN" sz="2000" i="0">
                <a:solidFill>
                  <a:schemeClr val="accent1"/>
                </a:solidFill>
                <a:latin typeface="微软雅黑" panose="020B0503020204020204" charset="-122"/>
              </a:rPr>
              <a:t>下界 </a:t>
            </a:r>
            <a:r>
              <a:rPr lang="zh-CN" sz="2000">
                <a:solidFill>
                  <a:schemeClr val="accent1"/>
                </a:solidFill>
                <a:latin typeface="微软雅黑" panose="020B0503020204020204" charset="-122"/>
                <a:sym typeface="+mn-ea"/>
              </a:rPr>
              <a:t>f(n)=Ω(g(n))</a:t>
            </a:r>
            <a:endParaRPr lang="zh-CN" sz="2000" i="0">
              <a:solidFill>
                <a:schemeClr val="accent1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3" name="TextBox 12"/>
          <p:cNvSpPr txBox="1"/>
          <p:nvPr>
            <p:custDataLst>
              <p:tags r:id="rId4"/>
            </p:custDataLst>
          </p:nvPr>
        </p:nvSpPr>
        <p:spPr>
          <a:xfrm>
            <a:off x="2391410" y="2802890"/>
            <a:ext cx="6180455" cy="342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dist">
              <a:spcAft>
                <a:spcPts val="700"/>
              </a:spcAft>
            </a:pP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存在</a:t>
            </a: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常数c&gt;0和</a:t>
            </a:r>
            <a:r>
              <a:rPr lang="en-US" altLang="zh-CN" sz="2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n</a:t>
            </a:r>
            <a:r>
              <a:rPr lang="en-US" altLang="zh-CN" sz="2000" baseline="-25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0</a:t>
            </a: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，使n≥</a:t>
            </a:r>
            <a:r>
              <a:rPr lang="en-US" altLang="zh-CN" sz="2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n</a:t>
            </a:r>
            <a:r>
              <a:rPr lang="en-US" altLang="zh-CN" sz="2000" baseline="-25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0</a:t>
            </a: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时0≤cg(n)≤f(n)</a:t>
            </a:r>
            <a:endParaRPr lang="zh-CN" sz="2000" b="0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5"/>
            </p:custDataLst>
          </p:nvPr>
        </p:nvSpPr>
        <p:spPr>
          <a:xfrm>
            <a:off x="1612900" y="3440430"/>
            <a:ext cx="3293110" cy="4171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zh-CN" sz="2000" b="1">
                <a:solidFill>
                  <a:schemeClr val="accent1"/>
                </a:solidFill>
                <a:latin typeface="微软雅黑" panose="020B0503020204020204" charset="-122"/>
                <a:sym typeface="Kabond"/>
              </a:rPr>
              <a:t>Θ</a:t>
            </a:r>
            <a:r>
              <a:rPr lang="zh-CN" sz="2000" b="1" i="0">
                <a:solidFill>
                  <a:schemeClr val="accent1"/>
                </a:solidFill>
                <a:latin typeface="微软雅黑" panose="020B0503020204020204" charset="-122"/>
              </a:rPr>
              <a:t>：</a:t>
            </a:r>
            <a:r>
              <a:rPr lang="zh-CN" sz="2000" i="0">
                <a:solidFill>
                  <a:schemeClr val="accent1"/>
                </a:solidFill>
                <a:latin typeface="微软雅黑" panose="020B0503020204020204" charset="-122"/>
              </a:rPr>
              <a:t>同阶 </a:t>
            </a:r>
            <a:r>
              <a:rPr lang="zh-CN" sz="2000">
                <a:solidFill>
                  <a:schemeClr val="accent1"/>
                </a:solidFill>
                <a:latin typeface="微软雅黑" panose="020B0503020204020204" charset="-122"/>
                <a:sym typeface="+mn-ea"/>
              </a:rPr>
              <a:t>f(n)=Θ(g(n))</a:t>
            </a:r>
            <a:endParaRPr lang="zh-CN" altLang="zh-CN" sz="2000" b="0" i="0">
              <a:solidFill>
                <a:schemeClr val="accent1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2391410" y="3796030"/>
            <a:ext cx="7899400" cy="342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dist">
              <a:spcAft>
                <a:spcPts val="700"/>
              </a:spcAft>
            </a:pP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存在常数</a:t>
            </a:r>
            <a:r>
              <a:rPr lang="en-US" altLang="zh-CN" sz="2000" b="0" i="0">
                <a:solidFill>
                  <a:srgbClr val="28303C"/>
                </a:solidFill>
                <a:latin typeface="微软雅黑" panose="020B0503020204020204" charset="-122"/>
              </a:rPr>
              <a:t>c</a:t>
            </a:r>
            <a:r>
              <a:rPr lang="en-US" altLang="zh-CN" sz="2000" b="0" i="0" baseline="-25000">
                <a:solidFill>
                  <a:srgbClr val="28303C"/>
                </a:solidFill>
                <a:latin typeface="微软雅黑" panose="020B0503020204020204" charset="-122"/>
              </a:rPr>
              <a:t>1</a:t>
            </a:r>
            <a:r>
              <a:rPr lang="zh-CN" sz="2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，</a:t>
            </a:r>
            <a:r>
              <a:rPr lang="en-US" altLang="zh-CN" sz="2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c</a:t>
            </a:r>
            <a:r>
              <a:rPr lang="en-US" altLang="zh-CN" sz="2000" baseline="-25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2</a:t>
            </a: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&gt;0和</a:t>
            </a:r>
            <a:r>
              <a:rPr lang="en-US" altLang="zh-CN" sz="2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n</a:t>
            </a:r>
            <a:r>
              <a:rPr lang="en-US" altLang="zh-CN" sz="2000" baseline="-25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0</a:t>
            </a: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，使 n≥</a:t>
            </a:r>
            <a:r>
              <a:rPr lang="en-US" altLang="zh-CN" sz="2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n</a:t>
            </a:r>
            <a:r>
              <a:rPr lang="en-US" altLang="zh-CN" sz="2000" baseline="-25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0</a:t>
            </a: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时0≤</a:t>
            </a:r>
            <a:r>
              <a:rPr lang="en-US" altLang="zh-CN" sz="2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c</a:t>
            </a:r>
            <a:r>
              <a:rPr lang="en-US" altLang="zh-CN" sz="2000" baseline="-25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1</a:t>
            </a: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g(n)≤f(n)≤</a:t>
            </a:r>
            <a:r>
              <a:rPr lang="en-US" altLang="zh-CN" sz="2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c</a:t>
            </a:r>
            <a:r>
              <a:rPr lang="en-US" altLang="zh-CN" sz="2000" baseline="-25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2</a:t>
            </a: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g(n)</a:t>
            </a:r>
            <a:endParaRPr lang="zh-CN" sz="2000" b="0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7"/>
            </p:custDataLst>
          </p:nvPr>
        </p:nvSpPr>
        <p:spPr>
          <a:xfrm>
            <a:off x="1613535" y="4445000"/>
            <a:ext cx="3495675" cy="3429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Aft>
                <a:spcPts val="7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zh-CN" sz="2000" b="1">
                <a:solidFill>
                  <a:schemeClr val="accent1"/>
                </a:solidFill>
                <a:latin typeface="微软雅黑" panose="020B0503020204020204" charset="-122"/>
                <a:sym typeface="Kabond"/>
              </a:rPr>
              <a:t>o</a:t>
            </a:r>
            <a:r>
              <a:rPr lang="zh-CN" sz="2000" b="1" i="0">
                <a:solidFill>
                  <a:schemeClr val="accent1"/>
                </a:solidFill>
                <a:latin typeface="微软雅黑" panose="020B0503020204020204" charset="-122"/>
              </a:rPr>
              <a:t>：</a:t>
            </a:r>
            <a:r>
              <a:rPr lang="zh-CN" sz="2000" i="0">
                <a:solidFill>
                  <a:schemeClr val="accent1"/>
                </a:solidFill>
                <a:latin typeface="微软雅黑" panose="020B0503020204020204" charset="-122"/>
              </a:rPr>
              <a:t>严格慢 </a:t>
            </a:r>
            <a:r>
              <a:rPr lang="zh-CN" sz="2000">
                <a:solidFill>
                  <a:schemeClr val="accent1"/>
                </a:solidFill>
                <a:latin typeface="微软雅黑" panose="020B0503020204020204" charset="-122"/>
                <a:sym typeface="+mn-ea"/>
              </a:rPr>
              <a:t>f(n)=o(g(n))</a:t>
            </a:r>
            <a:endParaRPr lang="zh-CN" sz="2000" b="0" i="0">
              <a:solidFill>
                <a:schemeClr val="accent1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21" name="TextBox 20"/>
          <p:cNvSpPr txBox="1"/>
          <p:nvPr>
            <p:custDataLst>
              <p:tags r:id="rId8"/>
            </p:custDataLst>
          </p:nvPr>
        </p:nvSpPr>
        <p:spPr>
          <a:xfrm>
            <a:off x="2391410" y="4789170"/>
            <a:ext cx="8035925" cy="390525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dist">
              <a:spcAft>
                <a:spcPts val="700"/>
              </a:spcAft>
            </a:pP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对任意</a:t>
            </a: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常数c&gt;0，</a:t>
            </a:r>
            <a:r>
              <a:rPr lang="zh-CN" sz="2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存在</a:t>
            </a:r>
            <a:r>
              <a:rPr lang="en-US" altLang="zh-CN" sz="2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n</a:t>
            </a:r>
            <a:r>
              <a:rPr lang="en-US" altLang="zh-CN" sz="2000" baseline="-25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0</a:t>
            </a:r>
            <a:r>
              <a:rPr lang="zh-CN" sz="2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，使n≥</a:t>
            </a:r>
            <a:r>
              <a:rPr lang="en-US" altLang="zh-CN" sz="2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n</a:t>
            </a:r>
            <a:r>
              <a:rPr lang="en-US" altLang="zh-CN" sz="2000" baseline="-25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0</a:t>
            </a:r>
            <a:r>
              <a:rPr lang="zh-CN" sz="2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时</a:t>
            </a: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0≤f(n)&lt;cg(n)</a:t>
            </a:r>
            <a:endParaRPr lang="zh-CN" sz="2000" b="0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9"/>
            </p:custDataLst>
          </p:nvPr>
        </p:nvSpPr>
        <p:spPr>
          <a:xfrm>
            <a:off x="1612900" y="5375275"/>
            <a:ext cx="349631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spcAft>
                <a:spcPts val="700"/>
              </a:spcAft>
              <a:buFont typeface="Arial" panose="020B0604020202020204" pitchFamily="34" charset="0"/>
              <a:buChar char="•"/>
            </a:pPr>
            <a:r>
              <a:rPr lang="zh-CN" sz="2000" b="1">
                <a:solidFill>
                  <a:schemeClr val="accent1"/>
                </a:solidFill>
                <a:latin typeface="微软雅黑" panose="020B0503020204020204" charset="-122"/>
                <a:sym typeface="Kabond"/>
              </a:rPr>
              <a:t>ω</a:t>
            </a:r>
            <a:r>
              <a:rPr lang="zh-CN" sz="2000" i="0">
                <a:solidFill>
                  <a:schemeClr val="accent1"/>
                </a:solidFill>
                <a:latin typeface="微软雅黑" panose="020B0503020204020204" charset="-122"/>
              </a:rPr>
              <a:t>：严格快</a:t>
            </a:r>
            <a:r>
              <a:rPr lang="zh-CN" sz="2000">
                <a:solidFill>
                  <a:schemeClr val="accent1"/>
                </a:solidFill>
                <a:latin typeface="微软雅黑" panose="020B0503020204020204" charset="-122"/>
                <a:sym typeface="+mn-ea"/>
              </a:rPr>
              <a:t>f(n)=ω(g(n))</a:t>
            </a:r>
            <a:endParaRPr lang="zh-CN" sz="2000" i="0">
              <a:solidFill>
                <a:schemeClr val="accent1"/>
              </a:solidFill>
              <a:latin typeface="微软雅黑" panose="020B0503020204020204" charset="-122"/>
              <a:sym typeface="+mn-ea"/>
            </a:endParaRPr>
          </a:p>
        </p:txBody>
      </p:sp>
      <p:sp>
        <p:nvSpPr>
          <p:cNvPr id="25" name="TextBox 24"/>
          <p:cNvSpPr txBox="1"/>
          <p:nvPr>
            <p:custDataLst>
              <p:tags r:id="rId10"/>
            </p:custDataLst>
          </p:nvPr>
        </p:nvSpPr>
        <p:spPr>
          <a:xfrm>
            <a:off x="2391410" y="5829935"/>
            <a:ext cx="8056880" cy="342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dist">
              <a:spcAft>
                <a:spcPts val="700"/>
              </a:spcAft>
            </a:pP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对任意</a:t>
            </a: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常数c&gt;0，</a:t>
            </a:r>
            <a:r>
              <a:rPr lang="zh-CN" sz="2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存在</a:t>
            </a:r>
            <a:r>
              <a:rPr lang="en-US" altLang="zh-CN" sz="2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n</a:t>
            </a:r>
            <a:r>
              <a:rPr lang="en-US" altLang="zh-CN" sz="2000" baseline="-25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0</a:t>
            </a:r>
            <a:r>
              <a:rPr lang="zh-CN" sz="2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，使n≥</a:t>
            </a:r>
            <a:r>
              <a:rPr lang="en-US" altLang="zh-CN" sz="2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n</a:t>
            </a:r>
            <a:r>
              <a:rPr lang="en-US" altLang="zh-CN" sz="2000" baseline="-25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0</a:t>
            </a:r>
            <a:r>
              <a:rPr lang="zh-CN" sz="20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时</a:t>
            </a: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0≤cg(n)&lt;f(n)</a:t>
            </a:r>
            <a:endParaRPr lang="zh-CN" sz="2000" b="0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957580" y="658495"/>
            <a:ext cx="3292475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2700" b="1" i="0">
                <a:solidFill>
                  <a:schemeClr val="tx1"/>
                </a:solidFill>
                <a:latin typeface="微软雅黑" panose="020B0503020204020204" charset="-122"/>
              </a:rPr>
              <a:t>多项式的最高次</a:t>
            </a:r>
            <a:r>
              <a:rPr lang="zh-CN" sz="2700" b="1" i="0">
                <a:solidFill>
                  <a:schemeClr val="tx1"/>
                </a:solidFill>
                <a:latin typeface="微软雅黑" panose="020B0503020204020204" charset="-122"/>
              </a:rPr>
              <a:t>性质</a:t>
            </a:r>
            <a:endParaRPr lang="zh-CN" sz="2700" b="1" i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1562100" y="1473200"/>
                <a:ext cx="7456170" cy="45974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spcAft>
                    <a:spcPts val="700"/>
                  </a:spcAft>
                </a:pPr>
                <a:r>
                  <a:rPr lang="zh-CN" altLang="en-US" sz="2400" b="1">
                    <a:solidFill>
                      <a:srgbClr val="FF0000"/>
                    </a:solidFill>
                    <a:latin typeface="微软雅黑" panose="020B0503020204020204" charset="-122"/>
                    <a:sym typeface="Kabond"/>
                  </a:rPr>
                  <a:t>多项式</a:t>
                </a:r>
                <a:r>
                  <a:rPr lang="en-US" altLang="zh-CN" sz="2400" b="1">
                    <a:solidFill>
                      <a:srgbClr val="FF0000"/>
                    </a:solidFill>
                    <a:latin typeface="微软雅黑" panose="020B0503020204020204" charset="-122"/>
                    <a:sym typeface="Kabond"/>
                  </a:rPr>
                  <a:t>p(n)=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limLoc m:val="undOvr"/>
                        <m:ctrlPr>
                          <a:rPr lang="en-US" altLang="zh-CN" sz="2400" b="1">
                            <a:solidFill>
                              <a:srgbClr val="FF0000"/>
                            </a:solidFill>
                            <a:latin typeface="微软雅黑" panose="020B0503020204020204" charset="-122"/>
                            <a:sym typeface="Kabond"/>
                          </a:rPr>
                        </m:ctrlPr>
                      </m:naryPr>
                      <m:sub>
                        <m:r>
                          <a:rPr lang="en-US" altLang="zh-CN" sz="2400" b="1">
                            <a:solidFill>
                              <a:srgbClr val="FF0000"/>
                            </a:solidFill>
                            <a:latin typeface="微软雅黑" panose="020B0503020204020204" charset="-122"/>
                            <a:sym typeface="Kabond"/>
                          </a:rPr>
                          <m:t>𝒊</m:t>
                        </m:r>
                        <m:r>
                          <a:rPr lang="en-US" altLang="zh-CN" sz="2400" b="1">
                            <a:solidFill>
                              <a:srgbClr val="FF0000"/>
                            </a:solidFill>
                            <a:latin typeface="微软雅黑" panose="020B0503020204020204" charset="-122"/>
                            <a:sym typeface="Kabond"/>
                          </a:rPr>
                          <m:t>=</m:t>
                        </m:r>
                        <m:r>
                          <a:rPr lang="en-US" altLang="zh-CN" sz="2400" b="1">
                            <a:solidFill>
                              <a:srgbClr val="FF0000"/>
                            </a:solidFill>
                            <a:latin typeface="微软雅黑" panose="020B0503020204020204" charset="-122"/>
                            <a:sym typeface="Kabond"/>
                          </a:rPr>
                          <m:t>𝟎</m:t>
                        </m:r>
                      </m:sub>
                      <m:sup>
                        <m:r>
                          <a:rPr lang="en-US" altLang="zh-CN" sz="2400" b="1">
                            <a:solidFill>
                              <a:srgbClr val="FF0000"/>
                            </a:solidFill>
                            <a:latin typeface="微软雅黑" panose="020B0503020204020204" charset="-122"/>
                            <a:sym typeface="Kabond"/>
                          </a:rPr>
                          <m:t>𝒅</m:t>
                        </m:r>
                      </m:sup>
                      <m:e>
                        <m:r>
                          <a:rPr lang="en-US" altLang="zh-CN" sz="2400" b="1">
                            <a:solidFill>
                              <a:srgbClr val="FF0000"/>
                            </a:solidFill>
                            <a:latin typeface="微软雅黑" panose="020B0503020204020204" charset="-122"/>
                            <a:sym typeface="Kabond"/>
                          </a:rPr>
                          <m:t>𝒂</m:t>
                        </m:r>
                        <m:r>
                          <a:rPr lang="en-US" altLang="zh-CN" sz="2400" b="1" baseline="-25000">
                            <a:solidFill>
                              <a:srgbClr val="FF0000"/>
                            </a:solidFill>
                            <a:latin typeface="微软雅黑" panose="020B0503020204020204" charset="-122"/>
                            <a:sym typeface="Kabond"/>
                          </a:rPr>
                          <m:t>𝒊</m:t>
                        </m:r>
                        <m:r>
                          <a:rPr lang="en-US" altLang="zh-CN" sz="2400" b="1">
                            <a:solidFill>
                              <a:srgbClr val="FF0000"/>
                            </a:solidFill>
                            <a:latin typeface="微软雅黑" panose="020B0503020204020204" charset="-122"/>
                            <a:sym typeface="Kabond"/>
                          </a:rPr>
                          <m:t>𝒏</m:t>
                        </m:r>
                        <m:r>
                          <a:rPr lang="en-US" altLang="zh-CN" sz="2400" b="1" baseline="30000">
                            <a:solidFill>
                              <a:srgbClr val="FF0000"/>
                            </a:solidFill>
                            <a:latin typeface="微软雅黑" panose="020B0503020204020204" charset="-122"/>
                            <a:sym typeface="Kabond"/>
                          </a:rPr>
                          <m:t>𝒊</m:t>
                        </m:r>
                      </m:e>
                    </m:nary>
                  </m:oMath>
                </a14:m>
                <a:r>
                  <a:rPr lang="zh-CN" altLang="en-US" sz="2400">
                    <a:solidFill>
                      <a:srgbClr val="FF0000"/>
                    </a:solidFill>
                    <a:latin typeface="微软雅黑" panose="020B0503020204020204" charset="-122"/>
                    <a:sym typeface="Kabond"/>
                  </a:rPr>
                  <a:t>，</a:t>
                </a:r>
                <a:r>
                  <a:rPr lang="zh-CN" altLang="en-US" sz="2400" b="1">
                    <a:solidFill>
                      <a:srgbClr val="FF0000"/>
                    </a:solidFill>
                    <a:latin typeface="微软雅黑" panose="020B0503020204020204" charset="-122"/>
                    <a:sym typeface="Kabond"/>
                  </a:rPr>
                  <a:t>在</a:t>
                </a:r>
                <a:r>
                  <a:rPr lang="en-US" altLang="zh-CN" sz="2400" b="1">
                    <a:solidFill>
                      <a:srgbClr val="FF0000"/>
                    </a:solidFill>
                    <a:latin typeface="微软雅黑" panose="020B0503020204020204" charset="-122"/>
                    <a:sym typeface="Kabond"/>
                  </a:rPr>
                  <a:t>a</a:t>
                </a:r>
                <a:r>
                  <a:rPr lang="en-US" altLang="zh-CN" sz="2400" b="1" baseline="-25000">
                    <a:solidFill>
                      <a:srgbClr val="FF0000"/>
                    </a:solidFill>
                    <a:latin typeface="微软雅黑" panose="020B0503020204020204" charset="-122"/>
                    <a:sym typeface="Kabond"/>
                  </a:rPr>
                  <a:t>d</a:t>
                </a:r>
                <a:r>
                  <a:rPr lang="zh-CN" altLang="en-US" sz="2400" b="1">
                    <a:solidFill>
                      <a:srgbClr val="FF0000"/>
                    </a:solidFill>
                    <a:latin typeface="微软雅黑" panose="020B0503020204020204" charset="-122"/>
                    <a:sym typeface="Kabond"/>
                  </a:rPr>
                  <a:t>＞</a:t>
                </a:r>
                <a:r>
                  <a:rPr lang="en-US" altLang="zh-CN" sz="2400" b="1">
                    <a:solidFill>
                      <a:srgbClr val="FF0000"/>
                    </a:solidFill>
                    <a:latin typeface="微软雅黑" panose="020B0503020204020204" charset="-122"/>
                    <a:sym typeface="Kabond"/>
                  </a:rPr>
                  <a:t>0</a:t>
                </a:r>
                <a:r>
                  <a:rPr lang="zh-CN" altLang="en-US" sz="2400" b="1">
                    <a:solidFill>
                      <a:srgbClr val="FF0000"/>
                    </a:solidFill>
                    <a:latin typeface="微软雅黑" panose="020B0503020204020204" charset="-122"/>
                    <a:sym typeface="Kabond"/>
                  </a:rPr>
                  <a:t>，</a:t>
                </a:r>
                <a:r>
                  <a:rPr lang="en-US" altLang="zh-CN" sz="2400" b="1">
                    <a:solidFill>
                      <a:srgbClr val="FF0000"/>
                    </a:solidFill>
                    <a:latin typeface="微软雅黑" panose="020B0503020204020204" charset="-122"/>
                    <a:sym typeface="Kabond"/>
                  </a:rPr>
                  <a:t>n→∞</a:t>
                </a:r>
                <a:r>
                  <a:rPr lang="zh-CN" altLang="en-US" sz="2400" b="1">
                    <a:solidFill>
                      <a:srgbClr val="FF0000"/>
                    </a:solidFill>
                    <a:latin typeface="微软雅黑" panose="020B0503020204020204" charset="-122"/>
                    <a:sym typeface="Kabond"/>
                  </a:rPr>
                  <a:t>时，</a:t>
                </a:r>
                <a:r>
                  <a:rPr lang="en-US" altLang="zh-CN" sz="2400" b="1">
                    <a:solidFill>
                      <a:srgbClr val="FF0000"/>
                    </a:solidFill>
                    <a:latin typeface="微软雅黑" panose="020B0503020204020204" charset="-122"/>
                    <a:sym typeface="Kabond"/>
                  </a:rPr>
                  <a:t>p(n) </a:t>
                </a:r>
                <a:r>
                  <a:rPr lang="zh-CN" altLang="en-US" sz="2400" b="1">
                    <a:solidFill>
                      <a:srgbClr val="FF0000"/>
                    </a:solidFill>
                    <a:latin typeface="微软雅黑" panose="020B0503020204020204" charset="-122"/>
                    <a:sym typeface="Kabond"/>
                  </a:rPr>
                  <a:t>为正</a:t>
                </a:r>
                <a:endParaRPr lang="zh-CN" altLang="en-US" sz="2400" b="1">
                  <a:solidFill>
                    <a:srgbClr val="FF0000"/>
                  </a:solidFill>
                  <a:latin typeface="微软雅黑" panose="020B0503020204020204" charset="-122"/>
                  <a:sym typeface="Kabond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"/>
                </p:custDataLst>
              </p:nvPr>
            </p:nvSpPr>
            <p:spPr>
              <a:xfrm>
                <a:off x="1562100" y="1473200"/>
                <a:ext cx="7456170" cy="459740"/>
              </a:xfrm>
              <a:prstGeom prst="rect">
                <a:avLst/>
              </a:prstGeom>
              <a:blipFill rotWithShape="1">
                <a:blip r:embed="rId3"/>
                <a:stretch>
                  <a:fillRect t="-16575" b="-2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562100" y="2465070"/>
                <a:ext cx="6202045" cy="75311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noAutofit/>
              </a:bodyPr>
              <a:lstStyle/>
              <a:p>
                <a:pPr algn="l">
                  <a:spcAft>
                    <a:spcPts val="700"/>
                  </a:spcAft>
                </a:pPr>
                <a:r>
                  <a:rPr lang="en-US" alt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p(n)=a</a:t>
                </a:r>
                <a:r>
                  <a:rPr lang="en-US" altLang="zh-CN" sz="2000" b="0" i="0" baseline="-25000">
                    <a:solidFill>
                      <a:srgbClr val="28303C"/>
                    </a:solidFill>
                    <a:latin typeface="微软雅黑" panose="020B0503020204020204" charset="-122"/>
                  </a:rPr>
                  <a:t>d</a:t>
                </a:r>
                <a:r>
                  <a:rPr lang="en-US" alt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n</a:t>
                </a:r>
                <a:r>
                  <a:rPr lang="en-US" altLang="zh-CN" sz="2000" b="0" i="0" baseline="30000">
                    <a:solidFill>
                      <a:srgbClr val="28303C"/>
                    </a:solidFill>
                    <a:latin typeface="微软雅黑" panose="020B0503020204020204" charset="-122"/>
                  </a:rPr>
                  <a:t>d</a:t>
                </a:r>
                <a:r>
                  <a:rPr lang="en-US" alt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(1+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sup>
                        </m:sSup>
                      </m:den>
                    </m:f>
                    <m:r>
                      <a:rPr lang="en-US" altLang="zh-CN" sz="2000" b="0" i="1">
                        <a:solidFill>
                          <a:srgbClr val="28303C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+...+</m:t>
                    </m:r>
                    <m:f>
                      <m:fPr>
                        <m:ctrlPr>
                          <a:rPr lang="en-US" altLang="zh-CN" sz="20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)</a:t>
                </a:r>
                <a:endParaRPr lang="en-US" altLang="zh-CN" sz="2000" b="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</p:txBody>
          </p:sp>
        </mc:Choice>
        <mc:Fallback>
          <p:sp>
            <p:nvSpPr>
              <p:cNvPr id="31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1562100" y="2465070"/>
                <a:ext cx="6202045" cy="753110"/>
              </a:xfrm>
              <a:prstGeom prst="rect">
                <a:avLst/>
              </a:prstGeom>
              <a:blipFill rotWithShape="1">
                <a:blip r:embed="rId6"/>
                <a:stretch>
                  <a:fillRect t="-60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16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562100" y="3681095"/>
                <a:ext cx="7899400" cy="871855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spAutoFit/>
              </a:bodyPr>
              <a:lstStyle/>
              <a:p>
                <a:pPr algn="l">
                  <a:spcAft>
                    <a:spcPts val="700"/>
                  </a:spcAft>
                </a:pPr>
                <a:r>
                  <a:rPr lang="zh-CN" altLang="en-US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当</a:t>
                </a:r>
                <a:r>
                  <a:rPr lang="en-US" alt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n→∞</a:t>
                </a:r>
                <a:r>
                  <a:rPr lang="zh-CN" altLang="en-US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时，所有低次项对应的分式都趋于∞，</a:t>
                </a:r>
                <a:r>
                  <a:rPr lang="en-US" altLang="zh-CN" sz="20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p(n)=a</a:t>
                </a:r>
                <a:r>
                  <a:rPr lang="en-US" altLang="zh-CN" sz="2000" baseline="-250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d</a:t>
                </a:r>
                <a:r>
                  <a:rPr lang="en-US" altLang="zh-CN" sz="20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n</a:t>
                </a:r>
                <a:r>
                  <a:rPr lang="en-US" altLang="zh-CN" sz="2000" baseline="300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d</a:t>
                </a:r>
                <a:r>
                  <a:rPr lang="en-US" altLang="zh-CN" sz="20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(1+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0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−</m:t>
                            </m:r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sup>
                        </m:sSup>
                      </m:den>
                    </m:f>
                    <m:r>
                      <a:rPr lang="en-US" altLang="zh-CN" sz="2000" b="0" i="1">
                        <a:solidFill>
                          <a:srgbClr val="28303C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+...+</m:t>
                    </m:r>
                    <m:f>
                      <m:fPr>
                        <m:ctrlPr>
                          <a:rPr lang="en-US" altLang="zh-CN" sz="20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sz="2000" b="0" i="1">
                                <a:solidFill>
                                  <a:srgbClr val="28303C"/>
                                </a:solidFill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𝑑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0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)</a:t>
                </a:r>
                <a:r>
                  <a:rPr lang="en-US" alt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=</a:t>
                </a:r>
                <a:r>
                  <a:rPr lang="en-US" altLang="zh-CN" sz="20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a</a:t>
                </a:r>
                <a:r>
                  <a:rPr lang="en-US" altLang="zh-CN" sz="2000" baseline="-250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d</a:t>
                </a:r>
                <a:r>
                  <a:rPr lang="en-US" altLang="zh-CN" sz="20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n</a:t>
                </a:r>
                <a:r>
                  <a:rPr lang="en-US" altLang="zh-CN" sz="2000" baseline="300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d</a:t>
                </a:r>
                <a:r>
                  <a:rPr lang="en-US" altLang="zh-CN" sz="20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&gt;0</a:t>
                </a:r>
                <a:endParaRPr lang="en-US" altLang="zh-CN" sz="2000" b="0" i="0" baseline="30000">
                  <a:solidFill>
                    <a:srgbClr val="28303C"/>
                  </a:solidFill>
                  <a:latin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32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"/>
                </p:custDataLst>
              </p:nvPr>
            </p:nvSpPr>
            <p:spPr>
              <a:xfrm>
                <a:off x="1562100" y="3681095"/>
                <a:ext cx="7899400" cy="871855"/>
              </a:xfrm>
              <a:prstGeom prst="rect">
                <a:avLst/>
              </a:prstGeom>
              <a:blipFill rotWithShape="1">
                <a:blip r:embed="rId9"/>
                <a:stretch>
                  <a:fillRect t="-437" b="-2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16"/>
          <p:cNvSpPr txBox="1"/>
          <p:nvPr>
            <p:custDataLst>
              <p:tags r:id="rId10"/>
            </p:custDataLst>
          </p:nvPr>
        </p:nvSpPr>
        <p:spPr>
          <a:xfrm>
            <a:off x="1562100" y="5116830"/>
            <a:ext cx="4160520" cy="342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altLang="en-US" sz="2000" b="0" i="0">
                <a:solidFill>
                  <a:srgbClr val="28303C"/>
                </a:solidFill>
                <a:latin typeface="微软雅黑" panose="020B0503020204020204" charset="-122"/>
              </a:rPr>
              <a:t>由此可知，当</a:t>
            </a:r>
            <a:r>
              <a:rPr lang="en-US" altLang="zh-CN" sz="2000" b="0" i="0">
                <a:solidFill>
                  <a:srgbClr val="28303C"/>
                </a:solidFill>
                <a:latin typeface="微软雅黑" panose="020B0503020204020204" charset="-122"/>
              </a:rPr>
              <a:t>n</a:t>
            </a:r>
            <a:r>
              <a:rPr lang="zh-CN" altLang="en-US" sz="2000" b="0" i="0">
                <a:solidFill>
                  <a:srgbClr val="28303C"/>
                </a:solidFill>
                <a:latin typeface="微软雅黑" panose="020B0503020204020204" charset="-122"/>
              </a:rPr>
              <a:t>充分大时，</a:t>
            </a:r>
            <a:r>
              <a:rPr lang="en-US" altLang="zh-CN" sz="2000" b="0" i="0">
                <a:solidFill>
                  <a:srgbClr val="28303C"/>
                </a:solidFill>
                <a:latin typeface="微软雅黑" panose="020B0503020204020204" charset="-122"/>
              </a:rPr>
              <a:t>p(n) </a:t>
            </a:r>
            <a:r>
              <a:rPr lang="zh-CN" altLang="en-US" sz="2000" b="0" i="0">
                <a:solidFill>
                  <a:srgbClr val="28303C"/>
                </a:solidFill>
                <a:latin typeface="微软雅黑" panose="020B0503020204020204" charset="-122"/>
              </a:rPr>
              <a:t>为正</a:t>
            </a:r>
            <a:endParaRPr lang="zh-CN" altLang="en-US" sz="2000" b="0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59180" y="718058"/>
            <a:ext cx="1097280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2700" b="1" i="0">
                <a:solidFill>
                  <a:srgbClr val="172A4D"/>
                </a:solidFill>
                <a:latin typeface="微软雅黑" panose="020B0503020204020204" charset="-122"/>
              </a:rPr>
              <a:t>a ：证明 k ≥ d 时，p(n) = O(nᵏ)</a:t>
            </a:r>
            <a:endParaRPr lang="zh-CN" sz="2700" b="1" i="0">
              <a:solidFill>
                <a:srgbClr val="172A4D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33500" y="2143760"/>
            <a:ext cx="142113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2400" b="1" i="0">
                <a:solidFill>
                  <a:schemeClr val="accent1"/>
                </a:solidFill>
                <a:latin typeface="微软雅黑" panose="020B0503020204020204" charset="-122"/>
              </a:rPr>
              <a:t>逐步放缩：</a:t>
            </a:r>
            <a:endParaRPr lang="zh-CN" sz="24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333500" y="2626995"/>
                <a:ext cx="7633335" cy="490855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spAutoFit/>
              </a:bodyPr>
              <a:lstStyle/>
              <a:p>
                <a:pPr algn="dist">
                  <a:spcAft>
                    <a:spcPts val="700"/>
                  </a:spcAft>
                </a:pPr>
                <a:r>
                  <a:rPr lang="zh-CN" sz="21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p(n)=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limLoc m:val="undOvr"/>
                        <m:ctrlPr>
                          <a:rPr lang="en-US" altLang="zh-CN" sz="21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sz="21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sz="21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sz="21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  <m:sup>
                        <m:r>
                          <a:rPr lang="en-US" altLang="zh-CN" sz="21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sup>
                      <m:e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ᵢ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US" altLang="zh-CN" sz="2100" baseline="30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i</m:t>
                        </m:r>
                      </m:e>
                    </m:nary>
                  </m:oMath>
                </a14:m>
                <a:r>
                  <a:rPr lang="zh-CN" sz="21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≤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limLoc m:val="undOvr"/>
                        <m:ctrlP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naryPr>
                      <m:sub>
                        <m: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  <m: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=</m:t>
                        </m:r>
                        <m: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sub>
                      <m:sup>
                        <m: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𝑑</m:t>
                        </m:r>
                      </m:sup>
                      <m:e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|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ᵢ|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US" altLang="zh-CN" sz="2100" baseline="30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i</m:t>
                        </m:r>
                      </m:e>
                    </m:nary>
                  </m:oMath>
                </a14:m>
                <a:r>
                  <a:rPr lang="zh-CN" sz="21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≤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limLoc m:val="undOvr"/>
                        <m:ctrlP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naryPr>
                      <m:sub>
                        <m: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  <m: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=</m:t>
                        </m:r>
                        <m: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sub>
                      <m:sup>
                        <m: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𝑑</m:t>
                        </m:r>
                      </m:sup>
                      <m:e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|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ᵢ|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en-US" altLang="zh-CN" sz="2100" baseline="30000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𝑘</m:t>
                        </m:r>
                      </m:e>
                    </m:nary>
                  </m:oMath>
                </a14:m>
                <a:r>
                  <a:rPr lang="en-US" altLang="zh-CN" sz="21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100" b="0" i="0">
                        <a:solidFill>
                          <a:srgbClr val="28303C"/>
                        </a:solidFill>
                        <a:latin typeface="微软雅黑" panose="020B0503020204020204" charset="-122"/>
                      </a:rPr>
                      <m:t>(</m:t>
                    </m:r>
                    <m:nary>
                      <m:naryPr>
                        <m:chr m:val="∑"/>
                        <m:grow m:val="on"/>
                        <m:limLoc m:val="undOvr"/>
                        <m:ctrlP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naryPr>
                      <m:sub>
                        <m: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  <m: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=</m:t>
                        </m:r>
                        <m: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sub>
                      <m:sup>
                        <m: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𝑑</m:t>
                        </m:r>
                      </m:sup>
                      <m:e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|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ᵢ|</m:t>
                        </m:r>
                        <m:r>
                          <a:rPr lang="en-US" alt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)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en-US" altLang="zh-CN" sz="2100" baseline="30000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𝑘</m:t>
                        </m:r>
                      </m:e>
                    </m:nary>
                  </m:oMath>
                </a14:m>
                <a:endParaRPr lang="en-US" altLang="zh-CN" sz="2100" b="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500" y="2626995"/>
                <a:ext cx="7633335" cy="490855"/>
              </a:xfrm>
              <a:prstGeom prst="rect">
                <a:avLst/>
              </a:prstGeom>
              <a:blipFill rotWithShape="1">
                <a:blip r:embed="rId1"/>
                <a:stretch>
                  <a:fillRect t="-9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379220" y="4014470"/>
            <a:ext cx="1420495" cy="5327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zh-CN" sz="2400" b="1" i="0">
                <a:solidFill>
                  <a:schemeClr val="accent1"/>
                </a:solidFill>
                <a:latin typeface="微软雅黑" panose="020B0503020204020204" charset="-122"/>
              </a:rPr>
              <a:t>选择常数</a:t>
            </a:r>
            <a:r>
              <a:rPr lang="en-US" altLang="zh-CN" sz="2400" b="1" i="0">
                <a:solidFill>
                  <a:schemeClr val="accent1"/>
                </a:solidFill>
                <a:latin typeface="微软雅黑" panose="020B0503020204020204" charset="-122"/>
              </a:rPr>
              <a:t>:</a:t>
            </a:r>
            <a:endParaRPr lang="en-US" altLang="zh-CN" sz="24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1379220" y="4330065"/>
                <a:ext cx="4183380" cy="146177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noAutofit/>
              </a:bodyPr>
              <a:lstStyle/>
              <a:p>
                <a:pPr indent="0" algn="dist" fontAlgn="auto">
                  <a:lnSpc>
                    <a:spcPct val="150000"/>
                  </a:lnSpc>
                  <a:spcAft>
                    <a:spcPts val="700"/>
                  </a:spcAft>
                </a:pPr>
                <a:r>
                  <a:rPr lang="zh-CN" sz="21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取c=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limLoc m:val="undOvr"/>
                        <m:ctrlP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naryPr>
                      <m:sub>
                        <m: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  <m: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=</m:t>
                        </m:r>
                        <m: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sub>
                      <m:sup>
                        <m:r>
                          <a:rPr lang="en-US" altLang="zh-CN" sz="21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𝑑</m:t>
                        </m:r>
                      </m:sup>
                      <m:e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|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ᵢ|</m:t>
                        </m:r>
                      </m:e>
                    </m:nary>
                  </m:oMath>
                </a14:m>
                <a:r>
                  <a:rPr lang="zh-CN" sz="21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&gt;0，n</a:t>
                </a:r>
                <a:r>
                  <a:rPr lang="en-US" altLang="zh-CN" sz="2100" b="0" i="0" baseline="-25000">
                    <a:solidFill>
                      <a:schemeClr val="tx1"/>
                    </a:solidFill>
                    <a:latin typeface="微软雅黑" panose="020B0503020204020204" charset="-122"/>
                  </a:rPr>
                  <a:t>0</a:t>
                </a:r>
                <a:r>
                  <a:rPr lang="zh-CN" sz="21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=1</a:t>
                </a:r>
                <a:endParaRPr lang="zh-CN" sz="2100" b="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  <a:p>
                <a:pPr indent="0" algn="dist" fontAlgn="auto">
                  <a:lnSpc>
                    <a:spcPct val="150000"/>
                  </a:lnSpc>
                  <a:spcAft>
                    <a:spcPts val="700"/>
                  </a:spcAft>
                </a:pPr>
                <a:r>
                  <a:rPr lang="zh-CN" sz="21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则p(n)≤cnᵏ，故 p(n)=O(nᵏ)</a:t>
                </a:r>
                <a:endParaRPr lang="zh-CN" sz="2100" b="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220" y="4330065"/>
                <a:ext cx="4183380" cy="146177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51560" y="775208"/>
            <a:ext cx="1097280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2700" b="1" i="0">
                <a:solidFill>
                  <a:srgbClr val="172A4D"/>
                </a:solidFill>
                <a:latin typeface="微软雅黑" panose="020B0503020204020204" charset="-122"/>
              </a:rPr>
              <a:t>b ：证明 k ≤ d 时，p(n) = Ω(nᵏ)</a:t>
            </a:r>
            <a:endParaRPr lang="zh-CN" sz="2700" b="1" i="0">
              <a:solidFill>
                <a:srgbClr val="172A4D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5880" y="1796415"/>
            <a:ext cx="8669655" cy="3581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2100" b="0" i="0">
                <a:solidFill>
                  <a:srgbClr val="28303C"/>
                </a:solidFill>
                <a:latin typeface="微软雅黑" panose="020B0503020204020204" charset="-122"/>
              </a:rPr>
              <a:t>低次项系数 a</a:t>
            </a:r>
            <a:r>
              <a:rPr lang="en-US" altLang="zh-CN" sz="2100" b="0" i="0" baseline="-25000">
                <a:solidFill>
                  <a:srgbClr val="28303C"/>
                </a:solidFill>
                <a:latin typeface="微软雅黑" panose="020B0503020204020204" charset="-122"/>
              </a:rPr>
              <a:t>0</a:t>
            </a:r>
            <a:r>
              <a:rPr lang="en-US" altLang="zh-CN" sz="2100" b="0" i="0">
                <a:solidFill>
                  <a:srgbClr val="28303C"/>
                </a:solidFill>
                <a:latin typeface="微软雅黑" panose="020B0503020204020204" charset="-122"/>
              </a:rPr>
              <a:t>~</a:t>
            </a:r>
            <a:r>
              <a:rPr lang="zh-CN" sz="2100" b="0" i="0">
                <a:solidFill>
                  <a:srgbClr val="28303C"/>
                </a:solidFill>
                <a:latin typeface="微软雅黑" panose="020B0503020204020204" charset="-122"/>
              </a:rPr>
              <a:t>a</a:t>
            </a:r>
            <a:r>
              <a:rPr lang="en-US" altLang="zh-CN" sz="2100" b="0" i="0" baseline="-25000">
                <a:solidFill>
                  <a:srgbClr val="28303C"/>
                </a:solidFill>
                <a:latin typeface="微软雅黑" panose="020B0503020204020204" charset="-122"/>
              </a:rPr>
              <a:t>d-1</a:t>
            </a:r>
            <a:r>
              <a:rPr lang="zh-CN" sz="2100" b="0" i="0">
                <a:solidFill>
                  <a:srgbClr val="28303C"/>
                </a:solidFill>
                <a:latin typeface="微软雅黑" panose="020B0503020204020204" charset="-122"/>
              </a:rPr>
              <a:t>可能为负，因此不能直接p(n)≥</a:t>
            </a:r>
            <a:r>
              <a:rPr lang="zh-CN" sz="2100">
                <a:solidFill>
                  <a:srgbClr val="28303C"/>
                </a:solidFill>
                <a:latin typeface="微软雅黑" panose="020B0503020204020204" charset="-122"/>
                <a:sym typeface="+mn-ea"/>
              </a:rPr>
              <a:t>a</a:t>
            </a:r>
            <a:r>
              <a:rPr lang="en-US" altLang="zh-CN" sz="2100" b="0" i="0" baseline="-25000">
                <a:solidFill>
                  <a:srgbClr val="28303C"/>
                </a:solidFill>
                <a:latin typeface="微软雅黑" panose="020B0503020204020204" charset="-122"/>
              </a:rPr>
              <a:t>d</a:t>
            </a:r>
            <a:r>
              <a:rPr lang="zh-CN" sz="2100" b="0" i="0">
                <a:solidFill>
                  <a:srgbClr val="28303C"/>
                </a:solidFill>
                <a:latin typeface="微软雅黑" panose="020B0503020204020204" charset="-122"/>
              </a:rPr>
              <a:t>n</a:t>
            </a:r>
            <a:r>
              <a:rPr lang="en-US" altLang="zh-CN" sz="2100" b="0" i="0" baseline="30000">
                <a:solidFill>
                  <a:srgbClr val="28303C"/>
                </a:solidFill>
                <a:latin typeface="微软雅黑" panose="020B0503020204020204" charset="-122"/>
              </a:rPr>
              <a:t>d</a:t>
            </a:r>
            <a:endParaRPr lang="en-US" altLang="zh-CN" sz="2100" b="0" i="0" baseline="3000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647315"/>
            <a:ext cx="294005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2400" b="1" i="0">
                <a:solidFill>
                  <a:schemeClr val="accent1"/>
                </a:solidFill>
                <a:latin typeface="微软雅黑" panose="020B0503020204020204" charset="-122"/>
              </a:rPr>
              <a:t>先除以最高次幂 nᵈ</a:t>
            </a:r>
            <a:endParaRPr lang="zh-CN" sz="24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25880" y="4314190"/>
            <a:ext cx="5461000" cy="3429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当 n → ∞ 时，所有低次项分式都趋于 0</a:t>
            </a:r>
            <a:endParaRPr lang="zh-CN" sz="2000" b="0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1325880" y="5270500"/>
                <a:ext cx="10698480" cy="504825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spAutoFit/>
              </a:bodyPr>
              <a:lstStyle/>
              <a:p>
                <a:pPr algn="l">
                  <a:spcAft>
                    <a:spcPts val="700"/>
                  </a:spcAft>
                </a:pPr>
                <a:r>
                  <a:rPr lang="zh-CN" sz="2000" i="0">
                    <a:solidFill>
                      <a:srgbClr val="28303C"/>
                    </a:solidFill>
                    <a:latin typeface="微软雅黑" panose="020B0503020204020204" charset="-122"/>
                  </a:rPr>
                  <a:t>所以存在足够大的n</a:t>
                </a:r>
                <a:r>
                  <a:rPr lang="en-US" altLang="zh-CN" sz="2000" i="0" baseline="-25000">
                    <a:solidFill>
                      <a:srgbClr val="28303C"/>
                    </a:solidFill>
                    <a:latin typeface="微软雅黑" panose="020B0503020204020204" charset="-122"/>
                  </a:rPr>
                  <a:t>1</a:t>
                </a:r>
                <a:r>
                  <a:rPr lang="zh-CN" sz="2000" i="0">
                    <a:solidFill>
                      <a:srgbClr val="28303C"/>
                    </a:solidFill>
                    <a:latin typeface="微软雅黑" panose="020B0503020204020204" charset="-122"/>
                  </a:rPr>
                  <a:t>，使n≥</a:t>
                </a:r>
                <a:r>
                  <a:rPr lang="en-US" altLang="zh-CN" sz="2000" i="0">
                    <a:solidFill>
                      <a:srgbClr val="28303C"/>
                    </a:solidFill>
                    <a:latin typeface="微软雅黑" panose="020B0503020204020204" charset="-122"/>
                  </a:rPr>
                  <a:t>n</a:t>
                </a:r>
                <a:r>
                  <a:rPr lang="en-US" altLang="zh-CN" sz="2000" i="0" baseline="-25000">
                    <a:solidFill>
                      <a:srgbClr val="28303C"/>
                    </a:solidFill>
                    <a:latin typeface="微软雅黑" panose="020B0503020204020204" charset="-122"/>
                  </a:rPr>
                  <a:t>1</a:t>
                </a:r>
                <a:r>
                  <a:rPr lang="zh-CN" sz="2000" i="0">
                    <a:solidFill>
                      <a:srgbClr val="28303C"/>
                    </a:solidFill>
                    <a:latin typeface="微软雅黑" panose="020B0503020204020204" charset="-122"/>
                  </a:rPr>
                  <a:t>时，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𝑝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(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)</m:t>
                        </m:r>
                      </m:num>
                      <m:den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ᵈ</m:t>
                        </m:r>
                      </m:den>
                    </m:f>
                  </m:oMath>
                </a14:m>
                <a:r>
                  <a:rPr lang="zh-CN" sz="2000" i="0">
                    <a:solidFill>
                      <a:srgbClr val="28303C"/>
                    </a:solidFill>
                    <a:latin typeface="微软雅黑" panose="020B0503020204020204" charset="-122"/>
                  </a:rPr>
                  <a:t> ≥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en-US" altLang="zh-CN" sz="2000" baseline="-25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𝑑</m:t>
                        </m:r>
                      </m:num>
                      <m:den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sz="2000" i="0">
                    <a:solidFill>
                      <a:srgbClr val="28303C"/>
                    </a:solidFill>
                    <a:latin typeface="微软雅黑" panose="020B0503020204020204" charset="-122"/>
                  </a:rPr>
                  <a:t>，即 p(n) ≥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en-US" altLang="zh-CN" sz="2000" baseline="-25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𝑑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ᵈ</m:t>
                        </m:r>
                      </m:num>
                      <m:den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2</m:t>
                        </m:r>
                      </m:den>
                    </m:f>
                  </m:oMath>
                </a14:m>
                <a:endParaRPr lang="zh-CN" sz="200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880" y="5270500"/>
                <a:ext cx="10698480" cy="504825"/>
              </a:xfrm>
              <a:prstGeom prst="rect">
                <a:avLst/>
              </a:prstGeom>
              <a:blipFill rotWithShape="1">
                <a:blip r:embed="rId1"/>
                <a:stretch>
                  <a:fillRect b="-159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4"/>
              <p:cNvSpPr txBox="1"/>
              <p:nvPr/>
            </p:nvSpPr>
            <p:spPr>
              <a:xfrm>
                <a:off x="1395095" y="3227705"/>
                <a:ext cx="4953635" cy="540385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spAutoFit/>
              </a:bodyPr>
              <a:lstStyle/>
              <a:p>
                <a:pPr algn="dist">
                  <a:spcAft>
                    <a:spcPts val="7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𝑝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(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)</m:t>
                        </m:r>
                      </m:num>
                      <m:den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ᵈ</m:t>
                        </m:r>
                      </m:den>
                    </m:f>
                  </m:oMath>
                </a14:m>
                <a:r>
                  <a:rPr lang="zh-CN" sz="20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=a</a:t>
                </a:r>
                <a:r>
                  <a:rPr lang="en-US" altLang="zh-CN" sz="2000" baseline="-250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d</a:t>
                </a:r>
                <a:r>
                  <a:rPr lang="zh-CN" sz="20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en-US" altLang="zh-CN" sz="2000" baseline="-25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𝑑</m:t>
                        </m:r>
                        <m:r>
                          <a:rPr lang="en-US" altLang="zh-CN" sz="2000" baseline="-25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−</m:t>
                        </m:r>
                        <m:r>
                          <a:rPr lang="en-US" altLang="zh-CN" sz="2000" baseline="-25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1</m:t>
                        </m:r>
                      </m:num>
                      <m:den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</m:den>
                    </m:f>
                  </m:oMath>
                </a14:m>
                <a:r>
                  <a:rPr lang="zh-CN" sz="20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en-US" altLang="zh-CN" sz="2000" baseline="-25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𝑑</m:t>
                        </m:r>
                        <m:r>
                          <a:rPr lang="en-US" altLang="zh-CN" sz="2000" baseline="-25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−</m:t>
                        </m:r>
                        <m:r>
                          <a:rPr lang="en-US" altLang="zh-CN" sz="2000" baseline="-25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2</m:t>
                        </m:r>
                      </m:num>
                      <m:den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²</m:t>
                        </m:r>
                      </m:den>
                    </m:f>
                  </m:oMath>
                </a14:m>
                <a:r>
                  <a:rPr lang="zh-CN" sz="20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+…+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en-US" altLang="zh-CN" sz="2000" baseline="-25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0</m:t>
                        </m:r>
                      </m:num>
                      <m:den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ᵈ</m:t>
                        </m:r>
                        <m:r>
                          <a:rPr lang="zh-CN" sz="2000" b="0" i="0">
                            <a:solidFill>
                              <a:srgbClr val="28303C"/>
                            </a:solidFill>
                            <a:latin typeface="微软雅黑" panose="020B0503020204020204" charset="-122"/>
                          </a:rPr>
                          <m:t> </m:t>
                        </m:r>
                      </m:den>
                    </m:f>
                  </m:oMath>
                </a14:m>
                <a:endParaRPr lang="zh-CN" sz="2000" b="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</p:txBody>
          </p:sp>
        </mc:Choice>
        <mc:Fallback>
          <p:sp>
            <p:nvSpPr>
              <p:cNvPr id="17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095" y="3227705"/>
                <a:ext cx="4953635" cy="540385"/>
              </a:xfrm>
              <a:prstGeom prst="rect">
                <a:avLst/>
              </a:prstGeom>
              <a:blipFill rotWithShape="1">
                <a:blip r:embed="rId2"/>
                <a:stretch>
                  <a:fillRect b="-52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4"/>
              <p:cNvSpPr txBox="1"/>
              <p:nvPr/>
            </p:nvSpPr>
            <p:spPr>
              <a:xfrm>
                <a:off x="1325880" y="4794250"/>
                <a:ext cx="3740150" cy="48768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spAutoFit/>
              </a:bodyPr>
              <a:lstStyle/>
              <a:p>
                <a:pPr algn="dist">
                  <a:spcAft>
                    <a:spcPts val="700"/>
                  </a:spcAft>
                </a:pPr>
                <a:r>
                  <a:rPr 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因此</a:t>
                </a:r>
                <a:r>
                  <a:rPr lang="en-US" alt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n</a:t>
                </a:r>
                <a:r>
                  <a:rPr 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→∞，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𝑝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(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)</m:t>
                        </m:r>
                      </m:num>
                      <m:den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ᵈ</m:t>
                        </m:r>
                      </m:den>
                    </m:f>
                  </m:oMath>
                </a14:m>
                <a:r>
                  <a:rPr 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=a</a:t>
                </a:r>
                <a:r>
                  <a:rPr lang="en-US" altLang="zh-CN" sz="2000" b="0" i="0" baseline="-25000">
                    <a:solidFill>
                      <a:srgbClr val="28303C"/>
                    </a:solidFill>
                    <a:latin typeface="微软雅黑" panose="020B0503020204020204" charset="-122"/>
                  </a:rPr>
                  <a:t>d</a:t>
                </a:r>
                <a:r>
                  <a:rPr 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&gt;0</a:t>
                </a:r>
                <a:endParaRPr lang="zh-CN" sz="2000" b="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</p:txBody>
          </p:sp>
        </mc:Choice>
        <mc:Fallback>
          <p:sp>
            <p:nvSpPr>
              <p:cNvPr id="18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880" y="4794250"/>
                <a:ext cx="3740150" cy="487680"/>
              </a:xfrm>
              <a:prstGeom prst="rect">
                <a:avLst/>
              </a:prstGeom>
              <a:blipFill rotWithShape="1">
                <a:blip r:embed="rId3"/>
                <a:stretch>
                  <a:fillRect b="-6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55370" y="718058"/>
            <a:ext cx="1097280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2700" b="1" i="0">
                <a:solidFill>
                  <a:srgbClr val="172A4D"/>
                </a:solidFill>
                <a:latin typeface="微软雅黑" panose="020B0503020204020204" charset="-122"/>
              </a:rPr>
              <a:t>b ：</a:t>
            </a:r>
            <a:r>
              <a:rPr lang="zh-CN" sz="2700" b="1">
                <a:solidFill>
                  <a:srgbClr val="172A4D"/>
                </a:solidFill>
                <a:latin typeface="微软雅黑" panose="020B0503020204020204" charset="-122"/>
                <a:sym typeface="+mn-ea"/>
              </a:rPr>
              <a:t>证明 k ≤ d 时，p(n) = Ω(nᵏ)</a:t>
            </a:r>
            <a:endParaRPr lang="zh-CN" sz="2700" b="1" i="0">
              <a:solidFill>
                <a:srgbClr val="172A4D"/>
              </a:solidFill>
              <a:latin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254760" y="1645920"/>
                <a:ext cx="4281805" cy="365125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dist">
                  <a:spcAft>
                    <a:spcPts val="700"/>
                  </a:spcAft>
                </a:pPr>
                <a:r>
                  <a:rPr lang="zh-CN" sz="2200" i="0">
                    <a:solidFill>
                      <a:srgbClr val="28303C"/>
                    </a:solidFill>
                    <a:latin typeface="微软雅黑" panose="020B0503020204020204" charset="-122"/>
                  </a:rPr>
                  <a:t>当 n ≥ n₁ 时，p(n) ≥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2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zh-CN" sz="22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en-US" altLang="zh-CN" sz="2200" baseline="-25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𝑑</m:t>
                        </m:r>
                        <m:r>
                          <a:rPr lang="zh-CN" sz="22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US" altLang="zh-CN" sz="2200" baseline="30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d</m:t>
                        </m:r>
                      </m:num>
                      <m:den>
                        <m:r>
                          <a:rPr lang="en-US" altLang="zh-CN" sz="22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2</m:t>
                        </m:r>
                      </m:den>
                    </m:f>
                  </m:oMath>
                </a14:m>
                <a:endParaRPr lang="zh-CN" sz="1900" b="1" i="0">
                  <a:solidFill>
                    <a:srgbClr val="172A4D"/>
                  </a:solidFill>
                  <a:latin typeface="微软雅黑" panose="020B0503020204020204" charset="-122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760" y="1645920"/>
                <a:ext cx="4281805" cy="365125"/>
              </a:xfrm>
              <a:prstGeom prst="rect">
                <a:avLst/>
              </a:prstGeom>
              <a:blipFill rotWithShape="1">
                <a:blip r:embed="rId1"/>
                <a:stretch>
                  <a:fillRect t="-19130" b="-307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254760" y="2213610"/>
            <a:ext cx="5081905" cy="37401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dist">
              <a:spcAft>
                <a:spcPts val="700"/>
              </a:spcAft>
            </a:pPr>
            <a:r>
              <a:rPr lang="zh-CN" sz="2200" b="0" i="0">
                <a:solidFill>
                  <a:srgbClr val="28303C"/>
                </a:solidFill>
                <a:latin typeface="微软雅黑" panose="020B0503020204020204" charset="-122"/>
              </a:rPr>
              <a:t>由于 k ≤ d，且 n ≥ 1，所以 nᵏ ≤ nᵈ</a:t>
            </a:r>
            <a:endParaRPr lang="zh-CN" sz="2200" b="0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54760" y="5659755"/>
            <a:ext cx="1042416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2000" b="0" i="0">
                <a:solidFill>
                  <a:srgbClr val="28303C"/>
                </a:solidFill>
                <a:latin typeface="微软雅黑" panose="020B0503020204020204" charset="-122"/>
              </a:rPr>
              <a:t>利用极限是为了处理可能为负的低次项系数</a:t>
            </a:r>
            <a:endParaRPr lang="zh-CN" sz="2000" b="0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7"/>
          <p:cNvSpPr txBox="1"/>
          <p:nvPr/>
        </p:nvSpPr>
        <p:spPr>
          <a:xfrm>
            <a:off x="1254760" y="3813175"/>
            <a:ext cx="2871470" cy="2952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zh-CN" sz="2400" b="1" i="0">
                <a:solidFill>
                  <a:schemeClr val="accent1"/>
                </a:solidFill>
                <a:latin typeface="微软雅黑" panose="020B0503020204020204" charset="-122"/>
              </a:rPr>
              <a:t>选择常数</a:t>
            </a:r>
            <a:r>
              <a:rPr lang="en-US" altLang="zh-CN" sz="2400" b="1" i="0">
                <a:solidFill>
                  <a:schemeClr val="accent1"/>
                </a:solidFill>
                <a:latin typeface="微软雅黑" panose="020B0503020204020204" charset="-122"/>
              </a:rPr>
              <a:t>:</a:t>
            </a:r>
            <a:endParaRPr lang="en-US" altLang="zh-CN" sz="24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8"/>
          <p:cNvSpPr txBox="1"/>
          <p:nvPr/>
        </p:nvSpPr>
        <p:spPr>
          <a:xfrm>
            <a:off x="1254760" y="4782185"/>
            <a:ext cx="4254500" cy="41529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indent="0" algn="dist" fontAlgn="auto">
              <a:lnSpc>
                <a:spcPct val="100000"/>
              </a:lnSpc>
              <a:spcAft>
                <a:spcPts val="0"/>
              </a:spcAft>
            </a:pPr>
            <a:r>
              <a:rPr lang="zh-CN" sz="2100" b="0" i="0">
                <a:solidFill>
                  <a:srgbClr val="28303C"/>
                </a:solidFill>
                <a:latin typeface="微软雅黑" panose="020B0503020204020204" charset="-122"/>
              </a:rPr>
              <a:t>则p(n)≤cnᵏ，故 p(n)=O(nᵏ)</a:t>
            </a:r>
            <a:endParaRPr lang="zh-CN" sz="2100" b="0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6"/>
              <p:cNvSpPr txBox="1"/>
              <p:nvPr/>
            </p:nvSpPr>
            <p:spPr>
              <a:xfrm>
                <a:off x="1254760" y="2587625"/>
                <a:ext cx="5081905" cy="551815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spAutoFit/>
              </a:bodyPr>
              <a:lstStyle/>
              <a:p>
                <a:pPr algn="dist">
                  <a:spcAft>
                    <a:spcPts val="700"/>
                  </a:spcAft>
                </a:pPr>
                <a:r>
                  <a:rPr lang="zh-CN" sz="22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因此p(n) ≥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2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zh-CN" sz="22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en-US" altLang="zh-CN" sz="2200" baseline="-25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𝑑</m:t>
                        </m:r>
                        <m:r>
                          <a:rPr lang="zh-CN" sz="22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US" altLang="zh-CN" sz="2200" baseline="30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d</m:t>
                        </m:r>
                      </m:num>
                      <m:den>
                        <m:r>
                          <a:rPr lang="en-US" altLang="zh-CN" sz="22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sz="22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2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zh-CN" sz="22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en-US" altLang="zh-CN" sz="2200" baseline="-25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𝑑</m:t>
                        </m:r>
                        <m:r>
                          <a:rPr lang="zh-CN" sz="22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2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ᵏ</m:t>
                        </m:r>
                      </m:num>
                      <m:den>
                        <m:r>
                          <a:rPr lang="en-US" altLang="zh-CN" sz="22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2</m:t>
                        </m:r>
                      </m:den>
                    </m:f>
                  </m:oMath>
                </a14:m>
                <a:endParaRPr lang="zh-CN" sz="2200" b="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</p:txBody>
          </p:sp>
        </mc:Choice>
        <mc:Fallback>
          <p:sp>
            <p:nvSpPr>
              <p:cNvPr id="13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760" y="2587625"/>
                <a:ext cx="5081905" cy="551815"/>
              </a:xfrm>
              <a:prstGeom prst="rect">
                <a:avLst/>
              </a:prstGeom>
              <a:blipFill rotWithShape="1">
                <a:blip r:embed="rId2"/>
                <a:stretch>
                  <a:fillRect t="-94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8"/>
              <p:cNvSpPr txBox="1"/>
              <p:nvPr/>
            </p:nvSpPr>
            <p:spPr>
              <a:xfrm>
                <a:off x="1254760" y="4370705"/>
                <a:ext cx="3613150" cy="41148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noAutofit/>
              </a:bodyPr>
              <a:lstStyle/>
              <a:p>
                <a:pPr indent="0" algn="dist" fontAlgn="auto">
                  <a:lnSpc>
                    <a:spcPct val="100000"/>
                  </a:lnSpc>
                  <a:spcAft>
                    <a:spcPts val="0"/>
                  </a:spcAft>
                </a:pPr>
                <a:r>
                  <a:rPr lang="zh-CN" sz="21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取c=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1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a</m:t>
                        </m:r>
                        <m:r>
                          <a:rPr lang="en-US" altLang="zh-CN" sz="2100" baseline="-25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d</m:t>
                        </m:r>
                      </m:num>
                      <m:den>
                        <m:r>
                          <a:rPr lang="en-US" alt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sz="21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&gt;0，</a:t>
                </a:r>
                <a:r>
                  <a:rPr lang="en-US" altLang="zh-CN" sz="21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n</a:t>
                </a:r>
                <a:r>
                  <a:rPr lang="en-US" altLang="zh-CN" sz="2100" b="0" i="0" baseline="-25000">
                    <a:solidFill>
                      <a:srgbClr val="28303C"/>
                    </a:solidFill>
                    <a:latin typeface="微软雅黑" panose="020B0503020204020204" charset="-122"/>
                  </a:rPr>
                  <a:t>0</a:t>
                </a:r>
                <a:r>
                  <a:rPr lang="en-US" altLang="zh-CN" sz="21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=n</a:t>
                </a:r>
                <a:r>
                  <a:rPr lang="en-US" altLang="zh-CN" sz="2100" b="0" i="0" baseline="-25000">
                    <a:solidFill>
                      <a:srgbClr val="28303C"/>
                    </a:solidFill>
                    <a:latin typeface="微软雅黑" panose="020B0503020204020204" charset="-122"/>
                  </a:rPr>
                  <a:t>1</a:t>
                </a:r>
                <a:endParaRPr lang="zh-CN" sz="2100" b="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</p:txBody>
          </p:sp>
        </mc:Choice>
        <mc:Fallback>
          <p:sp>
            <p:nvSpPr>
              <p:cNvPr id="14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760" y="4370705"/>
                <a:ext cx="3613150" cy="411480"/>
              </a:xfrm>
              <a:prstGeom prst="rect">
                <a:avLst/>
              </a:prstGeom>
              <a:blipFill rotWithShape="1">
                <a:blip r:embed="rId3"/>
                <a:stretch>
                  <a:fillRect b="-325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57910" y="718185"/>
            <a:ext cx="550164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2700" b="1" i="0">
                <a:solidFill>
                  <a:srgbClr val="172A4D"/>
                </a:solidFill>
                <a:latin typeface="微软雅黑" panose="020B0503020204020204" charset="-122"/>
              </a:rPr>
              <a:t>c ：证明 k = d 时，p(n) = Θ(nᵏ)</a:t>
            </a:r>
            <a:endParaRPr lang="zh-CN" sz="2700" b="1" i="0">
              <a:solidFill>
                <a:srgbClr val="172A4D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03960" y="1417320"/>
            <a:ext cx="4211320" cy="3067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zh-CN" sz="2000" b="1" i="0">
                <a:solidFill>
                  <a:srgbClr val="172A4D"/>
                </a:solidFill>
                <a:latin typeface="微软雅黑" panose="020B0503020204020204" charset="-122"/>
              </a:rPr>
              <a:t>Θ 的定义要求同时存在上界和下界：</a:t>
            </a:r>
            <a:endParaRPr lang="zh-CN" sz="2000" b="1" i="0">
              <a:solidFill>
                <a:srgbClr val="172A4D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1"/>
            </p:custDataLst>
          </p:nvPr>
        </p:nvSpPr>
        <p:spPr>
          <a:xfrm>
            <a:off x="1267460" y="2170430"/>
            <a:ext cx="2031365" cy="3892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zh-CN" sz="2000" b="1" i="0">
                <a:solidFill>
                  <a:schemeClr val="accent1"/>
                </a:solidFill>
                <a:latin typeface="微软雅黑" panose="020B0503020204020204" charset="-122"/>
              </a:rPr>
              <a:t>上界：来自 a 题</a:t>
            </a:r>
            <a:endParaRPr lang="zh-CN" sz="20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1524000" y="2680970"/>
            <a:ext cx="1410335" cy="3073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700"/>
              </a:spcAft>
              <a:buClrTx/>
              <a:buSzTx/>
              <a:buFontTx/>
            </a:pPr>
            <a:r>
              <a:rPr lang="zh-CN" sz="1800" b="0" i="0">
                <a:solidFill>
                  <a:srgbClr val="28303C"/>
                </a:solidFill>
                <a:latin typeface="微软雅黑" panose="020B0503020204020204" charset="-122"/>
              </a:rPr>
              <a:t>当 k=d 时，</a:t>
            </a:r>
            <a:endParaRPr lang="zh-CN" sz="1800" b="0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3"/>
            </p:custDataLst>
          </p:nvPr>
        </p:nvSpPr>
        <p:spPr>
          <a:xfrm>
            <a:off x="6757670" y="2150745"/>
            <a:ext cx="2031365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zh-CN" sz="2000" b="1" i="0">
                <a:solidFill>
                  <a:srgbClr val="208C87"/>
                </a:solidFill>
                <a:latin typeface="微软雅黑" panose="020B0503020204020204" charset="-122"/>
              </a:rPr>
              <a:t>下界：来自 b 题</a:t>
            </a:r>
            <a:endParaRPr lang="zh-CN" sz="2000" b="1" i="0">
              <a:solidFill>
                <a:srgbClr val="208C87"/>
              </a:solidFill>
              <a:latin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7108825" y="3321050"/>
                <a:ext cx="2921635" cy="55753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spAutoFit/>
              </a:bodyPr>
              <a:lstStyle/>
              <a:p>
                <a:pPr algn="l">
                  <a:spcAft>
                    <a:spcPts val="700"/>
                  </a:spcAft>
                </a:pPr>
                <a:r>
                  <a:rPr lang="zh-CN" sz="17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充分大时 p(n)≥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7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zh-CN" sz="17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en-US" altLang="zh-CN" sz="1700" baseline="-25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𝑑</m:t>
                        </m:r>
                        <m:r>
                          <a:rPr lang="zh-CN" sz="17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17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ᵏ</m:t>
                        </m:r>
                      </m:num>
                      <m:den>
                        <m:r>
                          <a:rPr lang="en-US" altLang="zh-CN" sz="17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sz="17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 </a:t>
                </a:r>
                <a:endParaRPr lang="zh-CN" sz="1700" b="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5"/>
                </p:custDataLst>
              </p:nvPr>
            </p:nvSpPr>
            <p:spPr>
              <a:xfrm>
                <a:off x="7108825" y="3321050"/>
                <a:ext cx="2921635" cy="55753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249680" y="4398645"/>
            <a:ext cx="3147695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2400" b="1" i="0">
                <a:solidFill>
                  <a:schemeClr val="accent1"/>
                </a:solidFill>
                <a:latin typeface="微软雅黑" panose="020B0503020204020204" charset="-122"/>
              </a:rPr>
              <a:t>合并两个不等式：</a:t>
            </a:r>
            <a:endParaRPr lang="zh-CN" sz="1900" b="1" i="0">
              <a:solidFill>
                <a:srgbClr val="172A4D"/>
              </a:solidFill>
              <a:latin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1295400" y="4800600"/>
                <a:ext cx="5897880" cy="57277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spAutoFit/>
              </a:bodyPr>
              <a:lstStyle/>
              <a:p>
                <a:pPr algn="l">
                  <a:spcAft>
                    <a:spcPts val="700"/>
                  </a:spcAft>
                </a:pPr>
                <a:r>
                  <a:rPr lang="zh-CN" sz="23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0 ≤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3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zh-CN" sz="23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en-US" altLang="zh-CN" sz="2300" baseline="-25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𝑑</m:t>
                        </m:r>
                        <m:r>
                          <a:rPr lang="zh-CN" sz="23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3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ᵏ</m:t>
                        </m:r>
                      </m:num>
                      <m:den>
                        <m:r>
                          <a:rPr lang="en-US" altLang="zh-CN" sz="23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sz="23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 ≤ p(n) ≤ </a:t>
                </a:r>
                <a14:m>
                  <m:oMath xmlns:m="http://schemas.openxmlformats.org/officeDocument/2006/math">
                    <m:r>
                      <a:rPr lang="en-US" altLang="zh-CN" sz="2300" b="0" i="0">
                        <a:solidFill>
                          <a:srgbClr val="28303C"/>
                        </a:solidFill>
                        <a:latin typeface="微软雅黑" panose="020B0503020204020204" charset="-122"/>
                      </a:rPr>
                      <m:t>(</m:t>
                    </m:r>
                    <m:nary>
                      <m:naryPr>
                        <m:chr m:val="∑"/>
                        <m:grow m:val="on"/>
                        <m:limLoc m:val="undOvr"/>
                        <m:ctrlPr>
                          <a:rPr lang="en-US" altLang="zh-CN" sz="23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naryPr>
                      <m:sub>
                        <m:r>
                          <a:rPr lang="en-US" altLang="zh-CN" sz="23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  <m:r>
                          <a:rPr lang="en-US" altLang="zh-CN" sz="23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=</m:t>
                        </m:r>
                        <m:r>
                          <a:rPr lang="en-US" altLang="zh-CN" sz="23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sub>
                      <m:sup>
                        <m:r>
                          <a:rPr lang="en-US" altLang="zh-CN" sz="230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𝑑</m:t>
                        </m:r>
                      </m:sup>
                      <m:e>
                        <m:r>
                          <a:rPr lang="zh-CN" sz="23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|</m:t>
                        </m:r>
                        <m:r>
                          <a:rPr lang="zh-CN" sz="23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zh-CN" sz="23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ᵢ|</m:t>
                        </m:r>
                        <m:r>
                          <a:rPr lang="en-US" altLang="zh-CN" sz="23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)</m:t>
                        </m:r>
                        <m:r>
                          <a:rPr lang="zh-CN" sz="23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en-US" altLang="zh-CN" sz="2300" baseline="30000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𝑘</m:t>
                        </m:r>
                      </m:e>
                    </m:nary>
                  </m:oMath>
                </a14:m>
                <a:endParaRPr lang="zh-CN" sz="2300" b="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00600"/>
                <a:ext cx="5897880" cy="572770"/>
              </a:xfrm>
              <a:prstGeom prst="rect">
                <a:avLst/>
              </a:prstGeom>
              <a:blipFill rotWithShape="1">
                <a:blip r:embed="rId7"/>
                <a:stretch>
                  <a:fillRect t="-9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1249680" y="5768340"/>
            <a:ext cx="8780780" cy="307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2000" i="0">
                <a:solidFill>
                  <a:srgbClr val="28303C"/>
                </a:solidFill>
                <a:latin typeface="微软雅黑" panose="020B0503020204020204" charset="-122"/>
              </a:rPr>
              <a:t>故 p(n)=Θ(nᵏ)，同阶增长速度既有常数倍下界，也有常数倍上界</a:t>
            </a:r>
            <a:endParaRPr lang="zh-CN" sz="2000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p:sp>
        <p:nvSpPr>
          <p:cNvPr id="18" name="TextBox 9"/>
          <p:cNvSpPr txBox="1"/>
          <p:nvPr>
            <p:custDataLst>
              <p:tags r:id="rId8"/>
            </p:custDataLst>
          </p:nvPr>
        </p:nvSpPr>
        <p:spPr>
          <a:xfrm>
            <a:off x="1524000" y="3006090"/>
            <a:ext cx="2794635" cy="314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dist">
              <a:spcAft>
                <a:spcPts val="700"/>
              </a:spcAft>
            </a:pPr>
            <a:r>
              <a:rPr lang="zh-CN" b="0" i="0">
                <a:solidFill>
                  <a:srgbClr val="28303C"/>
                </a:solidFill>
                <a:latin typeface="微软雅黑" panose="020B0503020204020204" charset="-122"/>
              </a:rPr>
              <a:t>p(n)=O(nᵈ)=O(nᵏ)</a:t>
            </a:r>
            <a:endParaRPr lang="zh-CN" b="0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9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524000" y="3338830"/>
                <a:ext cx="2031365" cy="50165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noAutofit/>
              </a:bodyPr>
              <a:lstStyle/>
              <a:p>
                <a:pPr algn="l">
                  <a:spcAft>
                    <a:spcPts val="700"/>
                  </a:spcAft>
                </a:pPr>
                <a:r>
                  <a:rPr lang="zh-CN" sz="18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可取 c</a:t>
                </a:r>
                <a:r>
                  <a:rPr lang="en-US" altLang="zh-CN" sz="1800" baseline="-250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2</a:t>
                </a:r>
                <a:r>
                  <a:rPr lang="zh-CN" sz="18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=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limLoc m:val="undOvr"/>
                        <m:ctrlPr>
                          <a:rPr lang="en-US" altLang="zh-CN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naryPr>
                      <m:sub>
                        <m:r>
                          <a:rPr lang="en-US" altLang="zh-CN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𝑖</m:t>
                        </m:r>
                        <m:r>
                          <a:rPr lang="en-US" altLang="zh-CN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=</m:t>
                        </m:r>
                        <m:r>
                          <a:rPr lang="en-US" altLang="zh-CN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𝑑</m:t>
                        </m:r>
                      </m:sup>
                      <m:e>
                        <m:r>
                          <a:rPr lang="zh-CN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|</m:t>
                        </m:r>
                        <m:r>
                          <a:rPr lang="zh-CN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zh-CN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ᵢ|</m:t>
                        </m:r>
                      </m:e>
                    </m:nary>
                  </m:oMath>
                </a14:m>
                <a:endParaRPr lang="zh-CN" sz="1700" b="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</p:txBody>
          </p:sp>
        </mc:Choice>
        <mc:Fallback>
          <p:sp>
            <p:nvSpPr>
              <p:cNvPr id="19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1524000" y="3338830"/>
                <a:ext cx="2031365" cy="50165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3"/>
          <p:cNvSpPr txBox="1"/>
          <p:nvPr>
            <p:custDataLst>
              <p:tags r:id="rId12"/>
            </p:custDataLst>
          </p:nvPr>
        </p:nvSpPr>
        <p:spPr>
          <a:xfrm>
            <a:off x="7077710" y="2689860"/>
            <a:ext cx="1169035" cy="3162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zh-CN" sz="1700" b="0" i="0">
                <a:solidFill>
                  <a:srgbClr val="28303C"/>
                </a:solidFill>
                <a:latin typeface="微软雅黑" panose="020B0503020204020204" charset="-122"/>
              </a:rPr>
              <a:t>当 k=d 时，</a:t>
            </a:r>
            <a:endParaRPr lang="zh-CN" sz="1700" b="0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p:sp>
        <p:nvSpPr>
          <p:cNvPr id="21" name="TextBox 13"/>
          <p:cNvSpPr txBox="1"/>
          <p:nvPr>
            <p:custDataLst>
              <p:tags r:id="rId13"/>
            </p:custDataLst>
          </p:nvPr>
        </p:nvSpPr>
        <p:spPr>
          <a:xfrm>
            <a:off x="7077710" y="3006090"/>
            <a:ext cx="2717800" cy="3327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dist">
              <a:spcAft>
                <a:spcPts val="700"/>
              </a:spcAft>
            </a:pPr>
            <a:r>
              <a:rPr lang="zh-CN" sz="1700" b="0" i="0">
                <a:solidFill>
                  <a:srgbClr val="28303C"/>
                </a:solidFill>
                <a:latin typeface="微软雅黑" panose="020B0503020204020204" charset="-122"/>
              </a:rPr>
              <a:t>p(n)=Ω(nᵈ)=Ω(nᵏ)</a:t>
            </a:r>
            <a:endParaRPr lang="zh-CN" sz="1700" b="0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p:sp>
        <p:nvSpPr>
          <p:cNvPr id="23" name="矩形 22"/>
          <p:cNvSpPr/>
          <p:nvPr>
            <p:custDataLst>
              <p:tags r:id="rId14"/>
            </p:custDataLst>
          </p:nvPr>
        </p:nvSpPr>
        <p:spPr>
          <a:xfrm>
            <a:off x="1057910" y="2030095"/>
            <a:ext cx="3510280" cy="195453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  <p:sp>
        <p:nvSpPr>
          <p:cNvPr id="24" name="矩形 23"/>
          <p:cNvSpPr/>
          <p:nvPr>
            <p:custDataLst>
              <p:tags r:id="rId15"/>
            </p:custDataLst>
          </p:nvPr>
        </p:nvSpPr>
        <p:spPr>
          <a:xfrm>
            <a:off x="6544310" y="2030095"/>
            <a:ext cx="3510280" cy="195453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54735" y="718185"/>
            <a:ext cx="534035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2700" b="1" i="0">
                <a:solidFill>
                  <a:srgbClr val="172A4D"/>
                </a:solidFill>
                <a:latin typeface="微软雅黑" panose="020B0503020204020204" charset="-122"/>
              </a:rPr>
              <a:t>d ：证明 k &gt; d 时，p(n) = o(nᵏ)</a:t>
            </a:r>
            <a:endParaRPr lang="zh-CN" sz="2700" b="1" i="0">
              <a:solidFill>
                <a:srgbClr val="172A4D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33475" y="1591310"/>
            <a:ext cx="2303780" cy="4152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zh-CN" sz="2400" b="1" i="0">
                <a:solidFill>
                  <a:schemeClr val="accent1"/>
                </a:solidFill>
                <a:latin typeface="微软雅黑" panose="020B0503020204020204" charset="-122"/>
              </a:rPr>
              <a:t>把多项式除以 nᵏ：</a:t>
            </a:r>
            <a:endParaRPr lang="zh-CN" sz="24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144905" y="2228850"/>
                <a:ext cx="2292985" cy="509905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spAutoFit/>
              </a:bodyPr>
              <a:lstStyle/>
              <a:p>
                <a:pPr algn="dist">
                  <a:spcAft>
                    <a:spcPts val="700"/>
                  </a:spcAft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1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𝑝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(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)</m:t>
                        </m:r>
                      </m:num>
                      <m:den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ᵏ</m:t>
                        </m:r>
                      </m:den>
                    </m:f>
                  </m:oMath>
                </a14:m>
                <a:r>
                  <a:rPr lang="zh-CN" sz="21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 = </a:t>
                </a:r>
                <a:r>
                  <a:rPr lang="en-US" altLang="zh-CN" sz="21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grow m:val="on"/>
                        <m:limLoc m:val="undOvr"/>
                        <m:ctrlPr>
                          <a:rPr lang="en-US" altLang="zh-CN" sz="21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naryPr>
                      <m:sub>
                        <m:r>
                          <a:rPr lang="en-US" altLang="zh-CN" sz="21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sz="21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=</m:t>
                        </m:r>
                        <m:r>
                          <a:rPr lang="en-US" altLang="zh-CN" sz="21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  <m:sup>
                        <m:r>
                          <a:rPr lang="en-US" altLang="zh-CN" sz="21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sup>
                      <m:e>
                        <m:r>
                          <a:rPr lang="en-US" altLang="zh-CN" sz="21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𝑎</m:t>
                        </m:r>
                        <m:r>
                          <a:rPr lang="en-US" altLang="zh-CN" sz="2100" b="0" i="1" baseline="-25000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sz="21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𝑛</m:t>
                        </m:r>
                        <m:r>
                          <a:rPr lang="en-US" altLang="zh-CN" sz="2100" b="0" i="1" baseline="30000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𝑖</m:t>
                        </m:r>
                        <m:r>
                          <a:rPr lang="en-US" altLang="zh-CN" sz="2100" b="0" i="1" baseline="30000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−</m:t>
                        </m:r>
                        <m:r>
                          <a:rPr lang="en-US" altLang="zh-CN" sz="2100" b="0" i="1" baseline="30000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𝑘</m:t>
                        </m:r>
                      </m:e>
                    </m:nary>
                  </m:oMath>
                </a14:m>
                <a:endParaRPr lang="zh-CN" sz="2100" b="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905" y="2228850"/>
                <a:ext cx="2292985" cy="509905"/>
              </a:xfrm>
              <a:prstGeom prst="rect">
                <a:avLst/>
              </a:prstGeom>
              <a:blipFill rotWithShape="1">
                <a:blip r:embed="rId1"/>
                <a:stretch>
                  <a:fillRect t="-95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144905" y="4259580"/>
            <a:ext cx="1459865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2400" b="1" i="0">
                <a:solidFill>
                  <a:schemeClr val="accent1"/>
                </a:solidFill>
                <a:latin typeface="微软雅黑" panose="020B0503020204020204" charset="-122"/>
              </a:rPr>
              <a:t>回到定义</a:t>
            </a:r>
            <a:endParaRPr lang="zh-CN" sz="24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1144905" y="4836668"/>
                <a:ext cx="10241280" cy="88773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spAutoFit/>
              </a:bodyPr>
              <a:lstStyle/>
              <a:p>
                <a:pPr algn="l">
                  <a:spcAft>
                    <a:spcPts val="700"/>
                  </a:spcAft>
                </a:pPr>
                <a:r>
                  <a:rPr 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对任意 c&gt;0，存在n</a:t>
                </a:r>
                <a:r>
                  <a:rPr lang="en-US" altLang="zh-CN" sz="2000" b="0" i="0" baseline="-25000">
                    <a:solidFill>
                      <a:srgbClr val="28303C"/>
                    </a:solidFill>
                    <a:latin typeface="微软雅黑" panose="020B0503020204020204" charset="-122"/>
                  </a:rPr>
                  <a:t>0</a:t>
                </a:r>
                <a:r>
                  <a:rPr 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，使n≥n</a:t>
                </a:r>
                <a:r>
                  <a:rPr lang="en-US" altLang="zh-CN" sz="2000" b="0" i="0" baseline="-25000">
                    <a:solidFill>
                      <a:srgbClr val="28303C"/>
                    </a:solidFill>
                    <a:latin typeface="微软雅黑" panose="020B0503020204020204" charset="-122"/>
                  </a:rPr>
                  <a:t>0</a:t>
                </a:r>
                <a:r>
                  <a:rPr 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时|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𝑝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(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)</m:t>
                        </m:r>
                      </m:num>
                      <m:den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ᵏ</m:t>
                        </m:r>
                      </m:den>
                    </m:f>
                  </m:oMath>
                </a14:m>
                <a:r>
                  <a:rPr 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|&lt;c</a:t>
                </a:r>
                <a:endParaRPr lang="zh-CN" sz="2000" b="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  <a:p>
                <a:pPr algn="l">
                  <a:spcAft>
                    <a:spcPts val="700"/>
                  </a:spcAft>
                </a:pPr>
                <a:r>
                  <a:rPr 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又 p(n) 充分大时为正，所以 0≤p(n)&lt;cnᵏ。故 p(n)=o(nᵏ)</a:t>
                </a:r>
                <a:endParaRPr lang="zh-CN" sz="2000" b="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905" y="4836668"/>
                <a:ext cx="10241280" cy="887730"/>
              </a:xfrm>
              <a:prstGeom prst="rect">
                <a:avLst/>
              </a:prstGeom>
              <a:blipFill rotWithShape="1">
                <a:blip r:embed="rId2"/>
                <a:stretch>
                  <a:fillRect t="-57" b="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4"/>
          <p:cNvSpPr txBox="1"/>
          <p:nvPr/>
        </p:nvSpPr>
        <p:spPr>
          <a:xfrm>
            <a:off x="1144905" y="2832100"/>
            <a:ext cx="2770505" cy="3581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dist">
              <a:spcAft>
                <a:spcPts val="700"/>
              </a:spcAft>
            </a:pPr>
            <a:r>
              <a:rPr lang="zh-CN" sz="2100" b="0" i="0">
                <a:solidFill>
                  <a:srgbClr val="28303C"/>
                </a:solidFill>
                <a:latin typeface="微软雅黑" panose="020B0503020204020204" charset="-122"/>
              </a:rPr>
              <a:t>每一项n</a:t>
            </a:r>
            <a:r>
              <a:rPr lang="en-US" altLang="zh-CN" sz="2100" b="0" i="0" baseline="30000">
                <a:solidFill>
                  <a:srgbClr val="28303C"/>
                </a:solidFill>
                <a:latin typeface="微软雅黑" panose="020B0503020204020204" charset="-122"/>
              </a:rPr>
              <a:t>i-k</a:t>
            </a:r>
            <a:r>
              <a:rPr lang="zh-CN" sz="2100" b="0" i="0">
                <a:solidFill>
                  <a:srgbClr val="28303C"/>
                </a:solidFill>
                <a:latin typeface="微软雅黑" panose="020B0503020204020204" charset="-122"/>
              </a:rPr>
              <a:t>都趋于0</a:t>
            </a:r>
            <a:endParaRPr lang="zh-CN" sz="2100" b="0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14"/>
              <p:cNvSpPr txBox="1"/>
              <p:nvPr/>
            </p:nvSpPr>
            <p:spPr>
              <a:xfrm>
                <a:off x="1144905" y="3324860"/>
                <a:ext cx="3804920" cy="508635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spAutoFit/>
              </a:bodyPr>
              <a:lstStyle/>
              <a:p>
                <a:pPr algn="l">
                  <a:spcAft>
                    <a:spcPts val="700"/>
                  </a:spcAft>
                </a:pPr>
                <a:r>
                  <a:rPr lang="zh-CN" sz="21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因此</a:t>
                </a:r>
                <a:r>
                  <a:rPr lang="en-US" altLang="zh-CN" sz="21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n</a:t>
                </a:r>
                <a:r>
                  <a:rPr lang="zh-CN" sz="21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→∞，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1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𝑝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(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)</m:t>
                        </m:r>
                      </m:num>
                      <m:den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1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ᵏ</m:t>
                        </m:r>
                      </m:den>
                    </m:f>
                  </m:oMath>
                </a14:m>
                <a:r>
                  <a:rPr lang="zh-CN" sz="2100">
                    <a:solidFill>
                      <a:srgbClr val="28303C"/>
                    </a:solidFill>
                    <a:latin typeface="微软雅黑" panose="020B0503020204020204" charset="-122"/>
                    <a:sym typeface="+mn-ea"/>
                  </a:rPr>
                  <a:t>= 0</a:t>
                </a:r>
                <a:endParaRPr lang="zh-CN" sz="2100" b="0" i="0">
                  <a:solidFill>
                    <a:srgbClr val="28303C"/>
                  </a:solidFill>
                  <a:latin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21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905" y="3324860"/>
                <a:ext cx="3804920" cy="50863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55370" y="734695"/>
            <a:ext cx="520065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2700" b="1" i="0">
                <a:solidFill>
                  <a:srgbClr val="172A4D"/>
                </a:solidFill>
                <a:latin typeface="微软雅黑" panose="020B0503020204020204" charset="-122"/>
              </a:rPr>
              <a:t>e ：证明 k &lt; d 时，p(n) = ω(nᵏ)</a:t>
            </a:r>
            <a:endParaRPr lang="zh-CN" sz="2700" b="1" i="0">
              <a:solidFill>
                <a:srgbClr val="172A4D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1755775"/>
            <a:ext cx="3723005" cy="3422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zh-CN" sz="2400" b="1" i="0">
                <a:solidFill>
                  <a:schemeClr val="accent1"/>
                </a:solidFill>
                <a:latin typeface="微软雅黑" panose="020B0503020204020204" charset="-122"/>
              </a:rPr>
              <a:t>利用最高次项的主导作用：</a:t>
            </a:r>
            <a:endParaRPr lang="zh-CN" sz="24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101090" y="2881630"/>
                <a:ext cx="3782695" cy="45593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noAutofit/>
              </a:bodyPr>
              <a:lstStyle/>
              <a:p>
                <a:pPr algn="dist">
                  <a:spcAft>
                    <a:spcPts val="700"/>
                  </a:spcAft>
                </a:pPr>
                <a:r>
                  <a:rPr 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所以充分大时p(n)≥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en-US" altLang="zh-CN" sz="2000" baseline="-25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𝑑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US" altLang="zh-CN" sz="2000" baseline="30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d</m:t>
                        </m:r>
                      </m:num>
                      <m:den>
                        <m:r>
                          <a:rPr lang="en-US" alt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2</m:t>
                        </m:r>
                      </m:den>
                    </m:f>
                  </m:oMath>
                </a14:m>
                <a:endParaRPr lang="zh-CN" sz="2000" b="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090" y="2881630"/>
                <a:ext cx="3782695" cy="455930"/>
              </a:xfrm>
              <a:prstGeom prst="rect">
                <a:avLst/>
              </a:prstGeom>
              <a:blipFill rotWithShape="1">
                <a:blip r:embed="rId1"/>
                <a:stretch>
                  <a:fillRect t="-100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005840" y="4599305"/>
            <a:ext cx="1874520" cy="3892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  <a:buClrTx/>
              <a:buSzTx/>
              <a:buFontTx/>
            </a:pPr>
            <a:r>
              <a:rPr lang="zh-CN" sz="2400" b="1" i="0">
                <a:solidFill>
                  <a:schemeClr val="accent1"/>
                </a:solidFill>
                <a:latin typeface="微软雅黑" panose="020B0503020204020204" charset="-122"/>
              </a:rPr>
              <a:t>回到定义</a:t>
            </a:r>
            <a:endParaRPr lang="zh-CN" sz="24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967740" y="5069205"/>
                <a:ext cx="8268335" cy="455295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noAutofit/>
              </a:bodyPr>
              <a:lstStyle/>
              <a:p>
                <a:pPr algn="l">
                  <a:spcAft>
                    <a:spcPts val="700"/>
                  </a:spcAft>
                  <a:buClrTx/>
                  <a:buSzTx/>
                  <a:buNone/>
                </a:pPr>
                <a:r>
                  <a:rPr 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对任意 c&gt;0，最终有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𝑝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(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)</m:t>
                        </m:r>
                      </m:num>
                      <m:den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ᵏ</m:t>
                        </m:r>
                      </m:den>
                    </m:f>
                  </m:oMath>
                </a14:m>
                <a:r>
                  <a:rPr 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&gt;c，即 p(n)&gt;cnᵏ，故 p(n)=ω(nᵏ)。</a:t>
                </a:r>
                <a:endParaRPr lang="zh-CN" sz="2000" b="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40" y="5069205"/>
                <a:ext cx="8268335" cy="455295"/>
              </a:xfrm>
              <a:prstGeom prst="rect">
                <a:avLst/>
              </a:prstGeom>
              <a:blipFill rotWithShape="1">
                <a:blip r:embed="rId2"/>
                <a:stretch>
                  <a:fillRect b="-2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14"/>
              <p:cNvSpPr txBox="1"/>
              <p:nvPr/>
            </p:nvSpPr>
            <p:spPr>
              <a:xfrm>
                <a:off x="1101090" y="2360295"/>
                <a:ext cx="2691130" cy="45593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noAutofit/>
              </a:bodyPr>
              <a:lstStyle/>
              <a:p>
                <a:pPr algn="dist">
                  <a:spcAft>
                    <a:spcPts val="700"/>
                  </a:spcAft>
                </a:pPr>
                <a:r>
                  <a:rPr lang="en-US" alt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n</a:t>
                </a:r>
                <a:r>
                  <a:rPr 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→∞，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𝑝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(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)</m:t>
                        </m:r>
                      </m:num>
                      <m:den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ᵈ</m:t>
                        </m:r>
                      </m:den>
                    </m:f>
                  </m:oMath>
                </a14:m>
                <a:r>
                  <a:rPr 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=a</a:t>
                </a:r>
                <a:r>
                  <a:rPr lang="en-US" altLang="zh-CN" sz="2000" b="0" i="0" baseline="-25000">
                    <a:solidFill>
                      <a:srgbClr val="28303C"/>
                    </a:solidFill>
                    <a:latin typeface="微软雅黑" panose="020B0503020204020204" charset="-122"/>
                  </a:rPr>
                  <a:t>d</a:t>
                </a:r>
                <a:r>
                  <a:rPr 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&gt;0</a:t>
                </a:r>
                <a:endParaRPr lang="zh-CN" sz="2000" b="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</p:txBody>
          </p:sp>
        </mc:Choice>
        <mc:Fallback>
          <p:sp>
            <p:nvSpPr>
              <p:cNvPr id="24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090" y="2360295"/>
                <a:ext cx="2691130" cy="455930"/>
              </a:xfrm>
              <a:prstGeom prst="rect">
                <a:avLst/>
              </a:prstGeom>
              <a:blipFill rotWithShape="1">
                <a:blip r:embed="rId3"/>
                <a:stretch>
                  <a:fillRect b="-137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14"/>
              <p:cNvSpPr txBox="1"/>
              <p:nvPr/>
            </p:nvSpPr>
            <p:spPr>
              <a:xfrm>
                <a:off x="1101090" y="3402965"/>
                <a:ext cx="2543810" cy="455930"/>
              </a:xfrm>
              <a:prstGeom prst="rect">
                <a:avLst/>
              </a:prstGeom>
              <a:noFill/>
            </p:spPr>
            <p:txBody>
              <a:bodyPr wrap="square" lIns="18288" tIns="18288" rIns="18288" bIns="18288" anchor="t">
                <a:noAutofit/>
              </a:bodyPr>
              <a:lstStyle/>
              <a:p>
                <a:pPr algn="l">
                  <a:spcAft>
                    <a:spcPts val="700"/>
                  </a:spcAft>
                </a:pPr>
                <a:r>
                  <a:rPr 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从而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𝑝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(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)</m:t>
                        </m:r>
                      </m:num>
                      <m:den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ᵏ </m:t>
                        </m:r>
                      </m:den>
                    </m:f>
                  </m:oMath>
                </a14:m>
                <a:r>
                  <a:rPr 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≥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000" b="0" i="1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𝑎</m:t>
                        </m:r>
                        <m:r>
                          <a:rPr lang="en-US" altLang="zh-CN" sz="2000" baseline="-25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𝑑</m:t>
                        </m:r>
                        <m:r>
                          <a:rPr 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US" altLang="zh-CN" sz="2000" baseline="30000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d</m:t>
                        </m:r>
                        <m:r>
                          <a:rPr lang="en-US" altLang="zh-CN" sz="2000" baseline="30000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zh-CN" sz="2000" baseline="30000">
                            <a:solidFill>
                              <a:srgbClr val="28303C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k</m:t>
                        </m:r>
                      </m:num>
                      <m:den>
                        <m:r>
                          <a:rPr lang="en-US" altLang="zh-CN" sz="2000">
                            <a:solidFill>
                              <a:srgbClr val="28303C"/>
                            </a:solidFill>
                            <a:latin typeface="微软雅黑" panose="020B0503020204020204" charset="-122"/>
                            <a:sym typeface="+mn-ea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sz="2000" b="0" i="0">
                    <a:solidFill>
                      <a:srgbClr val="28303C"/>
                    </a:solidFill>
                    <a:latin typeface="微软雅黑" panose="020B0503020204020204" charset="-122"/>
                  </a:rPr>
                  <a:t>→ +∞</a:t>
                </a:r>
                <a:endParaRPr lang="zh-CN" sz="2000" b="0" i="0">
                  <a:solidFill>
                    <a:srgbClr val="28303C"/>
                  </a:solidFill>
                  <a:latin typeface="微软雅黑" panose="020B0503020204020204" charset="-122"/>
                </a:endParaRPr>
              </a:p>
            </p:txBody>
          </p:sp>
        </mc:Choice>
        <mc:Fallback>
          <p:sp>
            <p:nvSpPr>
              <p:cNvPr id="2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1090" y="3402965"/>
                <a:ext cx="2543810" cy="455930"/>
              </a:xfrm>
              <a:prstGeom prst="rect">
                <a:avLst/>
              </a:prstGeom>
              <a:blipFill rotWithShape="1">
                <a:blip r:embed="rId4"/>
                <a:stretch>
                  <a:fillRect t="-10028" b="-8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055370" y="754253"/>
            <a:ext cx="10972800" cy="415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2700" b="1">
                <a:latin typeface="微软雅黑" panose="020B0503020204020204" charset="-122"/>
                <a:sym typeface="+mn-ea"/>
              </a:rPr>
              <a:t>五种渐近符号</a:t>
            </a:r>
            <a:endParaRPr lang="zh-CN" sz="2700" b="1" i="0">
              <a:solidFill>
                <a:srgbClr val="172A4D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1363345" y="1690370"/>
            <a:ext cx="8856980" cy="612775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1591945" y="180924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700" b="1" i="0">
                <a:solidFill>
                  <a:schemeClr val="accent1"/>
                </a:solidFill>
                <a:latin typeface="微软雅黑" panose="020B0503020204020204" charset="-122"/>
              </a:rPr>
              <a:t>a</a:t>
            </a:r>
            <a:endParaRPr lang="zh-CN" sz="17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2460625" y="180924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700" b="1" i="0">
                <a:solidFill>
                  <a:srgbClr val="28303C"/>
                </a:solidFill>
                <a:latin typeface="微软雅黑" panose="020B0503020204020204" charset="-122"/>
              </a:rPr>
              <a:t>k ≥ d</a:t>
            </a:r>
            <a:endParaRPr lang="zh-CN" sz="1700" b="1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4"/>
            </p:custDataLst>
          </p:nvPr>
        </p:nvSpPr>
        <p:spPr>
          <a:xfrm>
            <a:off x="4655185" y="1800098"/>
            <a:ext cx="292608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800" b="1" i="0">
                <a:solidFill>
                  <a:schemeClr val="accent1"/>
                </a:solidFill>
                <a:latin typeface="微软雅黑" panose="020B0503020204020204" charset="-122"/>
              </a:rPr>
              <a:t>p(n)=O(nᵏ)</a:t>
            </a:r>
            <a:endParaRPr lang="zh-CN" sz="18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8312785" y="180924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600" b="0" i="0">
                <a:solidFill>
                  <a:srgbClr val="5C697A"/>
                </a:solidFill>
                <a:latin typeface="微软雅黑" panose="020B0503020204020204" charset="-122"/>
              </a:rPr>
              <a:t>上界</a:t>
            </a:r>
            <a:endParaRPr lang="zh-CN" sz="1600" b="0" i="0">
              <a:solidFill>
                <a:srgbClr val="5C697A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6"/>
            </p:custDataLst>
          </p:nvPr>
        </p:nvSpPr>
        <p:spPr>
          <a:xfrm>
            <a:off x="1363345" y="2565400"/>
            <a:ext cx="8873490" cy="6121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1591945" y="2683637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700" b="1" i="0">
                <a:solidFill>
                  <a:schemeClr val="accent1"/>
                </a:solidFill>
                <a:latin typeface="微软雅黑" panose="020B0503020204020204" charset="-122"/>
              </a:rPr>
              <a:t>b</a:t>
            </a:r>
            <a:endParaRPr lang="zh-CN" sz="17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8"/>
            </p:custDataLst>
          </p:nvPr>
        </p:nvSpPr>
        <p:spPr>
          <a:xfrm>
            <a:off x="2460625" y="2683637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700" b="1" i="0">
                <a:solidFill>
                  <a:srgbClr val="28303C"/>
                </a:solidFill>
                <a:latin typeface="微软雅黑" panose="020B0503020204020204" charset="-122"/>
              </a:rPr>
              <a:t>k ≤ d</a:t>
            </a:r>
            <a:endParaRPr lang="zh-CN" sz="1700" b="1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>
            <p:custDataLst>
              <p:tags r:id="rId9"/>
            </p:custDataLst>
          </p:nvPr>
        </p:nvSpPr>
        <p:spPr>
          <a:xfrm>
            <a:off x="4655185" y="2674620"/>
            <a:ext cx="2926080" cy="30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800" b="1" i="0">
                <a:solidFill>
                  <a:schemeClr val="accent1"/>
                </a:solidFill>
                <a:latin typeface="微软雅黑" panose="020B0503020204020204" charset="-122"/>
              </a:rPr>
              <a:t>p(n)=Ω(nᵏ)</a:t>
            </a:r>
            <a:endParaRPr lang="zh-CN" sz="18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10"/>
            </p:custDataLst>
          </p:nvPr>
        </p:nvSpPr>
        <p:spPr>
          <a:xfrm>
            <a:off x="8312785" y="269062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600" b="0" i="0">
                <a:solidFill>
                  <a:srgbClr val="5C697A"/>
                </a:solidFill>
                <a:latin typeface="微软雅黑" panose="020B0503020204020204" charset="-122"/>
              </a:rPr>
              <a:t>下界</a:t>
            </a:r>
            <a:endParaRPr lang="zh-CN" sz="1600" b="0" i="0">
              <a:solidFill>
                <a:srgbClr val="5C697A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11"/>
            </p:custDataLst>
          </p:nvPr>
        </p:nvSpPr>
        <p:spPr>
          <a:xfrm>
            <a:off x="1363345" y="3439795"/>
            <a:ext cx="8877935" cy="6121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2"/>
            </p:custDataLst>
          </p:nvPr>
        </p:nvSpPr>
        <p:spPr>
          <a:xfrm>
            <a:off x="1591945" y="355803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700" b="1" i="0">
                <a:solidFill>
                  <a:schemeClr val="accent1"/>
                </a:solidFill>
                <a:latin typeface="微软雅黑" panose="020B0503020204020204" charset="-122"/>
              </a:rPr>
              <a:t>c</a:t>
            </a:r>
            <a:endParaRPr lang="zh-CN" sz="17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3"/>
            </p:custDataLst>
          </p:nvPr>
        </p:nvSpPr>
        <p:spPr>
          <a:xfrm>
            <a:off x="2460625" y="355803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700" b="1" i="0">
                <a:solidFill>
                  <a:srgbClr val="28303C"/>
                </a:solidFill>
                <a:latin typeface="微软雅黑" panose="020B0503020204020204" charset="-122"/>
              </a:rPr>
              <a:t>k = d</a:t>
            </a:r>
            <a:endParaRPr lang="zh-CN" sz="1700" b="1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4"/>
            </p:custDataLst>
          </p:nvPr>
        </p:nvSpPr>
        <p:spPr>
          <a:xfrm>
            <a:off x="4655185" y="3549015"/>
            <a:ext cx="2926080" cy="30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800" b="1" i="0">
                <a:solidFill>
                  <a:schemeClr val="accent1"/>
                </a:solidFill>
                <a:latin typeface="微软雅黑" panose="020B0503020204020204" charset="-122"/>
              </a:rPr>
              <a:t>p(n)=Θ(nᵏ)</a:t>
            </a:r>
            <a:endParaRPr lang="zh-CN" sz="18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5"/>
            </p:custDataLst>
          </p:nvPr>
        </p:nvSpPr>
        <p:spPr>
          <a:xfrm>
            <a:off x="8312785" y="3572002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600" b="0" i="0">
                <a:solidFill>
                  <a:srgbClr val="5C697A"/>
                </a:solidFill>
                <a:latin typeface="微软雅黑" panose="020B0503020204020204" charset="-122"/>
              </a:rPr>
              <a:t>上下界</a:t>
            </a:r>
            <a:endParaRPr lang="zh-CN" sz="1600" b="0" i="0">
              <a:solidFill>
                <a:srgbClr val="5C697A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>
            <p:custDataLst>
              <p:tags r:id="rId16"/>
            </p:custDataLst>
          </p:nvPr>
        </p:nvSpPr>
        <p:spPr>
          <a:xfrm>
            <a:off x="1363345" y="4314190"/>
            <a:ext cx="8877935" cy="6121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7"/>
            </p:custDataLst>
          </p:nvPr>
        </p:nvSpPr>
        <p:spPr>
          <a:xfrm>
            <a:off x="1591945" y="4432427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700" b="1" i="0">
                <a:solidFill>
                  <a:schemeClr val="accent1"/>
                </a:solidFill>
                <a:latin typeface="微软雅黑" panose="020B0503020204020204" charset="-122"/>
              </a:rPr>
              <a:t>d</a:t>
            </a:r>
            <a:endParaRPr lang="zh-CN" sz="17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8"/>
            </p:custDataLst>
          </p:nvPr>
        </p:nvSpPr>
        <p:spPr>
          <a:xfrm>
            <a:off x="2460625" y="4432427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700" b="1" i="0">
                <a:solidFill>
                  <a:srgbClr val="28303C"/>
                </a:solidFill>
                <a:latin typeface="微软雅黑" panose="020B0503020204020204" charset="-122"/>
              </a:rPr>
              <a:t>k &gt; d</a:t>
            </a:r>
            <a:endParaRPr lang="zh-CN" sz="1700" b="1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19"/>
            </p:custDataLst>
          </p:nvPr>
        </p:nvSpPr>
        <p:spPr>
          <a:xfrm>
            <a:off x="4655185" y="4423410"/>
            <a:ext cx="2926080" cy="30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800" b="1" i="0">
                <a:solidFill>
                  <a:schemeClr val="accent1"/>
                </a:solidFill>
                <a:latin typeface="微软雅黑" panose="020B0503020204020204" charset="-122"/>
              </a:rPr>
              <a:t>p(n)=o(nᵏ)</a:t>
            </a:r>
            <a:endParaRPr lang="zh-CN" sz="18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>
            <p:custDataLst>
              <p:tags r:id="rId20"/>
            </p:custDataLst>
          </p:nvPr>
        </p:nvSpPr>
        <p:spPr>
          <a:xfrm>
            <a:off x="8312785" y="4453382"/>
            <a:ext cx="25603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600" b="0" i="0">
                <a:solidFill>
                  <a:srgbClr val="5C697A"/>
                </a:solidFill>
                <a:latin typeface="微软雅黑" panose="020B0503020204020204" charset="-122"/>
              </a:rPr>
              <a:t>严格慢</a:t>
            </a:r>
            <a:endParaRPr lang="zh-CN" sz="1600" b="0" i="0">
              <a:solidFill>
                <a:srgbClr val="5C697A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>
            <p:custDataLst>
              <p:tags r:id="rId21"/>
            </p:custDataLst>
          </p:nvPr>
        </p:nvSpPr>
        <p:spPr>
          <a:xfrm>
            <a:off x="1363345" y="5188585"/>
            <a:ext cx="8873490" cy="61214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22"/>
            </p:custDataLst>
          </p:nvPr>
        </p:nvSpPr>
        <p:spPr>
          <a:xfrm>
            <a:off x="1591945" y="530682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700" b="1" i="0">
                <a:solidFill>
                  <a:schemeClr val="accent1"/>
                </a:solidFill>
                <a:latin typeface="微软雅黑" panose="020B0503020204020204" charset="-122"/>
              </a:rPr>
              <a:t>e</a:t>
            </a:r>
            <a:endParaRPr lang="zh-CN" sz="17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23"/>
            </p:custDataLst>
          </p:nvPr>
        </p:nvSpPr>
        <p:spPr>
          <a:xfrm>
            <a:off x="2460625" y="5306822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700" b="1" i="0">
                <a:solidFill>
                  <a:srgbClr val="28303C"/>
                </a:solidFill>
                <a:latin typeface="微软雅黑" panose="020B0503020204020204" charset="-122"/>
              </a:rPr>
              <a:t>k &lt; d</a:t>
            </a:r>
            <a:endParaRPr lang="zh-CN" sz="1700" b="1" i="0">
              <a:solidFill>
                <a:srgbClr val="28303C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>
            <p:custDataLst>
              <p:tags r:id="rId24"/>
            </p:custDataLst>
          </p:nvPr>
        </p:nvSpPr>
        <p:spPr>
          <a:xfrm>
            <a:off x="4655185" y="5297805"/>
            <a:ext cx="2926080" cy="301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800" b="1" i="0">
                <a:solidFill>
                  <a:schemeClr val="accent1"/>
                </a:solidFill>
                <a:latin typeface="微软雅黑" panose="020B0503020204020204" charset="-122"/>
              </a:rPr>
              <a:t>p(n)=ω(nᵏ)</a:t>
            </a:r>
            <a:endParaRPr lang="zh-CN" sz="1800" b="1" i="0">
              <a:solidFill>
                <a:schemeClr val="accent1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>
            <p:custDataLst>
              <p:tags r:id="rId25"/>
            </p:custDataLst>
          </p:nvPr>
        </p:nvSpPr>
        <p:spPr>
          <a:xfrm>
            <a:off x="8312785" y="5306187"/>
            <a:ext cx="2560320" cy="245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lang="zh-CN" sz="1600" b="0" i="0">
                <a:solidFill>
                  <a:srgbClr val="5C697A"/>
                </a:solidFill>
                <a:latin typeface="微软雅黑" panose="020B0503020204020204" charset="-122"/>
              </a:rPr>
              <a:t>严格快</a:t>
            </a:r>
            <a:endParaRPr lang="zh-CN" sz="1600" b="0" i="0">
              <a:solidFill>
                <a:srgbClr val="5C69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7" name="Ocean."/>
          <p:cNvSpPr txBox="1"/>
          <p:nvPr>
            <p:custDataLst>
              <p:tags r:id="rId1"/>
            </p:custDataLst>
          </p:nvPr>
        </p:nvSpPr>
        <p:spPr>
          <a:xfrm>
            <a:off x="4255135" y="2417763"/>
            <a:ext cx="3691255" cy="840105"/>
          </a:xfrm>
          <a:prstGeom prst="rect">
            <a:avLst/>
          </a:prstGeom>
          <a:noFill/>
          <a:ln w="12700">
            <a:noFill/>
          </a:ln>
        </p:spPr>
        <p:txBody>
          <a:bodyPr wrap="square" lIns="50800" tIns="50800" rIns="50800" bIns="50800" anchor="ctr" anchorCtr="0">
            <a:spAutoFit/>
          </a:bodyPr>
          <a:p>
            <a:pPr algn="dist"/>
            <a:r>
              <a:rPr lang="en-US" altLang="zh-CN" sz="4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Kabond"/>
              </a:rPr>
              <a:t>Thank you</a:t>
            </a:r>
            <a:endParaRPr lang="en-US" altLang="zh-CN" sz="48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Kabond"/>
            </a:endParaRPr>
          </a:p>
        </p:txBody>
      </p:sp>
      <p:sp>
        <p:nvSpPr>
          <p:cNvPr id="3" name="TextBox 6"/>
          <p:cNvSpPr txBox="1"/>
          <p:nvPr/>
        </p:nvSpPr>
        <p:spPr>
          <a:xfrm>
            <a:off x="4413885" y="4069715"/>
            <a:ext cx="3406140" cy="4438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700"/>
              </a:spcAft>
            </a:pPr>
            <a:r>
              <a:rPr lang="zh-CN" altLang="en-US" sz="20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  <a:r>
              <a:rPr lang="en-US" altLang="zh-CN" sz="20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3-1 </a:t>
            </a:r>
            <a:r>
              <a:rPr lang="zh-CN" altLang="en-US" sz="20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多项式的</a:t>
            </a:r>
            <a:r>
              <a:rPr lang="zh-CN" altLang="en-US" sz="20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渐近行为</a:t>
            </a:r>
            <a:endParaRPr lang="zh-CN" altLang="en-US" sz="2000" b="0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DIAGRAM_VIRTUALLY_FRAME" val="{&quot;height&quot;:331.199842519685,&quot;left&quot;:50.4,&quot;top&quot;:111.6,&quot;width&quot;:813.6}"/>
</p:tagLst>
</file>

<file path=ppt/tags/tag8.xml><?xml version="1.0" encoding="utf-8"?>
<p:tagLst xmlns:p="http://schemas.openxmlformats.org/presentationml/2006/main">
  <p:tag name="KSO_WM_DIAGRAM_VIRTUALLY_FRAME" val="{&quot;height&quot;:331.199842519685,&quot;left&quot;:50.4,&quot;top&quot;:111.6,&quot;width&quot;:813.6}"/>
</p:tagLst>
</file>

<file path=ppt/tags/tag9.xml><?xml version="1.0" encoding="utf-8"?>
<p:tagLst xmlns:p="http://schemas.openxmlformats.org/presentationml/2006/main">
  <p:tag name="KSO_WM_DIAGRAM_VIRTUALLY_FRAME" val="{&quot;height&quot;:331.199842519685,&quot;left&quot;:50.4,&quot;top&quot;:111.6,&quot;width&quot;:813.6}"/>
</p:tagLst>
</file>

<file path=ppt/tags/tag10.xml><?xml version="1.0" encoding="utf-8"?>
<p:tagLst xmlns:p="http://schemas.openxmlformats.org/presentationml/2006/main">
  <p:tag name="KSO_WM_DIAGRAM_VIRTUALLY_FRAME" val="{&quot;height&quot;:331.199842519685,&quot;left&quot;:50.4,&quot;top&quot;:111.6,&quot;width&quot;:813.6}"/>
</p:tagLst>
</file>

<file path=ppt/tags/tag11.xml><?xml version="1.0" encoding="utf-8"?>
<p:tagLst xmlns:p="http://schemas.openxmlformats.org/presentationml/2006/main">
  <p:tag name="KSO_WM_DIAGRAM_VIRTUALLY_FRAME" val="{&quot;height&quot;:331.199842519685,&quot;left&quot;:50.4,&quot;top&quot;:111.6,&quot;width&quot;:813.6}"/>
</p:tagLst>
</file>

<file path=ppt/tags/tag12.xml><?xml version="1.0" encoding="utf-8"?>
<p:tagLst xmlns:p="http://schemas.openxmlformats.org/presentationml/2006/main">
  <p:tag name="KSO_WM_DIAGRAM_VIRTUALLY_FRAME" val="{&quot;height&quot;:331.199842519685,&quot;left&quot;:50.4,&quot;top&quot;:111.6,&quot;width&quot;:813.6}"/>
</p:tagLst>
</file>

<file path=ppt/tags/tag13.xml><?xml version="1.0" encoding="utf-8"?>
<p:tagLst xmlns:p="http://schemas.openxmlformats.org/presentationml/2006/main">
  <p:tag name="KSO_WM_DIAGRAM_VIRTUALLY_FRAME" val="{&quot;height&quot;:331.199842519685,&quot;left&quot;:50.4,&quot;top&quot;:111.6,&quot;width&quot;:813.6}"/>
</p:tagLst>
</file>

<file path=ppt/tags/tag14.xml><?xml version="1.0" encoding="utf-8"?>
<p:tagLst xmlns:p="http://schemas.openxmlformats.org/presentationml/2006/main">
  <p:tag name="KSO_WM_DIAGRAM_VIRTUALLY_FRAME" val="{&quot;height&quot;:331.199842519685,&quot;left&quot;:50.4,&quot;top&quot;:111.6,&quot;width&quot;:813.6}"/>
</p:tagLst>
</file>

<file path=ppt/tags/tag15.xml><?xml version="1.0" encoding="utf-8"?>
<p:tagLst xmlns:p="http://schemas.openxmlformats.org/presentationml/2006/main">
  <p:tag name="KSO_WM_DIAGRAM_VIRTUALLY_FRAME" val="{&quot;height&quot;:331.199842519685,&quot;left&quot;:50.4,&quot;top&quot;:111.6,&quot;width&quot;:813.6}"/>
</p:tagLst>
</file>

<file path=ppt/tags/tag16.xml><?xml version="1.0" encoding="utf-8"?>
<p:tagLst xmlns:p="http://schemas.openxmlformats.org/presentationml/2006/main">
  <p:tag name="KSO_WM_DIAGRAM_VIRTUALLY_FRAME" val="{&quot;height&quot;:331.199842519685,&quot;left&quot;:50.4,&quot;top&quot;:111.6,&quot;width&quot;:813.6}"/>
</p:tagLst>
</file>

<file path=ppt/tags/tag17.xml><?xml version="1.0" encoding="utf-8"?>
<p:tagLst xmlns:p="http://schemas.openxmlformats.org/presentationml/2006/main">
  <p:tag name="KSO_WM_DIAGRAM_VIRTUALLY_FRAME" val="{&quot;height&quot;:331.199842519685,&quot;left&quot;:50.4,&quot;top&quot;:111.6,&quot;width&quot;:813.6}"/>
</p:tagLst>
</file>

<file path=ppt/tags/tag18.xml><?xml version="1.0" encoding="utf-8"?>
<p:tagLst xmlns:p="http://schemas.openxmlformats.org/presentationml/2006/main">
  <p:tag name="KSO_WM_DIAGRAM_VIRTUALLY_FRAME" val="{&quot;height&quot;:331.199842519685,&quot;left&quot;:50.4,&quot;top&quot;:111.6,&quot;width&quot;:813.6}"/>
</p:tagLst>
</file>

<file path=ppt/tags/tag19.xml><?xml version="1.0" encoding="utf-8"?>
<p:tagLst xmlns:p="http://schemas.openxmlformats.org/presentationml/2006/main">
  <p:tag name="KSO_WM_DIAGRAM_VIRTUALLY_FRAME" val="{&quot;height&quot;:331.199842519685,&quot;left&quot;:50.4,&quot;top&quot;:111.6,&quot;width&quot;:813.6}"/>
</p:tagLst>
</file>

<file path=ppt/tags/tag20.xml><?xml version="1.0" encoding="utf-8"?>
<p:tagLst xmlns:p="http://schemas.openxmlformats.org/presentationml/2006/main">
  <p:tag name="KSO_WM_DIAGRAM_VIRTUALLY_FRAME" val="{&quot;height&quot;:331.199842519685,&quot;left&quot;:50.4,&quot;top&quot;:111.6,&quot;width&quot;:813.6}"/>
</p:tagLst>
</file>

<file path=ppt/tags/tag21.xml><?xml version="1.0" encoding="utf-8"?>
<p:tagLst xmlns:p="http://schemas.openxmlformats.org/presentationml/2006/main">
  <p:tag name="KSO_WM_DIAGRAM_VIRTUALLY_FRAME" val="{&quot;height&quot;:331.199842519685,&quot;left&quot;:50.4,&quot;top&quot;:111.6,&quot;width&quot;:813.6}"/>
</p:tagLst>
</file>

<file path=ppt/tags/tag22.xml><?xml version="1.0" encoding="utf-8"?>
<p:tagLst xmlns:p="http://schemas.openxmlformats.org/presentationml/2006/main">
  <p:tag name="KSO_WM_DIAGRAM_VIRTUALLY_FRAME" val="{&quot;height&quot;:331.199842519685,&quot;left&quot;:50.4,&quot;top&quot;:111.6,&quot;width&quot;:813.6}"/>
</p:tagLst>
</file>

<file path=ppt/tags/tag23.xml><?xml version="1.0" encoding="utf-8"?>
<p:tagLst xmlns:p="http://schemas.openxmlformats.org/presentationml/2006/main">
  <p:tag name="KSO_WM_DIAGRAM_VIRTUALLY_FRAME" val="{&quot;height&quot;:331.199842519685,&quot;left&quot;:50.4,&quot;top&quot;:111.6,&quot;width&quot;:813.6}"/>
</p:tagLst>
</file>

<file path=ppt/tags/tag24.xml><?xml version="1.0" encoding="utf-8"?>
<p:tagLst xmlns:p="http://schemas.openxmlformats.org/presentationml/2006/main">
  <p:tag name="KSO_WM_DIAGRAM_VIRTUALLY_FRAME" val="{&quot;height&quot;:164.9,&quot;left&quot;:58.8,&quot;top&quot;:159.85,&quot;width&quot;:841.2}"/>
</p:tagLst>
</file>

<file path=ppt/tags/tag25.xml><?xml version="1.0" encoding="utf-8"?>
<p:tagLst xmlns:p="http://schemas.openxmlformats.org/presentationml/2006/main">
  <p:tag name="KSO_WM_DIAGRAM_VIRTUALLY_FRAME" val="{&quot;height&quot;:164.9,&quot;left&quot;:58.8,&quot;top&quot;:159.85,&quot;width&quot;:841.2}"/>
</p:tagLst>
</file>

<file path=ppt/tags/tag26.xml><?xml version="1.0" encoding="utf-8"?>
<p:tagLst xmlns:p="http://schemas.openxmlformats.org/presentationml/2006/main">
  <p:tag name="KSO_WM_DIAGRAM_VIRTUALLY_FRAME" val="{&quot;height&quot;:164.9,&quot;left&quot;:58.8,&quot;top&quot;:159.85,&quot;width&quot;:841.2}"/>
</p:tagLst>
</file>

<file path=ppt/tags/tag27.xml><?xml version="1.0" encoding="utf-8"?>
<p:tagLst xmlns:p="http://schemas.openxmlformats.org/presentationml/2006/main">
  <p:tag name="KSO_WM_DIAGRAM_VIRTUALLY_FRAME" val="{&quot;height&quot;:164.9,&quot;left&quot;:58.8,&quot;top&quot;:159.85,&quot;width&quot;:841.2}"/>
</p:tagLst>
</file>

<file path=ppt/tags/tag28.xml><?xml version="1.0" encoding="utf-8"?>
<p:tagLst xmlns:p="http://schemas.openxmlformats.org/presentationml/2006/main">
  <p:tag name="KSO_WM_DIAGRAM_VIRTUALLY_FRAME" val="{&quot;height&quot;:164.9,&quot;left&quot;:58.8,&quot;top&quot;:159.85,&quot;width&quot;:841.2}"/>
</p:tagLst>
</file>

<file path=ppt/tags/tag29.xml><?xml version="1.0" encoding="utf-8"?>
<p:tagLst xmlns:p="http://schemas.openxmlformats.org/presentationml/2006/main">
  <p:tag name="KSO_WM_DIAGRAM_VIRTUALLY_FRAME" val="{&quot;height&quot;:164.9,&quot;left&quot;:58.8,&quot;top&quot;:159.85,&quot;width&quot;:841.2}"/>
</p:tagLst>
</file>

<file path=ppt/tags/tag30.xml><?xml version="1.0" encoding="utf-8"?>
<p:tagLst xmlns:p="http://schemas.openxmlformats.org/presentationml/2006/main">
  <p:tag name="KSO_WM_DIAGRAM_VIRTUALLY_FRAME" val="{&quot;height&quot;:164.9,&quot;left&quot;:58.8,&quot;top&quot;:159.85,&quot;width&quot;:841.2}"/>
</p:tagLst>
</file>

<file path=ppt/tags/tag31.xml><?xml version="1.0" encoding="utf-8"?>
<p:tagLst xmlns:p="http://schemas.openxmlformats.org/presentationml/2006/main">
  <p:tag name="KSO_WM_DIAGRAM_VIRTUALLY_FRAME" val="{&quot;height&quot;:164.9,&quot;left&quot;:58.8,&quot;top&quot;:159.85,&quot;width&quot;:841.2}"/>
</p:tagLst>
</file>

<file path=ppt/tags/tag32.xml><?xml version="1.0" encoding="utf-8"?>
<p:tagLst xmlns:p="http://schemas.openxmlformats.org/presentationml/2006/main">
  <p:tag name="KSO_WM_DIAGRAM_VIRTUALLY_FRAME" val="{&quot;height&quot;:164.9,&quot;left&quot;:58.8,&quot;top&quot;:159.85,&quot;width&quot;:841.2}"/>
</p:tagLst>
</file>

<file path=ppt/tags/tag33.xml><?xml version="1.0" encoding="utf-8"?>
<p:tagLst xmlns:p="http://schemas.openxmlformats.org/presentationml/2006/main">
  <p:tag name="KSO_WM_DIAGRAM_VIRTUALLY_FRAME" val="{&quot;height&quot;:164.9,&quot;left&quot;:58.8,&quot;top&quot;:159.85,&quot;width&quot;:841.2}"/>
</p:tagLst>
</file>

<file path=ppt/tags/tag34.xml><?xml version="1.0" encoding="utf-8"?>
<p:tagLst xmlns:p="http://schemas.openxmlformats.org/presentationml/2006/main">
  <p:tag name="KSO_WM_DIAGRAM_VIRTUALLY_FRAME" val="{&quot;height&quot;:164.9,&quot;left&quot;:58.8,&quot;top&quot;:159.85,&quot;width&quot;:841.2}"/>
</p:tagLst>
</file>

<file path=ppt/tags/tag35.xml><?xml version="1.0" encoding="utf-8"?>
<p:tagLst xmlns:p="http://schemas.openxmlformats.org/presentationml/2006/main">
  <p:tag name="KSO_WM_DIAGRAM_VIRTUALLY_FRAME" val="{&quot;height&quot;:164.9,&quot;left&quot;:58.8,&quot;top&quot;:159.85,&quot;width&quot;:841.2}"/>
</p:tagLst>
</file>

<file path=ppt/tags/tag36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37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38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39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40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41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42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43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44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45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46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47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48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49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50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51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52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53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54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55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56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57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58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59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60.xml><?xml version="1.0" encoding="utf-8"?>
<p:tagLst xmlns:p="http://schemas.openxmlformats.org/presentationml/2006/main">
  <p:tag name="KSO_WM_DIAGRAM_VIRTUALLY_FRAME" val="{&quot;height&quot;:345.18,&quot;left&quot;:57.6,&quot;top&quot;:111.6,&quot;width&quot;:842.4}"/>
</p:tagLst>
</file>

<file path=ppt/tags/tag61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2092</Words>
  <Application>WPS 演示</Application>
  <PresentationFormat>On-screen Show (4:3)</PresentationFormat>
  <Paragraphs>195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Kabond</vt:lpstr>
      <vt:lpstr>Segoe Print</vt:lpstr>
      <vt:lpstr>Cambria Math</vt:lpstr>
      <vt:lpstr>MS Mincho</vt:lpstr>
      <vt:lpstr>等线</vt:lpstr>
      <vt:lpstr>Arial Unicode MS</vt:lpstr>
      <vt:lpstr>Calibri</vt:lpstr>
      <vt:lpstr>Kabond</vt:lpstr>
      <vt:lpstr>Ms.Luce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王雨寒0315</cp:lastModifiedBy>
  <cp:revision>13</cp:revision>
  <dcterms:created xsi:type="dcterms:W3CDTF">2013-01-27T09:14:00Z</dcterms:created>
  <dcterms:modified xsi:type="dcterms:W3CDTF">2026-10-12T08:29:08Z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42EFFB80B3874F35935682CCBF4BE24F_13</vt:lpwstr>
  </property>
</Properties>
</file>