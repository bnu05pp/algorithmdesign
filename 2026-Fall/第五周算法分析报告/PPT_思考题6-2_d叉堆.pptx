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457432" cy="402336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4000" b="1" i="0">
                <a:solidFill>
                  <a:srgbClr val="F2F2F2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HNU</a:t>
            </a:r>
            <a:endParaRPr sz="24000" b="1" i="0">
              <a:solidFill>
                <a:srgbClr val="F2F2F2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</p:txBody>
      </p:sp>
      <p:pic>
        <p:nvPicPr>
          <p:cNvPr id="8" name="Picture 7" descr="logo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932688"/>
            <a:ext cx="2459736" cy="886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395728"/>
            <a:ext cx="10360152" cy="1783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思考题 6-2</a:t>
            </a:r>
            <a:endParaRPr sz="4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 d 叉堆的分析</a:t>
            </a:r>
            <a:endParaRPr sz="4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36015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500" b="0" i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   湖南大学计算机学院   ——</a:t>
            </a:r>
            <a:endParaRPr sz="1500" b="0" i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10360152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《算法导论》（第 3 版）第 6 章 · 优先队列（6.5）· 思考题 6-2</a:t>
            </a:r>
            <a:endParaRPr sz="14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算法设计与分析 · 小班讨论</a:t>
            </a:r>
            <a:endParaRPr sz="14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汇报人：及靖涵    学号：202508100101    2026 年 10 月 10 日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2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566928" cy="56692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66928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17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36192" y="1645920"/>
            <a:ext cx="868680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8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背景回顾   </a:t>
            </a: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优先队列、二叉堆与数组表示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36192" y="2139696"/>
            <a:ext cx="9509760" cy="9525"/>
          </a:xfrm>
          <a:prstGeom prst="rect">
            <a:avLst/>
          </a:prstGeom>
          <a:solidFill>
            <a:srgbClr val="E0D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395728"/>
            <a:ext cx="566928" cy="56692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96312"/>
            <a:ext cx="566928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17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36192" y="2414016"/>
            <a:ext cx="868680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8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题目与总体思路   </a:t>
            </a: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五个小题一览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36192" y="2907792"/>
            <a:ext cx="9509760" cy="9525"/>
          </a:xfrm>
          <a:prstGeom prst="rect">
            <a:avLst/>
          </a:prstGeom>
          <a:solidFill>
            <a:srgbClr val="E0D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163824"/>
            <a:ext cx="566928" cy="56692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64408"/>
            <a:ext cx="566928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17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36192" y="3182112"/>
            <a:ext cx="868680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8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小题解答 (a) ~ (e)   </a:t>
            </a: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数组表示 · 堆高 · 三个操作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536192" y="3675887"/>
            <a:ext cx="9509760" cy="9525"/>
          </a:xfrm>
          <a:prstGeom prst="rect">
            <a:avLst/>
          </a:prstGeom>
          <a:solidFill>
            <a:srgbClr val="E0D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931920"/>
            <a:ext cx="566928" cy="56692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32504"/>
            <a:ext cx="566928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17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36192" y="3950207"/>
            <a:ext cx="868680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8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C++ 代码讲解   </a:t>
            </a: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下标公式、迭代化 MAX-HEAPIFY、对拍验证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536192" y="4443983"/>
            <a:ext cx="9509760" cy="9525"/>
          </a:xfrm>
          <a:prstGeom prst="rect">
            <a:avLst/>
          </a:prstGeom>
          <a:solidFill>
            <a:srgbClr val="E0D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700016"/>
            <a:ext cx="566928" cy="56692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566928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</a:t>
            </a:r>
            <a:endParaRPr sz="17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36192" y="4718303"/>
            <a:ext cx="868680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8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复杂度实测   </a:t>
            </a: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比较次数与墙钟时间的双重验证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36192" y="5212079"/>
            <a:ext cx="9509760" cy="9525"/>
          </a:xfrm>
          <a:prstGeom prst="rect">
            <a:avLst/>
          </a:prstGeom>
          <a:solidFill>
            <a:srgbClr val="E0D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468112"/>
            <a:ext cx="566928" cy="566928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68696"/>
            <a:ext cx="566928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7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</a:t>
            </a:r>
            <a:endParaRPr sz="17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36192" y="5486399"/>
            <a:ext cx="868680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8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瓶颈分析与改进   </a:t>
            </a:r>
            <a:r>
              <a:rPr sz="13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的选取、缓存效应、进阶堆结构</a:t>
            </a:r>
            <a:endParaRPr sz="13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536192" y="5980175"/>
            <a:ext cx="9509760" cy="9525"/>
          </a:xfrm>
          <a:prstGeom prst="rect">
            <a:avLst/>
          </a:prstGeom>
          <a:solidFill>
            <a:srgbClr val="E0D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背景回顾：优先队列与堆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讲义 02-1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3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572768"/>
            <a:ext cx="5120640" cy="2057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72768"/>
            <a:ext cx="77724" cy="20574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1700784"/>
            <a:ext cx="4736592" cy="18379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优先队列（Priority Queue）</a:t>
            </a:r>
            <a:endParaRPr sz="15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就像急诊分诊台：谁的病最重（key 最大），谁先被处理；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四个动作：插入、看最大值、取走最大值、把某人病情加重；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目标：这四个动作都要尽量快（最好 O(log n) 量级）。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572768"/>
            <a:ext cx="5120640" cy="2057400"/>
          </a:xfrm>
          <a:prstGeom prst="roundRect">
            <a:avLst/>
          </a:prstGeom>
          <a:solidFill>
            <a:srgbClr val="F2F8EC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72768"/>
            <a:ext cx="77724" cy="2057400"/>
          </a:xfrm>
          <a:prstGeom prst="rect">
            <a:avLst/>
          </a:prstGeom>
          <a:solidFill>
            <a:srgbClr val="538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00784"/>
            <a:ext cx="4736592" cy="18379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二叉堆（Binary Heap）</a:t>
            </a:r>
            <a:endParaRPr sz="1500" b="1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把一棵「完全二叉树」按层编号塞进数组，一个指针都不用；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每个家长最多 2 个孩子：左=2i，右=2i+1，爸爸=⌊i/2⌋；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树高约 log n，所以四个动作都是 O(log n)。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794760"/>
            <a:ext cx="10652760" cy="18288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94760"/>
            <a:ext cx="77724" cy="1828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922776"/>
            <a:ext cx="10268712" cy="16093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叉堆（d-ary Heap）—— 本题要分析的对象</a:t>
            </a:r>
            <a:endParaRPr sz="15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和二叉堆一模一样，只是把「每个家长最多 2 个孩子」放宽成「最多 d 个孩子」；d = 2 时就是二叉堆。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还是用数组紧凑存储，只是「爸爸 / 第几个孩子」的公式要改一改；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题目默认：能 O(1) 反查「某个对象在数组第几位」（下面代码用 pos_ 兑现）。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3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今天只做一件事：把二叉堆里「每个孩子数 2」改成 d。操作思路完全不变，只是「要比几个孩子」和「树有几层」变了。</a:t>
            </a:r>
            <a:endParaRPr sz="13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题目：思考题 6-2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《算法导论》思考题 6-2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4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1600"/>
              </a:spcAft>
            </a:pPr>
            <a:r>
              <a:rPr sz="156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7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(a) 如何用一个数组表示一个 d 叉堆？</a:t>
            </a:r>
            <a:endParaRPr sz="17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1600"/>
              </a:spcAft>
            </a:pPr>
            <a:r>
              <a:rPr sz="156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7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(b) 用 Θ 符号表示一棵含 n 个元素的 d 叉堆的高度，用 n 和 d 表示。</a:t>
            </a:r>
            <a:endParaRPr sz="17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1600"/>
              </a:spcAft>
            </a:pPr>
            <a:r>
              <a:rPr sz="156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7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(c) 给出 d 叉最大堆中 EXTRACT-MAX 的一个高效实现，分析运行时间（用 n, d 表示）。</a:t>
            </a:r>
            <a:endParaRPr sz="17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1600"/>
              </a:spcAft>
            </a:pPr>
            <a:r>
              <a:rPr sz="156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7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(d) 给出 d 叉最大堆中 INCREASE-KEY 的一个高效实现，分析运行时间。</a:t>
            </a:r>
            <a:endParaRPr sz="17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1600"/>
              </a:spcAft>
            </a:pPr>
            <a:r>
              <a:rPr sz="156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7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(e) 给出 d 叉最大堆中 INSERT 的一个高效实现，分析运行时间。</a:t>
            </a:r>
            <a:endParaRPr sz="17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86868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102412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4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共同前提：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维护「对象 → 堆元素」的映射每次耗时 Θ(1)；</a:t>
            </a:r>
            <a:r>
              <a:rPr sz="1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核心问题：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把「每个孩子数 2」换成「d」，存法、高度、三种操作还快不快？</a:t>
            </a:r>
            <a:endParaRPr sz="14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26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(a)：用数组表示一个 d 叉堆</a:t>
            </a:r>
            <a:endParaRPr sz="226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层序编号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5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5806440" cy="233172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5477255" cy="209397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 A[1..n] 按「层序」存放，A[0] 作哨兵不使用；根 = A[1]</a:t>
            </a:r>
            <a:endParaRPr sz="130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PARENT(i)   = floor((i - 2) / d) + 1       // i &gt; 1</a:t>
            </a:r>
            <a:endParaRPr sz="130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CHILD(i, j) = d * (i - 1) + j + 1          // 1&lt;=j&lt;=d</a:t>
            </a:r>
            <a:endParaRPr sz="130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 d = 2 时退化为二叉堆：</a:t>
            </a:r>
            <a:endParaRPr sz="130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PARENT(i)   = floor(i / 2)   // 讲义中的 A[⌊i/2⌋]</a:t>
            </a:r>
            <a:endParaRPr sz="130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LEFT(i) = 2i ,  RIGHT(i) = 2i + 1</a:t>
            </a:r>
            <a:endParaRPr sz="130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1664208"/>
            <a:ext cx="461772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8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你不用背公式，记住规律就行</a:t>
            </a:r>
            <a:endParaRPr sz="14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CHILD：给定爸爸 i，直接算出「第 j 个孩子」的下标；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PARENT：给定孩子 i，直接算出「爸爸」的下标；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本质就是查家谱：纯算术、O(1)，一个指针都不用；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d=2 时这俩公式就退化成你学过的 2i、⌊i/2⌋。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79392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结论：d 叉堆还是「零额外空间」——谁是谁的爸妈，靠公式 O(1) 算出来。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(a)：不同 d 的数组表示</a:t>
            </a:r>
            <a:endParaRPr sz="25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 个关键字为例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6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1627632"/>
            <a:ext cx="10652760" cy="4572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1709928"/>
            <a:ext cx="457199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45336" y="1709928"/>
            <a:ext cx="310896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层序数组 A[1..n]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37176" y="1709928"/>
            <a:ext cx="6537959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层高（逐层）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2139696"/>
            <a:ext cx="10652760" cy="713232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2176272"/>
            <a:ext cx="457199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45336" y="2176272"/>
            <a:ext cx="3108960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[91, 83, 64, 56, 75, 11, 41, 27, 33]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7176" y="2176272"/>
            <a:ext cx="6537959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L0: 91 ｜ L1: 83 64 ｜ L2: 56 75 11 41 ｜ L3: 27 33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2852928"/>
            <a:ext cx="10652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889504"/>
            <a:ext cx="457199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45336" y="2889504"/>
            <a:ext cx="3108960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[91, 83, 64, 56, 75, 11, 41, 27, 33]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37176" y="2889504"/>
            <a:ext cx="6537959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L0: 91 ｜ L1: 83 64 56 ｜ L2: 75 11 41 27 33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7240" y="3566160"/>
            <a:ext cx="10652760" cy="713232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602736"/>
            <a:ext cx="457199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45336" y="3602736"/>
            <a:ext cx="3108960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[91, 83, 64, 56, 75, 11, 41, 27, 33]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37176" y="3602736"/>
            <a:ext cx="6537959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L0: 91 ｜ L1: 83 64 56 75 ｜ L2: 11 41 27 33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626864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3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同一组关键字，d 越大层数越少：d=2 有 4 层，d=3 有 3 层，d=4 只有 3 层且第 2 层更宽。数组存储本身完全不变，变的只是「谁是父、谁是子」的公式。</a:t>
            </a:r>
            <a:endParaRPr sz="13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5138928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400"/>
              </a:spcAft>
            </a:pPr>
            <a:r>
              <a:rPr sz="129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推导要点：结点 1 的孩子是 2,3,…,d+1；结点 2 的孩子是 d+2,…,2d+1；</a:t>
            </a:r>
            <a:endParaRPr sz="14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400"/>
              </a:spcAft>
            </a:pPr>
            <a:r>
              <a:rPr sz="115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即第 i 个父结点的孩子从 d(i-1)+2 开始 —— 这就给出了 CHILD(i,j)。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(b)：d 叉堆的高度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目标：h = Θ(log_d n)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7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10652760" cy="221284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10323576" cy="1975104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层序展开：第 0 层 1 个，第 1 层 d 个，第 2 层 d² 个，……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第 h 层最多 d^h 个，所以总共约  1 + d + d² + … + d^h ≈ d^h 个结点。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反过来：n 个结点时，层数 h 满足   d^h ≈ n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     =&gt;   h ≈ log_d n  =  (log n) / (log d)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（上下只差常数倍，所以记作 h = Θ(log_d n)）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4041648"/>
            <a:ext cx="10652760" cy="9144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102412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2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 = Θ(log_d n) = Θ( ln n / ln d )</a:t>
            </a:r>
            <a:endParaRPr sz="2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5138928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4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大白话：d 叉堆每一层结点数翻 d 倍，所以层数 = 「以 d 为底 n 的对数」；</a:t>
            </a:r>
            <a:endParaRPr sz="14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4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越大，树越矮 —— 这就是 d 叉堆「快还是慢」的根本原因。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4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你学过的二叉堆 d=2，层数就是 log₂ n；现在只是把底数 2 换成 d。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495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(b)：实测高度与闭式一致</a:t>
            </a:r>
            <a:endParaRPr sz="2495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与闭式完全一致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8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Picture 11" descr="fig_1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8322"/>
            <a:ext cx="6583680" cy="398485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35240" y="1874519"/>
            <a:ext cx="3840480" cy="301752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993391"/>
            <a:ext cx="3511296" cy="277977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r>
              <a:rPr sz="1150" b="1" i="0">
                <a:solidFill>
                  <a:srgbClr val="A937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test_6_2.exe 输出（节选）</a:t>
            </a:r>
            <a:endParaRPr sz="1150" b="1" i="0">
              <a:solidFill>
                <a:srgbClr val="A937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n          d=2  d=3  d=4  d=8  d=16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16           4    3    2    2    1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100          6    4    4    3    2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1000         9    6    5    4    3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10000       13    9    7    5    4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100000      16   11    9    6    5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1000000     19   13   10    7    5</a:t>
            </a:r>
            <a:endParaRPr sz="11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程序断言：实测高度 == 闭式，全部通过</a:t>
            </a:r>
            <a:endParaRPr sz="115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 = 10⁶ 时：二叉堆高 19，4 叉堆只要 10 层，16 叉堆只要 5 层。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14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(c)：EXTRACT-MAX 的高效实现</a:t>
            </a:r>
            <a:endParaRPr sz="214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运行时间 O(d · log_d n)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9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5806440" cy="331012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5477255" cy="3072384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MAX-HEAPIFY(A, i)              // 下沉：每层比较 d 个孩子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largest = i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j = 1 to d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c = d*(i-1) + j + 1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c &lt;= A.heap_size and A[c] &gt; A[largest]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largest = c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largest != i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exchange A[i] &lt;-&gt; A[largest]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MAX-HEAPIFY(A, largest)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12280" y="1627632"/>
            <a:ext cx="4617720" cy="331012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746504"/>
            <a:ext cx="4288536" cy="3072384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EXTRACT-MAX(A)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A.heap_size &lt; 1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error "heap underflow"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max = A[1]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A[1] = A[A.heap_size]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A.heap_size = A.heap_size - 1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MAX-HEAPIFY(A, 1)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max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5138928"/>
            <a:ext cx="10652760" cy="86868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102412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4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和二叉堆的 MAX-HEAPIFY 一模一样——只是原来比 2 个孩子，现在比 d 个：</a:t>
            </a:r>
            <a:r>
              <a:rPr sz="14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下沉一层，要在 d 个孩子里挑最大的，所以「每层做 d 次比较」；</a:t>
            </a:r>
            <a:r>
              <a:rPr sz="1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一共下沉约 log_d n 层 → d × log_d n 次比较。</a:t>
            </a:r>
            <a:endParaRPr sz="1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26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(c)：为什么每层是 d 次比较</a:t>
            </a:r>
            <a:endParaRPr sz="226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增大：层少、层贵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10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5120640" cy="22860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27632"/>
            <a:ext cx="77724" cy="228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1755648"/>
            <a:ext cx="4736592" cy="20665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每层成本 ∝ d（越大越贵）</a:t>
            </a:r>
            <a:endParaRPr sz="15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下沉时要在 d 个孩子里挑最大的，必须逐个比；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越大，单层的比较次数越多；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二叉堆 d=2 时每层只比 2 次。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627632"/>
            <a:ext cx="5120640" cy="2286000"/>
          </a:xfrm>
          <a:prstGeom prst="roundRect">
            <a:avLst/>
          </a:prstGeom>
          <a:solidFill>
            <a:srgbClr val="F2F8EC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27632"/>
            <a:ext cx="77724" cy="2286000"/>
          </a:xfrm>
          <a:prstGeom prst="rect">
            <a:avLst/>
          </a:prstGeom>
          <a:solidFill>
            <a:srgbClr val="538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55648"/>
            <a:ext cx="4736592" cy="20665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层数 ∝ log_d n（越大越矮）</a:t>
            </a:r>
            <a:endParaRPr sz="1500" b="1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每层结点数 ×d，n 个结点的层数就是 log_d n；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越大，层数越少；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d=2、n=10⁶ 时 19 层，d=16 时只要 5 层。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4169663"/>
            <a:ext cx="10652760" cy="914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A93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34256"/>
            <a:ext cx="10241280" cy="685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20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总代价 = 每层 d 次 × 共 log_d n 层 = d · log_d n</a:t>
            </a:r>
            <a:endParaRPr sz="20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4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两个力相反：d 大 → 层少但每层贵。那 d 取多少好？</a:t>
            </a:r>
            <a:endParaRPr sz="14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4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比一比就知：比较次数上 d=3 最少（d=2→37、d=3→35、d=4→38、d=8→51、d=16→77）；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4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但「比较次数」≠「墙钟时间」，真正跑起来最快的是 d≈4~8，见第 18 页。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08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(d)：INCREASE-KEY 的高效实现</a:t>
            </a:r>
            <a:endParaRPr sz="208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运行时间 O(log_d n)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11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10652760" cy="267004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10323576" cy="2432304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INCREASE-KEY(A, i, key)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key &lt; A[i].key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error "new key is smaller than current key"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A[i].key = key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i &gt; 1 and A[PARENT(i)].key &lt; A[i].key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exchange A[i] &lt;-&gt; A[PARENT(i)]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i = PARENT(i)                          // 只沿一条父链上浮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 PARENT(i) = floor((i-2)/d) + 1</a:t>
            </a:r>
            <a:endParaRPr sz="135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498848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6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做法：把新 key 写进结点 i，然后「往上浮」——只要比爸爸大，就和爸爸交换。</a:t>
            </a:r>
            <a:endParaRPr sz="14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6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上浮时每层只跟「唯一的爸爸」比一次，所以每层是 O(1)；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600"/>
              </a:spcAft>
            </a:pPr>
            <a:r>
              <a:rPr sz="119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最多从 i 浮到根，路长 ≤ 堆高 log_d n → 总 O(log_d n)。</a:t>
            </a:r>
            <a:endParaRPr sz="13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6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 EXTRACT-MAX（下沉）：下沉要在 d 个孩子里挑最大的，每层 O(d)；</a:t>
            </a:r>
            <a:endParaRPr sz="14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600"/>
              </a:spcAft>
            </a:pPr>
            <a:r>
              <a:rPr sz="133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4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上浮只跟爸爸比，每层 O(1) —— 这就是两者快慢不同的原因。</a:t>
            </a:r>
            <a:endParaRPr sz="14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2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小题 (e)：INSERT 的高效实现</a:t>
            </a:r>
            <a:endParaRPr sz="252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运行时间 O(log_d n)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12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10652760" cy="157276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10323576" cy="1335024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INSERT(A, key)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A.heap_size = A.heap_size + 1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A[A.heap_size].key = -infinity      // 先放一个最小值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INCREASE-KEY(A, A.heap_size, key)   // 再上浮到正确位置</a:t>
            </a:r>
            <a:endParaRPr sz="13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800"/>
              </a:spcAft>
            </a:pPr>
            <a:r>
              <a:rPr sz="138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思路：先把新元素「挂」在数组末尾（保住完全树的形状），再让它上浮。</a:t>
            </a:r>
            <a:endParaRPr sz="15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末尾插入 O(1)，真正的开销只是一次上浮 INCREASE-KEY = O(log_d n)。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800"/>
              </a:spcAft>
            </a:pPr>
            <a:r>
              <a:rPr sz="138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0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为什么不直接放根上？</a:t>
            </a:r>
            <a:endParaRPr sz="150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8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3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那样会打乱数组的「完全树」排列，O(1) 找爸妈的前提就没了。</a:t>
            </a:r>
            <a:endParaRPr sz="13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800"/>
              </a:spcAft>
            </a:pPr>
            <a:r>
              <a:rPr sz="138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50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越大插入越快：路长 = log_d n，d=16 时 n=10⁶ 只要约 5 步。</a:t>
            </a:r>
            <a:endParaRPr sz="150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小结：d 叉堆 vs 二叉堆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本题 (a)~(e) 结论汇总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13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1627632"/>
            <a:ext cx="10652760" cy="4572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1709928"/>
            <a:ext cx="2148839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6976" y="1709928"/>
            <a:ext cx="2926079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过程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45936" y="1709928"/>
            <a:ext cx="164592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二叉堆 d = 2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74736" y="1709928"/>
            <a:ext cx="1874519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叉堆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32136" y="1709928"/>
            <a:ext cx="114300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谁更优</a:t>
            </a:r>
            <a:endParaRPr sz="135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7240" y="2139696"/>
            <a:ext cx="10652760" cy="548640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176272"/>
            <a:ext cx="21488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BUILD-MAX-HEAP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6976" y="2176272"/>
            <a:ext cx="292607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Floyd 自底向上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45936" y="2176272"/>
            <a:ext cx="164592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74736" y="2176272"/>
            <a:ext cx="187451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32136" y="2176272"/>
            <a:ext cx="114300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7240" y="2688336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2724912"/>
            <a:ext cx="21488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MAX-HEAPIFY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6976" y="2724912"/>
            <a:ext cx="292607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每层比较 d 个孩子后下沉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45936" y="2724912"/>
            <a:ext cx="164592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74736" y="2724912"/>
            <a:ext cx="187451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O(d log_d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32136" y="2724912"/>
            <a:ext cx="114300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小</a:t>
            </a:r>
            <a:endParaRPr sz="12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7240" y="3236976"/>
            <a:ext cx="10652760" cy="548640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3273552"/>
            <a:ext cx="21488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EXTRACT-MAX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36976" y="3273552"/>
            <a:ext cx="292607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摘根 + MAX-HEAPIFY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45936" y="3273552"/>
            <a:ext cx="164592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74736" y="3273552"/>
            <a:ext cx="187451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O(d log_d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32136" y="3273552"/>
            <a:ext cx="114300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= 3</a:t>
            </a:r>
            <a:endParaRPr sz="12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3785615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3822191"/>
            <a:ext cx="21488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INCREASE-KEY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36976" y="3822191"/>
            <a:ext cx="292607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沿父链上浮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45936" y="3822191"/>
            <a:ext cx="164592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74736" y="3822191"/>
            <a:ext cx="187451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O(log_d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32136" y="3822191"/>
            <a:ext cx="114300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大</a:t>
            </a:r>
            <a:endParaRPr sz="125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77240" y="4334255"/>
            <a:ext cx="10652760" cy="548640"/>
          </a:xfrm>
          <a:prstGeom prst="rect">
            <a:avLst/>
          </a:prstGeom>
          <a:solidFill>
            <a:srgbClr val="FAF6F6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" y="4370831"/>
            <a:ext cx="21488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INSERT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36976" y="4370831"/>
            <a:ext cx="292607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尾部 −∞ + INCREASE-KEY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45936" y="4370831"/>
            <a:ext cx="164592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74736" y="4370831"/>
            <a:ext cx="187451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O(log_d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232136" y="4370831"/>
            <a:ext cx="114300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大</a:t>
            </a:r>
            <a:endParaRPr sz="125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77240" y="4882895"/>
            <a:ext cx="10652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" y="4919471"/>
            <a:ext cx="21488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高度 h</a:t>
            </a:r>
            <a:endParaRPr sz="125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36976" y="4919471"/>
            <a:ext cx="292607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根到最深叶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45936" y="4919471"/>
            <a:ext cx="164592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Θ(log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74736" y="4919471"/>
            <a:ext cx="187451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Θ(log_d n)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232136" y="4919471"/>
            <a:ext cx="114300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sz="1250" b="0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大</a:t>
            </a:r>
            <a:endParaRPr sz="1250" b="0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一句话：d 叉堆是「拿每层更贵，换树更矮」—— 操作快慢，由 d 和 log_d n 一起决定。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25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代码讲解（一）：类设计与下标</a:t>
            </a:r>
            <a:endParaRPr sz="2525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dary_heap.hpp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14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6400800" cy="269748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6071616" cy="245973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class DaryMaxHeap {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d_;                 // 叉数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size_;              // 堆元素个数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std::vector&lt;Item&gt; a_;   // a_[1..size_] 为堆，a_[0] 为哨兵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std::vector&lt;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int&gt;  pos_; // 对象 id -&gt; 下标，兑现「映射 O(1)」约定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parent(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i)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{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(i - 2) / d_ + 1; 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child(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i,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j)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{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d_ * (i - 1) + j + 1; 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0" y="1682496"/>
            <a:ext cx="402336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600"/>
              </a:spcAft>
            </a:pPr>
            <a:r>
              <a:rPr sz="124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3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代码核心就两个函数（其余都是堆的老套路）</a:t>
            </a:r>
            <a:endParaRPr sz="13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600"/>
              </a:spcAft>
            </a:pPr>
            <a:r>
              <a:rPr sz="110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parent / child：把「二叉堆的 2i、⌊i/2⌋」换成「d 倍」版；</a:t>
            </a:r>
            <a:endParaRPr sz="1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600"/>
              </a:spcAft>
            </a:pPr>
            <a:r>
              <a:rPr sz="110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pos_：记住「对象 → 数组下标」，兑现题目 O(1) 反查；</a:t>
            </a:r>
            <a:endParaRPr sz="1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600"/>
              </a:spcAft>
            </a:pPr>
            <a:r>
              <a:rPr sz="1105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a_[0] 哨兵、结点存 key+id，都是你在二叉堆里见过的写法。</a:t>
            </a:r>
            <a:endParaRPr sz="1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120640" y="4498848"/>
            <a:ext cx="6309360" cy="155448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1" y="4617720"/>
            <a:ext cx="5980176" cy="131673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53822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堆高：不用 log 浮点，沿父链上溯，结果精确</a:t>
            </a:r>
            <a:endParaRPr sz="1250" b="0" i="0">
              <a:solidFill>
                <a:srgbClr val="53822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height()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{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h = 0, i = size_;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(i &gt; 1) { i = parent(i); ++h; 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h;   // == floor( log_d((n-1)(d-1)+1) 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代码讲解（二）：去掉递归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MAX-HEAPIFY：递归 → 迭代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15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10652760" cy="169164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46504"/>
            <a:ext cx="10323576" cy="145389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 maxHeapifyRec(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i) {            // 递归版：与教材伪码一一对应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largest = i;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(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c = child(i,1); c &lt;=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min(lastChild(i), size_); ++c)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(a_[c].key &gt; a_[largest].key) largest = c;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(largest != i) { swapNodes(i, largest);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      maxHeapifyRec(largest); 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511296"/>
            <a:ext cx="10652760" cy="260604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10323576" cy="236829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 maxHeapify(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i) {               // 迭代版：等价但无函数调用开销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(true) {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largest = i;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last =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std::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min(lastChild(i), size_);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(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c = child(i,1); c &lt;= last; ++c)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(a_[c].key &gt; a_[largest].key) largest = c;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(largest == i)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return;      // 已满足堆性质，提前结束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swapNodes(i, largest);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i = largest;                   // 继续向下，替代递归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585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正确性验证：断言 + 随机对拍</a:t>
            </a:r>
            <a:endParaRPr sz="2585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test_6_2.cpp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16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5120640" cy="2011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27632"/>
            <a:ext cx="77724" cy="201168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1755648"/>
            <a:ext cx="4736592" cy="17922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逐题「自检」</a:t>
            </a:r>
            <a:endParaRPr sz="15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(a) 每个结点的爸妈下标都对得上；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(b) 树高和公式算出来的一模一样；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(c) 反复取最大，出来的数严格从大到小；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(d) 把 95 改大后，它真的浮到了堆顶；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(e) 插入 100 后，100 成了堆顶。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627632"/>
            <a:ext cx="5120640" cy="2011680"/>
          </a:xfrm>
          <a:prstGeom prst="roundRect">
            <a:avLst/>
          </a:prstGeom>
          <a:solidFill>
            <a:srgbClr val="F2F8EC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27632"/>
            <a:ext cx="77724" cy="2011680"/>
          </a:xfrm>
          <a:prstGeom prst="rect">
            <a:avLst/>
          </a:prstGeom>
          <a:solidFill>
            <a:srgbClr val="538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55648"/>
            <a:ext cx="4736592" cy="17922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拉标准库「打擂台」</a:t>
            </a:r>
            <a:endParaRPr sz="1500" b="1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每一步的堆顶都和 std::priority_queue 比一比；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 组 × 2000 次随机 插入/取最大/改大；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随机取 2~16，每一步都检查还是最大堆；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全过 —— 我们的实现和标准库完全一致。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895344"/>
            <a:ext cx="10652760" cy="1371600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14215"/>
            <a:ext cx="10323576" cy="1133856"/>
          </a:xfrm>
          <a:prstGeom prst="rect">
            <a:avLst/>
          </a:prstGeom>
          <a:noFill/>
        </p:spPr>
        <p:txBody>
          <a:bodyPr wrap="none" lIns="18288" tIns="0" rIns="18288" bIns="0" anchor="t">
            <a:spAutoFit/>
          </a:bodyPr>
          <a:lstStyle/>
          <a:p>
            <a:r>
              <a:rPr sz="1250" b="1" i="0">
                <a:solidFill>
                  <a:srgbClr val="A937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运行输出（节选）</a:t>
            </a:r>
            <a:endParaRPr sz="1250" b="1" i="0">
              <a:solidFill>
                <a:srgbClr val="A937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随机对拍：与 </a:t>
            </a: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std::priority_queue 对比 100 组随机操作序列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全部通过：100 组 × 2000 次随机操作，堆性质与输出均与基准一致。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全部断言通过 —— 6-2(a)~(e) 的实现与复杂度结论均成立</a:t>
            </a:r>
            <a:endParaRPr sz="1250" b="0" i="0">
              <a:solidFill>
                <a:srgbClr val="1F1F1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运行方式：build_run.bat  或  g++ -O2 -std=c++17 -static -o test_6_2.exe test_6_2.cpp</a:t>
            </a:r>
            <a:endParaRPr sz="12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215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复杂度实测：比较次数 vs 墙钟时间</a:t>
            </a:r>
            <a:endParaRPr sz="2215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 = 10⁴ ~ 10⁶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17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Picture 11" descr="fig_2_cmp_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92670"/>
            <a:ext cx="5486400" cy="3320715"/>
          </a:xfrm>
          <a:prstGeom prst="rect">
            <a:avLst/>
          </a:prstGeom>
        </p:spPr>
      </p:pic>
      <p:pic>
        <p:nvPicPr>
          <p:cNvPr id="13" name="Picture 12" descr="fig_3_time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44869"/>
            <a:ext cx="4983480" cy="30163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852160"/>
            <a:ext cx="10652760" cy="6858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03327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左图：比较次数和理论公式几乎重合；d=3 时比得最少（d=2→37、d=3→35、d=4→38、d=8→51、d=16→77）。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2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右图：真正跑起来最快的是 d≈4~8（本次最快 d=4 约 261ns），d=2 反而最慢（352ns）—— 说明还有「算法之外」的原因，见下页。</a:t>
            </a:r>
            <a:endParaRPr sz="12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瓶颈分析：比较最少 ≠ 最快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 = 10⁶ 实测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18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Picture 11" descr="fig_5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804" y="1536192"/>
            <a:ext cx="8877631" cy="3520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175504"/>
            <a:ext cx="10607040" cy="4846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marL="330200" indent="-330200">
              <a:lnSpc>
                <a:spcPct val="142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2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问题：比较最少（d=3）的，为什么跑起来不是最快？</a:t>
            </a:r>
            <a:endParaRPr sz="12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2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原因①：d 越大，下沉时「每层要扫的孩子」越多，单层更贵；</a:t>
            </a:r>
            <a:endParaRPr sz="12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330200">
              <a:lnSpc>
                <a:spcPct val="142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□  </a:t>
            </a:r>
            <a:r>
              <a:rPr sz="125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原因②（主因）：树越高，在内存里跳得越远，CPU 缓存跟不上；</a:t>
            </a:r>
            <a:endParaRPr sz="125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300"/>
              </a:spcAft>
            </a:pPr>
            <a:r>
              <a:rPr sz="101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1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d=2 时 n=10⁶ 有 19 层，几乎每层都可能跨出缓存，所以虽然比得少，却最慢；</a:t>
            </a:r>
            <a:endParaRPr sz="11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36600" indent="-381000">
              <a:lnSpc>
                <a:spcPct val="142000"/>
              </a:lnSpc>
              <a:spcAft>
                <a:spcPts val="300"/>
              </a:spcAft>
            </a:pPr>
            <a:r>
              <a:rPr sz="1010" b="0" i="0">
                <a:solidFill>
                  <a:srgbClr val="000000"/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➤  </a:t>
            </a:r>
            <a:r>
              <a:rPr sz="11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d=8 只有 7 层，一次还能连取 8 个相邻孩子，缓存更友好。</a:t>
            </a:r>
            <a:endParaRPr sz="11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改进方案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从参数选择到算法替换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19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591056"/>
            <a:ext cx="512064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91056"/>
            <a:ext cx="77724" cy="219456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1719072"/>
            <a:ext cx="4736592" cy="19751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工程层面（不改算法）</a:t>
            </a:r>
            <a:endParaRPr sz="15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按工作负载选 d：抽取为主 → d=3~4；插入为主 → d=8~16；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MAX-HEAPIFY 迭代化，消除递归调用开销；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顺序扫描连续的 d 个孩子，提高缓存命中率；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编译期开 -O2/-O3，大 d 时用 SIMD 并行比较。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591056"/>
            <a:ext cx="5120640" cy="2194560"/>
          </a:xfrm>
          <a:prstGeom prst="roundRect">
            <a:avLst/>
          </a:prstGeom>
          <a:solidFill>
            <a:srgbClr val="F2F8EC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91056"/>
            <a:ext cx="77724" cy="2194560"/>
          </a:xfrm>
          <a:prstGeom prst="rect">
            <a:avLst/>
          </a:prstGeom>
          <a:solidFill>
            <a:srgbClr val="538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19072"/>
            <a:ext cx="4736592" cy="19751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53822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算法层面（进阶 · 选读）</a:t>
            </a:r>
            <a:endParaRPr sz="1500" b="1" i="0">
              <a:solidFill>
                <a:srgbClr val="53822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需要同时取最大/最小 → 用 Min-Max 堆（双端堆）；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decrease-key 频繁（Dijkstra / Prim）→ Fibonacci 堆，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摊还 O(1) 插入、O(log n) 抽取（下一节内容）；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⑦ 只关心前 k 大 → 用「大小 k 的堆」做 Top-K，O(n log k)。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986784"/>
            <a:ext cx="10652760" cy="128016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51376"/>
            <a:ext cx="10241280" cy="98755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5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结论：</a:t>
            </a:r>
            <a:r>
              <a:rPr sz="14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 叉堆是「拿每层更贵，换树更矮」—— d 不是越大越好，也不是越小越好；</a:t>
            </a:r>
            <a:endParaRPr sz="14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450" b="0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比次数上 d=3 最划算；真跑起来 d≈4~8 最快（要顾着 CPU 缓存）。</a:t>
            </a:r>
            <a:endParaRPr sz="1450" b="0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848563"/>
            <a:ext cx="9436608" cy="539496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848563"/>
            <a:ext cx="978408" cy="539496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re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05" y="832104"/>
            <a:ext cx="983894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7984" y="866851"/>
            <a:ext cx="5285232" cy="502919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r>
              <a:rPr sz="2600" b="0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总结</a:t>
            </a:r>
            <a:endParaRPr sz="2600" b="0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976579"/>
            <a:ext cx="2423160" cy="28346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125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思考题 6-2 的完整答案</a:t>
            </a:r>
            <a:endParaRPr sz="125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272784"/>
            <a:ext cx="1371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/>
            <a:r>
              <a:rPr sz="1050" b="0" i="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6-2 · 20</a:t>
            </a:r>
            <a:endParaRPr sz="1050" b="0" i="0">
              <a:solidFill>
                <a:srgbClr val="8C8C8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1627632"/>
            <a:ext cx="2039112" cy="210312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27632"/>
            <a:ext cx="2039112" cy="40233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91640"/>
            <a:ext cx="1856231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(a) 数组表示</a:t>
            </a:r>
            <a:endParaRPr sz="130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5256" y="2148840"/>
            <a:ext cx="17830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(1) 层序编号存入 A[1..n]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(2) CHILD(i,j)=d(i-1)+j+1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(3) PARENT(i)=⌊(i-2)/d⌋+1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44368" y="1627632"/>
            <a:ext cx="2039112" cy="210312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44368" y="1627632"/>
            <a:ext cx="2039112" cy="40233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1691640"/>
            <a:ext cx="1856231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(b) 高度</a:t>
            </a:r>
            <a:endParaRPr sz="130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72384" y="2148840"/>
            <a:ext cx="17830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 = Θ(log_d n)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log_d((d-1)n+1)-1 ≤ h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≤ log_d((d-1)(n-1)+1)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11496" y="1627632"/>
            <a:ext cx="2039112" cy="210312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496" y="1627632"/>
            <a:ext cx="2039112" cy="40233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1691640"/>
            <a:ext cx="1856231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(c) EXTRACT-MAX</a:t>
            </a:r>
            <a:endParaRPr sz="130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39512" y="2148840"/>
            <a:ext cx="17830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摘根 + 末元素补根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 MAX-HEAPIFY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O(d log_d n)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278624" y="1627632"/>
            <a:ext cx="2039112" cy="210312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624" y="1627632"/>
            <a:ext cx="2039112" cy="40233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1691640"/>
            <a:ext cx="1856231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(d) INCREASE-KEY</a:t>
            </a:r>
            <a:endParaRPr sz="130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06640" y="2148840"/>
            <a:ext cx="17830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增大 key 后沿父链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上浮，每层 O(1)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O(log_d n)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45752" y="1627632"/>
            <a:ext cx="2039112" cy="210312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45752" y="1627632"/>
            <a:ext cx="2039112" cy="40233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1691640"/>
            <a:ext cx="1856231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(e) INSERT</a:t>
            </a:r>
            <a:endParaRPr sz="1300" b="1" i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573768" y="2148840"/>
            <a:ext cx="17830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尾部放 -∞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 一次 INCREASE-KEY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O(log_d n)</a:t>
            </a:r>
            <a:endParaRPr sz="11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7240" y="3950208"/>
            <a:ext cx="5120640" cy="13716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950208"/>
            <a:ext cx="77724" cy="1371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5" y="4078224"/>
            <a:ext cx="4736592" cy="11521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汇报分工（满足「至少 2 人讲解」）</a:t>
            </a:r>
            <a:endParaRPr sz="15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讲解 A：背景 + 小题 (a)(b)；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讲解 B：小题 (c)(d)(e) + C++ 代码 + 实测与瓶颈分析。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309360" y="3950208"/>
            <a:ext cx="5120640" cy="13716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D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50208"/>
            <a:ext cx="77724" cy="13716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4078224"/>
            <a:ext cx="4736592" cy="11521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A937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参考资料</a:t>
            </a:r>
            <a:endParaRPr sz="1500" b="1" i="0">
              <a:solidFill>
                <a:srgbClr val="A937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《算法导论》第 3 版：6.2~6.5 节、思考题 6-2；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 课堂讲义 02-1 高级数据结构-堆；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 本组实测数据：timing.csv / counts.csv。</a:t>
            </a:r>
            <a:endParaRPr sz="125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26519" y="0"/>
            <a:ext cx="265176" cy="6858000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463040"/>
            <a:ext cx="1911095" cy="685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94960" y="2487168"/>
            <a:ext cx="1399032" cy="28575"/>
          </a:xfrm>
          <a:prstGeom prst="rect">
            <a:avLst/>
          </a:prstGeom>
          <a:solidFill>
            <a:srgbClr val="A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60152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4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谢谢！</a:t>
            </a:r>
            <a:endParaRPr sz="4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360152" cy="2457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思考题 6-2 · 对 d 叉堆的分析     |     及靖涵  202508100101</a:t>
            </a:r>
            <a:r>
              <a:rPr lang="en-US" sz="16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宋自信</a:t>
            </a:r>
            <a:r>
              <a:rPr lang="en-US" altLang="zh-CN" sz="1600" b="0" i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202508100107</a:t>
            </a:r>
            <a:endParaRPr lang="en-US" altLang="zh-CN" sz="1600" b="0" i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8147</Words>
  <Application>WPS 演示</Application>
  <PresentationFormat>On-screen Show (4:3)</PresentationFormat>
  <Paragraphs>513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Arial</vt:lpstr>
      <vt:lpstr>Arial Black</vt:lpstr>
      <vt:lpstr>黑体</vt:lpstr>
      <vt:lpstr>Segoe UI Symbol</vt:lpstr>
      <vt:lpstr>Consolas</vt:lpstr>
      <vt:lpstr>Calibri</vt:lpstr>
      <vt:lpstr>微软雅黑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青春哥          凯CC</cp:lastModifiedBy>
  <cp:revision>2</cp:revision>
  <dcterms:created xsi:type="dcterms:W3CDTF">2013-01-27T09:14:00Z</dcterms:created>
  <dcterms:modified xsi:type="dcterms:W3CDTF">2026-10-11T07:21:50Z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0D33B419BE854E91B7D4A623870B05E3_12</vt:lpwstr>
  </property>
  <property fmtid="{D5CDD505-2E9C-101B-9397-08002B2CF9AE}" pid="3" name="KSOProductBuildVer">
    <vt:lpwstr>2052-12.1.0.28505</vt:lpwstr>
  </property>
</Properties>
</file>