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</ns0:sldIdLst>
  <ns0:sldSz cx="12192000" cy="6858000" type="screen4x3"/>
  <ns0:notesSz cx="6858000" cy="9144000"/>
  <ns0:embeddedFontLst>
    <ns0:embeddedFont>
      <ns0:font typeface="JetBrains Mono"/>
      <ns0:bold ns1:id="rIdFont31"/>
      <ns0:regular ns1:id="rIdFont32"/>
    </ns0:embeddedFont>
    <ns0:embeddedFont>
      <ns0:font typeface="Noto Sans SC"/>
      <ns0:bold ns1:id="rIdFont33"/>
      <ns0:regular ns1:id="rIdFont3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Font31" Type="http://schemas.openxmlformats.org/officeDocument/2006/relationships/font" Target="fonts/099b5280-d7aa-4e06-a930-55af327bb9df.fntdata" /><ns0:Relationship Id="rIdFont32" Type="http://schemas.openxmlformats.org/officeDocument/2006/relationships/font" Target="fonts/18726c95-de8f-4f91-aeb9-aca099ead1b1.fntdata" /><ns0:Relationship Id="rIdFont33" Type="http://schemas.openxmlformats.org/officeDocument/2006/relationships/font" Target="fonts/6727846c-182a-47f8-b857-f337c51850be.fntdata" /><ns0:Relationship Id="rIdFont34" Type="http://schemas.openxmlformats.org/officeDocument/2006/relationships/font" Target="fonts/7810a76a-0c67-43c3-a124-7d244b1eb19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052887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1714500"/>
            <a:ext cx="40005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157412"/>
            <a:ext cx="73606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Noto Sans SC"/>
              </a:rPr>
              <a:t>算法导论 · 习题精讲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09837"/>
            <a:ext cx="77287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900" i="0" u="none">
                <a:solidFill>
                  <a:srgbClr val="F8FAFC"/>
                </a:solidFill>
                <a:latin typeface="Noto Sans SC"/>
              </a:rPr>
              <a:t>d 叉堆与变长数据项的排序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67087"/>
            <a:ext cx="7360666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Noto Sans SC"/>
              </a:rPr>
              <a:t>习题 6-2 / 8-3 课堂讲解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71987"/>
            <a:ext cx="736066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SC"/>
              </a:rPr>
              <a:t>杨肖      算法设计与分析 · 课堂讲义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276475"/>
            <a:ext cx="5353050" cy="297180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219325"/>
            <a:ext cx="5353050" cy="308610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19100"/>
            <a:ext cx="1700212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讲解路线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0900" y="600075"/>
            <a:ext cx="895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全局概览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628900"/>
            <a:ext cx="610076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2563EB"/>
                </a:solidFill>
                <a:latin typeface="Noto Sans SC"/>
              </a:rPr>
              <a:t>6-2 d 叉堆分析（约 18 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52775"/>
            <a:ext cx="5810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(a) 数组表示：下标换算公式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24250"/>
            <a:ext cx="5810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(b) 堆的高度：以 d 为底的对数夹逼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95725"/>
            <a:ext cx="5810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(c) EXTRACT-MAX：d 路比较下沉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267200"/>
            <a:ext cx="5810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(d) INCREASE-KEY：沿父链单路上浮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638675"/>
            <a:ext cx="58102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(e) INSERT：末尾占位后上浮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2571750"/>
            <a:ext cx="5572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6A34A"/>
                </a:solidFill>
                <a:latin typeface="Noto Sans SC"/>
              </a:rPr>
              <a:t>8-3 变长数据项排序（约 12 分钟）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3095625"/>
            <a:ext cx="5572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(a) 总位数为 n 的变长整数排序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3505200"/>
            <a:ext cx="5572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(b) 总字符数为 n 的变长字符串排序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914775"/>
            <a:ext cx="5572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A580C"/>
                </a:solidFill>
                <a:latin typeface="Noto Sans SC"/>
              </a:rPr>
              <a:t>主线：先消掉长度差异，再分桶排序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875" y="4324350"/>
            <a:ext cx="5572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Noto Sans SC"/>
              </a:rPr>
              <a:t>视角：利用数据结构绕开比较下界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4695825"/>
            <a:ext cx="5572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Noto Sans SC"/>
              </a:rPr>
              <a:t>目标：严格证明 O(n) 线性时间界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390775"/>
            <a:ext cx="4866382" cy="9525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533775"/>
            <a:ext cx="4866382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410075"/>
            <a:ext cx="4866382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80782" y="2114550"/>
            <a:ext cx="2786508" cy="3257550"/>
          </a:xfrm>
          <a:prstGeom prst="roundRect">
            <a:avLst>
              <a:gd name="adj" fmla="val 54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33991" y="2114550"/>
            <a:ext cx="2786508" cy="3257550"/>
          </a:xfrm>
          <a:prstGeom prst="roundRect">
            <a:avLst>
              <a:gd name="adj" fmla="val 54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73937" y="26955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45312" y="35147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2562" y="35147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4812" y="43338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27146" y="26955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46108" y="36290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27146" y="36290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08183" y="36290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462" y="3095625"/>
            <a:ext cx="19050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462" y="3914775"/>
            <a:ext cx="190500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9421" y="3095625"/>
            <a:ext cx="2095500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19100"/>
            <a:ext cx="262122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什么叫 d 叉堆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53018" y="600075"/>
            <a:ext cx="8532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 引入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2600325"/>
            <a:ext cx="454253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0F172A"/>
                </a:solidFill>
                <a:latin typeface="Noto Sans SC"/>
              </a:rPr>
              <a:t>与二叉堆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唯一的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区别：每个非叶结点最多有 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d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 个孩子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3743325"/>
            <a:ext cx="555910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0F172A"/>
                </a:solidFill>
                <a:latin typeface="Noto Sans SC"/>
              </a:rPr>
              <a:t>仍然是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完全树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：按层从左到右依次填满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4619625"/>
            <a:ext cx="555910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0F172A"/>
                </a:solidFill>
                <a:latin typeface="Noto Sans SC"/>
              </a:rPr>
              <a:t>特例验证：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d = 2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 时就是普通的二叉堆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2763" y="2352675"/>
            <a:ext cx="19529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Noto Sans SC"/>
              </a:rPr>
              <a:t>二叉堆 (d = 2, n = 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2265" y="4886325"/>
            <a:ext cx="7691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Noto Sans SC"/>
              </a:rPr>
              <a:t>h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972" y="2352675"/>
            <a:ext cx="19529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Noto Sans SC"/>
              </a:rPr>
              <a:t>三叉堆 (d = 3, n = 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474" y="4886325"/>
            <a:ext cx="7691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Noto Sans SC"/>
              </a:rPr>
              <a:t>h =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1062" y="269557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2437" y="351472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9687" y="351472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937" y="433387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271" y="269557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3233" y="362902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4271" y="362902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5308" y="3629025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548532"/>
            <a:ext cx="11049000" cy="695325"/>
          </a:xfrm>
          <a:prstGeom prst="roundRect">
            <a:avLst>
              <a:gd name="adj" fmla="val 191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415307"/>
            <a:ext cx="11049000" cy="700087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286845"/>
            <a:ext cx="11049000" cy="708273"/>
          </a:xfrm>
          <a:prstGeom prst="roundRect">
            <a:avLst>
              <a:gd name="adj" fmla="val 188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479" y="2786657"/>
            <a:ext cx="6896695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705" y="3634382"/>
            <a:ext cx="2753469" cy="2619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207" y="4505920"/>
            <a:ext cx="4264967" cy="270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047750"/>
            <a:ext cx="11620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334155"/>
                </a:solidFill>
                <a:latin typeface="Noto Sans SC"/>
              </a:rPr>
              <a:t>存放规则：按层序（从根开始，每层从左到右）依次放进数组 </a:t>
            </a:r>
            <a:r>
              <a:rPr b="1" sz="1575" i="0" u="none">
                <a:solidFill>
                  <a:srgbClr val="334155"/>
                </a:solidFill>
                <a:latin typeface="Noto Sans SC"/>
              </a:rPr>
              <a:t>A[1..n]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91250"/>
            <a:ext cx="1162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475569"/>
                </a:solidFill>
                <a:latin typeface="Noto Sans SC"/>
              </a:rPr>
              <a:t>自检：当 d = 2 时，自动退化为二叉堆公式 2i、2i + 1 与 ⌊i / 2⌋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19100"/>
            <a:ext cx="3802233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6-2(a) 数组表示公式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13901" y="609600"/>
            <a:ext cx="69234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767607"/>
            <a:ext cx="273229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A580C"/>
                </a:solidFill>
                <a:latin typeface="Noto Sans SC"/>
              </a:rPr>
              <a:t>第 k 个孩子下标 (k = 1..d)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36764"/>
            <a:ext cx="187709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Noto Sans SC"/>
              </a:rPr>
              <a:t>父结点下标 (i ≥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512319"/>
            <a:ext cx="332072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Noto Sans SC"/>
              </a:rPr>
              <a:t>结点 i 所在层数（根为第 0 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971550"/>
            <a:ext cx="11049000" cy="502920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0" y="1814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95650" y="269081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86450" y="26908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39150" y="26908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8400" y="364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5650" y="364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52900" y="364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0650" y="364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57900" y="364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15150" y="364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47850" y="4471987"/>
            <a:ext cx="742950" cy="619125"/>
          </a:xfrm>
          <a:prstGeom prst="roundRect">
            <a:avLst>
              <a:gd name="adj" fmla="val 12307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86050" y="4481512"/>
            <a:ext cx="742950" cy="600075"/>
          </a:xfrm>
          <a:prstGeom prst="roundRect">
            <a:avLst>
              <a:gd name="adj" fmla="val 12698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4250" y="4491037"/>
            <a:ext cx="74295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2450" y="4491037"/>
            <a:ext cx="74295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00650" y="4405312"/>
            <a:ext cx="876300" cy="752475"/>
          </a:xfrm>
          <a:prstGeom prst="roundRect">
            <a:avLst>
              <a:gd name="adj" fmla="val 10126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4481512"/>
            <a:ext cx="742950" cy="600075"/>
          </a:xfrm>
          <a:prstGeom prst="roundRect">
            <a:avLst>
              <a:gd name="adj" fmla="val 12698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10400" y="4481512"/>
            <a:ext cx="819150" cy="600075"/>
          </a:xfrm>
          <a:prstGeom prst="roundRect">
            <a:avLst>
              <a:gd name="adj" fmla="val 12698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4800" y="4491037"/>
            <a:ext cx="74295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63000" y="4491037"/>
            <a:ext cx="74295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4491037"/>
            <a:ext cx="74295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271712"/>
            <a:ext cx="8572500" cy="419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186112"/>
            <a:ext cx="85725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-404812" y="6153150"/>
            <a:ext cx="13001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Noto Sans SC"/>
              </a:rPr>
              <a:t>核心结论：任意结点 i 的 d 个孩子是数组里连续的一段区间 [5..7]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19100"/>
            <a:ext cx="3802233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6-2(a) 树与数组对照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0487" y="600075"/>
            <a:ext cx="22125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6-2(a) 图解 (d = 3, n = 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525" y="18145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2775" y="2690812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i=2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3575" y="26908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Noto Sans SC"/>
              </a:rPr>
              <a:t>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6275" y="26908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Noto Sans SC"/>
              </a:rPr>
              <a:t>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5525" y="36433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2775" y="36433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0025" y="36433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7775" y="36433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Noto Sans S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5025" y="36433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Noto Sans SC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2275" y="36433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Noto Sans SC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19275" y="4586287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Noto Sans SC"/>
              </a:rPr>
              <a:t>A[1] 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9275" y="4757737"/>
            <a:ext cx="800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7475" y="4595812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Noto Sans SC"/>
              </a:rPr>
              <a:t>A[2] i=2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7475" y="4748212"/>
            <a:ext cx="800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6150" y="4595812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SC"/>
              </a:rPr>
              <a:t>A[3]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6150" y="4748212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Noto Sans SC"/>
              </a:rPr>
              <a:t>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4350" y="4595812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SC"/>
              </a:rPr>
              <a:t>A[4]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4350" y="4748212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Noto Sans SC"/>
              </a:rPr>
              <a:t>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2075" y="4519612"/>
            <a:ext cx="933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Noto Sans SC"/>
              </a:rPr>
              <a:t>d(i−1)+2=5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2075" y="4824412"/>
            <a:ext cx="933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3625" y="4595812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Noto Sans SC"/>
              </a:rPr>
              <a:t>A[6]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3625" y="4748212"/>
            <a:ext cx="800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1825" y="4595812"/>
            <a:ext cx="876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Noto Sans SC"/>
              </a:rPr>
              <a:t>di+1=7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81825" y="4748212"/>
            <a:ext cx="876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6700" y="4595812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SC"/>
              </a:rPr>
              <a:t>A[8]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6700" y="4748212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Noto Sans SC"/>
              </a:rPr>
              <a:t>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24900" y="4595812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SC"/>
              </a:rPr>
              <a:t>A[9]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24900" y="4748212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Noto Sans SC"/>
              </a:rPr>
              <a:t>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63100" y="4595812"/>
            <a:ext cx="819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SC"/>
              </a:rPr>
              <a:t>A[10]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63100" y="4748212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Noto Sans SC"/>
              </a:rPr>
              <a:t>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86905" y="2235696"/>
            <a:ext cx="7418040" cy="1605557"/>
          </a:xfrm>
          <a:prstGeom prst="roundRect">
            <a:avLst>
              <a:gd name="adj" fmla="val 949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4069853"/>
            <a:ext cx="25908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4069853"/>
            <a:ext cx="25908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69853"/>
            <a:ext cx="25908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29700" y="4069853"/>
            <a:ext cx="25908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55" y="2502396"/>
            <a:ext cx="4725590" cy="6530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2975371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6-2(b) 高度结论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5567" y="609600"/>
            <a:ext cx="70068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6400" y="3288803"/>
            <a:ext cx="79390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34155"/>
                </a:solidFill>
                <a:latin typeface="Noto Sans SC"/>
              </a:rPr>
              <a:t>精确夹逼：log</a:t>
            </a:r>
            <a:r>
              <a:rPr b="0" sz="1250" i="0" u="none">
                <a:solidFill>
                  <a:srgbClr val="334155"/>
                </a:solidFill>
                <a:latin typeface="Noto Sans SC"/>
              </a:rPr>
              <a:t>d</a:t>
            </a:r>
            <a:r>
              <a:rPr b="0" sz="1500" i="0" u="none">
                <a:solidFill>
                  <a:srgbClr val="334155"/>
                </a:solidFill>
                <a:latin typeface="Noto Sans SC"/>
              </a:rPr>
              <a:t> n − 1 ≤ h ≤ log</a:t>
            </a:r>
            <a:r>
              <a:rPr b="0" sz="1250" i="0" u="none">
                <a:solidFill>
                  <a:srgbClr val="334155"/>
                </a:solidFill>
                <a:latin typeface="Noto Sans SC"/>
              </a:rPr>
              <a:t>d</a:t>
            </a:r>
            <a:r>
              <a:rPr b="0" sz="1500" i="0" u="none">
                <a:solidFill>
                  <a:srgbClr val="334155"/>
                </a:solidFill>
                <a:latin typeface="Noto Sans SC"/>
              </a:rPr>
              <a:t>(n − 1) + 1（直觉：每多一层，结点数乘 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306" y="4307978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SC"/>
              </a:rPr>
              <a:t>n = 16 · d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" y="4584203"/>
            <a:ext cx="26431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Noto Sans SC"/>
              </a:rPr>
              <a:t>h =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706" y="4307978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SC"/>
              </a:rPr>
              <a:t>n = 16 · d =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706" y="4584203"/>
            <a:ext cx="26431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2563EB"/>
                </a:solidFill>
                <a:latin typeface="Noto Sans SC"/>
              </a:rPr>
              <a:t>h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4106" y="4307978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SC"/>
              </a:rPr>
              <a:t>n = 16 · d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4106" y="4584203"/>
            <a:ext cx="26431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6A34A"/>
                </a:solidFill>
                <a:latin typeface="Noto Sans SC"/>
              </a:rPr>
              <a:t>h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3506" y="4307978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Noto Sans SC"/>
              </a:rPr>
              <a:t>n = 16 · d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3506" y="4584203"/>
            <a:ext cx="26431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EA580C"/>
                </a:solidFill>
                <a:latin typeface="Noto Sans SC"/>
              </a:rPr>
              <a:t>h 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74676"/>
            <a:ext cx="11049000" cy="673447"/>
          </a:xfrm>
          <a:prstGeom prst="roundRect">
            <a:avLst>
              <a:gd name="adj" fmla="val 169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000523"/>
            <a:ext cx="11049000" cy="692199"/>
          </a:xfrm>
          <a:prstGeom prst="roundRect">
            <a:avLst>
              <a:gd name="adj" fmla="val 165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845123"/>
            <a:ext cx="110490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683323"/>
            <a:ext cx="11049000" cy="6286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794" y="2355651"/>
            <a:ext cx="2034480" cy="31149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51" y="3181498"/>
            <a:ext cx="4765923" cy="33024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493" y="4026098"/>
            <a:ext cx="7012781" cy="32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19100"/>
            <a:ext cx="2975371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6-2(b) 严格推导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3700" y="600075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6-2(b) 数学证明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387500"/>
            <a:ext cx="649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SC"/>
              </a:rPr>
              <a:t>1. 完全 d 叉树结点数上下界（前 h 层全满，第 h 层至少 1 个）：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222724"/>
            <a:ext cx="228748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Noto Sans SC"/>
              </a:rPr>
              <a:t>2. 由左不等式求上界：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64198"/>
            <a:ext cx="228748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6A34A"/>
                </a:solidFill>
                <a:latin typeface="Noto Sans SC"/>
              </a:rPr>
              <a:t>3. 由右不等式求下界：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854773"/>
            <a:ext cx="57432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Noto Sans SC"/>
              </a:rPr>
              <a:t>4. 两边夹逼即得 h = Θ(log</a:t>
            </a:r>
            <a:r>
              <a:rPr b="1" sz="1250" i="0" u="none">
                <a:solidFill>
                  <a:srgbClr val="1E3A8A"/>
                </a:solidFill>
                <a:latin typeface="Noto Sans SC"/>
              </a:rPr>
              <a:t>d</a:t>
            </a:r>
            <a:r>
              <a:rPr b="1" sz="1500" i="0" u="none">
                <a:solidFill>
                  <a:srgbClr val="1E3A8A"/>
                </a:solidFill>
                <a:latin typeface="Noto Sans SC"/>
              </a:rPr>
              <a:t> n)：注意分支数 d 出现在对数的底数上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352675"/>
            <a:ext cx="11049000" cy="4086225"/>
          </a:xfrm>
          <a:prstGeom prst="roundRect">
            <a:avLst>
              <a:gd name="adj" fmla="val 37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157287"/>
            <a:ext cx="2435125" cy="85725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6441" y="1157287"/>
            <a:ext cx="2435125" cy="85725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1382" y="1147762"/>
            <a:ext cx="2454175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85374" y="1047750"/>
            <a:ext cx="2435125" cy="1076325"/>
          </a:xfrm>
          <a:prstGeom prst="roundRect">
            <a:avLst>
              <a:gd name="adj" fmla="val 1061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975" y="1481137"/>
            <a:ext cx="16311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917" y="1481137"/>
            <a:ext cx="16311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908" y="1481137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416" y="3109912"/>
            <a:ext cx="4953000" cy="2571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19100"/>
            <a:ext cx="5289918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6-2(c) EXTRACT-MAX 四步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13901" y="609600"/>
            <a:ext cx="69234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234" y="1347787"/>
            <a:ext cx="2567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2563EB"/>
                </a:solidFill>
                <a:latin typeface="Noto Sans SC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234" y="1566862"/>
            <a:ext cx="25676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取出根 A[1]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0175" y="1347787"/>
            <a:ext cx="2567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EA580C"/>
                </a:solidFill>
                <a:latin typeface="Noto Sans SC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0175" y="1566862"/>
            <a:ext cx="25676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末尾元素搬到根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4642" y="1347787"/>
            <a:ext cx="2567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475569"/>
                </a:solidFill>
                <a:latin typeface="Noto Sans SC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4642" y="1566862"/>
            <a:ext cx="256765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A.heap-size 减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9108" y="1238250"/>
            <a:ext cx="2567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6A34A"/>
                </a:solidFill>
                <a:latin typeface="Noto Sans SC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9108" y="1457325"/>
            <a:ext cx="256765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对根调用 MAX-HEAPIFY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4707" y="3576637"/>
            <a:ext cx="548729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SC"/>
              </a:rPr>
              <a:t>正确性不变量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4707" y="4033837"/>
            <a:ext cx="465861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末尾元素（橙色）搬至根（蓝色）后，</a:t>
            </a:r>
            <a:r>
              <a:rPr b="1" sz="1500" i="0" u="none">
                <a:solidFill>
                  <a:srgbClr val="1E293B"/>
                </a:solidFill>
                <a:latin typeface="Noto Sans SC"/>
              </a:rPr>
              <a:t>只有根可能违反最大堆性质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4707" y="4700587"/>
            <a:ext cx="465861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Noto Sans SC"/>
              </a:rPr>
              <a:t>根的 d 个孩子子树（绿色）内部未改动，仍然都是合法的 d 叉最大堆。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4224337"/>
            <a:ext cx="25926752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6803052" y="1028700"/>
            <a:ext cx="1333797" cy="2476500"/>
          </a:xfrm>
          <a:prstGeom prst="roundRect">
            <a:avLst>
              <a:gd name="adj" fmla="val 856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803052" y="3657600"/>
            <a:ext cx="1333797" cy="2219325"/>
          </a:xfrm>
          <a:prstGeom prst="roundRect">
            <a:avLst>
              <a:gd name="adj" fmla="val 856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803052" y="6029325"/>
            <a:ext cx="1333797" cy="2476500"/>
          </a:xfrm>
          <a:prstGeom prst="roundRect">
            <a:avLst>
              <a:gd name="adj" fmla="val 856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8658225"/>
            <a:ext cx="11620500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核心机制：在“我自己”和“我的 d 个孩子”这 d + 1 个结点里选出最大者并交换下沉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19100"/>
            <a:ext cx="514849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6-2(c) 下沉 MAX-HEAPIFY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4434" y="600075"/>
            <a:ext cx="11918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6-2(c) 伪代码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643437"/>
            <a:ext cx="11382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JetBrains Mono"/>
              </a:rPr>
              <a:t>MAX-HEAPIFY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(A, i) 1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while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true 2 largest = i 3 c = d(i − 1) + 2 // 第一个孩子下标 4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for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j = 0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to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d − 1 5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if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c + j ≤ A.heap-size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and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A[c + j] &gt; A[largest] 6 largest = c + j 7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if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largest == i: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return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8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swap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A[i] ↔ A[largest] 9 i = largest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22127" y="1209675"/>
            <a:ext cx="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SC"/>
              </a:rPr>
              <a:t>步骤 1：确定 d + 1 个候选结点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22127" y="1952625"/>
            <a:ext cx="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Noto Sans SC"/>
              </a:rPr>
              <a:t>当前结点 i（蓝色）与它的 d 个孩子 c .. c+d−1（橙色）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22127" y="3838575"/>
            <a:ext cx="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580C"/>
                </a:solidFill>
                <a:latin typeface="Noto Sans SC"/>
              </a:rPr>
              <a:t>步骤 2：for 循环扫一遍 d 个孩子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22127" y="4581525"/>
            <a:ext cx="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Noto Sans SC"/>
              </a:rPr>
              <a:t>做 d 次比较，选出 d + 1 个候选中的最大者 largest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22127" y="6210300"/>
            <a:ext cx="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Noto Sans SC"/>
              </a:rPr>
              <a:t>步骤 3：交换并下移一层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22127" y="6953250"/>
            <a:ext cx="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Noto Sans SC"/>
              </a:rPr>
              <a:t>若最大者不是自己，交换 A[i] 与 A[largest]，指针继续下沉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4739580"/>
            <a:ext cx="11049000" cy="6096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148631"/>
            <a:ext cx="5410200" cy="1085850"/>
          </a:xfrm>
          <a:prstGeom prst="roundRect">
            <a:avLst>
              <a:gd name="adj" fmla="val 12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137320"/>
            <a:ext cx="5410200" cy="1108620"/>
          </a:xfrm>
          <a:prstGeom prst="roundRect">
            <a:avLst>
              <a:gd name="adj" fmla="val 120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55491"/>
            <a:ext cx="11049000" cy="10745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117" y="3741241"/>
            <a:ext cx="8411765" cy="503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19100"/>
            <a:ext cx="3377179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6-2(c) 复杂度分析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4434" y="600075"/>
            <a:ext cx="11918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6-2(c) 复杂度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920555"/>
            <a:ext cx="42295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Noto Sans SC"/>
              </a:rPr>
              <a:t>递归式写法：</a:t>
            </a:r>
            <a:r>
              <a:rPr b="0" sz="1425" i="0" u="none">
                <a:solidFill>
                  <a:srgbClr val="334155"/>
                </a:solidFill>
                <a:latin typeface="Noto Sans SC"/>
              </a:rPr>
              <a:t>T(n) ≤ T(⌈(n − 1) / d⌉) + Θ(d)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3347" y="4920555"/>
            <a:ext cx="469865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6A34A"/>
                </a:solidFill>
                <a:latin typeface="Noto Sans SC"/>
              </a:rPr>
              <a:t>二叉堆对照：d = 2 时退化为 Θ(2 lg n) = Θ(lg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386756"/>
            <a:ext cx="647580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A580C"/>
                </a:solidFill>
                <a:latin typeface="Noto Sans SC"/>
              </a:rPr>
              <a:t>单层代价：Θ(d)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748706"/>
            <a:ext cx="6167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Noto Sans SC"/>
              </a:rPr>
              <a:t>每一层需要 d 次比较才能确定孩子中的最大者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375445"/>
            <a:ext cx="5743575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Noto Sans SC"/>
              </a:rPr>
              <a:t>下沉层数：h = Θ(log</a:t>
            </a:r>
            <a:r>
              <a:rPr b="1" sz="1374" i="0" u="none">
                <a:solidFill>
                  <a:srgbClr val="2563EB"/>
                </a:solidFill>
                <a:latin typeface="Noto Sans SC"/>
              </a:rPr>
              <a:t>d</a:t>
            </a:r>
            <a:r>
              <a:rPr b="1" sz="1650" i="0" u="none">
                <a:solidFill>
                  <a:srgbClr val="2563EB"/>
                </a:solidFill>
                <a:latin typeface="Noto Sans SC"/>
              </a:rPr>
              <a:t>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760166"/>
            <a:ext cx="5743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Noto Sans SC"/>
              </a:rPr>
              <a:t>沿树下沉的路径长度不超过堆高 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61062" y="1081087"/>
            <a:ext cx="1504950" cy="52387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399407"/>
            <a:ext cx="17346662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675757"/>
            <a:ext cx="17346662" cy="1325760"/>
          </a:xfrm>
          <a:prstGeom prst="roundRect">
            <a:avLst>
              <a:gd name="adj" fmla="val 862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94462" y="2195512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94462" y="3052762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94462" y="3910012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84937" y="47672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7287" y="2633662"/>
            <a:ext cx="9525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7287" y="3490912"/>
            <a:ext cx="9525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7287" y="4348162"/>
            <a:ext cx="9525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19100"/>
            <a:ext cx="448727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6-2(d) INCREASE-KEY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3700" y="571500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6-2(d) 上浮操作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37287" y="1357312"/>
            <a:ext cx="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Noto Sans SC"/>
              </a:rPr>
              <a:t>沿唯一祖先链上浮 (≤ h 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3537" y="2195512"/>
            <a:ext cx="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3537" y="3052762"/>
            <a:ext cx="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Noto Sans SC"/>
              </a:rPr>
              <a:t>父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3537" y="3910012"/>
            <a:ext cx="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Noto Sans SC"/>
              </a:rPr>
              <a:t>父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3537" y="4767262"/>
            <a:ext cx="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287" y="5357812"/>
            <a:ext cx="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SC"/>
              </a:rPr>
              <a:t>每步 1 次比较 × 最多 h 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818507"/>
            <a:ext cx="11382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JetBrains Mono"/>
              </a:rPr>
              <a:t>INCREASE-KEY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(A, i, key) 1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if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key &lt; A[i]: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error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"新键小于当前键" 2 A[i] = key 3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while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i &gt; 1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and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A[PARENT(i)] &lt; A[i] 4 </a:t>
            </a:r>
            <a:r>
              <a:rPr b="1" sz="1425" i="0" u="none">
                <a:solidFill>
                  <a:srgbClr val="0F172A"/>
                </a:solidFill>
                <a:latin typeface="JetBrains Mono"/>
              </a:rPr>
              <a:t>swap</a:t>
            </a:r>
            <a:r>
              <a:rPr b="0" sz="1425" i="0" u="none">
                <a:solidFill>
                  <a:srgbClr val="0F172A"/>
                </a:solidFill>
                <a:latin typeface="JetBrains Mono"/>
              </a:rPr>
              <a:t> A[i] ↔ A[PARENT(i)] 5 i = PARENT(i)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875782"/>
            <a:ext cx="1138237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6A34A"/>
                </a:solidFill>
                <a:latin typeface="Noto Sans SC"/>
              </a:rPr>
              <a:t>时间复杂度：O(log</a:t>
            </a:r>
            <a:r>
              <a:rPr b="1" sz="1312" i="0" u="none">
                <a:solidFill>
                  <a:srgbClr val="16A34A"/>
                </a:solidFill>
                <a:latin typeface="Noto Sans SC"/>
              </a:rPr>
              <a:t>d</a:t>
            </a:r>
            <a:r>
              <a:rPr b="1" sz="1575" i="0" u="none">
                <a:solidFill>
                  <a:srgbClr val="16A34A"/>
                </a:solidFill>
                <a:latin typeface="Noto Sans SC"/>
              </a:rPr>
              <a:t> 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249042"/>
            <a:ext cx="11382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Noto Sans SC"/>
              </a:rPr>
              <a:t>每层</a:t>
            </a:r>
            <a:r>
              <a:rPr b="1" sz="1425" i="0" u="none">
                <a:solidFill>
                  <a:srgbClr val="1E293B"/>
                </a:solidFill>
                <a:latin typeface="Noto Sans SC"/>
              </a:rPr>
              <a:t>只与唯一父结点比较 1 次</a:t>
            </a:r>
            <a:r>
              <a:rPr b="0" sz="1425" i="0" u="none">
                <a:solidFill>
                  <a:srgbClr val="1E293B"/>
                </a:solidFill>
                <a:latin typeface="Noto Sans SC"/>
              </a:rPr>
              <a:t>，无需扫描兄弟结点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4553842"/>
            <a:ext cx="11382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475569"/>
                </a:solidFill>
                <a:latin typeface="Noto Sans SC"/>
              </a:rPr>
              <a:t>紧性：修改叶子结点一路上浮到根，恰好走 h 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295525"/>
            <a:ext cx="110490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876675"/>
            <a:ext cx="35369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3876675"/>
            <a:ext cx="35369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3890069"/>
            <a:ext cx="3517850" cy="1287660"/>
          </a:xfrm>
          <a:prstGeom prst="roundRect">
            <a:avLst>
              <a:gd name="adj" fmla="val 88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4628898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6-2(e) INSERT 插入元素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3901" y="609600"/>
            <a:ext cx="69234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6-2(e)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09875"/>
            <a:ext cx="112680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JetBrains Mono"/>
              </a:rPr>
              <a:t>INSERT</a:t>
            </a:r>
            <a:r>
              <a:rPr b="0" sz="1650" i="0" u="none">
                <a:solidFill>
                  <a:srgbClr val="0F172A"/>
                </a:solidFill>
                <a:latin typeface="JetBrains Mono"/>
              </a:rPr>
              <a:t>(A, key) 1 A.heap-size = A.heap-size + 1 2 A[A.heap-size] = −∞ // 放入负无穷占位 3 </a:t>
            </a:r>
            <a:r>
              <a:rPr b="1" sz="1650" i="0" u="none">
                <a:solidFill>
                  <a:srgbClr val="0F172A"/>
                </a:solidFill>
                <a:latin typeface="JetBrains Mono"/>
              </a:rPr>
              <a:t>INCREASE-KEY</a:t>
            </a:r>
            <a:r>
              <a:rPr b="0" sz="1650" i="0" u="none">
                <a:solidFill>
                  <a:srgbClr val="0F172A"/>
                </a:solidFill>
                <a:latin typeface="JetBrains Mono"/>
              </a:rPr>
              <a:t>(A, A.heap-size, 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114800"/>
            <a:ext cx="401710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563EB"/>
                </a:solidFill>
                <a:latin typeface="Noto Sans SC"/>
              </a:rPr>
              <a:t>1. 末尾追加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457700"/>
            <a:ext cx="3155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Noto Sans SC"/>
              </a:rPr>
              <a:t>新元素放在数组末尾（完全树最右下叶结点）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4114800"/>
            <a:ext cx="401710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6A34A"/>
                </a:solidFill>
                <a:latin typeface="Noto Sans SC"/>
              </a:rPr>
              <a:t>2. 局部违例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4457700"/>
            <a:ext cx="31559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Noto Sans SC"/>
              </a:rPr>
              <a:t>新结点无孩子，只可能违反与父结点的大小关系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4118669"/>
            <a:ext cx="3860899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3A8A"/>
                </a:solidFill>
                <a:latin typeface="Noto Sans SC"/>
              </a:rPr>
              <a:t>3. 复用上浮：O(log</a:t>
            </a:r>
            <a:r>
              <a:rPr b="1" sz="1312" i="0" u="none">
                <a:solidFill>
                  <a:srgbClr val="1E3A8A"/>
                </a:solidFill>
                <a:latin typeface="Noto Sans SC"/>
              </a:rPr>
              <a:t>d</a:t>
            </a:r>
            <a:r>
              <a:rPr b="1" sz="1575" i="0" u="none">
                <a:solidFill>
                  <a:srgbClr val="1E3A8A"/>
                </a:solidFill>
                <a:latin typeface="Noto Sans SC"/>
              </a:rPr>
              <a:t>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4491930"/>
            <a:ext cx="3155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Noto Sans SC"/>
              </a:rPr>
              <a:t>−∞ 保证第 1 行检查通过，直接调用 INCREASE-KEY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681287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24435" y="2681287"/>
            <a:ext cx="1772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96680" y="2681287"/>
            <a:ext cx="1553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24212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24435" y="3224212"/>
            <a:ext cx="1772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96680" y="3224212"/>
            <a:ext cx="1553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767137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4435" y="3767137"/>
            <a:ext cx="1772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6680" y="3767137"/>
            <a:ext cx="1553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310062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24435" y="4310062"/>
            <a:ext cx="1772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680" y="4310062"/>
            <a:ext cx="1553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852987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435" y="4852987"/>
            <a:ext cx="17722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6680" y="4852987"/>
            <a:ext cx="1553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8700"/>
            <a:ext cx="11049000" cy="497205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1500" y="2162175"/>
          <a:ext cx="5378499" cy="27051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52935"/>
                <a:gridCol w="1772245"/>
                <a:gridCol w="1553319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1E293B"/>
                          </a:solidFill>
                          <a:latin typeface="Noto Sans SC"/>
                        </a:rPr>
                        <a:t>操作 / 指标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1E293B"/>
                          </a:solidFill>
                          <a:latin typeface="Noto Sans SC"/>
                        </a:rPr>
                        <a:t>二叉堆 (d =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1E293B"/>
                          </a:solidFill>
                          <a:latin typeface="Noto Sans SC"/>
                        </a:rPr>
                        <a:t>d 叉堆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堆高度 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Θ(lg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16A34A"/>
                          </a:solidFill>
                          <a:latin typeface="Noto Sans SC"/>
                        </a:rPr>
                        <a:t>Θ(log</a:t>
                      </a:r>
                      <a:r>
                        <a:rPr b="1" sz="1500" i="0" u="none">
                          <a:solidFill>
                            <a:srgbClr val="16A34A"/>
                          </a:solidFill>
                          <a:latin typeface="Noto Sans SC"/>
                        </a:rPr>
                        <a:t>d</a:t>
                      </a:r>
                      <a:r>
                        <a:rPr b="1" sz="1500" i="0" u="none">
                          <a:solidFill>
                            <a:srgbClr val="16A34A"/>
                          </a:solidFill>
                          <a:latin typeface="Noto Sans SC"/>
                        </a:rPr>
                        <a:t>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EXTRACT-MAX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Θ(lg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EA580C"/>
                          </a:solidFill>
                          <a:latin typeface="Noto Sans SC"/>
                        </a:rPr>
                        <a:t>Θ(d log</a:t>
                      </a:r>
                      <a:r>
                        <a:rPr b="1" sz="1500" i="0" u="none">
                          <a:solidFill>
                            <a:srgbClr val="EA580C"/>
                          </a:solidFill>
                          <a:latin typeface="Noto Sans SC"/>
                        </a:rPr>
                        <a:t>d</a:t>
                      </a:r>
                      <a:r>
                        <a:rPr b="1" sz="1500" i="0" u="none">
                          <a:solidFill>
                            <a:srgbClr val="EA580C"/>
                          </a:solidFill>
                          <a:latin typeface="Noto Sans SC"/>
                        </a:rPr>
                        <a:t>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INCREASE-KEY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Θ(lg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2563EB"/>
                          </a:solidFill>
                          <a:latin typeface="Noto Sans SC"/>
                        </a:rPr>
                        <a:t>Θ(log</a:t>
                      </a:r>
                      <a:r>
                        <a:rPr b="1" sz="1500" i="0" u="none">
                          <a:solidFill>
                            <a:srgbClr val="2563EB"/>
                          </a:solidFill>
                          <a:latin typeface="Noto Sans SC"/>
                        </a:rPr>
                        <a:t>d</a:t>
                      </a:r>
                      <a:r>
                        <a:rPr b="1" sz="1500" i="0" u="none">
                          <a:solidFill>
                            <a:srgbClr val="2563EB"/>
                          </a:solidFill>
                          <a:latin typeface="Noto Sans SC"/>
                        </a:rPr>
                        <a:t>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INSERT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0F172A"/>
                          </a:solidFill>
                          <a:latin typeface="Noto Sans SC"/>
                        </a:rPr>
                        <a:t>Θ(lg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2563EB"/>
                          </a:solidFill>
                          <a:latin typeface="Noto Sans SC"/>
                        </a:rPr>
                        <a:t>Θ(log</a:t>
                      </a:r>
                      <a:r>
                        <a:rPr b="1" sz="1500" i="0" u="none">
                          <a:solidFill>
                            <a:srgbClr val="2563EB"/>
                          </a:solidFill>
                          <a:latin typeface="Noto Sans SC"/>
                        </a:rPr>
                        <a:t>d</a:t>
                      </a:r>
                      <a:r>
                        <a:rPr b="1" sz="1500" i="0" u="none">
                          <a:solidFill>
                            <a:srgbClr val="2563EB"/>
                          </a:solidFill>
                          <a:latin typeface="Noto Sans SC"/>
                        </a:rPr>
                        <a:t>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-404812" y="6153150"/>
            <a:ext cx="13001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Noto Sans SC"/>
              </a:rPr>
              <a:t>核心权衡：d 越大，树越矮、上浮越快；但每层要扫的孩子越多，下沉越慢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19100"/>
            <a:ext cx="540809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 小结：对照表与分支权衡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53018" y="600075"/>
            <a:ext cx="8532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 小结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952625"/>
            <a:ext cx="11049000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905125"/>
            <a:ext cx="11049000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857625"/>
            <a:ext cx="11049000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810125"/>
            <a:ext cx="11049000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4132938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6-2 易错点与课堂追问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8218" y="600075"/>
            <a:ext cx="1158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6-2 互动思考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190750"/>
            <a:ext cx="11306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SC"/>
              </a:rPr>
              <a:t>追问 1：EXTRACT-MAX 里每层究竟是 d 次比较，还是 d − 1 次比较？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143250"/>
            <a:ext cx="11306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SC"/>
              </a:rPr>
              <a:t>追问 2：把末尾元素搬到根之后，为什么根的各个子树仍然都是合法堆？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95750"/>
            <a:ext cx="11306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SC"/>
              </a:rPr>
              <a:t>追问 3：d 叉堆的自底向上建堆 BUILD-MAX-HEAP 时间复杂度还是 O(n) 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5048250"/>
            <a:ext cx="11306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SC"/>
              </a:rPr>
              <a:t>追问 4：如何写出 d 叉堆 MAX-HEAPIFY 的递归式并用递归树求解？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3867150"/>
            <a:ext cx="11049000" cy="1581150"/>
          </a:xfrm>
          <a:prstGeom prst="roundRect">
            <a:avLst>
              <a:gd name="adj" fmla="val 9638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076450"/>
            <a:ext cx="5391150" cy="15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076450"/>
            <a:ext cx="5391150" cy="1524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64332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 引入：为什么能突破 Ω(n lg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3018" y="600075"/>
            <a:ext cx="8532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Noto Sans SC"/>
              </a:rPr>
              <a:t>8-3 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191000"/>
            <a:ext cx="112966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A580C"/>
                </a:solidFill>
                <a:latin typeface="Noto Sans SC"/>
              </a:rPr>
              <a:t>关键洞察：绕开比较模型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591050"/>
            <a:ext cx="10496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Noto Sans SC"/>
              </a:rPr>
              <a:t>比较排序的 Ω(n lg n) 下界针对的是“每次元素比较耗时 O(1) 的决策树模型”；这里单次比较可能耗时 Ω(长度)，我们改用“按位 / 按字符分桶”直接利用数据内部结构。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371725"/>
            <a:ext cx="630078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Noto Sans SC"/>
              </a:rPr>
              <a:t>问题 8-3(a)：变长整数排序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790825"/>
            <a:ext cx="48958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给定整数数组，所有数字的</a:t>
            </a:r>
            <a:r>
              <a:rPr b="1" sz="1500" i="0" u="none">
                <a:solidFill>
                  <a:srgbClr val="1E293B"/>
                </a:solidFill>
                <a:latin typeface="Noto Sans SC"/>
              </a:rPr>
              <a:t>总位数恰好为 n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，要求在 O(n) 时间内完成数值升序排序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371725"/>
            <a:ext cx="56673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Noto Sans SC"/>
              </a:rPr>
              <a:t>问题 8-3(b)：变长字符串排序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790825"/>
            <a:ext cx="48958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Noto Sans SC"/>
              </a:rPr>
              <a:t>给定字符串数组，所有串的</a:t>
            </a:r>
            <a:r>
              <a:rPr b="1" sz="1500" i="0" u="none">
                <a:solidFill>
                  <a:srgbClr val="1E293B"/>
                </a:solidFill>
                <a:latin typeface="Noto Sans SC"/>
              </a:rPr>
              <a:t>总字符数恰好为 n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，要求在 O(n) 时间内按标准字典序排序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3467100"/>
            <a:ext cx="11049000" cy="2971800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047750"/>
            <a:ext cx="11049000" cy="64770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847850"/>
            <a:ext cx="11049000" cy="619125"/>
          </a:xfrm>
          <a:prstGeom prst="roundRect">
            <a:avLst>
              <a:gd name="adj" fmla="val 184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2619375"/>
            <a:ext cx="11049000" cy="619125"/>
          </a:xfrm>
          <a:prstGeom prst="roundRect">
            <a:avLst>
              <a:gd name="adj" fmla="val 184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4557712"/>
            <a:ext cx="2231231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65121" y="4548187"/>
            <a:ext cx="2250281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7912" y="4633912"/>
            <a:ext cx="909786" cy="638175"/>
          </a:xfrm>
          <a:prstGeom prst="roundRect">
            <a:avLst>
              <a:gd name="adj" fmla="val 14925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11998" y="4633912"/>
            <a:ext cx="933896" cy="638175"/>
          </a:xfrm>
          <a:prstGeom prst="roundRect">
            <a:avLst>
              <a:gd name="adj" fmla="val 14925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60194" y="4633912"/>
            <a:ext cx="1124545" cy="638175"/>
          </a:xfrm>
          <a:prstGeom prst="roundRect">
            <a:avLst>
              <a:gd name="adj" fmla="val 14925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796" y="4838700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005" y="4838700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19100"/>
            <a:ext cx="422728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8-3(a) 思路与三步算法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2034" y="600075"/>
            <a:ext cx="1344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Noto Sans SC"/>
              </a:rPr>
              <a:t>8-3(a) 变长整数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1228725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1. 按位数分组：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设第 i 个数的位数为 L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i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，用计数排序按 L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i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 分进桶 1..L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max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，切成等长连续段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028825"/>
            <a:ext cx="113823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2. 组内排序：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对每个长度 L 的段独立做 LSD 基数排序（0..9 共 10 个桶，从最低位到最高位排 L 趟）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800350"/>
            <a:ext cx="113823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3. 顺序拼接：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将排好序的各段按位数 L 从小到大依次接起来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427" y="4719637"/>
            <a:ext cx="22889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Noto Sans SC"/>
              </a:rPr>
              <a:t>原始变长数组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427" y="4976812"/>
            <a:ext cx="228897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Noto Sans SC"/>
              </a:rPr>
              <a:t>[305, 7, 42, 9, 128, 15]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5773" y="4719637"/>
            <a:ext cx="22889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6A34A"/>
                </a:solidFill>
                <a:latin typeface="Noto Sans SC"/>
              </a:rPr>
              <a:t>按长度拼接输出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5773" y="4976812"/>
            <a:ext cx="228897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Noto Sans SC"/>
              </a:rPr>
              <a:t>[7, 9, 15, 42, 128, 305]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6487" y="4767262"/>
            <a:ext cx="85263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Noto Sans SC"/>
              </a:rPr>
              <a:t>L=1 (1趟)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6487" y="4938712"/>
            <a:ext cx="85263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Noto Sans SC"/>
              </a:rPr>
              <a:t>[7, 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0573" y="4767262"/>
            <a:ext cx="8767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Noto Sans SC"/>
              </a:rPr>
              <a:t>L=2 (2趟)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0573" y="4938712"/>
            <a:ext cx="8767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Noto Sans SC"/>
              </a:rPr>
              <a:t>[15, 42]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769" y="4767262"/>
            <a:ext cx="106739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Noto Sans SC"/>
              </a:rPr>
              <a:t>L=3 (3趟)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8769" y="4938712"/>
            <a:ext cx="10673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Noto Sans SC"/>
              </a:rPr>
              <a:t>[128, 305]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778347"/>
            <a:ext cx="11049000" cy="619125"/>
          </a:xfrm>
          <a:prstGeom prst="roundRect">
            <a:avLst>
              <a:gd name="adj" fmla="val 184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549872"/>
            <a:ext cx="11049000" cy="64770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349972"/>
            <a:ext cx="11049000" cy="1405830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908202"/>
            <a:ext cx="11049000" cy="8001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422728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8-3(a) 正确性与复杂度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6834" y="600075"/>
            <a:ext cx="10394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Noto Sans SC"/>
              </a:rPr>
              <a:t>8-3(a) 证明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1959322"/>
            <a:ext cx="113633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正确性：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正整数无前导零 ⇒ 位数少的数一定更小；同位数时逐位比较等价于数值大小比较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2730847"/>
            <a:ext cx="10629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分组计数排序：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耗时 Θ(m + L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max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) = O(n)（其中元素个数 m ≤ n，最长位数 L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max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 ≤ 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549997"/>
            <a:ext cx="10629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各组基数排序总和：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长度为 L、含 m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L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 个元素的非空组耗时 Θ(L(m</a:t>
            </a:r>
            <a:r>
              <a:rPr b="0" sz="1250" i="0" u="none">
                <a:solidFill>
                  <a:srgbClr val="0F172A"/>
                </a:solidFill>
                <a:latin typeface="Noto Sans SC"/>
              </a:rPr>
              <a:t>L</a:t>
            </a:r>
            <a:r>
              <a:rPr b="0" sz="1500" i="0" u="none">
                <a:solidFill>
                  <a:srgbClr val="0F172A"/>
                </a:solidFill>
                <a:latin typeface="Noto Sans SC"/>
              </a:rPr>
              <a:t> + 10))，对所有非空组求和：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930997"/>
            <a:ext cx="11363325" cy="2647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Noto Sans SC"/>
              </a:rPr>
              <a:t>• 数据项搬移代价：∑</a:t>
            </a:r>
            <a:r>
              <a:rPr b="1" sz="1187" i="0" u="none">
                <a:solidFill>
                  <a:srgbClr val="2563EB"/>
                </a:solidFill>
                <a:latin typeface="Noto Sans SC"/>
              </a:rPr>
              <a:t>L</a:t>
            </a:r>
            <a:r>
              <a:rPr b="1" sz="1425" i="0" u="none">
                <a:solidFill>
                  <a:srgbClr val="2563EB"/>
                </a:solidFill>
                <a:latin typeface="Noto Sans SC"/>
              </a:rPr>
              <a:t> L · m</a:t>
            </a:r>
            <a:r>
              <a:rPr b="1" sz="1187" i="0" u="none">
                <a:solidFill>
                  <a:srgbClr val="2563EB"/>
                </a:solidFill>
                <a:latin typeface="Noto Sans SC"/>
              </a:rPr>
              <a:t>L</a:t>
            </a:r>
            <a:r>
              <a:rPr b="1" sz="1425" i="0" u="none">
                <a:solidFill>
                  <a:srgbClr val="2563EB"/>
                </a:solidFill>
                <a:latin typeface="Noto Sans SC"/>
              </a:rPr>
              <a:t> = n（恰好等于所有数字的总位数）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291012"/>
            <a:ext cx="11363325" cy="2647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6A34A"/>
                </a:solidFill>
                <a:latin typeface="Noto Sans SC"/>
              </a:rPr>
              <a:t>• 桶扫描代价：∑</a:t>
            </a:r>
            <a:r>
              <a:rPr b="1" sz="1187" i="0" u="none">
                <a:solidFill>
                  <a:srgbClr val="16A34A"/>
                </a:solidFill>
                <a:latin typeface="Noto Sans SC"/>
              </a:rPr>
              <a:t>L</a:t>
            </a:r>
            <a:r>
              <a:rPr b="1" sz="1425" i="0" u="none">
                <a:solidFill>
                  <a:srgbClr val="16A34A"/>
                </a:solidFill>
                <a:latin typeface="Noto Sans SC"/>
              </a:rPr>
              <a:t> 10L ≤ 10 ∑</a:t>
            </a:r>
            <a:r>
              <a:rPr b="1" sz="1187" i="0" u="none">
                <a:solidFill>
                  <a:srgbClr val="16A34A"/>
                </a:solidFill>
                <a:latin typeface="Noto Sans SC"/>
              </a:rPr>
              <a:t>L</a:t>
            </a:r>
            <a:r>
              <a:rPr b="1" sz="1425" i="0" u="none">
                <a:solidFill>
                  <a:srgbClr val="16A34A"/>
                </a:solidFill>
                <a:latin typeface="Noto Sans SC"/>
              </a:rPr>
              <a:t> L · m</a:t>
            </a:r>
            <a:r>
              <a:rPr b="1" sz="1187" i="0" u="none">
                <a:solidFill>
                  <a:srgbClr val="16A34A"/>
                </a:solidFill>
                <a:latin typeface="Noto Sans SC"/>
              </a:rPr>
              <a:t>L</a:t>
            </a:r>
            <a:r>
              <a:rPr b="1" sz="1425" i="0" u="none">
                <a:solidFill>
                  <a:srgbClr val="16A34A"/>
                </a:solidFill>
                <a:latin typeface="Noto Sans SC"/>
              </a:rPr>
              <a:t> = 10n（因每个非空组至少含 m</a:t>
            </a:r>
            <a:r>
              <a:rPr b="1" sz="1187" i="0" u="none">
                <a:solidFill>
                  <a:srgbClr val="16A34A"/>
                </a:solidFill>
                <a:latin typeface="Noto Sans SC"/>
              </a:rPr>
              <a:t>L</a:t>
            </a:r>
            <a:r>
              <a:rPr b="1" sz="1425" i="0" u="none">
                <a:solidFill>
                  <a:srgbClr val="16A34A"/>
                </a:solidFill>
                <a:latin typeface="Noto Sans SC"/>
              </a:rPr>
              <a:t> ≥ 1 个元素，且 k = O(√n)）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85750" y="5098702"/>
            <a:ext cx="127635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E3A8A"/>
                </a:solidFill>
                <a:latin typeface="Noto Sans SC"/>
              </a:rPr>
              <a:t>总时间复杂度 = O(n)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62175"/>
            <a:ext cx="11049000" cy="1543050"/>
          </a:xfrm>
          <a:prstGeom prst="roundRect">
            <a:avLst>
              <a:gd name="adj" fmla="val 98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933825"/>
            <a:ext cx="5391150" cy="1390650"/>
          </a:xfrm>
          <a:prstGeom prst="roundRect">
            <a:avLst>
              <a:gd name="adj" fmla="val 95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3933825"/>
            <a:ext cx="5391150" cy="1390650"/>
          </a:xfrm>
          <a:prstGeom prst="roundRect">
            <a:avLst>
              <a:gd name="adj" fmla="val 95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680085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8-3(b) 思路：串结束符视为最小字符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1300" y="600075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Noto Sans SC"/>
              </a:rPr>
              <a:t>8-3(b) 变长字符串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8875"/>
            <a:ext cx="112776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Noto Sans SC"/>
              </a:rPr>
              <a:t>虚拟结束符约定：引入哨兵符号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28925"/>
            <a:ext cx="11277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75" i="0" u="none">
                <a:solidFill>
                  <a:srgbClr val="0F172A"/>
                </a:solidFill>
                <a:latin typeface="Noto Sans SC"/>
              </a:rPr>
              <a:t>约定每个字符串以虚拟符号 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$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 结尾，且 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$ 比字母表中的任何字符都小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（例如 "a$" &lt; "ab$"）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1825"/>
            <a:ext cx="11277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3A8A"/>
                </a:solidFill>
                <a:latin typeface="Noto Sans SC"/>
              </a:rPr>
              <a:t>标准字典序 ≡ 带 $ 的逐字符字典序（同时表达“短前缀在前”与“逐位比较”）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4191000"/>
            <a:ext cx="6400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Noto Sans SC"/>
              </a:rPr>
              <a:t>等价实现一：Trie 树先序遍历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4572000"/>
            <a:ext cx="4972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Noto Sans SC"/>
              </a:rPr>
              <a:t>把所有串插入一棵字典树 Trie，遇到结点先输出在此结束的串，再按字符升序递归访问非空孩子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191000"/>
            <a:ext cx="57054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A580C"/>
                </a:solidFill>
                <a:latin typeface="Noto Sans SC"/>
              </a:rPr>
              <a:t>等价实现二：递归 MSD 基数排序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572000"/>
            <a:ext cx="49720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Noto Sans SC"/>
              </a:rPr>
              <a:t>从最高位 k = 0 开始按字符分桶，0 号桶存放已在第 k 位结束的串并直接输出，其余非空桶递归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667000"/>
            <a:ext cx="110490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4171950"/>
            <a:ext cx="11049000" cy="647700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19100"/>
            <a:ext cx="573821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8-3(b) MSD 字符串排序伪代码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6100" y="600075"/>
            <a:ext cx="1200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Noto Sans SC"/>
              </a:rPr>
              <a:t>8-3(b) 伪代码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71825"/>
            <a:ext cx="112680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JetBrains Mono"/>
              </a:rPr>
              <a:t>STRING-SORT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(S, k) // 将集合 S 中所有串按第 k 位起的字符排序输出 1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for each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 s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in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 S 2 c = (k &lt; |s|) ? s[k] : 0 // 0 号桶代表第 k 位已结束（哨兵 $） 3 把 s 放进桶 c 4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output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 桶 0 中的所有串 // 前缀结束 ⇒ 排在所有更长串之前输出 5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for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 c = 1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to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 σ 6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if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 桶 c 非空: </a:t>
            </a:r>
            <a:r>
              <a:rPr b="1" sz="1575" i="0" u="none">
                <a:solidFill>
                  <a:srgbClr val="0F172A"/>
                </a:solidFill>
                <a:latin typeface="JetBrains Mono"/>
              </a:rPr>
              <a:t>STRING-SORT</a:t>
            </a:r>
            <a:r>
              <a:rPr b="0" sz="1575" i="0" u="none">
                <a:solidFill>
                  <a:srgbClr val="0F172A"/>
                </a:solidFill>
                <a:latin typeface="JetBrains Mono"/>
              </a:rPr>
              <a:t>(桶 c, k + 1)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362450"/>
            <a:ext cx="358396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563EB"/>
                </a:solidFill>
                <a:latin typeface="Noto Sans SC"/>
              </a:rPr>
              <a:t>调用入口：STRING-SORT(S,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2469" y="4367212"/>
            <a:ext cx="600953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核心行：第 4 行先输出桶 0，保证短前缀永远排在更长串之前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647950"/>
            <a:ext cx="5035897" cy="2190750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12197" y="2305050"/>
            <a:ext cx="5708302" cy="2876550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19100"/>
            <a:ext cx="510063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8-3(b) 正确性与复杂度分析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0" y="600075"/>
            <a:ext cx="1047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Noto Sans SC"/>
              </a:rPr>
              <a:t>8-3(b) 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924175"/>
            <a:ext cx="588452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Noto Sans SC"/>
              </a:rPr>
              <a:t>正确性（两类情况完备）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81375"/>
            <a:ext cx="457869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Noto Sans SC"/>
              </a:rPr>
              <a:t>1. 前缀关系：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若串 A 是串 B 的真前缀，在 k = |A| 层时 A 进入桶 0 在第 4 行先输出，符合 A &lt;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048125"/>
            <a:ext cx="457869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Noto Sans SC"/>
              </a:rPr>
              <a:t>2. 字符分叉：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若在位置 k 首次出现不同字符，第 5 行按 c = 1..σ 升序递归，小字符子树先输出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8422" y="2581275"/>
            <a:ext cx="600357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Noto Sans SC"/>
              </a:rPr>
              <a:t>复杂度（算清两笔账）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8422" y="3038475"/>
            <a:ext cx="525110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Noto Sans SC"/>
              </a:rPr>
              <a:t>账目 1（入桶总次数）：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每个串 s 只在 k = 0..|s| 层各入桶一次，合计 ∑(|s| + 1) = O(n + m) = 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8422" y="3705225"/>
            <a:ext cx="525110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Noto Sans SC"/>
              </a:rPr>
              <a:t>账目 2（扫桶总开销）：</a:t>
            </a:r>
            <a:r>
              <a:rPr b="0" sz="1500" i="0" u="none">
                <a:solidFill>
                  <a:srgbClr val="1E293B"/>
                </a:solidFill>
                <a:latin typeface="Noto Sans SC"/>
              </a:rPr>
              <a:t>递归调用次数 ≤ Trie 内部结点数 ≤ n + 1，每次扫 σ 个桶，合计 O(σn)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8422" y="4371975"/>
            <a:ext cx="525110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EA580C"/>
                </a:solidFill>
                <a:latin typeface="Noto Sans SC"/>
              </a:rPr>
              <a:t>字母表 σ 为常数 ⇒ 总时间 O(n)（若 σ 不固定为 O(n log σ)）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47887"/>
            <a:ext cx="11049000" cy="714375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033712"/>
            <a:ext cx="11049000" cy="666750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871912"/>
            <a:ext cx="11049000" cy="666750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710112"/>
            <a:ext cx="11049000" cy="666750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4675584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8-3(b) 工程实现四大陷阱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3700" y="600075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Noto Sans SC"/>
              </a:rPr>
              <a:t>8-3(b) 避坑指南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347912"/>
            <a:ext cx="105918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Noto Sans SC"/>
              </a:rPr>
              <a:t>陷阱 1（空桶递归爆炸）：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只对</a:t>
            </a:r>
            <a:r>
              <a:rPr b="1" sz="1575" i="0" u="none">
                <a:solidFill>
                  <a:srgbClr val="0F172A"/>
                </a:solidFill>
                <a:latin typeface="Noto Sans SC"/>
              </a:rPr>
              <a:t>非空桶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发起递归，否则空桶展开成 σ</a:t>
            </a:r>
            <a:r>
              <a:rPr b="0" sz="1312" i="0" u="none">
                <a:solidFill>
                  <a:srgbClr val="0F172A"/>
                </a:solidFill>
                <a:latin typeface="Noto Sans SC"/>
              </a:rPr>
              <a:t>深度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 导致指数级爆炸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233737"/>
            <a:ext cx="11344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Noto Sans SC"/>
              </a:rPr>
              <a:t>陷阱 2（重复串与空串）：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完全相同的字符串需用计数或链表保存；空串在 k = 0 直接进桶 0 最先输出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71937"/>
            <a:ext cx="11344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Noto Sans SC"/>
              </a:rPr>
              <a:t>陷阱 3（大字母表 σ 开销）：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σ 很大时不要直接分配长度 σ 的数组，改用哈希表或全局复用桶数组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910137"/>
            <a:ext cx="11344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Noto Sans SC"/>
              </a:rPr>
              <a:t>陷阱 4（调用栈溢出）：</a:t>
            </a:r>
            <a:r>
              <a:rPr b="0" sz="1575" i="0" u="none">
                <a:solidFill>
                  <a:srgbClr val="0F172A"/>
                </a:solidFill>
                <a:latin typeface="Noto Sans SC"/>
              </a:rPr>
              <a:t>递归深度可达最长串长度 O(n)，极端长串需改写为显式栈迭代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009650"/>
            <a:ext cx="11049000" cy="552450"/>
          </a:xfrm>
          <a:prstGeom prst="roundRect">
            <a:avLst>
              <a:gd name="adj" fmla="val 20689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838450"/>
            <a:ext cx="3568749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1699" y="2811809"/>
            <a:ext cx="3568749" cy="1196280"/>
          </a:xfrm>
          <a:prstGeom prst="roundRect">
            <a:avLst>
              <a:gd name="adj" fmla="val 955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811809"/>
            <a:ext cx="3568749" cy="1196280"/>
          </a:xfrm>
          <a:prstGeom prst="roundRect">
            <a:avLst>
              <a:gd name="adj" fmla="val 955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4183409"/>
            <a:ext cx="3568749" cy="1192410"/>
          </a:xfrm>
          <a:prstGeom prst="roundRect">
            <a:avLst>
              <a:gd name="adj" fmla="val 958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1699" y="4179540"/>
            <a:ext cx="3568749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4179540"/>
            <a:ext cx="3568749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419100"/>
            <a:ext cx="4250531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Noto Sans SC"/>
              </a:rPr>
              <a:t>统一视角与核心速记卡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0900" y="600075"/>
            <a:ext cx="895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Noto Sans SC"/>
              </a:rPr>
              <a:t>全场收束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1171575"/>
            <a:ext cx="290549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SC"/>
              </a:rPr>
              <a:t>6-2：数组 ↔ 树 ↔ 分支度权衡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0733" y="1162050"/>
            <a:ext cx="39714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SC"/>
              </a:rPr>
              <a:t>★ 统一思想：利用数据内部结构提速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4152" y="1171575"/>
            <a:ext cx="30719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Noto Sans SC"/>
              </a:rPr>
              <a:t>8-3：消去长度差异 → 分桶 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057525"/>
            <a:ext cx="41089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SC"/>
              </a:rPr>
              <a:t>1. 下标换算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3362325"/>
            <a:ext cx="32258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SC"/>
              </a:rPr>
              <a:t>CHILD = d(i−1)+k+1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PARENT = ⌊(i−2)/d⌋+1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774" y="3030884"/>
            <a:ext cx="41089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SC"/>
              </a:rPr>
              <a:t>2. d 叉堆高度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774" y="3335684"/>
            <a:ext cx="3225849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SC"/>
              </a:rPr>
              <a:t>h = Θ(log</a:t>
            </a:r>
            <a:r>
              <a:rPr b="0" sz="1125" i="0" u="none">
                <a:solidFill>
                  <a:srgbClr val="0F172A"/>
                </a:solidFill>
                <a:latin typeface="Noto Sans SC"/>
              </a:rPr>
              <a:t>d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n)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分支越多树越矮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0974" y="3030884"/>
            <a:ext cx="39210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580C"/>
                </a:solidFill>
                <a:latin typeface="Noto Sans SC"/>
              </a:rPr>
              <a:t>3. 下沉代价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0974" y="3335684"/>
            <a:ext cx="3225849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SC"/>
              </a:rPr>
              <a:t>EXTRACT-MAX = Θ(d log</a:t>
            </a:r>
            <a:r>
              <a:rPr b="0" sz="1125" i="0" u="none">
                <a:solidFill>
                  <a:srgbClr val="0F172A"/>
                </a:solidFill>
                <a:latin typeface="Noto Sans SC"/>
              </a:rPr>
              <a:t>d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n)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每层需扫 d 个孩子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4402484"/>
            <a:ext cx="41089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Noto Sans SC"/>
              </a:rPr>
              <a:t>4. 上浮与插入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4707284"/>
            <a:ext cx="3225849" cy="449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SC"/>
              </a:rPr>
              <a:t>INCREASE-KEY = Θ(log</a:t>
            </a:r>
            <a:r>
              <a:rPr b="0" sz="1125" i="0" u="none">
                <a:solidFill>
                  <a:srgbClr val="0F172A"/>
                </a:solidFill>
                <a:latin typeface="Noto Sans SC"/>
              </a:rPr>
              <a:t>d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n)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INSERT = Θ(log</a:t>
            </a:r>
            <a:r>
              <a:rPr b="0" sz="1125" i="0" u="none">
                <a:solidFill>
                  <a:srgbClr val="0F172A"/>
                </a:solidFill>
                <a:latin typeface="Noto Sans SC"/>
              </a:rPr>
              <a:t>d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774" y="4398615"/>
            <a:ext cx="410891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Noto Sans SC"/>
              </a:rPr>
              <a:t>5. 变长整数 8-3(a)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774" y="4703415"/>
            <a:ext cx="3225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SC"/>
              </a:rPr>
              <a:t>按位数分组 + 组内 LSD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总时间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0974" y="4398615"/>
            <a:ext cx="39210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Noto Sans SC"/>
              </a:rPr>
              <a:t>6. 变长字符串 8-3(b)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0974" y="4703415"/>
            <a:ext cx="3225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SC"/>
              </a:rPr>
              <a:t>Trie 先序遍历 / MSD 分桶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Noto Sans SC"/>
              </a:rPr>
              <a:t> 总时间 O(n)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70514" y="2166937"/>
            <a:ext cx="4649985" cy="3190875"/>
          </a:xfrm>
          <a:prstGeom prst="roundRect">
            <a:avLst>
              <a:gd name="adj" fmla="val 47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009775"/>
            <a:ext cx="6056114" cy="895350"/>
          </a:xfrm>
          <a:prstGeom prst="roundRect">
            <a:avLst>
              <a:gd name="adj" fmla="val 127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076575"/>
            <a:ext cx="6056114" cy="895350"/>
          </a:xfrm>
          <a:prstGeom prst="roundRect">
            <a:avLst>
              <a:gd name="adj" fmla="val 127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143375"/>
            <a:ext cx="6056114" cy="895350"/>
          </a:xfrm>
          <a:prstGeom prst="roundRect">
            <a:avLst>
              <a:gd name="adj" fmla="val 127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95482" y="273843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9207" y="355758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85957" y="355758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52707" y="3557587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19257" y="4395787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28857" y="4395787"/>
            <a:ext cx="400050" cy="4000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38457" y="4395787"/>
            <a:ext cx="400050" cy="4000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507" y="3138487"/>
            <a:ext cx="22860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257" y="3976687"/>
            <a:ext cx="24765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57200"/>
            <a:ext cx="2975371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Noto Sans SC"/>
              </a:rPr>
              <a:t>答疑与随堂练习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2389" y="638175"/>
            <a:ext cx="13638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Noto Sans SC"/>
              </a:rPr>
              <a:t>Q&amp;A · 课后巩固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286375"/>
            <a:ext cx="75701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Noto Sans SC"/>
              </a:rPr>
              <a:t>参考章节：CLRS 第 6 章（堆排序）、第 8 章（线性时间排序）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9821" y="2395537"/>
            <a:ext cx="29892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Noto Sans SC"/>
              </a:rPr>
              <a:t>练习 2 示意：d = 3 时结点 i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2607" y="2738437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9543" y="4929187"/>
            <a:ext cx="37899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Noto Sans SC"/>
              </a:rPr>
              <a:t>父结点 = 2 · 堆内子结点 = 20（21, 22 越界）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2200275"/>
            <a:ext cx="569416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Noto Sans SC"/>
              </a:rPr>
              <a:t>练习 1：</a:t>
            </a:r>
            <a:r>
              <a:rPr b="0" sz="1500" i="0" u="none">
                <a:solidFill>
                  <a:srgbClr val="F8FAFC"/>
                </a:solidFill>
                <a:latin typeface="Noto Sans SC"/>
              </a:rPr>
              <a:t>严格证明 d 叉堆中 PARENT(CHILD(i, k)) = i（互为逆运算）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3267075"/>
            <a:ext cx="569416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Noto Sans SC"/>
              </a:rPr>
              <a:t>练习 2：</a:t>
            </a:r>
            <a:r>
              <a:rPr b="0" sz="1500" i="0" u="none">
                <a:solidFill>
                  <a:srgbClr val="F8FAFC"/>
                </a:solidFill>
                <a:latin typeface="Noto Sans SC"/>
              </a:rPr>
              <a:t>取 d = 3、n = 20，标出结点 i = 7 的父结点与 3 个子结点下标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333875"/>
            <a:ext cx="569416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Noto Sans SC"/>
              </a:rPr>
              <a:t>练习 3：</a:t>
            </a:r>
            <a:r>
              <a:rPr b="0" sz="1500" i="0" u="none">
                <a:solidFill>
                  <a:srgbClr val="F8FAFC"/>
                </a:solidFill>
                <a:latin typeface="Noto Sans SC"/>
              </a:rPr>
              <a:t>在 8-3(a) 中，若输入整数允许出现前导零，算法应如何修改？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6332" y="3557587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3082" y="3557587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9832" y="3557587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6382" y="4395787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Noto Sans SC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5982" y="4395787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75" i="0" u="none">
                <a:solidFill>
                  <a:srgbClr val="EA580C"/>
                </a:solidFill>
                <a:latin typeface="Noto Sans SC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5582" y="4395787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75" i="0" u="none">
                <a:solidFill>
                  <a:srgbClr val="EA580C"/>
                </a:solidFill>
                <a:latin typeface="Noto Sans SC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