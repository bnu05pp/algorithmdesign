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5" autoAdjust="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1400" b="0" i="0" u="none" strike="noStrike">
                <a:solidFill>
                  <a:srgbClr val="000000"/>
                </a:solidFill>
                <a:latin typeface="Microsoft YaHei"/>
              </a:rPr>
              <a:t>实际操作计数  对数刻度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2"/>
          <c:y val="0.16"/>
          <c:w val="0.68"/>
          <c:h val="0.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实际计数</c:v>
                </c:pt>
              </c:strCache>
            </c:strRef>
          </c:tx>
          <c:spPr>
            <a:solidFill>
              <a:srgbClr val="138A84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02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二分 · 整表</c:v>
                </c:pt>
                <c:pt idx="1">
                  <c:v>二分 · 子段</c:v>
                </c:pt>
                <c:pt idx="2">
                  <c:v>归并 · 整表</c:v>
                </c:pt>
                <c:pt idx="3">
                  <c:v>归并 · 子段</c:v>
                </c:pt>
                <c:pt idx="4">
                  <c:v>矩阵 · 整表</c:v>
                </c:pt>
                <c:pt idx="5">
                  <c:v>矩阵 · 子块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7</c:v>
                </c:pt>
                <c:pt idx="2">
                  <c:v>120</c:v>
                </c:pt>
                <c:pt idx="3">
                  <c:v>24</c:v>
                </c:pt>
                <c:pt idx="4">
                  <c:v>112320</c:v>
                </c:pt>
                <c:pt idx="5">
                  <c:v>2880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9D-4C03-865F-1D23618E9A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202B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00"/>
          <c:min val="1"/>
        </c:scaling>
        <c:delete val="0"/>
        <c:axPos val="b"/>
        <c:majorGridlines>
          <c:spPr>
            <a:ln w="12700" cap="flat">
              <a:solidFill>
                <a:srgbClr val="E9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193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本题为参数传递代价。先给出题目模型，再演示真实运行的 C++17 程序，最后解释严谨复杂度与工程改进。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三个算法与三种传递方式做笛卡尔组合，得到九个递推式。讲解重点是 N 与 n 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如果把 N 和 n 混为一谈，就会误判整表复制、整矩阵复制的总成本。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教材行号使用照片中的伪代码；C++数组统一使用零下标与半开区间。完整复制与子范围复制是为习题4-2增加的参数传递试验。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带着这个总表看后续推导。二分搜索只走一支，归并排序走两支，朴素矩阵乘法走八支。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一条递归路径，复制量逐层变化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程序将排序数组 0 到 N-1 中不存在的 -1 作为 key，沿最长左路径搜索到空区间。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有 lg n 层，每层复制原数组 N 个元素。a3 是逐层缩小的局部复制。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两个递归分支，合并本身已需要线性时间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源文件中的 mergeFull、mergeSlice 分别展示完整复制和局部复制，排序结果必须一致。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对应教材 MERGE 第3–7行创建复制L/R，第12–18行比较回填，以及第20–27行处理剩余元素。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 的总代价更准确写成 Θ(Nn+n lg n)，由于 N≥n，化简为 Θ(Nn)。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八个子块乘积，完整矩阵复制极其昂贵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每个结果块由两次乘法累加得到。教材直接更新C视图，不返回临时结果矩阵，也没有单独的合并阶段。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这是用户照片第51页过程的结构转写，保留非注释行号。教材过程计算C←C+A×B，纯乘积需要调用前将C置零。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matrixCall显式选择三种传参策略；指针模式只把视图传给matrixCore，不分配或复制矩阵元素。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c1为教材第52页式4.9：没有合并阶段，只有常数时间视图划分。c2/c3另外包含显式参数复制与C结果回写，紧界不变。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原返回子矩阵并显式合并的写法需要Θ(n²)组合；本次按教材采用直接累加C的写法，因此c1必须写Θ(1)。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几何级数由最深层支配。这里不是所有递推都直接套主定理；先读清参数复制单位更稳妥。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相同算法的三个版本递归调用数相同，但参数复制次数差异很大。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矩阵三版585次调用、512次标量乘法。整表复制585×3×64=112320；子块复制2880。两种复制版都另有960个元素次的C结果回写。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改进直接对应程序中的三种传参函数签名。更快的矩阵算法并非本题要点。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最后可回到九格总表，让听众复述 N 与 n 的区别，以及参数复制如何改变渐近界。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777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ALGORITHMS  /  EXERCISE 4-2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58952" y="1874520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参数传递代价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58952" y="322783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BE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同一套分治结构，不同的复制策略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" y="5065776"/>
            <a:ext cx="5394960" cy="603504"/>
          </a:xfrm>
          <a:prstGeom prst="roundRect">
            <a:avLst>
              <a:gd name="adj" fmla="val 27273"/>
            </a:avLst>
          </a:prstGeom>
          <a:solidFill>
            <a:srgbClr val="254B68"/>
          </a:solidFill>
          <a:ln w="12700">
            <a:solidFill>
              <a:srgbClr val="254B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24128" y="5166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题意 · 可运行代码 · 复杂度证明 · 改进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题意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这道题究竟在问什么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08760"/>
            <a:ext cx="3456432" cy="418795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19072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三个算法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298094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二分搜索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朴素递归矩阵乘法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52544" y="1508760"/>
            <a:ext cx="3456432" cy="418795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90288" y="1719072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三种传参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167128"/>
            <a:ext cx="298094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传指针或引用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复制完整原数组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只复制当前子范围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456432" cy="418795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39328" y="1719072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167128"/>
            <a:ext cx="2980944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 9 个递推式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给出紧确渐近界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说明真正多出来的工作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分析模型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先固定两个规模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08760"/>
            <a:ext cx="5266944" cy="2743200"/>
          </a:xfrm>
          <a:prstGeom prst="roundRect">
            <a:avLst>
              <a:gd name="adj" fmla="val 6000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19072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原始规模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7914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原始数组长度，或矩阵边长。整表、整矩阵复制时，递归到深处依旧复制 N。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31536" cy="2743200"/>
          </a:xfrm>
          <a:prstGeom prst="roundRect">
            <a:avLst>
              <a:gd name="adj" fmla="val 6000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64224" y="171907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当前规模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64224" y="2167128"/>
            <a:ext cx="4956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当前子数组长度，或当前子矩阵边长。递归过程中逐层缩小，始终满足 1 ≤ n ≤ N。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" y="4590288"/>
            <a:ext cx="10954512" cy="1133856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6112" y="4846320"/>
            <a:ext cx="10424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数组复制：Θ(N) / Θ(n)     矩阵复制：Θ(N²) / Θ(n²)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教材对应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这三种算法分别对应哪份教材材料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36118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教材位置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61104" y="1499616"/>
            <a:ext cx="36118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70832" y="155448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与源码对应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18704" y="1499616"/>
            <a:ext cx="36118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28432" y="155448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保留的结构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" y="2066544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13232" y="212140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第27页 习题2.3-6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61104" y="2066544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70832" y="212140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binaryPointer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18704" y="2066544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028432" y="2121408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题目要求自行编写递归二分搜索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" y="2724912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3232" y="2779776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第21–22页 MERGE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61104" y="2724912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370832" y="2779776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mergeInto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18704" y="2724912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028432" y="2779776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L、R 临时数组与三个 while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" y="3383280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13232" y="3438144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第22页 MERGE-SORT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61104" y="3383280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370832" y="3438144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mergePointer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18704" y="3383280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028432" y="3438144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两次递归后调用 MERGE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" y="4041648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13232" y="4096512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第51页 矩阵递归过程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61104" y="4041648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370832" y="4096512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matrixCore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18704" y="4041648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028432" y="4096512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+= A*B 与八次调用次序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3504" y="4700016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13232" y="475488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第52页 递推式4.9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261104" y="4700016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370832" y="475488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矩阵指针版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918704" y="4700016"/>
            <a:ext cx="361188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028432" y="4754880"/>
            <a:ext cx="3401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8T(n/2)+Θ(1)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全景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九种组合的最终答案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27048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232" y="158191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46704" y="1527048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456432" y="158191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 / 引用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527048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99632" y="158191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完整复制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3104" y="1527048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42832" y="158191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当前子范围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" y="2093976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3232" y="2148840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二分搜索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46704" y="2093976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56432" y="2148840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Θ(lg 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9904" y="2093976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99632" y="2148840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lg n)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33104" y="2093976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42832" y="2148840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" y="2889504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13232" y="2944368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46704" y="2889504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456432" y="2944368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lg n)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89904" y="2889504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199632" y="2944368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Θ(Nn)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33104" y="2889504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942832" y="2944368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lg n)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" y="3685032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13232" y="3739896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递归矩阵乘法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46704" y="3685032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456432" y="3739896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Θ(n³)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89904" y="3685032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199632" y="3739896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Θ(N²n³)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833104" y="3685032"/>
            <a:ext cx="2697480" cy="740664"/>
          </a:xfrm>
          <a:prstGeom prst="roundRect">
            <a:avLst>
              <a:gd name="adj" fmla="val 2222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42832" y="3739896"/>
            <a:ext cx="2487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Θ(n³)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3504" y="5248656"/>
            <a:ext cx="10972800" cy="640080"/>
          </a:xfrm>
          <a:prstGeom prst="roundRect">
            <a:avLst>
              <a:gd name="adj" fmla="val 25714"/>
            </a:avLst>
          </a:prstGeom>
          <a:solidFill>
            <a:srgbClr val="FFF0DB"/>
          </a:solidFill>
          <a:ln w="12700">
            <a:solidFill>
              <a:srgbClr val="FFF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n=N 开始：归并整表复制 Θ(N²)，矩阵完整复制 Θ(N⁵)。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二分搜索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508760"/>
            <a:ext cx="11018520" cy="4343400"/>
          </a:xfrm>
          <a:prstGeom prst="roundRect">
            <a:avLst>
              <a:gd name="adj" fmla="val 3789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" y="2286000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一条递归路径，复制量逐层变化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二分搜索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代码中的三种传递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72184"/>
            <a:ext cx="6720840" cy="3246120"/>
          </a:xfrm>
          <a:prstGeom prst="roundRect">
            <a:avLst>
              <a:gd name="adj" fmla="val 5070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67335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binaryPointer 中的真实代码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66544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mid = lo + (hi - lo) / 2;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(a[mid] == key) return mid;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key &lt; a[mid]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binaryPointer(a, lo, mid, key, 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binaryPointer(a, mid+1, hi, key, s);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07808" y="1472184"/>
            <a:ext cx="3950208" cy="3246120"/>
          </a:xfrm>
          <a:prstGeom prst="roundRect">
            <a:avLst>
              <a:gd name="adj" fmla="val 5070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845552" y="1682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传参差异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45552" y="213055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引用版用 const vector&lt;int&gt;&amp;；整表版按值传 vector；子段版构造 next。三版返回都为 -1。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" y="5001768"/>
            <a:ext cx="10954512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1248" y="51846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每次比较只进入左半或右半：递归深度约为 lg n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复杂度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二分搜索的三个递推式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0472"/>
            <a:ext cx="3456432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00784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指针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48840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T(N,n)=T(N,n/2)+Θ(1)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Θ(lg 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52544" y="1490472"/>
            <a:ext cx="3456432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90288" y="1700784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94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 整表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148840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T(N,n)=T(N,n/2)+Θ(N)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lg 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490472"/>
            <a:ext cx="3456432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39328" y="1700784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子段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148840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T(N,n)=T(N,n/2)+Θ(n)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" y="4855464"/>
            <a:ext cx="10954512" cy="795528"/>
          </a:xfrm>
          <a:prstGeom prst="roundRect">
            <a:avLst>
              <a:gd name="adj" fmla="val 20690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77824" y="50749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 每层复制 n/2、n/4、n/8……，几何和为 Θ(n)。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508760"/>
            <a:ext cx="11018520" cy="4343400"/>
          </a:xfrm>
          <a:prstGeom prst="roundRect">
            <a:avLst>
              <a:gd name="adj" fmla="val 3789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" y="2286000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两个递归分支，合并本身已需要线性时间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代码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归并排序的代码路线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72184"/>
            <a:ext cx="6720840" cy="3246120"/>
          </a:xfrm>
          <a:prstGeom prst="roundRect">
            <a:avLst>
              <a:gd name="adj" fmla="val 5070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673352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 MERGE-SORT 的 C++ 翻译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66544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(hi - lo &lt;= 1) return;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mid = lo + (hi - lo) / 2;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mergePointer(a, lo, mid,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mergePointer(a, mid, hi,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mergeInto(a, lo, mid, hi);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07808" y="1472184"/>
            <a:ext cx="3950208" cy="3246120"/>
          </a:xfrm>
          <a:prstGeom prst="roundRect">
            <a:avLst>
              <a:gd name="adj" fmla="val 5070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845552" y="1682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与教材对应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45552" y="2130552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基准版按教材两次递归后合并；教材 [p:r] 闭区间翻译为 C++ [lo,hi) 半开区间。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" y="5001768"/>
            <a:ext cx="10954512" cy="749808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1248" y="51846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程序把倒序输入排成 0,1,…,N−1，三版结果逐一核对。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教材第21–22页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MERGE 保留教材的临时数组与循环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63040"/>
            <a:ext cx="7406640" cy="4389120"/>
          </a:xfrm>
          <a:prstGeom prst="roundRect">
            <a:avLst>
              <a:gd name="adj" fmla="val 3750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6642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mergeInto 的完整合并主体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57400"/>
            <a:ext cx="6858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vector&lt;int&gt; left(a.begin()+lo, a.begin()+mid);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vector&lt;int&gt; right(a.begin()+mid, a.begin()+hi);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 i = 0, j = 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k = lo;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 left.size() &amp;&amp; j &lt; right.size())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a[k++] = left[i] &lt;= right[j]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? left[i++] : right[j++];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 left.size()) a[k++] = left[i++];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(j &lt; right.size()) a[k++] = right[j++];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84464" y="1463040"/>
            <a:ext cx="3273552" cy="4389120"/>
          </a:xfrm>
          <a:prstGeom prst="roundRect">
            <a:avLst>
              <a:gd name="adj" fmla="val 5028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22208" y="1673352"/>
            <a:ext cx="2798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Θ(n)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522208" y="2121408"/>
            <a:ext cx="279806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两个临时数组共复制 n 个元素；三个 while 共回填 n 个元素。教材中的算法内复制与参数复制分别统计。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复杂度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归并排序：整层代价决定结论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08760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232" y="156362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46704" y="1508760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单节点附加工作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508760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99632" y="156362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层总工作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3104" y="1508760"/>
            <a:ext cx="269748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42832" y="156362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" y="207568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3232" y="213055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指针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46704" y="207568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56432" y="213055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Θ(n/2^i)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9904" y="207568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99632" y="213055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33104" y="207568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942832" y="213055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lg n)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" y="285292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13232" y="290779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整表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46704" y="285292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456432" y="290779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Θ(N+n/2^i)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89904" y="285292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199632" y="290779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Θ(N·2^i+n)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833104" y="285292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942832" y="290779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Θ(Nn)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" y="363016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13232" y="368503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子段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46704" y="363016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456432" y="368503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Θ(n/2^i)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89904" y="363016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199632" y="368503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833104" y="3630168"/>
            <a:ext cx="2697480" cy="722376"/>
          </a:xfrm>
          <a:prstGeom prst="roundRect">
            <a:avLst>
              <a:gd name="adj" fmla="val 2278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42832" y="368503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 lg n)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3504" y="5276088"/>
            <a:ext cx="10954512" cy="621792"/>
          </a:xfrm>
          <a:prstGeom prst="roundRect">
            <a:avLst>
              <a:gd name="adj" fmla="val 26471"/>
            </a:avLst>
          </a:prstGeom>
          <a:solidFill>
            <a:srgbClr val="FFF0DB"/>
          </a:solidFill>
          <a:ln w="12700">
            <a:solidFill>
              <a:srgbClr val="FFF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2104" y="541324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底层约 n 个调用 × 每次复制 N 个元素，是关键瓶颈。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递归矩阵乘法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508760"/>
            <a:ext cx="11018520" cy="4343400"/>
          </a:xfrm>
          <a:prstGeom prst="roundRect">
            <a:avLst>
              <a:gd name="adj" fmla="val 3789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" y="2286000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八个子块乘积，完整矩阵复制极其昂贵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分块结构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为什么是八个递归调用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358902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3369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38244" y="1499616"/>
            <a:ext cx="3589020" cy="484632"/>
          </a:xfrm>
          <a:prstGeom prst="roundRect">
            <a:avLst>
              <a:gd name="adj" fmla="val 3396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47972" y="1554480"/>
            <a:ext cx="3369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两个乘积之和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" y="2066544"/>
            <a:ext cx="358902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3232" y="2121408"/>
            <a:ext cx="33787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38244" y="2066544"/>
            <a:ext cx="358902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347972" y="2121408"/>
            <a:ext cx="33787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A11×B11 + A12×B21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" y="2724912"/>
            <a:ext cx="358902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3232" y="2779776"/>
            <a:ext cx="33787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38244" y="2724912"/>
            <a:ext cx="358902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347972" y="2779776"/>
            <a:ext cx="33787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A11×B12 + A12×B22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" y="3383280"/>
            <a:ext cx="358902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3232" y="3438144"/>
            <a:ext cx="33787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38244" y="3383280"/>
            <a:ext cx="3589020" cy="603504"/>
          </a:xfrm>
          <a:prstGeom prst="roundRect">
            <a:avLst>
              <a:gd name="adj" fmla="val 27273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347972" y="3438144"/>
            <a:ext cx="33787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A21×B11 + A22×B21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" y="4041648"/>
            <a:ext cx="358902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13232" y="4096512"/>
            <a:ext cx="33787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38244" y="4041648"/>
            <a:ext cx="3589020" cy="603504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347972" y="4096512"/>
            <a:ext cx="33787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A21×B12 + A22×B22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19872" y="1499616"/>
            <a:ext cx="3438144" cy="3749040"/>
          </a:xfrm>
          <a:prstGeom prst="roundRect">
            <a:avLst>
              <a:gd name="adj" fmla="val 4787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357616" y="1709928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57616" y="2157984"/>
            <a:ext cx="296265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个结果块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每块 2 次乘法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8 个规模 n/2 的子问题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教材第51页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教材矩阵递归过程直接累加到 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63040"/>
            <a:ext cx="7342632" cy="4517136"/>
          </a:xfrm>
          <a:prstGeom prst="roundRect">
            <a:avLst>
              <a:gd name="adj" fmla="val 3644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664208"/>
            <a:ext cx="6793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表示 MATRIX-MULTIPLY-RECURSIVE，左侧为教材行号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57400"/>
            <a:ext cx="6793992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if n ==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c11 = c11 + a11 * b11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return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partition A, B, C into submatrix views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F(A11, B11, C11, n/2)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F(A11, B12, C12, n/2)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F(A21, B11, C21, n/2)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F(A21, B12, C22, n/2)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F(A12, B21, C11, n/2)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F(A12, B22, C12, n/2)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F(A22, B21, C21, n/2)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F(A22, B22, C22, n/2)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0456" y="1463040"/>
            <a:ext cx="3337560" cy="4517136"/>
          </a:xfrm>
          <a:prstGeom prst="roundRect">
            <a:avLst>
              <a:gd name="adj" fmla="val 4932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458200" y="1673352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对应关系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58200" y="2121408"/>
            <a:ext cx="286207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第3行执行标量乘加；第6行的索引划分是 Θ(1)；第8–15行直接更新 C11、C12、C21、C22。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教材过程的可运行翻译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保留教材的八次调用次序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63040"/>
            <a:ext cx="7342632" cy="4197096"/>
          </a:xfrm>
          <a:prstGeom prst="roundRect">
            <a:avLst>
              <a:gd name="adj" fmla="val 3922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77824" y="1664208"/>
            <a:ext cx="6793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8D8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摘自 matrixCore，h=n/2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057400"/>
            <a:ext cx="6793992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matrixCall(A11, B11, C11, h, mode,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matrixCall(A11, B12, C12, h, mode,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matrixCall(A21, B11, C21, h, mode,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matrixCall(A21, B12, C22, h, mode,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matrixCall(A12, B21, C11, h, mode,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matrixCall(A12, B22, C12, h, mode,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matrixCall(A22, B21, C21, h, mode, s);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matrixCall(A22, B22, C22, h, mode, s);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0456" y="1463040"/>
            <a:ext cx="3337560" cy="4197096"/>
          </a:xfrm>
          <a:prstGeom prst="roundRect">
            <a:avLst>
              <a:gd name="adj" fmla="val 4932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458200" y="1673352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58200" y="2121408"/>
            <a:ext cx="2862072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MatrixView 仅保存地址与偏移。基本情形执行 C.at(0,0) += A.at(0,0)*B.at(0,0)，与教材一致。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复杂度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矩阵乘法的三个递推式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81328"/>
            <a:ext cx="3456432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69164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指针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39696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T=8T(N,n/2)+Θ(1)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Θ(n³)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52544" y="1481328"/>
            <a:ext cx="3456432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90288" y="169164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94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整矩阵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139696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T=8T(N,n/2)+Θ(N²+n²)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Θ(N²n³)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481328"/>
            <a:ext cx="3456432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39328" y="169164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子块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139696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T=8T(N,n/2)+Θ(n²)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Θ(n³)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" y="5001768"/>
            <a:ext cx="10954512" cy="722376"/>
          </a:xfrm>
          <a:prstGeom prst="roundRect">
            <a:avLst>
              <a:gd name="adj" fmla="val 22785"/>
            </a:avLst>
          </a:prstGeom>
          <a:solidFill>
            <a:srgbClr val="FBECEB"/>
          </a:solidFill>
          <a:ln w="12700">
            <a:solidFill>
              <a:srgbClr val="FBEC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22960" y="515721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94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的叶子数量约 n³，每个叶子调用仍复制 Θ(N²) 个元素。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教材第52页 递推式4.9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指针版为何是 Θ(1) 附加工作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5285232" cy="4114800"/>
          </a:xfrm>
          <a:prstGeom prst="roundRect">
            <a:avLst>
              <a:gd name="adj" fmla="val 4000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09928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指针版逐层求和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480974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每层节点数 8^i。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每节点只做 Θ(1) 的视图划分和调用管理。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全部节点数 ∑8^i=Θ(n³)。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叶子标量乘加也是 n³ 次。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499616"/>
            <a:ext cx="5431536" cy="4114800"/>
          </a:xfrm>
          <a:prstGeom prst="roundRect">
            <a:avLst>
              <a:gd name="adj" fmla="val 4000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64224" y="1709928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子块复制版逐层求和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64224" y="2157984"/>
            <a:ext cx="49560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每节点复制与回写 Θ((n/2^i)²)。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层 Θ(n²·2^i)。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求和 Θ(n³)。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两版同阶，但递推的附加项不同。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推导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用递归树读出瓶颈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99616"/>
            <a:ext cx="5285232" cy="3867912"/>
          </a:xfrm>
          <a:prstGeom prst="roundRect">
            <a:avLst>
              <a:gd name="adj" fmla="val 4255"/>
            </a:avLst>
          </a:prstGeom>
          <a:solidFill>
            <a:srgbClr val="E8F0F7"/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09928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归并排序整表复制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480974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层有 2^i 个节点。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每个节点复制 N 个元素。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最后一层节点数 Θ(n)。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复制总量 Θ(Nn)。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499616"/>
            <a:ext cx="5431536" cy="3867912"/>
          </a:xfrm>
          <a:prstGeom prst="roundRect">
            <a:avLst>
              <a:gd name="adj" fmla="val 4255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364224" y="1709928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矩阵乘法整矩阵复制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64224" y="2157984"/>
            <a:ext cx="495604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层有 8^i 个节点。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每个节点复制 Θ(N²)。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叶子层节点数 Θ(n³)。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复制总量 Θ(N²n³)。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实验设计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计数口径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38A84"/>
          </a:solidFill>
          <a:ln w="12700">
            <a:solidFill>
              <a:srgbClr val="138A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" y="1536192"/>
            <a:ext cx="1049731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调用数 calls：只数递归函数进入次数。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9808" y="24643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38A84"/>
          </a:solidFill>
          <a:ln w="12700">
            <a:solidFill>
              <a:srgbClr val="138A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05840" y="2427732"/>
            <a:ext cx="1049731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参数复制数：矩阵部分包含 A、B、C 三个参数。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9808" y="33558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38A84"/>
          </a:solidFill>
          <a:ln w="12700">
            <a:solidFill>
              <a:srgbClr val="138A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05840" y="3319272"/>
            <a:ext cx="1049731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result_elements_copied_back：单独统计 C 的活动结果回写。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9808" y="42473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38A84"/>
          </a:solidFill>
          <a:ln w="12700">
            <a:solidFill>
              <a:srgbClr val="138A8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4210812"/>
            <a:ext cx="10497312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三版都验证 C_final=C_initial+A×B，初始 C 特意设为非零。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3504" y="5230368"/>
            <a:ext cx="10972800" cy="630936"/>
          </a:xfrm>
          <a:prstGeom prst="roundRect">
            <a:avLst>
              <a:gd name="adj" fmla="val 26087"/>
            </a:avLst>
          </a:prstGeom>
          <a:solidFill>
            <a:srgbClr val="FFF0DB"/>
          </a:solidFill>
          <a:ln w="12700">
            <a:solidFill>
              <a:srgbClr val="FFF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32104" y="53675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计数支持观察，不代替递推式证明。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运行结果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N=8 时的参数复制计数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49808" y="1444752"/>
          <a:ext cx="10497312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49808" y="58247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注：横轴为对数刻度，数据标签为真实元素复制次数。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改进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具体瓶颈与代码级改进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481328"/>
            <a:ext cx="3456432" cy="40873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69164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268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二分搜索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39696"/>
            <a:ext cx="298094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不要按值传 vector。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 const 引用，并用 lo/hi 表示当前区间。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52544" y="1481328"/>
            <a:ext cx="3456432" cy="40873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90288" y="169164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归并排序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139696"/>
            <a:ext cx="298094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传同一个数组的索引。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复用一块辅助缓冲区，减少临时分配。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481328"/>
            <a:ext cx="3456432" cy="408736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339328" y="169164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765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矩阵乘法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39328" y="2139696"/>
            <a:ext cx="298094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传矩阵视图、偏移和步长。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避免每个节点完整物化输入矩阵。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38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结论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85216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收束：分治形状之外还要看传参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算法设计小班课  ·  4-2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18520" y="65013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508760"/>
            <a:ext cx="5266944" cy="3566160"/>
          </a:xfrm>
          <a:prstGeom prst="roundRect">
            <a:avLst>
              <a:gd name="adj" fmla="val 4615"/>
            </a:avLst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1719072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479145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递归分支数决定节点数量；每节点复制量决定新增代价。N 在递归中不缩小，是整表复制特别昂贵的根源。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31536" cy="3566160"/>
          </a:xfrm>
          <a:prstGeom prst="roundRect">
            <a:avLst>
              <a:gd name="adj" fmla="val 4615"/>
            </a:avLst>
          </a:prstGeom>
          <a:solidFill>
            <a:srgbClr val="E1F3F0"/>
          </a:solidFill>
          <a:ln w="12700">
            <a:solidFill>
              <a:srgbClr val="E1F3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364224" y="2167128"/>
            <a:ext cx="49560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九个结论有统一分析方法：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看分支；2 算单节点工作；3 按层求和；4 再验证程序。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" y="568756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6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题源：《算法导论》第四版习题 4-2；示例代码为本文件夹 C++17 实现。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1823</Words>
  <Application>Microsoft Office PowerPoint</Application>
  <PresentationFormat>宽屏</PresentationFormat>
  <Paragraphs>348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算法导论习题 4-2 讲解</dc:title>
  <dc:subject>算法导论习题 4-2</dc:subject>
  <dc:creator>算法设计小班课</dc:creator>
  <cp:lastModifiedBy>浩 曾</cp:lastModifiedBy>
  <cp:revision>4</cp:revision>
  <dcterms:created xsi:type="dcterms:W3CDTF">2026-10-24T04:10:29Z</dcterms:created>
  <dcterms:modified xsi:type="dcterms:W3CDTF">2026-10-26T03:02:57Z</dcterms:modified>
</cp:coreProperties>
</file>