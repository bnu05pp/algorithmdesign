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Microsoft YaHei"/>
              </a:rPr>
              <a:t>实际操作计数  对数刻度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2"/>
          <c:y val="0.16"/>
          <c:w val="0.68"/>
          <c:h val="0.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实际计数</c:v>
                </c:pt>
              </c:strCache>
            </c:strRef>
          </c:tx>
          <c:spPr>
            <a:solidFill>
              <a:srgbClr val="138A84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02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固定向右</c:v>
                </c:pt>
                <c:pt idx="1">
                  <c:v>b 交替左右</c:v>
                </c:pt>
                <c:pt idx="2">
                  <c:v>c 重复项链表</c:v>
                </c:pt>
                <c:pt idx="3">
                  <c:v>d 随机左右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8001</c:v>
                </c:pt>
                <c:pt idx="1">
                  <c:v>642</c:v>
                </c:pt>
                <c:pt idx="2">
                  <c:v>126</c:v>
                </c:pt>
                <c:pt idx="3">
                  <c:v>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22-44FC-909B-8B3272ACF4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02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0"/>
          <c:min val="1"/>
        </c:scaling>
        <c:delete val="0"/>
        <c:axPos val="b"/>
        <c:majorGridlines>
          <c:spPr>
            <a:ln w="12700" cap="flat">
              <a:solidFill>
                <a:srgbClr val="E9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582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本题为相等关键字与二叉搜索树。先给出题目模型，再演示真实运行的 C++17 程序，最后解释严谨复杂度与工程改进。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数据记录不同，但比较用的关键字相同。因而如何处理相等，是本题唯一关键。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讲解中将分别展示代码、树高、插入访问次数和数学推导。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相等被当作“不小于”，一条长链逐步形成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i 次插入访问 i−1 个旧节点，求和得到 Θ(n²)。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局部分流尽量平均，形成近完全的树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每经过相等关键字节点，读取其开关，翻转后沿相应子树下降。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对全等关键字输入，每个节点局部交替具有分流平衡性，所以得到近完全树。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所有相等记录共用一个树节点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链表方案改善的是本题 n 次等键插入，以及按关键字定位树节点；不是所有操作都常数。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典型情况好，最坏情况依然可能退化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程序使用 mt19937，固定种子用于教学复现。随机性分析需额外证明。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下界由二叉树容纳 i 个记录的平均深度 Ω(lg i) 得出，因此总期望是 Θ(n lg 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概率小不等于不可能。期望时间与最坏时间分别报告。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数据记录 ID 不同，key 都是 42。linkedList 将不同 ID 存入同一个节点的链表。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数据来自已编译程序的真实输出。可现场改 n 与种子展示树形差异。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 n 继续增大，a 二次增长最明显。c 的访问次数为 n-1，但每次访问都是同一个树节点。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需要根据实际操作组合来选。若数据有不同 key，本题专门针对全等键的交替证明不自动推广。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最终让听众回答：为什么链表总插入 Θ(n)，以及随机策略为什么仍有最坏 Θ(n²)。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777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ALGORITHMS  /  EXERCISE 12-1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58952" y="1874520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相等关键字与二叉搜索树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58952" y="322783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BE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四种插入规则，四种树形与成本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" y="5065776"/>
            <a:ext cx="5394960" cy="603504"/>
          </a:xfrm>
          <a:prstGeom prst="roundRect">
            <a:avLst>
              <a:gd name="adj" fmla="val 27273"/>
            </a:avLst>
          </a:prstGeom>
          <a:solidFill>
            <a:srgbClr val="254B68"/>
          </a:solidFill>
          <a:ln w="12700">
            <a:solidFill>
              <a:srgbClr val="254B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24128" y="5166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题意 · 可运行代码 · 复杂度证明 · 改进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题意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题目的共同前提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08760"/>
            <a:ext cx="5276088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1907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800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空二叉搜索树中，依次插入 n 个不同数据记录；它们的关键字全部相等。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431536" cy="3566160"/>
          </a:xfrm>
          <a:prstGeom prst="roundRect">
            <a:avLst>
              <a:gd name="adj" fmla="val 4615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64224" y="171907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64224" y="2167128"/>
            <a:ext cx="49560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标准规则的渐近性能；b 交替左右；c 同节点链表；d 随机左右。需要最坏或期望界。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总览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一张表先看结论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46704" y="1499616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456432" y="15544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1499616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99632" y="15544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总插入时间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3104" y="1499616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42832" y="15544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" y="2066544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13232" y="212140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固定向右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46704" y="2066544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456432" y="212140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9904" y="2066544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99632" y="212140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Θ(n²)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33104" y="2066544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42832" y="212140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次 Θ(i)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" y="2761488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13232" y="281635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各节点交替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46704" y="2761488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456432" y="281635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近完全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89904" y="2761488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199632" y="281635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lg n)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33104" y="2761488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942832" y="281635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次 Θ(lg i)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" y="3456432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13232" y="351129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同节点链表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46704" y="3456432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456432" y="351129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单树节点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89904" y="3456432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199632" y="351129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833104" y="3456432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942832" y="351129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Θ(1)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03504" y="4151376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13232" y="420624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随机分流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46704" y="4151376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3456432" y="420624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随机树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089904" y="4151376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199632" y="420624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 Θ(n lg n)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833104" y="4151376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942832" y="420624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 Θ(n²)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03504" y="5440680"/>
            <a:ext cx="10954512" cy="530352"/>
          </a:xfrm>
          <a:prstGeom prst="roundRect">
            <a:avLst>
              <a:gd name="adj" fmla="val 31034"/>
            </a:avLst>
          </a:prstGeom>
          <a:solidFill>
            <a:srgbClr val="FFF0DB"/>
          </a:solidFill>
          <a:ln w="12700">
            <a:solidFill>
              <a:srgbClr val="FFF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32104" y="555040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的一次运行结果是样本；期望复杂度必须单独证明。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STRATEGY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固定向右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508760"/>
            <a:ext cx="11018520" cy="4343400"/>
          </a:xfrm>
          <a:prstGeom prst="roundRect">
            <a:avLst>
              <a:gd name="adj" fmla="val 3789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" y="2286000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相等被当作“不小于”，一条长链逐步形成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原始规则如何退化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0472"/>
            <a:ext cx="5715000" cy="2011680"/>
          </a:xfrm>
          <a:prstGeom prst="roundRect">
            <a:avLst>
              <a:gd name="adj" fmla="val 818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7824" y="16916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相等时始终走右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084832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(key &lt; x-&gt;key) link = &amp;x-&gt;left;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             link = &amp;x-&gt;right;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01968" y="1490472"/>
            <a:ext cx="4956048" cy="3520440"/>
          </a:xfrm>
          <a:prstGeom prst="roundRect">
            <a:avLst>
              <a:gd name="adj" fmla="val 467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839712" y="17007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n=7 的形态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39712" y="214884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→ ● → ● → ● → ● → ● → ●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 7；越晚插入，走过的节点越多。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" y="3822192"/>
            <a:ext cx="571500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59536" y="405079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B94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访问总数 = 0+1+…+(n−1) = n(n−1)/2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STRATEGY 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每个节点左右交替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508760"/>
            <a:ext cx="11018520" cy="4343400"/>
          </a:xfrm>
          <a:prstGeom prst="roundRect">
            <a:avLst>
              <a:gd name="adj" fmla="val 3789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" y="2286000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局部分流尽量平均，形成近完全的树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交替策略的代码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6629400" cy="3044952"/>
          </a:xfrm>
          <a:prstGeom prst="roundRect">
            <a:avLst>
              <a:gd name="adj" fmla="val 5405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7824" y="1700784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开关保存在每个节点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093976"/>
            <a:ext cx="608076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left = x-&gt;nextLeft;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x-&gt;nextLeft = !x-&gt;nextLeft;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= left ? &amp;x-&gt;left : &amp;x-&gt;right;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07224" y="1499616"/>
            <a:ext cx="4050792" cy="3044952"/>
          </a:xfrm>
          <a:prstGeom prst="roundRect">
            <a:avLst>
              <a:gd name="adj" fmla="val 5405"/>
            </a:avLst>
          </a:prstGeom>
          <a:solidFill>
            <a:srgbClr val="FFF0DB"/>
          </a:solidFill>
          <a:ln w="12700">
            <a:solidFill>
              <a:srgbClr val="FFF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44968" y="170992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常见误解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44968" y="2157984"/>
            <a:ext cx="357530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不能全树共享一个布尔值。每个节点都要分别记录下一次等键往哪边走。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" y="4818888"/>
            <a:ext cx="10954512" cy="841248"/>
          </a:xfrm>
          <a:prstGeom prst="roundRect">
            <a:avLst>
              <a:gd name="adj" fmla="val 19565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68680" y="5001768"/>
            <a:ext cx="10332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每个节点的左右分流数量差至多 1。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b 的分析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为什么交替能得到对数高度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08760"/>
            <a:ext cx="5266944" cy="3822192"/>
          </a:xfrm>
          <a:prstGeom prst="roundRect">
            <a:avLst>
              <a:gd name="adj" fmla="val 4306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19072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逐层递归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79145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根节点把后续请求几乎各分一半。每个子节点继续各分一半。深度增加 1，可容纳的节点数约翻倍。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431536" cy="3822192"/>
          </a:xfrm>
          <a:prstGeom prst="roundRect">
            <a:avLst>
              <a:gd name="adj" fmla="val 4306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64224" y="171907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64224" y="2167128"/>
            <a:ext cx="495604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 Θ(lg n)。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次插入 Θ(lg i)。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 ∑ Θ(lg i)=Θ(n lg n)。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STRATEGY 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节点挂重复项链表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508760"/>
            <a:ext cx="11018520" cy="4343400"/>
          </a:xfrm>
          <a:prstGeom prst="roundRect">
            <a:avLst>
              <a:gd name="adj" fmla="val 3789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" y="2286000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所有相等记录共用一个树节点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链表头插的真实成本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6803136" cy="3310128"/>
          </a:xfrm>
          <a:prstGeom prst="roundRect">
            <a:avLst>
              <a:gd name="adj" fmla="val 497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7824" y="1700784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找到等键节点后立即头插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093976"/>
            <a:ext cx="625449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(key == x-&gt;key)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x-&gt;same = new Duplicate{itemId, x-&gt;same};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1499616"/>
            <a:ext cx="3877056" cy="3310128"/>
          </a:xfrm>
          <a:prstGeom prst="roundRect">
            <a:avLst>
              <a:gd name="adj" fmla="val 4972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918704" y="170992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18704" y="2157984"/>
            <a:ext cx="340156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 Θ(1)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单次插入 Θ(1)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总插入 Θ(n)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总空间 Θ(n)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" y="5084064"/>
            <a:ext cx="10954512" cy="685800"/>
          </a:xfrm>
          <a:prstGeom prst="roundRect">
            <a:avLst>
              <a:gd name="adj" fmla="val 24000"/>
            </a:avLst>
          </a:prstGeom>
          <a:solidFill>
            <a:srgbClr val="FFF0DB"/>
          </a:solidFill>
          <a:ln w="12700">
            <a:solidFill>
              <a:srgbClr val="FFF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2960" y="5230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若要查找某一条特定重复记录，仍可能扫描 Θ(n) 长度的链表。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STRATEGY 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随机选左或右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508760"/>
            <a:ext cx="11018520" cy="4343400"/>
          </a:xfrm>
          <a:prstGeom prst="roundRect">
            <a:avLst>
              <a:gd name="adj" fmla="val 3789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" y="2286000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典型情况好，最坏情况依然可能退化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随机策略的代码与复现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6949440" cy="3246120"/>
          </a:xfrm>
          <a:prstGeom prst="roundRect">
            <a:avLst>
              <a:gd name="adj" fmla="val 5070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7824" y="17007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每次遇到等键独立选择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093976"/>
            <a:ext cx="6400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= (rng_() &amp; 1U) ? &amp;x-&gt;left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: &amp;x-&gt;right;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seed, same tree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27264" y="1499616"/>
            <a:ext cx="3730752" cy="3246120"/>
          </a:xfrm>
          <a:prstGeom prst="roundRect">
            <a:avLst>
              <a:gd name="adj" fmla="val 5070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065008" y="1709928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65008" y="2157984"/>
            <a:ext cx="3255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n=127，种子 20261019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 11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插入节点访问 684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" y="5047488"/>
            <a:ext cx="10954512" cy="676656"/>
          </a:xfrm>
          <a:prstGeom prst="roundRect">
            <a:avLst>
              <a:gd name="adj" fmla="val 24324"/>
            </a:avLst>
          </a:prstGeom>
          <a:solidFill>
            <a:srgbClr val="FBECEB"/>
          </a:solidFill>
          <a:ln w="12700">
            <a:solidFill>
              <a:srgbClr val="FBEC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2104" y="51937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94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改变种子会改变样本；这不是期望值的证明。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d 的分析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随机策略的期望上界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08760"/>
            <a:ext cx="5266944" cy="3895344"/>
          </a:xfrm>
          <a:prstGeom prst="roundRect">
            <a:avLst>
              <a:gd name="adj" fmla="val 422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19072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随机位串视角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每个等键记录在沿路径经过节点时独立掷硬币，可视为拥有一串随机左右位。若新记录要深入到第 d 层，至少某个旧记录与其共享长度 d−1 的前缀。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431536" cy="3895344"/>
          </a:xfrm>
          <a:prstGeom prst="roundRect">
            <a:avLst>
              <a:gd name="adj" fmla="val 4225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64224" y="171907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64224" y="2167128"/>
            <a:ext cx="4956048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联合界给 P(depth ≥ d) ≤ min(1,(i−1)/2^(d−1))。对 d 求尾和，得到第 i 次插入期望深度 O(lg i)，总期望 O(n lg n)。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d 的分析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最坏情况与适用边界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17904"/>
            <a:ext cx="5266944" cy="3547872"/>
          </a:xfrm>
          <a:prstGeom prst="roundRect">
            <a:avLst>
              <a:gd name="adj" fmla="val 4639"/>
            </a:avLst>
          </a:prstGeom>
          <a:solidFill>
            <a:srgbClr val="FBECEB"/>
          </a:solidFill>
          <a:ln w="12700">
            <a:solidFill>
              <a:srgbClr val="FBEC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28216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94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最坏事件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76272"/>
            <a:ext cx="4791456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随机选择也有可能连续把新记录导向同一条路径。这样第 i 次插入 Θ(i)，累计 Θ(n²)。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17904"/>
            <a:ext cx="5431536" cy="3547872"/>
          </a:xfrm>
          <a:prstGeom prst="roundRect">
            <a:avLst>
              <a:gd name="adj" fmla="val 46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64224" y="1728216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工程含义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64224" y="2176272"/>
            <a:ext cx="4956048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随机分流改善典型形态，但没有最坏保证。若业务需要稳定的查找上界，应使用红黑树等通用平衡结构。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代码地图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程序怎么组织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0472"/>
            <a:ext cx="3456432" cy="3931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00784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EqualKeyTree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48840"/>
            <a:ext cx="29809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保存 key、左右指针、重复项链表与交替开关。insert 根据策略选择路径。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52544" y="1490472"/>
            <a:ext cx="3456432" cy="3931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90288" y="1700784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148840"/>
            <a:ext cx="29809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对四种策略各插入 n 个值为 42 的独立记录，统计树节点数与访问次数。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490472"/>
            <a:ext cx="3456432" cy="39319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39328" y="1700784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2148840"/>
            <a:ext cx="29809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n 与随机种子，检查关键不变量，打印各策略结果。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N=127 的实际运行数据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46704" y="1499616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456432" y="15544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树节点数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1499616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99632" y="15544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3104" y="1499616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42832" y="15544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插入访问次数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" y="2066544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13232" y="212140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固定向右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46704" y="2066544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456432" y="212140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9904" y="2066544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99632" y="212140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33104" y="2066544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42832" y="212140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" y="2761488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13232" y="281635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交替左右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46704" y="2761488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456432" y="281635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89904" y="2761488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199632" y="281635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33104" y="2761488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942832" y="281635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" y="3456432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13232" y="351129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重复项链表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46704" y="3456432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456432" y="351129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89904" y="3456432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199632" y="351129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833104" y="3456432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942832" y="351129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03504" y="4151376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13232" y="420624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随机左右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46704" y="4151376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3456432" y="420624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089904" y="4151376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199632" y="420624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833104" y="4151376"/>
            <a:ext cx="26974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942832" y="420624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684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03504" y="5431536"/>
            <a:ext cx="10954512" cy="557784"/>
          </a:xfrm>
          <a:prstGeom prst="roundRect">
            <a:avLst>
              <a:gd name="adj" fmla="val 29508"/>
            </a:avLst>
          </a:prstGeom>
          <a:solidFill>
            <a:srgbClr val="FFF0DB"/>
          </a:solidFill>
          <a:ln w="12700">
            <a:solidFill>
              <a:srgbClr val="FFF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22960" y="55412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随机结果对应种子 20261019；a 的 8001 = 127×126/2。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数据解读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把访问次数画出来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68096" y="1636776"/>
          <a:ext cx="10497312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" y="5102352"/>
            <a:ext cx="10954512" cy="621792"/>
          </a:xfrm>
          <a:prstGeom prst="roundRect">
            <a:avLst>
              <a:gd name="adj" fmla="val 26471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832104" y="523036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横轴为对数刻度；标签是真实访问次数。不能由一个规模证明渐近界。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瓶颈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这些策略究竟改进了什么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08760"/>
            <a:ext cx="5266944" cy="3749040"/>
          </a:xfrm>
          <a:prstGeom prst="roundRect">
            <a:avLst>
              <a:gd name="adj" fmla="val 4390"/>
            </a:avLst>
          </a:prstGeom>
          <a:solidFill>
            <a:srgbClr val="FBECEB"/>
          </a:solidFill>
          <a:ln w="12700">
            <a:solidFill>
              <a:srgbClr val="FBEC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19072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94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原始瓶颈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79145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相等时固定走同一边，树高随 n 线性增长；后续每次插入都要经过越来越长的路径。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431536" cy="3749040"/>
          </a:xfrm>
          <a:prstGeom prst="roundRect">
            <a:avLst>
              <a:gd name="adj" fmla="val 4390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64224" y="171907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改进选择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64224" y="2167128"/>
            <a:ext cx="49560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交替：保留每条记录为树节点。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链表：等键大量出现时插入最快。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随机：简单，但仍有最坏退化。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结论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收束：相等时的规则决定树形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12-1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3456432" cy="3886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0992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94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57984"/>
            <a:ext cx="29809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固定向右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 Θ(n²)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 Θ(n)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52544" y="1499616"/>
            <a:ext cx="3456432" cy="3886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90288" y="170992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与 c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157984"/>
            <a:ext cx="29809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交替：总 Θ(n lg n)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链表：总 Θ(n)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499616"/>
            <a:ext cx="3456432" cy="3886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39328" y="170992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2157984"/>
            <a:ext cx="29809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 Θ(n lg n)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 Θ(n²)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区分样本与证明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" y="569671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题源：《算法导论》第四版习题 12-1；示例代码为本文件夹 C++17 实现。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Microsoft Office PowerPoint</Application>
  <PresentationFormat>宽屏</PresentationFormat>
  <Paragraphs>241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算法导论习题 12-1 讲解</dc:title>
  <dc:subject>算法导论习题 12-1</dc:subject>
  <dc:creator>算法设计小班课</dc:creator>
  <cp:lastModifiedBy>浩 曾</cp:lastModifiedBy>
  <cp:revision>2</cp:revision>
  <dcterms:created xsi:type="dcterms:W3CDTF">2026-10-19T14:01:46Z</dcterms:created>
  <dcterms:modified xsi:type="dcterms:W3CDTF">2026-10-26T02:47:19Z</dcterms:modified>
</cp:coreProperties>
</file>