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</p:sldIdLst>
  <p:sldSz cx="12191365" cy="6858000"/>
  <p:notesSz cx="6858000" cy="9144000"/>
  <p:defaultTextStyle>
    <a:defPPr>
      <a:buNone/>
    </a:defPPr>
    <a:lvl1pPr marL="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1pPr>
    <a:lvl2pPr marL="4572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2pPr>
    <a:lvl3pPr marL="9144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3pPr>
    <a:lvl4pPr marL="13716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4pPr>
    <a:lvl5pPr marL="18288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5pPr>
    <a:lvl6pPr marL="22860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6pPr>
    <a:lvl7pPr marL="27432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7pPr>
    <a:lvl8pPr marL="32004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8pPr>
    <a:lvl9pPr marL="36576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1" d="1"/>
          <a:sy n="1" d="1"/>
        </p:scale>
        <p:origin x="0" y="0"/>
      </p:cViewPr>
      <p:guideLst/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2" Type="http://schemas.openxmlformats.org/officeDocument/2006/relationships/tableStyles" Target="tableStyles.xml"/><Relationship Id="rId21" Type="http://schemas.openxmlformats.org/officeDocument/2006/relationships/viewProps" Target="viewProps.xml"/><Relationship Id="rId20" Type="http://schemas.openxmlformats.org/officeDocument/2006/relationships/presProps" Target="presProps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Header Placeholder"/>
          <p:cNvSpPr/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rPr/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6" name="Slide Number Placeholder 5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rPr/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6" name="Slide Number Placeholder 5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buNone/>
              <a:defRPr sz="4000" b="1" cap="all"/>
            </a:lvl1pPr>
          </a:lstStyle>
          <a:p>
            <a:r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rPr/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6" name="Slide Number Placeholder 5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rPr/>
            </a:fld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7" name="Slide Number Placeholder 6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buNone/>
              <a:defRPr/>
            </a:lvl1pPr>
          </a:lstStyle>
          <a:p>
            <a:r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rPr/>
            </a:fld>
            <a:endParaRPr/>
          </a:p>
        </p:txBody>
      </p:sp>
      <p:sp>
        <p:nvSpPr>
          <p:cNvPr id="8" name="Footer Placeholder 7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9" name="Slide Number Placeholder 8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rPr/>
            </a:fld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5" name="Slide Number Placeholder 4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/>
      <p:sp>
        <p:nvSpPr>
          <p:cNvPr id="2" name="Date Placeholder 1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rPr/>
            </a:fld>
            <a:endParaRPr/>
          </a:p>
        </p:txBody>
      </p:sp>
      <p:sp>
        <p:nvSpPr>
          <p:cNvPr id="3" name="Footer Placeholder 2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buNone/>
              <a:defRPr sz="2000" b="1"/>
            </a:lvl1pPr>
          </a:lstStyle>
          <a:p>
            <a:r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rPr/>
            </a:fld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7" name="Slide Number Placeholder 6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buNone/>
              <a:defRPr sz="2000" b="1"/>
            </a:lvl1pPr>
          </a:lstStyle>
          <a:p>
            <a:r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/>
        </p:txBody>
      </p:sp>
      <p:sp>
        <p:nvSpPr>
          <p:cNvPr id="4" name="Text Placeholder 3"/>
          <p:cNvSpPr>
            <a:spLocks noGrp="1"/>
          </p:cNvSpPr>
          <p:nvPr>
            <p:ph type="body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rPr/>
            </a:fld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7" name="Slide Number Placeholder 6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idx="1"/>
          </p:nvPr>
        </p:nvSpPr>
        <p:spPr/>
        <p:txBody>
          <a:bodyPr vert="eaVert"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rPr/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6" name="Slide Number Placeholder 5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/>
      <p:sp>
        <p:nvSpPr>
          <p:cNvPr id="2" name="Vertical Title 1"/>
          <p:cNvSpPr>
            <a:spLocks noGrp="1"/>
          </p:cNvSpPr>
          <p:nvPr>
            <p:ph type="title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rPr/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6" name="Slide Number Placeholder 5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rPr/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/>
          <a:p>
            <a:r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>
            <a:normAutofit/>
          </a:bodyPr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/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Slide Number Placeholder 5"/>
          <p:cNvSpPr>
            <a:spLocks noGrp="1"/>
          </p:cNvSpPr>
          <p:nvPr>
            <p:ph type="sldNum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/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342900" indent="-342900" algn="l" defTabSz="457200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marL="742950" indent="-285750" algn="l" defTabSz="457200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 defTabSz="457200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 defTabSz="457200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 defTabSz="457200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 defTabSz="457200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 defTabSz="457200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 defTabSz="457200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 defTabSz="457200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.x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image" Target="../media/image11.png"/><Relationship Id="rId8" Type="http://schemas.openxmlformats.org/officeDocument/2006/relationships/image" Target="../media/image10.png"/><Relationship Id="rId7" Type="http://schemas.openxmlformats.org/officeDocument/2006/relationships/image" Target="../media/image9.png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2" Type="http://schemas.openxmlformats.org/officeDocument/2006/relationships/notesSlide" Target="../notesSlides/notesSlide3.xml"/><Relationship Id="rId11" Type="http://schemas.openxmlformats.org/officeDocument/2006/relationships/slideLayout" Target="../slideLayouts/slideLayout7.xml"/><Relationship Id="rId10" Type="http://schemas.openxmlformats.org/officeDocument/2006/relationships/image" Target="../media/image12.png"/><Relationship Id="rId1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image" Target="../media/image21.png"/><Relationship Id="rId8" Type="http://schemas.openxmlformats.org/officeDocument/2006/relationships/image" Target="../media/image20.png"/><Relationship Id="rId7" Type="http://schemas.openxmlformats.org/officeDocument/2006/relationships/image" Target="../media/image19.png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1" Type="http://schemas.openxmlformats.org/officeDocument/2006/relationships/notesSlide" Target="../notesSlides/notesSlide4.xml"/><Relationship Id="rId10" Type="http://schemas.openxmlformats.org/officeDocument/2006/relationships/slideLayout" Target="../slideLayouts/slideLayout7.xml"/><Relationship Id="rId1" Type="http://schemas.openxmlformats.org/officeDocument/2006/relationships/image" Target="../media/image13.png"/></Relationships>
</file>

<file path=ppt/slides/_rels/slide5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5.xml"/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25.png"/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image" Target="../media/image22.png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7.xml"/><Relationship Id="rId8" Type="http://schemas.openxmlformats.org/officeDocument/2006/relationships/image" Target="../media/image33.png"/><Relationship Id="rId7" Type="http://schemas.openxmlformats.org/officeDocument/2006/relationships/image" Target="../media/image32.png"/><Relationship Id="rId6" Type="http://schemas.openxmlformats.org/officeDocument/2006/relationships/image" Target="../media/image31.png"/><Relationship Id="rId5" Type="http://schemas.openxmlformats.org/officeDocument/2006/relationships/image" Target="../media/image30.png"/><Relationship Id="rId4" Type="http://schemas.openxmlformats.org/officeDocument/2006/relationships/image" Target="../media/image29.png"/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0" Type="http://schemas.openxmlformats.org/officeDocument/2006/relationships/notesSlide" Target="../notesSlides/notesSlide6.xml"/><Relationship Id="rId1" Type="http://schemas.openxmlformats.org/officeDocument/2006/relationships/image" Target="../media/image26.png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image" Target="../media/image42.png"/><Relationship Id="rId8" Type="http://schemas.openxmlformats.org/officeDocument/2006/relationships/image" Target="../media/image41.png"/><Relationship Id="rId7" Type="http://schemas.openxmlformats.org/officeDocument/2006/relationships/image" Target="../media/image40.png"/><Relationship Id="rId6" Type="http://schemas.openxmlformats.org/officeDocument/2006/relationships/image" Target="../media/image39.png"/><Relationship Id="rId5" Type="http://schemas.openxmlformats.org/officeDocument/2006/relationships/image" Target="../media/image38.png"/><Relationship Id="rId4" Type="http://schemas.openxmlformats.org/officeDocument/2006/relationships/image" Target="../media/image37.png"/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1" Type="http://schemas.openxmlformats.org/officeDocument/2006/relationships/notesSlide" Target="../notesSlides/notesSlide7.xml"/><Relationship Id="rId10" Type="http://schemas.openxmlformats.org/officeDocument/2006/relationships/slideLayout" Target="../slideLayouts/slideLayout7.xml"/><Relationship Id="rId1" Type="http://schemas.openxmlformats.org/officeDocument/2006/relationships/image" Target="../media/image34.png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7.xml"/><Relationship Id="rId8" Type="http://schemas.openxmlformats.org/officeDocument/2006/relationships/image" Target="../media/image50.png"/><Relationship Id="rId7" Type="http://schemas.openxmlformats.org/officeDocument/2006/relationships/image" Target="../media/image49.png"/><Relationship Id="rId6" Type="http://schemas.openxmlformats.org/officeDocument/2006/relationships/image" Target="../media/image48.png"/><Relationship Id="rId5" Type="http://schemas.openxmlformats.org/officeDocument/2006/relationships/image" Target="../media/image47.png"/><Relationship Id="rId4" Type="http://schemas.openxmlformats.org/officeDocument/2006/relationships/image" Target="../media/image46.png"/><Relationship Id="rId3" Type="http://schemas.openxmlformats.org/officeDocument/2006/relationships/image" Target="../media/image45.png"/><Relationship Id="rId2" Type="http://schemas.openxmlformats.org/officeDocument/2006/relationships/image" Target="../media/image44.png"/><Relationship Id="rId10" Type="http://schemas.openxmlformats.org/officeDocument/2006/relationships/notesSlide" Target="../notesSlides/notesSlide8.xml"/><Relationship Id="rId1" Type="http://schemas.openxmlformats.org/officeDocument/2006/relationships/image" Target="../media/image43.png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image" Target="../media/image59.png"/><Relationship Id="rId8" Type="http://schemas.openxmlformats.org/officeDocument/2006/relationships/image" Target="../media/image58.png"/><Relationship Id="rId7" Type="http://schemas.openxmlformats.org/officeDocument/2006/relationships/image" Target="../media/image57.png"/><Relationship Id="rId6" Type="http://schemas.openxmlformats.org/officeDocument/2006/relationships/image" Target="../media/image56.png"/><Relationship Id="rId5" Type="http://schemas.openxmlformats.org/officeDocument/2006/relationships/image" Target="../media/image55.png"/><Relationship Id="rId4" Type="http://schemas.openxmlformats.org/officeDocument/2006/relationships/image" Target="../media/image54.png"/><Relationship Id="rId3" Type="http://schemas.openxmlformats.org/officeDocument/2006/relationships/image" Target="../media/image53.png"/><Relationship Id="rId2" Type="http://schemas.openxmlformats.org/officeDocument/2006/relationships/image" Target="../media/image52.png"/><Relationship Id="rId11" Type="http://schemas.openxmlformats.org/officeDocument/2006/relationships/notesSlide" Target="../notesSlides/notesSlide9.xml"/><Relationship Id="rId10" Type="http://schemas.openxmlformats.org/officeDocument/2006/relationships/slideLayout" Target="../slideLayouts/slideLayout7.xml"/><Relationship Id="rId1" Type="http://schemas.openxmlformats.org/officeDocument/2006/relationships/image" Target="../media/image51.png"/></Relationships>
</file>

<file path=ppt/slides/_rels/slide10.xml.rels><?xml version="1.0" encoding="UTF-8" standalone="yes"?>
<Relationships xmlns="http://schemas.openxmlformats.org/package/2006/relationships"><Relationship Id="rId9" Type="http://schemas.openxmlformats.org/officeDocument/2006/relationships/image" Target="../media/image42.png"/><Relationship Id="rId8" Type="http://schemas.openxmlformats.org/officeDocument/2006/relationships/image" Target="../media/image67.png"/><Relationship Id="rId7" Type="http://schemas.openxmlformats.org/officeDocument/2006/relationships/image" Target="../media/image66.png"/><Relationship Id="rId6" Type="http://schemas.openxmlformats.org/officeDocument/2006/relationships/image" Target="../media/image65.png"/><Relationship Id="rId5" Type="http://schemas.openxmlformats.org/officeDocument/2006/relationships/image" Target="../media/image64.png"/><Relationship Id="rId4" Type="http://schemas.openxmlformats.org/officeDocument/2006/relationships/image" Target="../media/image63.png"/><Relationship Id="rId3" Type="http://schemas.openxmlformats.org/officeDocument/2006/relationships/image" Target="../media/image62.png"/><Relationship Id="rId2" Type="http://schemas.openxmlformats.org/officeDocument/2006/relationships/image" Target="../media/image61.png"/><Relationship Id="rId11" Type="http://schemas.openxmlformats.org/officeDocument/2006/relationships/notesSlide" Target="../notesSlides/notesSlide10.xml"/><Relationship Id="rId10" Type="http://schemas.openxmlformats.org/officeDocument/2006/relationships/slideLayout" Target="../slideLayouts/slideLayout7.xml"/><Relationship Id="rId1" Type="http://schemas.openxmlformats.org/officeDocument/2006/relationships/image" Target="../media/image60.png"/></Relationships>
</file>

<file path=ppt/slides/_rels/slide11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11.xml"/><Relationship Id="rId8" Type="http://schemas.openxmlformats.org/officeDocument/2006/relationships/slideLayout" Target="../slideLayouts/slideLayout7.xml"/><Relationship Id="rId7" Type="http://schemas.openxmlformats.org/officeDocument/2006/relationships/image" Target="../media/image74.png"/><Relationship Id="rId6" Type="http://schemas.openxmlformats.org/officeDocument/2006/relationships/image" Target="../media/image73.png"/><Relationship Id="rId5" Type="http://schemas.openxmlformats.org/officeDocument/2006/relationships/image" Target="../media/image72.png"/><Relationship Id="rId4" Type="http://schemas.openxmlformats.org/officeDocument/2006/relationships/image" Target="../media/image71.png"/><Relationship Id="rId3" Type="http://schemas.openxmlformats.org/officeDocument/2006/relationships/image" Target="../media/image70.png"/><Relationship Id="rId2" Type="http://schemas.openxmlformats.org/officeDocument/2006/relationships/image" Target="../media/image69.png"/><Relationship Id="rId1" Type="http://schemas.openxmlformats.org/officeDocument/2006/relationships/image" Target="../media/image68.png"/></Relationships>
</file>

<file path=ppt/slides/_rels/slide12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12.xml"/><Relationship Id="rId8" Type="http://schemas.openxmlformats.org/officeDocument/2006/relationships/slideLayout" Target="../slideLayouts/slideLayout7.xml"/><Relationship Id="rId7" Type="http://schemas.openxmlformats.org/officeDocument/2006/relationships/image" Target="../media/image81.png"/><Relationship Id="rId6" Type="http://schemas.openxmlformats.org/officeDocument/2006/relationships/image" Target="../media/image80.png"/><Relationship Id="rId5" Type="http://schemas.openxmlformats.org/officeDocument/2006/relationships/image" Target="../media/image79.png"/><Relationship Id="rId4" Type="http://schemas.openxmlformats.org/officeDocument/2006/relationships/image" Target="../media/image78.png"/><Relationship Id="rId3" Type="http://schemas.openxmlformats.org/officeDocument/2006/relationships/image" Target="../media/image77.png"/><Relationship Id="rId2" Type="http://schemas.openxmlformats.org/officeDocument/2006/relationships/image" Target="../media/image76.png"/><Relationship Id="rId1" Type="http://schemas.openxmlformats.org/officeDocument/2006/relationships/image" Target="../media/image75.png"/></Relationships>
</file>

<file path=ppt/slides/_rels/slide13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7.xml"/><Relationship Id="rId8" Type="http://schemas.openxmlformats.org/officeDocument/2006/relationships/image" Target="../media/image59.png"/><Relationship Id="rId7" Type="http://schemas.openxmlformats.org/officeDocument/2006/relationships/image" Target="../media/image88.png"/><Relationship Id="rId6" Type="http://schemas.openxmlformats.org/officeDocument/2006/relationships/image" Target="../media/image87.png"/><Relationship Id="rId5" Type="http://schemas.openxmlformats.org/officeDocument/2006/relationships/image" Target="../media/image86.png"/><Relationship Id="rId4" Type="http://schemas.openxmlformats.org/officeDocument/2006/relationships/image" Target="../media/image85.png"/><Relationship Id="rId3" Type="http://schemas.openxmlformats.org/officeDocument/2006/relationships/image" Target="../media/image84.png"/><Relationship Id="rId2" Type="http://schemas.openxmlformats.org/officeDocument/2006/relationships/image" Target="../media/image83.png"/><Relationship Id="rId10" Type="http://schemas.openxmlformats.org/officeDocument/2006/relationships/notesSlide" Target="../notesSlides/notesSlide13.xml"/><Relationship Id="rId1" Type="http://schemas.openxmlformats.org/officeDocument/2006/relationships/image" Target="../media/image82.png"/></Relationships>
</file>

<file path=ppt/slides/_rels/slide14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7.xml"/><Relationship Id="rId8" Type="http://schemas.openxmlformats.org/officeDocument/2006/relationships/image" Target="../media/image96.png"/><Relationship Id="rId7" Type="http://schemas.openxmlformats.org/officeDocument/2006/relationships/image" Target="../media/image95.png"/><Relationship Id="rId6" Type="http://schemas.openxmlformats.org/officeDocument/2006/relationships/image" Target="../media/image94.png"/><Relationship Id="rId5" Type="http://schemas.openxmlformats.org/officeDocument/2006/relationships/image" Target="../media/image93.png"/><Relationship Id="rId4" Type="http://schemas.openxmlformats.org/officeDocument/2006/relationships/image" Target="../media/image92.png"/><Relationship Id="rId3" Type="http://schemas.openxmlformats.org/officeDocument/2006/relationships/image" Target="../media/image91.png"/><Relationship Id="rId2" Type="http://schemas.openxmlformats.org/officeDocument/2006/relationships/image" Target="../media/image90.png"/><Relationship Id="rId10" Type="http://schemas.openxmlformats.org/officeDocument/2006/relationships/notesSlide" Target="../notesSlides/notesSlide14.xml"/><Relationship Id="rId1" Type="http://schemas.openxmlformats.org/officeDocument/2006/relationships/image" Target="../media/image89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97.png"/></Relationships>
</file>

<file path=ppt/slides/_rels/slide1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6.x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99.png"/><Relationship Id="rId1" Type="http://schemas.openxmlformats.org/officeDocument/2006/relationships/image" Target="../media/image9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255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6" name="TextBox 5"/>
          <p:cNvSpPr>
            <a:spLocks noGrp="1"/>
          </p:cNvSpPr>
          <p:nvPr/>
        </p:nvSpPr>
        <p:spPr>
          <a:xfrm>
            <a:off x="952500" y="2381250"/>
            <a:ext cx="10287000" cy="725424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>
            <a:defPPr/>
            <a:lvl1pPr algn="ctr">
              <a:buNone/>
              <a:defRPr/>
            </a:lvl1pPr>
            <a:lvl2pPr algn="ctr">
              <a:buNone/>
              <a:defRPr/>
            </a:lvl2pPr>
            <a:lvl3pPr algn="ctr">
              <a:buNone/>
              <a:defRPr/>
            </a:lvl3pPr>
            <a:lvl4pPr algn="ctr">
              <a:buNone/>
              <a:defRPr/>
            </a:lvl4pPr>
            <a:lvl5pPr algn="ctr">
              <a:buNone/>
              <a:defRPr/>
            </a:lvl5pPr>
            <a:lvl6pPr algn="ctr">
              <a:buNone/>
              <a:defRPr/>
            </a:lvl6pPr>
            <a:lvl7pPr algn="ctr">
              <a:buNone/>
              <a:defRPr/>
            </a:lvl7pPr>
            <a:lvl8pPr algn="ctr">
              <a:buNone/>
              <a:defRPr/>
            </a:lvl8pPr>
            <a:lvl9pPr algn="ctr">
              <a:buNone/>
              <a:defRPr/>
            </a:lvl9pPr>
          </a:lstStyle>
          <a:p>
            <a:pPr algn="ctr">
              <a:spcAft>
                <a:spcPts val="500"/>
              </a:spcAft>
              <a:buNone/>
            </a:pPr>
            <a:r>
              <a:rPr sz="3345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递推式与渐近分析</a:t>
            </a:r>
            <a:endParaRPr sz="3345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TextBox 6"/>
          <p:cNvSpPr>
            <a:spLocks noGrp="1"/>
          </p:cNvSpPr>
          <p:nvPr/>
        </p:nvSpPr>
        <p:spPr>
          <a:xfrm>
            <a:off x="952500" y="3381375"/>
            <a:ext cx="10287000" cy="481584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>
            <a:defPPr/>
            <a:lvl1pPr algn="ctr">
              <a:buNone/>
              <a:defRPr/>
            </a:lvl1pPr>
            <a:lvl2pPr algn="ctr">
              <a:buNone/>
              <a:defRPr/>
            </a:lvl2pPr>
            <a:lvl3pPr algn="ctr">
              <a:buNone/>
              <a:defRPr/>
            </a:lvl3pPr>
            <a:lvl4pPr algn="ctr">
              <a:buNone/>
              <a:defRPr/>
            </a:lvl4pPr>
            <a:lvl5pPr algn="ctr">
              <a:buNone/>
              <a:defRPr/>
            </a:lvl5pPr>
            <a:lvl6pPr algn="ctr">
              <a:buNone/>
              <a:defRPr/>
            </a:lvl6pPr>
            <a:lvl7pPr algn="ctr">
              <a:buNone/>
              <a:defRPr/>
            </a:lvl7pPr>
            <a:lvl8pPr algn="ctr">
              <a:buNone/>
              <a:defRPr/>
            </a:lvl8pPr>
            <a:lvl9pPr algn="ctr">
              <a:buNone/>
              <a:defRPr/>
            </a:lvl9pPr>
          </a:lstStyle>
          <a:p>
            <a:pPr algn="ctr">
              <a:spcAft>
                <a:spcPts val="500"/>
              </a:spcAft>
              <a:buNone/>
            </a:pPr>
            <a:r>
              <a:rPr sz="1935" b="0" i="0">
                <a:solidFill>
                  <a:srgbClr val="BFDBF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算法设计小班课展示 · 习题 4-4</a:t>
            </a:r>
            <a:endParaRPr sz="1935" b="0" i="0">
              <a:solidFill>
                <a:srgbClr val="BFDBF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汇报人员"/>
          <p:cNvSpPr>
            <a:spLocks noGrp="1"/>
          </p:cNvSpPr>
          <p:nvPr/>
        </p:nvSpPr>
        <p:spPr>
          <a:xfrm>
            <a:off x="952500" y="4191000"/>
            <a:ext cx="10287000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ctr">
              <a:defRPr sz="1600">
                <a:solidFill>
                  <a:srgbClr val="CBD5E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ctr">
              <a:defRPr sz="1600">
                <a:solidFill>
                  <a:srgbClr val="CBD5E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ctr">
              <a:defRPr sz="1600">
                <a:solidFill>
                  <a:srgbClr val="CBD5E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ctr">
              <a:defRPr sz="1600">
                <a:solidFill>
                  <a:srgbClr val="CBD5E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ctr">
              <a:defRPr sz="1600">
                <a:solidFill>
                  <a:srgbClr val="CBD5E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ctr">
              <a:defRPr sz="1600">
                <a:solidFill>
                  <a:srgbClr val="CBD5E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ctr">
              <a:defRPr sz="1600">
                <a:solidFill>
                  <a:srgbClr val="CBD5E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ctr">
              <a:defRPr sz="1600">
                <a:solidFill>
                  <a:srgbClr val="CBD5E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ctr">
              <a:defRPr sz="1600">
                <a:solidFill>
                  <a:srgbClr val="CBD5E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ctr">
              <a:defRPr sz="1600">
                <a:solidFill>
                  <a:srgbClr val="CBD5E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ctr">
              <a:defRPr sz="1600">
                <a:solidFill>
                  <a:srgbClr val="CBD5E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00">
                <a:solidFill>
                  <a:srgbClr val="CBD5E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汇报人员：</a:t>
            </a:r>
            <a:r>
              <a:rPr lang="zh-CN" sz="1600">
                <a:solidFill>
                  <a:srgbClr val="CBD5E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及靖涵</a:t>
            </a:r>
            <a:r>
              <a:rPr lang="en-US" altLang="zh-CN" sz="1600">
                <a:solidFill>
                  <a:srgbClr val="CBD5E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 sz="1600">
                <a:solidFill>
                  <a:srgbClr val="CBD5E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曹伟科</a:t>
            </a:r>
            <a:r>
              <a:rPr lang="en-US" altLang="zh-CN" sz="1600">
                <a:solidFill>
                  <a:srgbClr val="CBD5E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 sz="1600">
                <a:solidFill>
                  <a:srgbClr val="CBD5E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宋自信</a:t>
            </a:r>
            <a:endParaRPr lang="zh-CN" altLang="en-US" sz="1600">
              <a:solidFill>
                <a:srgbClr val="CBD5E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>
            <a:spLocks noGrp="1"/>
          </p:cNvSpPr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3" name="TextBox 2"/>
          <p:cNvSpPr>
            <a:spLocks noGrp="1"/>
          </p:cNvSpPr>
          <p:nvPr/>
        </p:nvSpPr>
        <p:spPr>
          <a:xfrm>
            <a:off x="502920" y="292608"/>
            <a:ext cx="10881360" cy="45720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500"/>
              </a:spcAft>
              <a:buNone/>
            </a:pPr>
            <a:r>
              <a:rPr sz="2375" b="1" i="0">
                <a:solidFill>
                  <a:srgbClr val="1725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展示路线</a:t>
            </a:r>
            <a:endParaRPr sz="2375" b="1" i="0">
              <a:solidFill>
                <a:srgbClr val="17255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TextBox 3"/>
          <p:cNvSpPr>
            <a:spLocks noGrp="1"/>
          </p:cNvSpPr>
          <p:nvPr/>
        </p:nvSpPr>
        <p:spPr>
          <a:xfrm>
            <a:off x="530352" y="804672"/>
            <a:ext cx="10972800" cy="329184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500"/>
              </a:spcAft>
              <a:buNone/>
            </a:pPr>
            <a:r>
              <a:rPr sz="1200" b="0" i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概念与方法、九题解析、答案归纳</a:t>
            </a:r>
            <a:endParaRPr sz="1200" b="0" i="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TextBox 4"/>
          <p:cNvSpPr>
            <a:spLocks noGrp="1"/>
          </p:cNvSpPr>
          <p:nvPr/>
        </p:nvSpPr>
        <p:spPr>
          <a:xfrm>
            <a:off x="9555480" y="6510528"/>
            <a:ext cx="2103120" cy="18288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r">
              <a:spcAft>
                <a:spcPts val="500"/>
              </a:spcAft>
              <a:buNone/>
            </a:pPr>
            <a:r>
              <a:rPr sz="900" b="0" i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递推式与渐近分析</a:t>
            </a:r>
            <a:endParaRPr sz="900" b="0" i="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extBox 5"/>
          <p:cNvSpPr>
            <a:spLocks noGrp="1"/>
          </p:cNvSpPr>
          <p:nvPr/>
        </p:nvSpPr>
        <p:spPr>
          <a:xfrm>
            <a:off x="502920" y="6510528"/>
            <a:ext cx="1371600" cy="18288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500"/>
              </a:spcAft>
              <a:buNone/>
            </a:pPr>
            <a:r>
              <a:rPr sz="900" b="0" i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算法设计 · 02</a:t>
            </a:r>
            <a:endParaRPr sz="900" b="0" i="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Rounded Rectangle 6"/>
          <p:cNvSpPr>
            <a:spLocks noGrp="1"/>
          </p:cNvSpPr>
          <p:nvPr/>
        </p:nvSpPr>
        <p:spPr>
          <a:xfrm>
            <a:off x="594360" y="1417320"/>
            <a:ext cx="3520440" cy="1874519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8" name="Rectangle 7"/>
          <p:cNvSpPr>
            <a:spLocks noGrp="1"/>
          </p:cNvSpPr>
          <p:nvPr/>
        </p:nvSpPr>
        <p:spPr>
          <a:xfrm>
            <a:off x="594360" y="1417320"/>
            <a:ext cx="73152" cy="1874519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9" name="TextBox 8"/>
          <p:cNvSpPr>
            <a:spLocks noGrp="1"/>
          </p:cNvSpPr>
          <p:nvPr/>
        </p:nvSpPr>
        <p:spPr>
          <a:xfrm>
            <a:off x="795528" y="1563624"/>
            <a:ext cx="3136392" cy="34747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500"/>
              </a:spcAft>
              <a:buNone/>
            </a:pPr>
            <a:r>
              <a:rPr sz="1600" b="1" i="0">
                <a:solidFill>
                  <a:srgbClr val="1725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01  基础概念</a:t>
            </a:r>
            <a:endParaRPr sz="1600" b="1" i="0">
              <a:solidFill>
                <a:srgbClr val="17255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9"/>
              <p:cNvSpPr>
                <a:spLocks noGrp="1"/>
              </p:cNvSpPr>
              <p:nvPr/>
            </p:nvSpPr>
            <p:spPr>
              <a:xfrm>
                <a:off x="795528" y="1984248"/>
                <a:ext cx="3136392" cy="697484"/>
              </a:xfrm>
              <a:prstGeom prst="rect">
                <a:avLst/>
              </a:prstGeom>
              <a:noFill/>
            </p:spPr>
            <p:txBody>
              <a:bodyPr wrap="square" lIns="73152" tIns="73152" rIns="73152" bIns="73152" anchor="t">
                <a:spAutoFit/>
              </a:bodyPr>
              <a:lstStyle/>
              <a:p>
                <a:pPr algn="l">
                  <a:spcAft>
                    <a:spcPts val="500"/>
                  </a:spcAft>
                  <a:buNone/>
                </a:pPr>
                <a:r>
                  <a:rPr sz="1600" b="0" i="0">
                    <a:solidFill>
                      <a:srgbClr val="1E293B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递推式</a:t>
                </a:r>
                <a:endParaRPr sz="1600" b="0" i="0">
                  <a:solidFill>
                    <a:srgbClr val="1E293B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endParaRPr>
              </a:p>
              <a:p>
                <a:pPr algn="l">
                  <a:spcAft>
                    <a:spcPts val="500"/>
                  </a:spcAft>
                  <a:buNone/>
                </a:pPr>
                <a:r>
                  <a:rPr sz="1600" b="0" i="0">
                    <a:solidFill>
                      <a:srgbClr val="1E293B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O</a:t>
                </a:r>
                <a:r>
                  <a:rPr sz="1600" b="0" i="0">
                    <a:solidFill>
                      <a:srgbClr val="1E293B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、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sz="1600" b="0" i="0">
                        <a:solidFill>
                          <a:srgbClr val="1E293B"/>
                        </a:solidFill>
                        <a:latin typeface="Cambria Math" panose="02040503050406030204"/>
                        <a:ea typeface="Cambria Math" panose="02040503050406030204"/>
                        <a:cs typeface="微软雅黑" panose="020B0503020204020204" charset="-122"/>
                      </a:rPr>
                      <m:t>Ω</m:t>
                    </m:r>
                  </m:oMath>
                </a14:m>
                <a:r>
                  <a:rPr sz="1600" b="0" i="0">
                    <a:solidFill>
                      <a:srgbClr val="1E293B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、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sz="1600" b="0" i="0">
                        <a:solidFill>
                          <a:srgbClr val="1E293B"/>
                        </a:solidFill>
                        <a:latin typeface="Cambria Math" panose="02040503050406030204"/>
                        <a:ea typeface="Cambria Math" panose="02040503050406030204"/>
                        <a:cs typeface="微软雅黑" panose="020B0503020204020204" charset="-122"/>
                      </a:rPr>
                      <m:t>Θ</m:t>
                    </m:r>
                  </m:oMath>
                </a14:m>
                <a:endParaRPr sz="1600"/>
              </a:p>
            </p:txBody>
          </p:sp>
        </mc:Choice>
        <mc:Fallback>
          <p:sp>
            <p:nvSpPr>
              <p:cNvPr id="10" name="TextBox 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5528" y="1984248"/>
                <a:ext cx="3136392" cy="697484"/>
              </a:xfrm>
              <a:prstGeom prst="rect">
                <a:avLst/>
              </a:prstGeom>
              <a:blipFill rotWithShape="1">
                <a:blip r:embed="rId1"/>
                <a:stretch>
                  <a:fillRect l="-16" t="-73" b="1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Rounded Rectangle 10"/>
          <p:cNvSpPr>
            <a:spLocks noGrp="1"/>
          </p:cNvSpPr>
          <p:nvPr/>
        </p:nvSpPr>
        <p:spPr>
          <a:xfrm>
            <a:off x="4343400" y="1417320"/>
            <a:ext cx="3520440" cy="1874519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12" name="Rectangle 11"/>
          <p:cNvSpPr>
            <a:spLocks noGrp="1"/>
          </p:cNvSpPr>
          <p:nvPr/>
        </p:nvSpPr>
        <p:spPr>
          <a:xfrm>
            <a:off x="4343400" y="1417320"/>
            <a:ext cx="73152" cy="1874519"/>
          </a:xfrm>
          <a:prstGeom prst="rect">
            <a:avLst/>
          </a:prstGeom>
          <a:solidFill>
            <a:srgbClr val="0D9488"/>
          </a:solidFill>
          <a:ln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13" name="TextBox 12"/>
          <p:cNvSpPr>
            <a:spLocks noGrp="1"/>
          </p:cNvSpPr>
          <p:nvPr/>
        </p:nvSpPr>
        <p:spPr>
          <a:xfrm>
            <a:off x="4544568" y="1563624"/>
            <a:ext cx="3136392" cy="34747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500"/>
              </a:spcAft>
              <a:buNone/>
            </a:pPr>
            <a:r>
              <a:rPr sz="1600" b="1" i="0">
                <a:solidFill>
                  <a:srgbClr val="1725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02  两种核心方法</a:t>
            </a:r>
            <a:endParaRPr sz="1600" b="1" i="0">
              <a:solidFill>
                <a:srgbClr val="17255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TextBox 13"/>
          <p:cNvSpPr>
            <a:spLocks noGrp="1"/>
          </p:cNvSpPr>
          <p:nvPr/>
        </p:nvSpPr>
        <p:spPr>
          <a:xfrm>
            <a:off x="4544568" y="1984248"/>
            <a:ext cx="3136392" cy="697484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500"/>
              </a:spcAft>
              <a:buNone/>
            </a:pPr>
            <a:r>
              <a:rPr sz="1600" b="0" i="0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主定理：比较增长</a:t>
            </a:r>
            <a:endParaRPr sz="1600" b="0" i="0">
              <a:solidFill>
                <a:srgbClr val="1E293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spcAft>
                <a:spcPts val="500"/>
              </a:spcAft>
              <a:buNone/>
            </a:pPr>
            <a:r>
              <a:rPr sz="1600" b="0" i="0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递归树：逐层求和</a:t>
            </a:r>
            <a:endParaRPr sz="1600" b="0" i="0">
              <a:solidFill>
                <a:srgbClr val="1E293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Rounded Rectangle 14"/>
          <p:cNvSpPr>
            <a:spLocks noGrp="1"/>
          </p:cNvSpPr>
          <p:nvPr/>
        </p:nvSpPr>
        <p:spPr>
          <a:xfrm>
            <a:off x="8092440" y="1417320"/>
            <a:ext cx="3520440" cy="1874519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16" name="Rectangle 15"/>
          <p:cNvSpPr>
            <a:spLocks noGrp="1"/>
          </p:cNvSpPr>
          <p:nvPr/>
        </p:nvSpPr>
        <p:spPr>
          <a:xfrm>
            <a:off x="8092440" y="1417320"/>
            <a:ext cx="73152" cy="1874519"/>
          </a:xfrm>
          <a:prstGeom prst="rect">
            <a:avLst/>
          </a:prstGeom>
          <a:solidFill>
            <a:srgbClr val="EA580C"/>
          </a:solidFill>
          <a:ln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17" name="TextBox 16"/>
          <p:cNvSpPr>
            <a:spLocks noGrp="1"/>
          </p:cNvSpPr>
          <p:nvPr/>
        </p:nvSpPr>
        <p:spPr>
          <a:xfrm>
            <a:off x="8293608" y="1563624"/>
            <a:ext cx="3136392" cy="34747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500"/>
              </a:spcAft>
              <a:buNone/>
            </a:pPr>
            <a:r>
              <a:rPr sz="1600" b="1" i="0">
                <a:solidFill>
                  <a:srgbClr val="1725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03  题目解析</a:t>
            </a:r>
            <a:endParaRPr sz="1600" b="1" i="0">
              <a:solidFill>
                <a:srgbClr val="17255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8" name="TextBox 17"/>
              <p:cNvSpPr>
                <a:spLocks noGrp="1"/>
              </p:cNvSpPr>
              <p:nvPr/>
            </p:nvSpPr>
            <p:spPr>
              <a:xfrm>
                <a:off x="8293608" y="1984248"/>
                <a:ext cx="3136392" cy="697484"/>
              </a:xfrm>
              <a:prstGeom prst="rect">
                <a:avLst/>
              </a:prstGeom>
              <a:noFill/>
            </p:spPr>
            <p:txBody>
              <a:bodyPr wrap="square" lIns="73152" tIns="73152" rIns="73152" bIns="73152" anchor="t">
                <a:spAutoFit/>
              </a:bodyPr>
              <a:lstStyle/>
              <a:p>
                <a:pPr algn="l">
                  <a:spcAft>
                    <a:spcPts val="500"/>
                  </a:spcAft>
                  <a:buNone/>
                </a:pPr>
                <a:r>
                  <a:rPr sz="1600" b="0" i="0">
                    <a:solidFill>
                      <a:srgbClr val="1E293B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a–i 九题</a:t>
                </a:r>
                <a:endParaRPr sz="1600" b="0" i="0">
                  <a:solidFill>
                    <a:srgbClr val="1E293B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endParaRPr>
              </a:p>
              <a:p>
                <a:pPr algn="l">
                  <a:spcAft>
                    <a:spcPts val="500"/>
                  </a:spcAft>
                  <a:buNone/>
                </a:pPr>
                <a:r>
                  <a:rPr sz="1600" b="0" i="0">
                    <a:solidFill>
                      <a:srgbClr val="1E293B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方法、推导与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sz="1600" b="0" i="0">
                        <a:solidFill>
                          <a:srgbClr val="1E293B"/>
                        </a:solidFill>
                        <a:latin typeface="Cambria Math" panose="02040503050406030204"/>
                        <a:ea typeface="Cambria Math" panose="02040503050406030204"/>
                        <a:cs typeface="微软雅黑" panose="020B0503020204020204" charset="-122"/>
                      </a:rPr>
                      <m:t>Θ</m:t>
                    </m:r>
                  </m:oMath>
                </a14:m>
                <a:r>
                  <a:rPr sz="1600" b="0" i="0">
                    <a:solidFill>
                      <a:srgbClr val="1E293B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结果</a:t>
                </a:r>
                <a:endParaRPr sz="1600"/>
              </a:p>
            </p:txBody>
          </p:sp>
        </mc:Choice>
        <mc:Fallback>
          <p:sp>
            <p:nvSpPr>
              <p:cNvPr id="18" name="TextBox 1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93608" y="1984248"/>
                <a:ext cx="3136392" cy="697484"/>
              </a:xfrm>
              <a:prstGeom prst="rect">
                <a:avLst/>
              </a:prstGeom>
              <a:blipFill rotWithShape="1">
                <a:blip r:embed="rId2"/>
                <a:stretch>
                  <a:fillRect l="-16" t="-73" b="1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Rounded Rectangle 18"/>
          <p:cNvSpPr>
            <a:spLocks noGrp="1"/>
          </p:cNvSpPr>
          <p:nvPr/>
        </p:nvSpPr>
        <p:spPr>
          <a:xfrm>
            <a:off x="822960" y="3840480"/>
            <a:ext cx="10561320" cy="1371600"/>
          </a:xfrm>
          <a:prstGeom prst="roundRect">
            <a:avLst>
              <a:gd name="adj" fmla="val 12000"/>
            </a:avLst>
          </a:prstGeom>
          <a:solidFill>
            <a:srgbClr val="DBEAFE"/>
          </a:solidFill>
          <a:ln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20" name="TextBox 19"/>
          <p:cNvSpPr>
            <a:spLocks noGrp="1"/>
          </p:cNvSpPr>
          <p:nvPr/>
        </p:nvSpPr>
        <p:spPr>
          <a:xfrm>
            <a:off x="1097280" y="4133087"/>
            <a:ext cx="10012680" cy="49682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>
              <a:spcAft>
                <a:spcPts val="500"/>
              </a:spcAft>
              <a:buNone/>
            </a:pPr>
            <a:r>
              <a:rPr sz="2025" b="1" i="0">
                <a:solidFill>
                  <a:srgbClr val="1725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目标：说清方法，写出紧确渐近界</a:t>
            </a:r>
            <a:endParaRPr sz="2025" b="1" i="0">
              <a:solidFill>
                <a:srgbClr val="17255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>
            <a:spLocks noGrp="1"/>
          </p:cNvSpPr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3" name="TextBox 2"/>
          <p:cNvSpPr>
            <a:spLocks noGrp="1"/>
          </p:cNvSpPr>
          <p:nvPr/>
        </p:nvSpPr>
        <p:spPr>
          <a:xfrm>
            <a:off x="502920" y="292608"/>
            <a:ext cx="10881360" cy="45720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500"/>
              </a:spcAft>
              <a:buNone/>
            </a:pPr>
            <a:r>
              <a:rPr sz="2375" b="1" i="0">
                <a:solidFill>
                  <a:srgbClr val="1725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一、递推式与渐近界</a:t>
            </a:r>
            <a:endParaRPr sz="2375" b="1" i="0">
              <a:solidFill>
                <a:srgbClr val="17255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/>
              <p:cNvSpPr>
                <a:spLocks noGrp="1"/>
              </p:cNvSpPr>
              <p:nvPr/>
            </p:nvSpPr>
            <p:spPr>
              <a:xfrm>
                <a:off x="530352" y="804672"/>
                <a:ext cx="10972800" cy="329184"/>
              </a:xfrm>
              <a:prstGeom prst="rect">
                <a:avLst/>
              </a:prstGeom>
              <a:noFill/>
            </p:spPr>
            <p:txBody>
              <a:bodyPr wrap="square" lIns="73152" tIns="73152" rIns="73152" bIns="73152" anchor="t">
                <a:spAutoFit/>
              </a:bodyPr>
              <a:lstStyle/>
              <a:p>
                <a:pPr algn="l">
                  <a:spcAft>
                    <a:spcPts val="500"/>
                  </a:spcAft>
                  <a:buNone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sz="1200" b="0" i="0">
                        <a:solidFill>
                          <a:srgbClr val="64748B"/>
                        </a:solidFill>
                        <a:latin typeface="Cambria Math" panose="02040503050406030204"/>
                        <a:ea typeface="Cambria Math" panose="02040503050406030204"/>
                        <a:cs typeface="微软雅黑" panose="020B0503020204020204" charset="-122"/>
                      </a:rPr>
                      <m:t>lg</m:t>
                    </m:r>
                  </m:oMath>
                </a14:m>
                <a:r>
                  <a:rPr sz="1200" b="0" i="0">
                    <a:solidFill>
                      <a:srgbClr val="64748B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表示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sz="1200" b="0" i="0">
                            <a:solidFill>
                              <a:srgbClr val="64748B"/>
                            </a:solidFill>
                            <a:latin typeface="Cambria Math" panose="02040503050406030204"/>
                            <a:ea typeface="微软雅黑" panose="020B0503020204020204" charset="-122"/>
                            <a:cs typeface="微软雅黑" panose="020B0503020204020204" charset="-122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sz="1200" b="0" i="0">
                            <a:solidFill>
                              <a:srgbClr val="64748B"/>
                            </a:solidFill>
                            <a:latin typeface="Cambria Math" panose="02040503050406030204"/>
                            <a:ea typeface="Cambria Math" panose="02040503050406030204"/>
                            <a:cs typeface="微软雅黑" panose="020B0503020204020204" charset="-122"/>
                          </a:rPr>
                          <m:t>log</m:t>
                        </m:r>
                      </m:e>
                      <m:sub>
                        <m:r>
                          <a:rPr sz="1200" b="0" i="0">
                            <a:solidFill>
                              <a:srgbClr val="64748B"/>
                            </a:solidFill>
                            <a:latin typeface="Cambria Math" panose="02040503050406030204"/>
                            <a:ea typeface="Cambria Math" panose="02040503050406030204"/>
                            <a:cs typeface="微软雅黑" panose="020B0503020204020204" charset="-122"/>
                          </a:rPr>
                          <m:t>2</m:t>
                        </m:r>
                      </m:sub>
                    </m:sSub>
                  </m:oMath>
                </a14:m>
                <a:r>
                  <a:rPr sz="1200" b="0" i="0">
                    <a:solidFill>
                      <a:srgbClr val="64748B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。常数规模时，设</a:t>
                </a:r>
                <a14:m>
                  <m:oMath xmlns:m="http://schemas.openxmlformats.org/officeDocument/2006/math">
                    <m:r>
                      <a:rPr sz="1200" b="0" i="1">
                        <a:solidFill>
                          <a:srgbClr val="64748B"/>
                        </a:solidFill>
                        <a:latin typeface="Cambria Math" panose="02040503050406030204"/>
                        <a:ea typeface="Cambria Math" panose="02040503050406030204"/>
                        <a:cs typeface="微软雅黑" panose="020B0503020204020204" charset="-122"/>
                      </a:rPr>
                      <m:t>𝑇</m:t>
                    </m:r>
                    <m:d>
                      <m:dPr>
                        <m:ctrlPr>
                          <a:rPr sz="1200" b="0" i="0">
                            <a:solidFill>
                              <a:srgbClr val="64748B"/>
                            </a:solidFill>
                            <a:latin typeface="Cambria Math" panose="02040503050406030204"/>
                            <a:ea typeface="微软雅黑" panose="020B0503020204020204" charset="-122"/>
                            <a:cs typeface="微软雅黑" panose="020B0503020204020204" charset="-122"/>
                          </a:rPr>
                        </m:ctrlPr>
                      </m:dPr>
                      <m:e>
                        <m:r>
                          <a:rPr sz="1200" b="0" i="1">
                            <a:solidFill>
                              <a:srgbClr val="64748B"/>
                            </a:solidFill>
                            <a:latin typeface="Cambria Math" panose="02040503050406030204"/>
                            <a:ea typeface="Cambria Math" panose="02040503050406030204"/>
                            <a:cs typeface="微软雅黑" panose="020B0503020204020204" charset="-122"/>
                          </a:rPr>
                          <m:t>𝑛</m:t>
                        </m:r>
                      </m:e>
                    </m:d>
                    <m:r>
                      <a:rPr sz="1200" b="0" i="0">
                        <a:solidFill>
                          <a:srgbClr val="64748B"/>
                        </a:solidFill>
                        <a:latin typeface="Cambria Math" panose="02040503050406030204"/>
                        <a:ea typeface="Cambria Math" panose="02040503050406030204"/>
                        <a:cs typeface="微软雅黑" panose="020B0503020204020204" charset="-122"/>
                      </a:rPr>
                      <m:t>=</m:t>
                    </m:r>
                    <m:r>
                      <m:rPr>
                        <m:sty m:val="p"/>
                      </m:rPr>
                      <a:rPr sz="1200" b="0" i="0">
                        <a:solidFill>
                          <a:srgbClr val="64748B"/>
                        </a:solidFill>
                        <a:latin typeface="Cambria Math" panose="02040503050406030204"/>
                        <a:ea typeface="Cambria Math" panose="02040503050406030204"/>
                        <a:cs typeface="微软雅黑" panose="020B0503020204020204" charset="-122"/>
                      </a:rPr>
                      <m:t>Θ</m:t>
                    </m:r>
                    <m:d>
                      <m:dPr>
                        <m:ctrlPr>
                          <a:rPr sz="1200" b="0" i="0">
                            <a:solidFill>
                              <a:srgbClr val="64748B"/>
                            </a:solidFill>
                            <a:latin typeface="Cambria Math" panose="02040503050406030204"/>
                            <a:ea typeface="微软雅黑" panose="020B0503020204020204" charset="-122"/>
                            <a:cs typeface="微软雅黑" panose="020B0503020204020204" charset="-122"/>
                          </a:rPr>
                        </m:ctrlPr>
                      </m:dPr>
                      <m:e>
                        <m:r>
                          <a:rPr sz="1200" b="0" i="0">
                            <a:solidFill>
                              <a:srgbClr val="64748B"/>
                            </a:solidFill>
                            <a:latin typeface="Cambria Math" panose="02040503050406030204"/>
                            <a:ea typeface="Cambria Math" panose="02040503050406030204"/>
                            <a:cs typeface="微软雅黑" panose="020B0503020204020204" charset="-122"/>
                          </a:rPr>
                          <m:t>1</m:t>
                        </m:r>
                      </m:e>
                    </m:d>
                  </m:oMath>
                </a14:m>
                <a:r>
                  <a:rPr sz="1200" b="0" i="0">
                    <a:solidFill>
                      <a:srgbClr val="64748B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。</a:t>
                </a:r>
                <a:endParaRPr sz="1200"/>
              </a:p>
            </p:txBody>
          </p:sp>
        </mc:Choice>
        <mc:Fallback>
          <p:sp>
            <p:nvSpPr>
              <p:cNvPr id="4" name="TextBox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0352" y="804672"/>
                <a:ext cx="10972800" cy="329184"/>
              </a:xfrm>
              <a:prstGeom prst="rect">
                <a:avLst/>
              </a:prstGeom>
              <a:blipFill rotWithShape="1">
                <a:blip r:embed="rId1"/>
                <a:stretch>
                  <a:fillRect l="-1" t="-39" r="1" b="11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/>
          <p:cNvSpPr>
            <a:spLocks noGrp="1"/>
          </p:cNvSpPr>
          <p:nvPr/>
        </p:nvSpPr>
        <p:spPr>
          <a:xfrm>
            <a:off x="9555480" y="6510528"/>
            <a:ext cx="2103120" cy="18288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r">
              <a:spcAft>
                <a:spcPts val="500"/>
              </a:spcAft>
              <a:buNone/>
            </a:pPr>
            <a:r>
              <a:rPr sz="900" b="0" i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递推式与渐近分析</a:t>
            </a:r>
            <a:endParaRPr sz="900" b="0" i="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extBox 5"/>
          <p:cNvSpPr>
            <a:spLocks noGrp="1"/>
          </p:cNvSpPr>
          <p:nvPr/>
        </p:nvSpPr>
        <p:spPr>
          <a:xfrm>
            <a:off x="502920" y="6510528"/>
            <a:ext cx="1371600" cy="18288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500"/>
              </a:spcAft>
              <a:buNone/>
            </a:pPr>
            <a:r>
              <a:rPr sz="900" b="0" i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算法设计 · 03</a:t>
            </a:r>
            <a:endParaRPr sz="900" b="0" i="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Rounded Rectangle 6"/>
          <p:cNvSpPr>
            <a:spLocks noGrp="1"/>
          </p:cNvSpPr>
          <p:nvPr/>
        </p:nvSpPr>
        <p:spPr>
          <a:xfrm>
            <a:off x="685800" y="1417320"/>
            <a:ext cx="5212080" cy="1143000"/>
          </a:xfrm>
          <a:prstGeom prst="roundRect">
            <a:avLst>
              <a:gd name="adj" fmla="val 12000"/>
            </a:avLst>
          </a:prstGeom>
          <a:solidFill>
            <a:srgbClr val="DBEAFE"/>
          </a:solidFill>
          <a:ln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/>
              <p:cNvSpPr>
                <a:spLocks noGrp="1"/>
              </p:cNvSpPr>
              <p:nvPr/>
            </p:nvSpPr>
            <p:spPr>
              <a:xfrm>
                <a:off x="795528" y="1527048"/>
                <a:ext cx="4992624" cy="548640"/>
              </a:xfrm>
              <a:prstGeom prst="rect">
                <a:avLst/>
              </a:prstGeom>
              <a:noFill/>
            </p:spPr>
            <p:txBody>
              <a:bodyPr wrap="square" lIns="73152" tIns="73152" rIns="73152" bIns="73152" anchor="ctr">
                <a:spAutoFit/>
              </a:bodyPr>
              <a:lstStyle/>
              <a:p>
                <a:pPr algn="ctr">
                  <a:spcAft>
                    <a:spcPts val="5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sz="1760" b="1" i="1">
                          <a:solidFill>
                            <a:srgbClr val="172554"/>
                          </a:solidFill>
                          <a:latin typeface="Cambria Math" panose="02040503050406030204"/>
                          <a:ea typeface="Cambria Math" panose="02040503050406030204"/>
                          <a:cs typeface="微软雅黑" panose="020B0503020204020204" charset="-122"/>
                        </a:rPr>
                        <m:t>𝑇</m:t>
                      </m:r>
                      <m:d>
                        <m:dPr>
                          <m:ctrlPr>
                            <a:rPr sz="1760" b="1" i="0">
                              <a:solidFill>
                                <a:srgbClr val="172554"/>
                              </a:solidFill>
                              <a:latin typeface="Cambria Math" panose="02040503050406030204"/>
                              <a:ea typeface="微软雅黑" panose="020B0503020204020204" charset="-122"/>
                              <a:cs typeface="微软雅黑" panose="020B0503020204020204" charset="-122"/>
                            </a:rPr>
                          </m:ctrlPr>
                        </m:dPr>
                        <m:e>
                          <m:r>
                            <a:rPr sz="1760" b="1" i="1">
                              <a:solidFill>
                                <a:srgbClr val="172554"/>
                              </a:solidFill>
                              <a:latin typeface="Cambria Math" panose="02040503050406030204"/>
                              <a:ea typeface="Cambria Math" panose="02040503050406030204"/>
                              <a:cs typeface="微软雅黑" panose="020B0503020204020204" charset="-122"/>
                            </a:rPr>
                            <m:t>𝑛</m:t>
                          </m:r>
                        </m:e>
                      </m:d>
                      <m:r>
                        <a:rPr sz="1760" b="1" i="0">
                          <a:solidFill>
                            <a:srgbClr val="172554"/>
                          </a:solidFill>
                          <a:latin typeface="Cambria Math" panose="02040503050406030204"/>
                          <a:ea typeface="Cambria Math" panose="02040503050406030204"/>
                          <a:cs typeface="微软雅黑" panose="020B0503020204020204" charset="-122"/>
                        </a:rPr>
                        <m:t>=</m:t>
                      </m:r>
                      <m:r>
                        <a:rPr sz="1760" b="1" i="1">
                          <a:solidFill>
                            <a:srgbClr val="172554"/>
                          </a:solidFill>
                          <a:latin typeface="Cambria Math" panose="02040503050406030204"/>
                          <a:ea typeface="Cambria Math" panose="02040503050406030204"/>
                          <a:cs typeface="微软雅黑" panose="020B0503020204020204" charset="-122"/>
                        </a:rPr>
                        <m:t>𝑎</m:t>
                      </m:r>
                      <m:r>
                        <a:rPr sz="1760" b="1" i="1">
                          <a:solidFill>
                            <a:srgbClr val="172554"/>
                          </a:solidFill>
                          <a:latin typeface="Cambria Math" panose="02040503050406030204"/>
                          <a:ea typeface="Cambria Math" panose="02040503050406030204"/>
                          <a:cs typeface="微软雅黑" panose="020B0503020204020204" charset="-122"/>
                        </a:rPr>
                        <m:t>𝑇</m:t>
                      </m:r>
                      <m:d>
                        <m:dPr>
                          <m:ctrlPr>
                            <a:rPr sz="1760" b="1" i="0">
                              <a:solidFill>
                                <a:srgbClr val="172554"/>
                              </a:solidFill>
                              <a:latin typeface="Cambria Math" panose="02040503050406030204"/>
                              <a:ea typeface="微软雅黑" panose="020B0503020204020204" charset="-122"/>
                              <a:cs typeface="微软雅黑" panose="020B0503020204020204" charset="-122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sz="1760" b="1" i="0">
                                  <a:solidFill>
                                    <a:srgbClr val="172554"/>
                                  </a:solidFill>
                                  <a:latin typeface="Cambria Math" panose="02040503050406030204"/>
                                  <a:ea typeface="微软雅黑" panose="020B0503020204020204" charset="-122"/>
                                  <a:cs typeface="微软雅黑" panose="020B0503020204020204" charset="-122"/>
                                </a:rPr>
                              </m:ctrlPr>
                            </m:fPr>
                            <m:num>
                              <m:r>
                                <a:rPr sz="1760" b="1" i="1">
                                  <a:solidFill>
                                    <a:srgbClr val="172554"/>
                                  </a:solidFill>
                                  <a:latin typeface="Cambria Math" panose="02040503050406030204"/>
                                  <a:ea typeface="Cambria Math" panose="02040503050406030204"/>
                                  <a:cs typeface="微软雅黑" panose="020B0503020204020204" charset="-122"/>
                                </a:rPr>
                                <m:t>𝑛</m:t>
                              </m:r>
                            </m:num>
                            <m:den>
                              <m:r>
                                <a:rPr sz="1760" b="1" i="1">
                                  <a:solidFill>
                                    <a:srgbClr val="172554"/>
                                  </a:solidFill>
                                  <a:latin typeface="Cambria Math" panose="02040503050406030204"/>
                                  <a:ea typeface="Cambria Math" panose="02040503050406030204"/>
                                  <a:cs typeface="微软雅黑" panose="020B0503020204020204" charset="-122"/>
                                </a:rPr>
                                <m:t>𝑏</m:t>
                              </m:r>
                            </m:den>
                          </m:f>
                        </m:e>
                      </m:d>
                      <m:r>
                        <a:rPr sz="1760" b="1" i="0">
                          <a:solidFill>
                            <a:srgbClr val="172554"/>
                          </a:solidFill>
                          <a:latin typeface="Cambria Math" panose="02040503050406030204"/>
                          <a:ea typeface="Cambria Math" panose="02040503050406030204"/>
                          <a:cs typeface="微软雅黑" panose="020B0503020204020204" charset="-122"/>
                        </a:rPr>
                        <m:t>+</m:t>
                      </m:r>
                      <m:r>
                        <a:rPr sz="1760" b="1" i="1">
                          <a:solidFill>
                            <a:srgbClr val="172554"/>
                          </a:solidFill>
                          <a:latin typeface="Cambria Math" panose="02040503050406030204"/>
                          <a:ea typeface="Cambria Math" panose="02040503050406030204"/>
                          <a:cs typeface="微软雅黑" panose="020B0503020204020204" charset="-122"/>
                        </a:rPr>
                        <m:t>𝑓</m:t>
                      </m:r>
                      <m:d>
                        <m:dPr>
                          <m:ctrlPr>
                            <a:rPr sz="1760" b="1" i="0">
                              <a:solidFill>
                                <a:srgbClr val="172554"/>
                              </a:solidFill>
                              <a:latin typeface="Cambria Math" panose="02040503050406030204"/>
                              <a:ea typeface="微软雅黑" panose="020B0503020204020204" charset="-122"/>
                              <a:cs typeface="微软雅黑" panose="020B0503020204020204" charset="-122"/>
                            </a:rPr>
                          </m:ctrlPr>
                        </m:dPr>
                        <m:e>
                          <m:r>
                            <a:rPr sz="1760" b="1" i="1">
                              <a:solidFill>
                                <a:srgbClr val="172554"/>
                              </a:solidFill>
                              <a:latin typeface="Cambria Math" panose="02040503050406030204"/>
                              <a:ea typeface="Cambria Math" panose="02040503050406030204"/>
                              <a:cs typeface="微软雅黑" panose="020B0503020204020204" charset="-122"/>
                            </a:rPr>
                            <m:t>𝑛</m:t>
                          </m:r>
                        </m:e>
                      </m:d>
                    </m:oMath>
                  </m:oMathPara>
                </a14:m>
                <a:endParaRPr sz="1760"/>
              </a:p>
            </p:txBody>
          </p:sp>
        </mc:Choice>
        <mc:Fallback>
          <p:sp>
            <p:nvSpPr>
              <p:cNvPr id="8" name="TextBox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5528" y="1527048"/>
                <a:ext cx="4992624" cy="548640"/>
              </a:xfrm>
              <a:prstGeom prst="rect">
                <a:avLst/>
              </a:prstGeom>
              <a:blipFill rotWithShape="1">
                <a:blip r:embed="rId2"/>
                <a:stretch>
                  <a:fillRect l="-10" t="-93" r="3" b="9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/>
              <p:cNvSpPr>
                <a:spLocks noGrp="1"/>
              </p:cNvSpPr>
              <p:nvPr/>
            </p:nvSpPr>
            <p:spPr>
              <a:xfrm>
                <a:off x="795528" y="2011680"/>
                <a:ext cx="4992624" cy="636524"/>
              </a:xfrm>
              <a:prstGeom prst="rect">
                <a:avLst/>
              </a:prstGeom>
              <a:noFill/>
            </p:spPr>
            <p:txBody>
              <a:bodyPr wrap="square" lIns="73152" tIns="73152" rIns="73152" bIns="73152" anchor="ctr">
                <a:spAutoFit/>
              </a:bodyPr>
              <a:lstStyle/>
              <a:p>
                <a:pPr algn="ctr">
                  <a:spcAft>
                    <a:spcPts val="500"/>
                  </a:spcAft>
                  <a:buNone/>
                </a:pPr>
                <a:r>
                  <a:rPr sz="1400" b="1" i="0">
                    <a:solidFill>
                      <a:srgbClr val="2563EB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a：子问题数    b：缩小倍数</a:t>
                </a:r>
                <a:endParaRPr sz="1400" b="1" i="0">
                  <a:solidFill>
                    <a:srgbClr val="2563EB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endParaRPr>
              </a:p>
              <a:p>
                <a:pPr algn="ctr">
                  <a:spcAft>
                    <a:spcPts val="500"/>
                  </a:spcAft>
                  <a:buNone/>
                </a:pPr>
                <a14:m>
                  <m:oMath xmlns:m="http://schemas.openxmlformats.org/officeDocument/2006/math">
                    <m:r>
                      <a:rPr sz="1400" b="1" i="1">
                        <a:solidFill>
                          <a:srgbClr val="2563EB"/>
                        </a:solidFill>
                        <a:latin typeface="Cambria Math" panose="02040503050406030204"/>
                        <a:ea typeface="Cambria Math" panose="02040503050406030204"/>
                        <a:cs typeface="微软雅黑" panose="020B0503020204020204" charset="-122"/>
                      </a:rPr>
                      <m:t>𝑓</m:t>
                    </m:r>
                    <m:d>
                      <m:dPr>
                        <m:ctrlPr>
                          <a:rPr sz="1400" b="1" i="0">
                            <a:solidFill>
                              <a:srgbClr val="2563EB"/>
                            </a:solidFill>
                            <a:latin typeface="Cambria Math" panose="02040503050406030204"/>
                            <a:ea typeface="微软雅黑" panose="020B0503020204020204" charset="-122"/>
                            <a:cs typeface="微软雅黑" panose="020B0503020204020204" charset="-122"/>
                          </a:rPr>
                        </m:ctrlPr>
                      </m:dPr>
                      <m:e>
                        <m:r>
                          <a:rPr sz="1400" b="1" i="1">
                            <a:solidFill>
                              <a:srgbClr val="2563EB"/>
                            </a:solidFill>
                            <a:latin typeface="Cambria Math" panose="02040503050406030204"/>
                            <a:ea typeface="Cambria Math" panose="02040503050406030204"/>
                            <a:cs typeface="微软雅黑" panose="020B0503020204020204" charset="-122"/>
                          </a:rPr>
                          <m:t>𝑛</m:t>
                        </m:r>
                      </m:e>
                    </m:d>
                  </m:oMath>
                </a14:m>
                <a:r>
                  <a:rPr sz="1400" b="1" i="0">
                    <a:solidFill>
                      <a:srgbClr val="2563EB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：本层额外工作</a:t>
                </a:r>
                <a:endParaRPr sz="1400"/>
              </a:p>
            </p:txBody>
          </p:sp>
        </mc:Choice>
        <mc:Fallback>
          <p:sp>
            <p:nvSpPr>
              <p:cNvPr id="9" name="TextBox 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5528" y="2011680"/>
                <a:ext cx="4992624" cy="636524"/>
              </a:xfrm>
              <a:prstGeom prst="rect">
                <a:avLst/>
              </a:prstGeom>
              <a:blipFill rotWithShape="1">
                <a:blip r:embed="rId3"/>
                <a:stretch>
                  <a:fillRect l="-10" r="3" b="4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Rounded Rectangle 9"/>
          <p:cNvSpPr>
            <a:spLocks noGrp="1"/>
          </p:cNvSpPr>
          <p:nvPr/>
        </p:nvSpPr>
        <p:spPr>
          <a:xfrm>
            <a:off x="6217920" y="1325880"/>
            <a:ext cx="5212080" cy="10058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11" name="Rectangle 10"/>
          <p:cNvSpPr>
            <a:spLocks noGrp="1"/>
          </p:cNvSpPr>
          <p:nvPr/>
        </p:nvSpPr>
        <p:spPr>
          <a:xfrm>
            <a:off x="6217920" y="1325880"/>
            <a:ext cx="73152" cy="1005840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2" name="TextBox 11"/>
              <p:cNvSpPr>
                <a:spLocks noGrp="1"/>
              </p:cNvSpPr>
              <p:nvPr/>
            </p:nvSpPr>
            <p:spPr>
              <a:xfrm>
                <a:off x="6419088" y="1472184"/>
                <a:ext cx="4828032" cy="347472"/>
              </a:xfrm>
              <a:prstGeom prst="rect">
                <a:avLst/>
              </a:prstGeom>
              <a:noFill/>
            </p:spPr>
            <p:txBody>
              <a:bodyPr wrap="square" lIns="73152" tIns="73152" rIns="73152" bIns="73152" anchor="t">
                <a:spAutoFit/>
              </a:bodyPr>
              <a:lstStyle/>
              <a:p>
                <a:pPr algn="l">
                  <a:spcAft>
                    <a:spcPts val="500"/>
                  </a:spcAft>
                  <a:buNone/>
                </a:pPr>
                <a14:m>
                  <m:oMath xmlns:m="http://schemas.openxmlformats.org/officeDocument/2006/math">
                    <m:r>
                      <a:rPr sz="1600" b="1" i="1">
                        <a:solidFill>
                          <a:srgbClr val="172554"/>
                        </a:solidFill>
                        <a:latin typeface="Cambria Math" panose="02040503050406030204"/>
                        <a:ea typeface="Cambria Math" panose="02040503050406030204"/>
                        <a:cs typeface="微软雅黑" panose="020B0503020204020204" charset="-122"/>
                      </a:rPr>
                      <m:t>𝑂</m:t>
                    </m:r>
                    <m:d>
                      <m:dPr>
                        <m:ctrlPr>
                          <a:rPr sz="1600" b="1" i="0">
                            <a:solidFill>
                              <a:srgbClr val="172554"/>
                            </a:solidFill>
                            <a:latin typeface="Cambria Math" panose="02040503050406030204"/>
                            <a:ea typeface="微软雅黑" panose="020B0503020204020204" charset="-122"/>
                            <a:cs typeface="微软雅黑" panose="020B0503020204020204" charset="-122"/>
                          </a:rPr>
                        </m:ctrlPr>
                      </m:dPr>
                      <m:e>
                        <m:r>
                          <a:rPr sz="1600" b="1" i="1">
                            <a:solidFill>
                              <a:srgbClr val="172554"/>
                            </a:solidFill>
                            <a:latin typeface="Cambria Math" panose="02040503050406030204"/>
                            <a:ea typeface="Cambria Math" panose="02040503050406030204"/>
                            <a:cs typeface="微软雅黑" panose="020B0503020204020204" charset="-122"/>
                          </a:rPr>
                          <m:t>𝑔</m:t>
                        </m:r>
                        <m:d>
                          <m:dPr>
                            <m:ctrlPr>
                              <a:rPr sz="1600" b="1" i="0">
                                <a:solidFill>
                                  <a:srgbClr val="172554"/>
                                </a:solidFill>
                                <a:latin typeface="Cambria Math" panose="02040503050406030204"/>
                                <a:ea typeface="微软雅黑" panose="020B0503020204020204" charset="-122"/>
                                <a:cs typeface="微软雅黑" panose="020B0503020204020204" charset="-122"/>
                              </a:rPr>
                            </m:ctrlPr>
                          </m:dPr>
                          <m:e>
                            <m:r>
                              <a:rPr sz="1600" b="1" i="1">
                                <a:solidFill>
                                  <a:srgbClr val="172554"/>
                                </a:solidFill>
                                <a:latin typeface="Cambria Math" panose="02040503050406030204"/>
                                <a:ea typeface="Cambria Math" panose="02040503050406030204"/>
                                <a:cs typeface="微软雅黑" panose="020B0503020204020204" charset="-122"/>
                              </a:rPr>
                              <m:t>𝑛</m:t>
                            </m:r>
                          </m:e>
                        </m:d>
                      </m:e>
                    </m:d>
                  </m:oMath>
                </a14:m>
                <a:r>
                  <a:rPr sz="1600" b="1" i="0">
                    <a:solidFill>
                      <a:srgbClr val="172554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：渐近上界</a:t>
                </a:r>
                <a:endParaRPr sz="1600"/>
              </a:p>
            </p:txBody>
          </p:sp>
        </mc:Choice>
        <mc:Fallback>
          <p:sp>
            <p:nvSpPr>
              <p:cNvPr id="12" name="TextBox 1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19088" y="1472184"/>
                <a:ext cx="4828032" cy="347472"/>
              </a:xfrm>
              <a:prstGeom prst="rect">
                <a:avLst/>
              </a:prstGeom>
              <a:blipFill rotWithShape="1">
                <a:blip r:embed="rId4"/>
                <a:stretch>
                  <a:fillRect l="-11" t="-73" b="-592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3" name="TextBox 12"/>
              <p:cNvSpPr>
                <a:spLocks noGrp="1"/>
              </p:cNvSpPr>
              <p:nvPr/>
            </p:nvSpPr>
            <p:spPr>
              <a:xfrm>
                <a:off x="6419088" y="1892807"/>
                <a:ext cx="4828032" cy="359664"/>
              </a:xfrm>
              <a:prstGeom prst="rect">
                <a:avLst/>
              </a:prstGeom>
              <a:noFill/>
            </p:spPr>
            <p:txBody>
              <a:bodyPr wrap="square" lIns="73152" tIns="73152" rIns="73152" bIns="73152" anchor="t">
                <a:spAutoFit/>
              </a:bodyPr>
              <a:lstStyle/>
              <a:p>
                <a:pPr algn="l">
                  <a:spcAft>
                    <a:spcPts val="500"/>
                  </a:spcAft>
                  <a:buNone/>
                </a:pPr>
                <a:r>
                  <a:rPr sz="1400" b="0" i="0">
                    <a:solidFill>
                      <a:srgbClr val="1E293B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充分大时，</a:t>
                </a:r>
                <a14:m>
                  <m:oMath xmlns:m="http://schemas.openxmlformats.org/officeDocument/2006/math">
                    <m:r>
                      <a:rPr sz="1400" b="0" i="1">
                        <a:solidFill>
                          <a:srgbClr val="1E293B"/>
                        </a:solidFill>
                        <a:latin typeface="Cambria Math" panose="02040503050406030204"/>
                        <a:ea typeface="Cambria Math" panose="02040503050406030204"/>
                        <a:cs typeface="微软雅黑" panose="020B0503020204020204" charset="-122"/>
                      </a:rPr>
                      <m:t>𝑇</m:t>
                    </m:r>
                    <m:d>
                      <m:dPr>
                        <m:ctrlPr>
                          <a:rPr sz="1400" b="0" i="0">
                            <a:solidFill>
                              <a:srgbClr val="1E293B"/>
                            </a:solidFill>
                            <a:latin typeface="Cambria Math" panose="02040503050406030204"/>
                            <a:ea typeface="微软雅黑" panose="020B0503020204020204" charset="-122"/>
                            <a:cs typeface="微软雅黑" panose="020B0503020204020204" charset="-122"/>
                          </a:rPr>
                        </m:ctrlPr>
                      </m:dPr>
                      <m:e>
                        <m:r>
                          <a:rPr sz="1400" b="0" i="1">
                            <a:solidFill>
                              <a:srgbClr val="1E293B"/>
                            </a:solidFill>
                            <a:latin typeface="Cambria Math" panose="02040503050406030204"/>
                            <a:ea typeface="Cambria Math" panose="02040503050406030204"/>
                            <a:cs typeface="微软雅黑" panose="020B0503020204020204" charset="-122"/>
                          </a:rPr>
                          <m:t>𝑛</m:t>
                        </m:r>
                      </m:e>
                    </m:d>
                    <m:r>
                      <a:rPr sz="1400" b="0" i="0">
                        <a:solidFill>
                          <a:srgbClr val="1E293B"/>
                        </a:solidFill>
                        <a:latin typeface="Cambria Math" panose="02040503050406030204"/>
                        <a:ea typeface="Cambria Math" panose="02040503050406030204"/>
                        <a:cs typeface="微软雅黑" panose="020B0503020204020204" charset="-122"/>
                      </a:rPr>
                      <m:t>≤</m:t>
                    </m:r>
                    <m:r>
                      <a:rPr sz="1400" b="0" i="1">
                        <a:solidFill>
                          <a:srgbClr val="1E293B"/>
                        </a:solidFill>
                        <a:latin typeface="Cambria Math" panose="02040503050406030204"/>
                        <a:ea typeface="Cambria Math" panose="02040503050406030204"/>
                        <a:cs typeface="微软雅黑" panose="020B0503020204020204" charset="-122"/>
                      </a:rPr>
                      <m:t>𝐶</m:t>
                    </m:r>
                    <m:r>
                      <a:rPr sz="1400" b="0" i="1">
                        <a:solidFill>
                          <a:srgbClr val="1E293B"/>
                        </a:solidFill>
                        <a:latin typeface="Cambria Math" panose="02040503050406030204"/>
                        <a:ea typeface="Cambria Math" panose="02040503050406030204"/>
                        <a:cs typeface="微软雅黑" panose="020B0503020204020204" charset="-122"/>
                      </a:rPr>
                      <m:t>𝑔</m:t>
                    </m:r>
                    <m:d>
                      <m:dPr>
                        <m:ctrlPr>
                          <a:rPr sz="1400" b="0" i="0">
                            <a:solidFill>
                              <a:srgbClr val="1E293B"/>
                            </a:solidFill>
                            <a:latin typeface="Cambria Math" panose="02040503050406030204"/>
                            <a:ea typeface="微软雅黑" panose="020B0503020204020204" charset="-122"/>
                            <a:cs typeface="微软雅黑" panose="020B0503020204020204" charset="-122"/>
                          </a:rPr>
                        </m:ctrlPr>
                      </m:dPr>
                      <m:e>
                        <m:r>
                          <a:rPr sz="1400" b="0" i="1">
                            <a:solidFill>
                              <a:srgbClr val="1E293B"/>
                            </a:solidFill>
                            <a:latin typeface="Cambria Math" panose="02040503050406030204"/>
                            <a:ea typeface="Cambria Math" panose="02040503050406030204"/>
                            <a:cs typeface="微软雅黑" panose="020B0503020204020204" charset="-122"/>
                          </a:rPr>
                          <m:t>𝑛</m:t>
                        </m:r>
                      </m:e>
                    </m:d>
                  </m:oMath>
                </a14:m>
                <a:endParaRPr sz="1400"/>
              </a:p>
            </p:txBody>
          </p:sp>
        </mc:Choice>
        <mc:Fallback>
          <p:sp>
            <p:nvSpPr>
              <p:cNvPr id="13" name="TextBox 1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19088" y="1892807"/>
                <a:ext cx="4828032" cy="359664"/>
              </a:xfrm>
              <a:prstGeom prst="rect">
                <a:avLst/>
              </a:prstGeom>
              <a:blipFill rotWithShape="1">
                <a:blip r:embed="rId5"/>
                <a:stretch>
                  <a:fillRect l="-11" t="-141" b="3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Rounded Rectangle 13"/>
          <p:cNvSpPr>
            <a:spLocks noGrp="1"/>
          </p:cNvSpPr>
          <p:nvPr/>
        </p:nvSpPr>
        <p:spPr>
          <a:xfrm>
            <a:off x="6217920" y="2514600"/>
            <a:ext cx="5212080" cy="10058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15" name="Rectangle 14"/>
          <p:cNvSpPr>
            <a:spLocks noGrp="1"/>
          </p:cNvSpPr>
          <p:nvPr/>
        </p:nvSpPr>
        <p:spPr>
          <a:xfrm>
            <a:off x="6217920" y="2514600"/>
            <a:ext cx="73152" cy="1005840"/>
          </a:xfrm>
          <a:prstGeom prst="rect">
            <a:avLst/>
          </a:prstGeom>
          <a:solidFill>
            <a:srgbClr val="0D9488"/>
          </a:solidFill>
          <a:ln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6" name="TextBox 15"/>
              <p:cNvSpPr>
                <a:spLocks noGrp="1"/>
              </p:cNvSpPr>
              <p:nvPr/>
            </p:nvSpPr>
            <p:spPr>
              <a:xfrm>
                <a:off x="6419088" y="2660904"/>
                <a:ext cx="4828032" cy="347472"/>
              </a:xfrm>
              <a:prstGeom prst="rect">
                <a:avLst/>
              </a:prstGeom>
              <a:noFill/>
            </p:spPr>
            <p:txBody>
              <a:bodyPr wrap="square" lIns="73152" tIns="73152" rIns="73152" bIns="73152" anchor="t">
                <a:spAutoFit/>
              </a:bodyPr>
              <a:lstStyle/>
              <a:p>
                <a:pPr algn="l">
                  <a:spcAft>
                    <a:spcPts val="500"/>
                  </a:spcAft>
                  <a:buNone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sz="1600" b="1" i="0">
                        <a:solidFill>
                          <a:srgbClr val="172554"/>
                        </a:solidFill>
                        <a:latin typeface="Cambria Math" panose="02040503050406030204"/>
                        <a:ea typeface="Cambria Math" panose="02040503050406030204"/>
                        <a:cs typeface="微软雅黑" panose="020B0503020204020204" charset="-122"/>
                      </a:rPr>
                      <m:t>Ω</m:t>
                    </m:r>
                    <m:d>
                      <m:dPr>
                        <m:ctrlPr>
                          <a:rPr sz="1600" b="1" i="0">
                            <a:solidFill>
                              <a:srgbClr val="172554"/>
                            </a:solidFill>
                            <a:latin typeface="Cambria Math" panose="02040503050406030204"/>
                            <a:ea typeface="微软雅黑" panose="020B0503020204020204" charset="-122"/>
                            <a:cs typeface="微软雅黑" panose="020B0503020204020204" charset="-122"/>
                          </a:rPr>
                        </m:ctrlPr>
                      </m:dPr>
                      <m:e>
                        <m:r>
                          <a:rPr sz="1600" b="1" i="1">
                            <a:solidFill>
                              <a:srgbClr val="172554"/>
                            </a:solidFill>
                            <a:latin typeface="Cambria Math" panose="02040503050406030204"/>
                            <a:ea typeface="Cambria Math" panose="02040503050406030204"/>
                            <a:cs typeface="微软雅黑" panose="020B0503020204020204" charset="-122"/>
                          </a:rPr>
                          <m:t>𝑔</m:t>
                        </m:r>
                        <m:d>
                          <m:dPr>
                            <m:ctrlPr>
                              <a:rPr sz="1600" b="1" i="0">
                                <a:solidFill>
                                  <a:srgbClr val="172554"/>
                                </a:solidFill>
                                <a:latin typeface="Cambria Math" panose="02040503050406030204"/>
                                <a:ea typeface="微软雅黑" panose="020B0503020204020204" charset="-122"/>
                                <a:cs typeface="微软雅黑" panose="020B0503020204020204" charset="-122"/>
                              </a:rPr>
                            </m:ctrlPr>
                          </m:dPr>
                          <m:e>
                            <m:r>
                              <a:rPr sz="1600" b="1" i="1">
                                <a:solidFill>
                                  <a:srgbClr val="172554"/>
                                </a:solidFill>
                                <a:latin typeface="Cambria Math" panose="02040503050406030204"/>
                                <a:ea typeface="Cambria Math" panose="02040503050406030204"/>
                                <a:cs typeface="微软雅黑" panose="020B0503020204020204" charset="-122"/>
                              </a:rPr>
                              <m:t>𝑛</m:t>
                            </m:r>
                          </m:e>
                        </m:d>
                      </m:e>
                    </m:d>
                  </m:oMath>
                </a14:m>
                <a:r>
                  <a:rPr sz="1600" b="1" i="0">
                    <a:solidFill>
                      <a:srgbClr val="172554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：渐近下界</a:t>
                </a:r>
                <a:endParaRPr sz="1600"/>
              </a:p>
            </p:txBody>
          </p:sp>
        </mc:Choice>
        <mc:Fallback>
          <p:sp>
            <p:nvSpPr>
              <p:cNvPr id="16" name="TextBox 1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19088" y="2660904"/>
                <a:ext cx="4828032" cy="347472"/>
              </a:xfrm>
              <a:prstGeom prst="rect">
                <a:avLst/>
              </a:prstGeom>
              <a:blipFill rotWithShape="1">
                <a:blip r:embed="rId6"/>
                <a:stretch>
                  <a:fillRect l="-11" t="-73" b="-592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7" name="TextBox 16"/>
              <p:cNvSpPr>
                <a:spLocks noGrp="1"/>
              </p:cNvSpPr>
              <p:nvPr/>
            </p:nvSpPr>
            <p:spPr>
              <a:xfrm>
                <a:off x="6419088" y="3081528"/>
                <a:ext cx="4828032" cy="359664"/>
              </a:xfrm>
              <a:prstGeom prst="rect">
                <a:avLst/>
              </a:prstGeom>
              <a:noFill/>
            </p:spPr>
            <p:txBody>
              <a:bodyPr wrap="square" lIns="73152" tIns="73152" rIns="73152" bIns="73152" anchor="t">
                <a:spAutoFit/>
              </a:bodyPr>
              <a:lstStyle/>
              <a:p>
                <a:pPr algn="l">
                  <a:spcAft>
                    <a:spcPts val="500"/>
                  </a:spcAft>
                  <a:buNone/>
                </a:pPr>
                <a:r>
                  <a:rPr sz="1400" b="0" i="0">
                    <a:solidFill>
                      <a:srgbClr val="1E293B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充分大时，</a:t>
                </a:r>
                <a14:m>
                  <m:oMath xmlns:m="http://schemas.openxmlformats.org/officeDocument/2006/math">
                    <m:r>
                      <a:rPr sz="1400" b="0" i="1">
                        <a:solidFill>
                          <a:srgbClr val="1E293B"/>
                        </a:solidFill>
                        <a:latin typeface="Cambria Math" panose="02040503050406030204"/>
                        <a:ea typeface="Cambria Math" panose="02040503050406030204"/>
                        <a:cs typeface="微软雅黑" panose="020B0503020204020204" charset="-122"/>
                      </a:rPr>
                      <m:t>𝑇</m:t>
                    </m:r>
                    <m:d>
                      <m:dPr>
                        <m:ctrlPr>
                          <a:rPr sz="1400" b="0" i="0">
                            <a:solidFill>
                              <a:srgbClr val="1E293B"/>
                            </a:solidFill>
                            <a:latin typeface="Cambria Math" panose="02040503050406030204"/>
                            <a:ea typeface="微软雅黑" panose="020B0503020204020204" charset="-122"/>
                            <a:cs typeface="微软雅黑" panose="020B0503020204020204" charset="-122"/>
                          </a:rPr>
                        </m:ctrlPr>
                      </m:dPr>
                      <m:e>
                        <m:r>
                          <a:rPr sz="1400" b="0" i="1">
                            <a:solidFill>
                              <a:srgbClr val="1E293B"/>
                            </a:solidFill>
                            <a:latin typeface="Cambria Math" panose="02040503050406030204"/>
                            <a:ea typeface="Cambria Math" panose="02040503050406030204"/>
                            <a:cs typeface="微软雅黑" panose="020B0503020204020204" charset="-122"/>
                          </a:rPr>
                          <m:t>𝑛</m:t>
                        </m:r>
                      </m:e>
                    </m:d>
                    <m:r>
                      <a:rPr sz="1400" b="0" i="0">
                        <a:solidFill>
                          <a:srgbClr val="1E293B"/>
                        </a:solidFill>
                        <a:latin typeface="Cambria Math" panose="02040503050406030204"/>
                        <a:ea typeface="Cambria Math" panose="02040503050406030204"/>
                        <a:cs typeface="微软雅黑" panose="020B0503020204020204" charset="-122"/>
                      </a:rPr>
                      <m:t>≥</m:t>
                    </m:r>
                    <m:r>
                      <a:rPr sz="1400" b="0" i="1">
                        <a:solidFill>
                          <a:srgbClr val="1E293B"/>
                        </a:solidFill>
                        <a:latin typeface="Cambria Math" panose="02040503050406030204"/>
                        <a:ea typeface="Cambria Math" panose="02040503050406030204"/>
                        <a:cs typeface="微软雅黑" panose="020B0503020204020204" charset="-122"/>
                      </a:rPr>
                      <m:t>𝑐</m:t>
                    </m:r>
                    <m:r>
                      <a:rPr sz="1400" b="0" i="1">
                        <a:solidFill>
                          <a:srgbClr val="1E293B"/>
                        </a:solidFill>
                        <a:latin typeface="Cambria Math" panose="02040503050406030204"/>
                        <a:ea typeface="Cambria Math" panose="02040503050406030204"/>
                        <a:cs typeface="微软雅黑" panose="020B0503020204020204" charset="-122"/>
                      </a:rPr>
                      <m:t>𝑔</m:t>
                    </m:r>
                    <m:d>
                      <m:dPr>
                        <m:ctrlPr>
                          <a:rPr sz="1400" b="0" i="0">
                            <a:solidFill>
                              <a:srgbClr val="1E293B"/>
                            </a:solidFill>
                            <a:latin typeface="Cambria Math" panose="02040503050406030204"/>
                            <a:ea typeface="微软雅黑" panose="020B0503020204020204" charset="-122"/>
                            <a:cs typeface="微软雅黑" panose="020B0503020204020204" charset="-122"/>
                          </a:rPr>
                        </m:ctrlPr>
                      </m:dPr>
                      <m:e>
                        <m:r>
                          <a:rPr sz="1400" b="0" i="1">
                            <a:solidFill>
                              <a:srgbClr val="1E293B"/>
                            </a:solidFill>
                            <a:latin typeface="Cambria Math" panose="02040503050406030204"/>
                            <a:ea typeface="Cambria Math" panose="02040503050406030204"/>
                            <a:cs typeface="微软雅黑" panose="020B0503020204020204" charset="-122"/>
                          </a:rPr>
                          <m:t>𝑛</m:t>
                        </m:r>
                      </m:e>
                    </m:d>
                  </m:oMath>
                </a14:m>
                <a:endParaRPr sz="1400"/>
              </a:p>
            </p:txBody>
          </p:sp>
        </mc:Choice>
        <mc:Fallback>
          <p:sp>
            <p:nvSpPr>
              <p:cNvPr id="17" name="TextBox 1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19088" y="3081528"/>
                <a:ext cx="4828032" cy="359664"/>
              </a:xfrm>
              <a:prstGeom prst="rect">
                <a:avLst/>
              </a:prstGeom>
              <a:blipFill rotWithShape="1">
                <a:blip r:embed="rId7"/>
                <a:stretch>
                  <a:fillRect l="-11" t="-141" b="3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Rounded Rectangle 17"/>
          <p:cNvSpPr>
            <a:spLocks noGrp="1"/>
          </p:cNvSpPr>
          <p:nvPr/>
        </p:nvSpPr>
        <p:spPr>
          <a:xfrm>
            <a:off x="6217920" y="3703320"/>
            <a:ext cx="5212080" cy="10058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19" name="Rectangle 18"/>
          <p:cNvSpPr>
            <a:spLocks noGrp="1"/>
          </p:cNvSpPr>
          <p:nvPr/>
        </p:nvSpPr>
        <p:spPr>
          <a:xfrm>
            <a:off x="6217920" y="3703320"/>
            <a:ext cx="73152" cy="1005840"/>
          </a:xfrm>
          <a:prstGeom prst="rect">
            <a:avLst/>
          </a:prstGeom>
          <a:solidFill>
            <a:srgbClr val="EA580C"/>
          </a:solidFill>
          <a:ln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0" name="TextBox 19"/>
              <p:cNvSpPr>
                <a:spLocks noGrp="1"/>
              </p:cNvSpPr>
              <p:nvPr/>
            </p:nvSpPr>
            <p:spPr>
              <a:xfrm>
                <a:off x="6419088" y="3849624"/>
                <a:ext cx="4828032" cy="347472"/>
              </a:xfrm>
              <a:prstGeom prst="rect">
                <a:avLst/>
              </a:prstGeom>
              <a:noFill/>
            </p:spPr>
            <p:txBody>
              <a:bodyPr wrap="square" lIns="73152" tIns="73152" rIns="73152" bIns="73152" anchor="t">
                <a:spAutoFit/>
              </a:bodyPr>
              <a:lstStyle/>
              <a:p>
                <a:pPr algn="l">
                  <a:spcAft>
                    <a:spcPts val="500"/>
                  </a:spcAft>
                  <a:buNone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sz="1600" b="1" i="0">
                        <a:solidFill>
                          <a:srgbClr val="172554"/>
                        </a:solidFill>
                        <a:latin typeface="Cambria Math" panose="02040503050406030204"/>
                        <a:ea typeface="Cambria Math" panose="02040503050406030204"/>
                        <a:cs typeface="微软雅黑" panose="020B0503020204020204" charset="-122"/>
                      </a:rPr>
                      <m:t>Θ</m:t>
                    </m:r>
                    <m:d>
                      <m:dPr>
                        <m:ctrlPr>
                          <a:rPr sz="1600" b="1" i="0">
                            <a:solidFill>
                              <a:srgbClr val="172554"/>
                            </a:solidFill>
                            <a:latin typeface="Cambria Math" panose="02040503050406030204"/>
                            <a:ea typeface="微软雅黑" panose="020B0503020204020204" charset="-122"/>
                            <a:cs typeface="微软雅黑" panose="020B0503020204020204" charset="-122"/>
                          </a:rPr>
                        </m:ctrlPr>
                      </m:dPr>
                      <m:e>
                        <m:r>
                          <a:rPr sz="1600" b="1" i="1">
                            <a:solidFill>
                              <a:srgbClr val="172554"/>
                            </a:solidFill>
                            <a:latin typeface="Cambria Math" panose="02040503050406030204"/>
                            <a:ea typeface="Cambria Math" panose="02040503050406030204"/>
                            <a:cs typeface="微软雅黑" panose="020B0503020204020204" charset="-122"/>
                          </a:rPr>
                          <m:t>𝑔</m:t>
                        </m:r>
                        <m:d>
                          <m:dPr>
                            <m:ctrlPr>
                              <a:rPr sz="1600" b="1" i="0">
                                <a:solidFill>
                                  <a:srgbClr val="172554"/>
                                </a:solidFill>
                                <a:latin typeface="Cambria Math" panose="02040503050406030204"/>
                                <a:ea typeface="微软雅黑" panose="020B0503020204020204" charset="-122"/>
                                <a:cs typeface="微软雅黑" panose="020B0503020204020204" charset="-122"/>
                              </a:rPr>
                            </m:ctrlPr>
                          </m:dPr>
                          <m:e>
                            <m:r>
                              <a:rPr sz="1600" b="1" i="1">
                                <a:solidFill>
                                  <a:srgbClr val="172554"/>
                                </a:solidFill>
                                <a:latin typeface="Cambria Math" panose="02040503050406030204"/>
                                <a:ea typeface="Cambria Math" panose="02040503050406030204"/>
                                <a:cs typeface="微软雅黑" panose="020B0503020204020204" charset="-122"/>
                              </a:rPr>
                              <m:t>𝑛</m:t>
                            </m:r>
                          </m:e>
                        </m:d>
                      </m:e>
                    </m:d>
                  </m:oMath>
                </a14:m>
                <a:r>
                  <a:rPr sz="1600" b="1" i="0">
                    <a:solidFill>
                      <a:srgbClr val="172554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：紧确渐近界</a:t>
                </a:r>
                <a:endParaRPr sz="1600"/>
              </a:p>
            </p:txBody>
          </p:sp>
        </mc:Choice>
        <mc:Fallback>
          <p:sp>
            <p:nvSpPr>
              <p:cNvPr id="20" name="TextBox 1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19088" y="3849624"/>
                <a:ext cx="4828032" cy="347472"/>
              </a:xfrm>
              <a:prstGeom prst="rect">
                <a:avLst/>
              </a:prstGeom>
              <a:blipFill rotWithShape="1">
                <a:blip r:embed="rId8"/>
                <a:stretch>
                  <a:fillRect l="-11" t="-73" b="-592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1" name="TextBox 20"/>
              <p:cNvSpPr>
                <a:spLocks noGrp="1"/>
              </p:cNvSpPr>
              <p:nvPr/>
            </p:nvSpPr>
            <p:spPr>
              <a:xfrm>
                <a:off x="6419088" y="4270248"/>
                <a:ext cx="4828032" cy="359664"/>
              </a:xfrm>
              <a:prstGeom prst="rect">
                <a:avLst/>
              </a:prstGeom>
              <a:noFill/>
            </p:spPr>
            <p:txBody>
              <a:bodyPr wrap="square" lIns="73152" tIns="73152" rIns="73152" bIns="73152" anchor="t">
                <a:spAutoFit/>
              </a:bodyPr>
              <a:lstStyle/>
              <a:p>
                <a:pPr algn="l">
                  <a:spcAft>
                    <a:spcPts val="500"/>
                  </a:spcAft>
                  <a:buNone/>
                </a:pPr>
                <a:r>
                  <a:rPr sz="1400" b="0" i="0">
                    <a:solidFill>
                      <a:srgbClr val="1E293B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同时满足</a:t>
                </a:r>
                <a14:m>
                  <m:oMath xmlns:m="http://schemas.openxmlformats.org/officeDocument/2006/math">
                    <m:r>
                      <a:rPr sz="1400" b="0" i="1">
                        <a:solidFill>
                          <a:srgbClr val="1E293B"/>
                        </a:solidFill>
                        <a:latin typeface="Cambria Math" panose="02040503050406030204"/>
                        <a:ea typeface="Cambria Math" panose="02040503050406030204"/>
                        <a:cs typeface="微软雅黑" panose="020B0503020204020204" charset="-122"/>
                      </a:rPr>
                      <m:t>𝑂</m:t>
                    </m:r>
                    <m:d>
                      <m:dPr>
                        <m:ctrlPr>
                          <a:rPr sz="1400" b="0" i="0">
                            <a:solidFill>
                              <a:srgbClr val="1E293B"/>
                            </a:solidFill>
                            <a:latin typeface="Cambria Math" panose="02040503050406030204"/>
                            <a:ea typeface="微软雅黑" panose="020B0503020204020204" charset="-122"/>
                            <a:cs typeface="微软雅黑" panose="020B0503020204020204" charset="-122"/>
                          </a:rPr>
                        </m:ctrlPr>
                      </m:dPr>
                      <m:e>
                        <m:r>
                          <a:rPr sz="1400" b="0" i="1">
                            <a:solidFill>
                              <a:srgbClr val="1E293B"/>
                            </a:solidFill>
                            <a:latin typeface="Cambria Math" panose="02040503050406030204"/>
                            <a:ea typeface="Cambria Math" panose="02040503050406030204"/>
                            <a:cs typeface="微软雅黑" panose="020B0503020204020204" charset="-122"/>
                          </a:rPr>
                          <m:t>𝑔</m:t>
                        </m:r>
                        <m:d>
                          <m:dPr>
                            <m:ctrlPr>
                              <a:rPr sz="1400" b="0" i="0">
                                <a:solidFill>
                                  <a:srgbClr val="1E293B"/>
                                </a:solidFill>
                                <a:latin typeface="Cambria Math" panose="02040503050406030204"/>
                                <a:ea typeface="微软雅黑" panose="020B0503020204020204" charset="-122"/>
                                <a:cs typeface="微软雅黑" panose="020B0503020204020204" charset="-122"/>
                              </a:rPr>
                            </m:ctrlPr>
                          </m:dPr>
                          <m:e>
                            <m:r>
                              <a:rPr sz="1400" b="0" i="1">
                                <a:solidFill>
                                  <a:srgbClr val="1E293B"/>
                                </a:solidFill>
                                <a:latin typeface="Cambria Math" panose="02040503050406030204"/>
                                <a:ea typeface="Cambria Math" panose="02040503050406030204"/>
                                <a:cs typeface="微软雅黑" panose="020B0503020204020204" charset="-122"/>
                              </a:rPr>
                              <m:t>𝑛</m:t>
                            </m:r>
                          </m:e>
                        </m:d>
                      </m:e>
                    </m:d>
                  </m:oMath>
                </a14:m>
                <a:r>
                  <a:rPr sz="1400" b="0" i="0">
                    <a:solidFill>
                      <a:srgbClr val="1E293B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与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sz="1400" b="0" i="0">
                        <a:solidFill>
                          <a:srgbClr val="1E293B"/>
                        </a:solidFill>
                        <a:latin typeface="Cambria Math" panose="02040503050406030204"/>
                        <a:ea typeface="Cambria Math" panose="02040503050406030204"/>
                        <a:cs typeface="微软雅黑" panose="020B0503020204020204" charset="-122"/>
                      </a:rPr>
                      <m:t>Ω</m:t>
                    </m:r>
                    <m:d>
                      <m:dPr>
                        <m:ctrlPr>
                          <a:rPr sz="1400" b="0" i="0">
                            <a:solidFill>
                              <a:srgbClr val="1E293B"/>
                            </a:solidFill>
                            <a:latin typeface="Cambria Math" panose="02040503050406030204"/>
                            <a:ea typeface="微软雅黑" panose="020B0503020204020204" charset="-122"/>
                            <a:cs typeface="微软雅黑" panose="020B0503020204020204" charset="-122"/>
                          </a:rPr>
                        </m:ctrlPr>
                      </m:dPr>
                      <m:e>
                        <m:r>
                          <a:rPr sz="1400" b="0" i="1">
                            <a:solidFill>
                              <a:srgbClr val="1E293B"/>
                            </a:solidFill>
                            <a:latin typeface="Cambria Math" panose="02040503050406030204"/>
                            <a:ea typeface="Cambria Math" panose="02040503050406030204"/>
                            <a:cs typeface="微软雅黑" panose="020B0503020204020204" charset="-122"/>
                          </a:rPr>
                          <m:t>𝑔</m:t>
                        </m:r>
                        <m:d>
                          <m:dPr>
                            <m:ctrlPr>
                              <a:rPr sz="1400" b="0" i="0">
                                <a:solidFill>
                                  <a:srgbClr val="1E293B"/>
                                </a:solidFill>
                                <a:latin typeface="Cambria Math" panose="02040503050406030204"/>
                                <a:ea typeface="微软雅黑" panose="020B0503020204020204" charset="-122"/>
                                <a:cs typeface="微软雅黑" panose="020B0503020204020204" charset="-122"/>
                              </a:rPr>
                            </m:ctrlPr>
                          </m:dPr>
                          <m:e>
                            <m:r>
                              <a:rPr sz="1400" b="0" i="1">
                                <a:solidFill>
                                  <a:srgbClr val="1E293B"/>
                                </a:solidFill>
                                <a:latin typeface="Cambria Math" panose="02040503050406030204"/>
                                <a:ea typeface="Cambria Math" panose="02040503050406030204"/>
                                <a:cs typeface="微软雅黑" panose="020B0503020204020204" charset="-122"/>
                              </a:rPr>
                              <m:t>𝑛</m:t>
                            </m:r>
                          </m:e>
                        </m:d>
                      </m:e>
                    </m:d>
                  </m:oMath>
                </a14:m>
                <a:endParaRPr sz="1400"/>
              </a:p>
            </p:txBody>
          </p:sp>
        </mc:Choice>
        <mc:Fallback>
          <p:sp>
            <p:nvSpPr>
              <p:cNvPr id="21" name="TextBox 2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19088" y="4270248"/>
                <a:ext cx="4828032" cy="359664"/>
              </a:xfrm>
              <a:prstGeom prst="rect">
                <a:avLst/>
              </a:prstGeom>
              <a:blipFill rotWithShape="1">
                <a:blip r:embed="rId9"/>
                <a:stretch>
                  <a:fillRect l="-11" t="-141" b="3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Rounded Rectangle 21"/>
          <p:cNvSpPr>
            <a:spLocks noGrp="1"/>
          </p:cNvSpPr>
          <p:nvPr/>
        </p:nvSpPr>
        <p:spPr>
          <a:xfrm>
            <a:off x="822960" y="2971800"/>
            <a:ext cx="4937760" cy="1737360"/>
          </a:xfrm>
          <a:prstGeom prst="roundRect">
            <a:avLst>
              <a:gd name="adj" fmla="val 12000"/>
            </a:avLst>
          </a:prstGeom>
          <a:solidFill>
            <a:srgbClr val="F1F5F9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3" name="TextBox 22"/>
              <p:cNvSpPr>
                <a:spLocks noGrp="1"/>
              </p:cNvSpPr>
              <p:nvPr/>
            </p:nvSpPr>
            <p:spPr>
              <a:xfrm>
                <a:off x="1097280" y="3218688"/>
                <a:ext cx="4389120" cy="758444"/>
              </a:xfrm>
              <a:prstGeom prst="rect">
                <a:avLst/>
              </a:prstGeom>
              <a:noFill/>
            </p:spPr>
            <p:txBody>
              <a:bodyPr wrap="square" lIns="73152" tIns="73152" rIns="73152" bIns="73152" anchor="t">
                <a:spAutoFit/>
              </a:bodyPr>
              <a:lstStyle/>
              <a:p>
                <a:pPr algn="l">
                  <a:spcAft>
                    <a:spcPts val="500"/>
                  </a:spcAft>
                  <a:buNone/>
                </a:pPr>
                <a:r>
                  <a:rPr sz="1600" b="0" i="0">
                    <a:solidFill>
                      <a:srgbClr val="1E293B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例如</a:t>
                </a:r>
                <a14:m>
                  <m:oMath xmlns:m="http://schemas.openxmlformats.org/officeDocument/2006/math">
                    <m:r>
                      <a:rPr sz="1600" b="0" i="1">
                        <a:solidFill>
                          <a:srgbClr val="1E293B"/>
                        </a:solidFill>
                        <a:latin typeface="Cambria Math" panose="02040503050406030204"/>
                        <a:ea typeface="Cambria Math" panose="02040503050406030204"/>
                        <a:cs typeface="微软雅黑" panose="020B0503020204020204" charset="-122"/>
                      </a:rPr>
                      <m:t>𝑇</m:t>
                    </m:r>
                    <m:d>
                      <m:dPr>
                        <m:ctrlPr>
                          <a:rPr sz="1600" b="0" i="0">
                            <a:solidFill>
                              <a:srgbClr val="1E293B"/>
                            </a:solidFill>
                            <a:latin typeface="Cambria Math" panose="02040503050406030204"/>
                            <a:ea typeface="微软雅黑" panose="020B0503020204020204" charset="-122"/>
                            <a:cs typeface="微软雅黑" panose="020B0503020204020204" charset="-122"/>
                          </a:rPr>
                        </m:ctrlPr>
                      </m:dPr>
                      <m:e>
                        <m:r>
                          <a:rPr sz="1600" b="0" i="1">
                            <a:solidFill>
                              <a:srgbClr val="1E293B"/>
                            </a:solidFill>
                            <a:latin typeface="Cambria Math" panose="02040503050406030204"/>
                            <a:ea typeface="Cambria Math" panose="02040503050406030204"/>
                            <a:cs typeface="微软雅黑" panose="020B0503020204020204" charset="-122"/>
                          </a:rPr>
                          <m:t>𝑛</m:t>
                        </m:r>
                      </m:e>
                    </m:d>
                    <m:r>
                      <a:rPr sz="1600" b="0" i="0">
                        <a:solidFill>
                          <a:srgbClr val="1E293B"/>
                        </a:solidFill>
                        <a:latin typeface="Cambria Math" panose="02040503050406030204"/>
                        <a:ea typeface="Cambria Math" panose="02040503050406030204"/>
                        <a:cs typeface="微软雅黑" panose="020B0503020204020204" charset="-122"/>
                      </a:rPr>
                      <m:t>=</m:t>
                    </m:r>
                    <m:r>
                      <m:rPr>
                        <m:sty m:val="p"/>
                      </m:rPr>
                      <a:rPr sz="1600" b="0" i="0">
                        <a:solidFill>
                          <a:srgbClr val="1E293B"/>
                        </a:solidFill>
                        <a:latin typeface="Cambria Math" panose="02040503050406030204"/>
                        <a:ea typeface="Cambria Math" panose="02040503050406030204"/>
                        <a:cs typeface="微软雅黑" panose="020B0503020204020204" charset="-122"/>
                      </a:rPr>
                      <m:t>Θ</m:t>
                    </m:r>
                    <m:d>
                      <m:dPr>
                        <m:ctrlPr>
                          <a:rPr sz="1600" b="0" i="0">
                            <a:solidFill>
                              <a:srgbClr val="1E293B"/>
                            </a:solidFill>
                            <a:latin typeface="Cambria Math" panose="02040503050406030204"/>
                            <a:ea typeface="微软雅黑" panose="020B0503020204020204" charset="-122"/>
                            <a:cs typeface="微软雅黑" panose="020B0503020204020204" charset="-122"/>
                          </a:rPr>
                        </m:ctrlPr>
                      </m:dPr>
                      <m:e>
                        <m:r>
                          <a:rPr sz="1600" b="0" i="1">
                            <a:solidFill>
                              <a:srgbClr val="1E293B"/>
                            </a:solidFill>
                            <a:latin typeface="Cambria Math" panose="02040503050406030204"/>
                            <a:ea typeface="Cambria Math" panose="02040503050406030204"/>
                            <a:cs typeface="微软雅黑" panose="020B0503020204020204" charset="-122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sz="1600" b="0" i="0">
                            <a:solidFill>
                              <a:srgbClr val="1E293B"/>
                            </a:solidFill>
                            <a:latin typeface="Cambria Math" panose="02040503050406030204"/>
                            <a:ea typeface="Cambria Math" panose="02040503050406030204"/>
                            <a:cs typeface="微软雅黑" panose="020B0503020204020204" charset="-122"/>
                          </a:rPr>
                          <m:t>lg</m:t>
                        </m:r>
                        <m:r>
                          <a:rPr sz="1600" b="0" i="1">
                            <a:solidFill>
                              <a:srgbClr val="1E293B"/>
                            </a:solidFill>
                            <a:latin typeface="Cambria Math" panose="02040503050406030204"/>
                            <a:ea typeface="Cambria Math" panose="02040503050406030204"/>
                            <a:cs typeface="微软雅黑" panose="020B0503020204020204" charset="-122"/>
                          </a:rPr>
                          <m:t>𝑛</m:t>
                        </m:r>
                      </m:e>
                    </m:d>
                  </m:oMath>
                </a14:m>
                <a:endParaRPr sz="1600"/>
              </a:p>
              <a:p>
                <a:pPr algn="l">
                  <a:spcAft>
                    <a:spcPts val="500"/>
                  </a:spcAft>
                  <a:buNone/>
                </a:pPr>
                <a:r>
                  <a:rPr sz="1600" b="0" i="0">
                    <a:solidFill>
                      <a:srgbClr val="1E293B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表示上界、下界均为</a:t>
                </a:r>
                <a14:m>
                  <m:oMath xmlns:m="http://schemas.openxmlformats.org/officeDocument/2006/math">
                    <m:r>
                      <a:rPr sz="1600" b="0" i="1">
                        <a:solidFill>
                          <a:srgbClr val="1E293B"/>
                        </a:solidFill>
                        <a:latin typeface="Cambria Math" panose="02040503050406030204"/>
                        <a:ea typeface="Cambria Math" panose="02040503050406030204"/>
                        <a:cs typeface="微软雅黑" panose="020B0503020204020204" charset="-122"/>
                      </a:rPr>
                      <m:t>𝑛</m:t>
                    </m:r>
                    <m:r>
                      <m:rPr>
                        <m:sty m:val="p"/>
                      </m:rPr>
                      <a:rPr sz="1600" b="0" i="0">
                        <a:solidFill>
                          <a:srgbClr val="1E293B"/>
                        </a:solidFill>
                        <a:latin typeface="Cambria Math" panose="02040503050406030204"/>
                        <a:ea typeface="Cambria Math" panose="02040503050406030204"/>
                        <a:cs typeface="微软雅黑" panose="020B0503020204020204" charset="-122"/>
                      </a:rPr>
                      <m:t>lg</m:t>
                    </m:r>
                    <m:r>
                      <a:rPr sz="1600" b="0" i="1">
                        <a:solidFill>
                          <a:srgbClr val="1E293B"/>
                        </a:solidFill>
                        <a:latin typeface="Cambria Math" panose="02040503050406030204"/>
                        <a:ea typeface="Cambria Math" panose="02040503050406030204"/>
                        <a:cs typeface="微软雅黑" panose="020B0503020204020204" charset="-122"/>
                      </a:rPr>
                      <m:t>𝑛</m:t>
                    </m:r>
                  </m:oMath>
                </a14:m>
                <a:r>
                  <a:rPr sz="1600" b="0" i="0">
                    <a:solidFill>
                      <a:srgbClr val="1E293B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量级</a:t>
                </a:r>
                <a:endParaRPr sz="1600"/>
              </a:p>
            </p:txBody>
          </p:sp>
        </mc:Choice>
        <mc:Fallback>
          <p:sp>
            <p:nvSpPr>
              <p:cNvPr id="23" name="TextBox 2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97280" y="3218688"/>
                <a:ext cx="4389120" cy="758444"/>
              </a:xfrm>
              <a:prstGeom prst="rect">
                <a:avLst/>
              </a:prstGeom>
              <a:blipFill rotWithShape="1">
                <a:blip r:embed="rId10"/>
                <a:stretch>
                  <a:fillRect t="-67" b="1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>
            <a:spLocks noGrp="1"/>
          </p:cNvSpPr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3" name="TextBox 2"/>
          <p:cNvSpPr>
            <a:spLocks noGrp="1"/>
          </p:cNvSpPr>
          <p:nvPr/>
        </p:nvSpPr>
        <p:spPr>
          <a:xfrm>
            <a:off x="502920" y="292608"/>
            <a:ext cx="10881360" cy="557784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500"/>
              </a:spcAft>
              <a:buNone/>
            </a:pPr>
            <a:r>
              <a:rPr sz="2375" b="1" i="0">
                <a:solidFill>
                  <a:srgbClr val="1725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二、主定理</a:t>
            </a:r>
            <a:endParaRPr sz="2375" b="1" i="0">
              <a:solidFill>
                <a:srgbClr val="17255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/>
              <p:cNvSpPr>
                <a:spLocks noGrp="1"/>
              </p:cNvSpPr>
              <p:nvPr/>
            </p:nvSpPr>
            <p:spPr>
              <a:xfrm>
                <a:off x="530352" y="804672"/>
                <a:ext cx="10972800" cy="329184"/>
              </a:xfrm>
              <a:prstGeom prst="rect">
                <a:avLst/>
              </a:prstGeom>
              <a:noFill/>
            </p:spPr>
            <p:txBody>
              <a:bodyPr wrap="square" lIns="73152" tIns="73152" rIns="73152" bIns="73152" anchor="t">
                <a:spAutoFit/>
              </a:bodyPr>
              <a:lstStyle/>
              <a:p>
                <a:pPr algn="l">
                  <a:spcAft>
                    <a:spcPts val="500"/>
                  </a:spcAft>
                  <a:buNone/>
                </a:pPr>
                <a14:m>
                  <m:oMath xmlns:m="http://schemas.openxmlformats.org/officeDocument/2006/math">
                    <m:r>
                      <a:rPr sz="1200" b="0" i="1">
                        <a:solidFill>
                          <a:srgbClr val="64748B"/>
                        </a:solidFill>
                        <a:latin typeface="Cambria Math" panose="02040503050406030204"/>
                        <a:ea typeface="Cambria Math" panose="02040503050406030204"/>
                        <a:cs typeface="微软雅黑" panose="020B0503020204020204" charset="-122"/>
                      </a:rPr>
                      <m:t>𝑇</m:t>
                    </m:r>
                    <m:d>
                      <m:dPr>
                        <m:ctrlPr>
                          <a:rPr sz="1200" b="0" i="0">
                            <a:solidFill>
                              <a:srgbClr val="64748B"/>
                            </a:solidFill>
                            <a:latin typeface="Cambria Math" panose="02040503050406030204"/>
                            <a:ea typeface="微软雅黑" panose="020B0503020204020204" charset="-122"/>
                            <a:cs typeface="微软雅黑" panose="020B0503020204020204" charset="-122"/>
                          </a:rPr>
                        </m:ctrlPr>
                      </m:dPr>
                      <m:e>
                        <m:r>
                          <a:rPr sz="1200" b="0" i="1">
                            <a:solidFill>
                              <a:srgbClr val="64748B"/>
                            </a:solidFill>
                            <a:latin typeface="Cambria Math" panose="02040503050406030204"/>
                            <a:ea typeface="Cambria Math" panose="02040503050406030204"/>
                            <a:cs typeface="微软雅黑" panose="020B0503020204020204" charset="-122"/>
                          </a:rPr>
                          <m:t>𝑛</m:t>
                        </m:r>
                      </m:e>
                    </m:d>
                    <m:r>
                      <a:rPr sz="1200" b="0" i="0">
                        <a:solidFill>
                          <a:srgbClr val="64748B"/>
                        </a:solidFill>
                        <a:latin typeface="Cambria Math" panose="02040503050406030204"/>
                        <a:ea typeface="Cambria Math" panose="02040503050406030204"/>
                        <a:cs typeface="微软雅黑" panose="020B0503020204020204" charset="-122"/>
                      </a:rPr>
                      <m:t>=</m:t>
                    </m:r>
                    <m:r>
                      <a:rPr sz="1200" b="0" i="1">
                        <a:solidFill>
                          <a:srgbClr val="64748B"/>
                        </a:solidFill>
                        <a:latin typeface="Cambria Math" panose="02040503050406030204"/>
                        <a:ea typeface="Cambria Math" panose="02040503050406030204"/>
                        <a:cs typeface="微软雅黑" panose="020B0503020204020204" charset="-122"/>
                      </a:rPr>
                      <m:t>𝑎</m:t>
                    </m:r>
                    <m:r>
                      <a:rPr sz="1200" b="0" i="1">
                        <a:solidFill>
                          <a:srgbClr val="64748B"/>
                        </a:solidFill>
                        <a:latin typeface="Cambria Math" panose="02040503050406030204"/>
                        <a:ea typeface="Cambria Math" panose="02040503050406030204"/>
                        <a:cs typeface="微软雅黑" panose="020B0503020204020204" charset="-122"/>
                      </a:rPr>
                      <m:t>𝑇</m:t>
                    </m:r>
                    <m:d>
                      <m:dPr>
                        <m:ctrlPr>
                          <a:rPr sz="1200" b="0" i="0">
                            <a:solidFill>
                              <a:srgbClr val="64748B"/>
                            </a:solidFill>
                            <a:latin typeface="Cambria Math" panose="02040503050406030204"/>
                            <a:ea typeface="微软雅黑" panose="020B0503020204020204" charset="-122"/>
                            <a:cs typeface="微软雅黑" panose="020B0503020204020204" charset="-122"/>
                          </a:rPr>
                        </m:ctrlPr>
                      </m:dPr>
                      <m:e>
                        <m:f>
                          <m:fPr>
                            <m:ctrlPr>
                              <a:rPr sz="1200" b="0" i="0">
                                <a:solidFill>
                                  <a:srgbClr val="64748B"/>
                                </a:solidFill>
                                <a:latin typeface="Cambria Math" panose="02040503050406030204"/>
                                <a:ea typeface="微软雅黑" panose="020B0503020204020204" charset="-122"/>
                                <a:cs typeface="微软雅黑" panose="020B0503020204020204" charset="-122"/>
                              </a:rPr>
                            </m:ctrlPr>
                          </m:fPr>
                          <m:num>
                            <m:r>
                              <a:rPr sz="1200" b="0" i="1">
                                <a:solidFill>
                                  <a:srgbClr val="64748B"/>
                                </a:solidFill>
                                <a:latin typeface="Cambria Math" panose="02040503050406030204"/>
                                <a:ea typeface="Cambria Math" panose="02040503050406030204"/>
                                <a:cs typeface="微软雅黑" panose="020B0503020204020204" charset="-122"/>
                              </a:rPr>
                              <m:t>𝑛</m:t>
                            </m:r>
                          </m:num>
                          <m:den>
                            <m:r>
                              <a:rPr sz="1200" b="0" i="1">
                                <a:solidFill>
                                  <a:srgbClr val="64748B"/>
                                </a:solidFill>
                                <a:latin typeface="Cambria Math" panose="02040503050406030204"/>
                                <a:ea typeface="Cambria Math" panose="02040503050406030204"/>
                                <a:cs typeface="微软雅黑" panose="020B0503020204020204" charset="-122"/>
                              </a:rPr>
                              <m:t>𝑏</m:t>
                            </m:r>
                          </m:den>
                        </m:f>
                      </m:e>
                    </m:d>
                    <m:r>
                      <a:rPr sz="1200" b="0" i="0">
                        <a:solidFill>
                          <a:srgbClr val="64748B"/>
                        </a:solidFill>
                        <a:latin typeface="Cambria Math" panose="02040503050406030204"/>
                        <a:ea typeface="Cambria Math" panose="02040503050406030204"/>
                        <a:cs typeface="微软雅黑" panose="020B0503020204020204" charset="-122"/>
                      </a:rPr>
                      <m:t>+</m:t>
                    </m:r>
                    <m:r>
                      <a:rPr sz="1200" b="0" i="1">
                        <a:solidFill>
                          <a:srgbClr val="64748B"/>
                        </a:solidFill>
                        <a:latin typeface="Cambria Math" panose="02040503050406030204"/>
                        <a:ea typeface="Cambria Math" panose="02040503050406030204"/>
                        <a:cs typeface="微软雅黑" panose="020B0503020204020204" charset="-122"/>
                      </a:rPr>
                      <m:t>𝑓</m:t>
                    </m:r>
                    <m:d>
                      <m:dPr>
                        <m:ctrlPr>
                          <a:rPr sz="1200" b="0" i="0">
                            <a:solidFill>
                              <a:srgbClr val="64748B"/>
                            </a:solidFill>
                            <a:latin typeface="Cambria Math" panose="02040503050406030204"/>
                            <a:ea typeface="微软雅黑" panose="020B0503020204020204" charset="-122"/>
                            <a:cs typeface="微软雅黑" panose="020B0503020204020204" charset="-122"/>
                          </a:rPr>
                        </m:ctrlPr>
                      </m:dPr>
                      <m:e>
                        <m:r>
                          <a:rPr sz="1200" b="0" i="1">
                            <a:solidFill>
                              <a:srgbClr val="64748B"/>
                            </a:solidFill>
                            <a:latin typeface="Cambria Math" panose="02040503050406030204"/>
                            <a:ea typeface="Cambria Math" panose="02040503050406030204"/>
                            <a:cs typeface="微软雅黑" panose="020B0503020204020204" charset="-122"/>
                          </a:rPr>
                          <m:t>𝑛</m:t>
                        </m:r>
                      </m:e>
                    </m:d>
                  </m:oMath>
                </a14:m>
                <a:r>
                  <a:rPr sz="1200" b="0" i="0">
                    <a:solidFill>
                      <a:srgbClr val="64748B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，</a:t>
                </a:r>
                <a14:m>
                  <m:oMath xmlns:m="http://schemas.openxmlformats.org/officeDocument/2006/math">
                    <m:r>
                      <a:rPr sz="1200" b="0" i="1">
                        <a:solidFill>
                          <a:srgbClr val="64748B"/>
                        </a:solidFill>
                        <a:latin typeface="Cambria Math" panose="02040503050406030204"/>
                        <a:ea typeface="Cambria Math" panose="02040503050406030204"/>
                        <a:cs typeface="微软雅黑" panose="020B0503020204020204" charset="-122"/>
                      </a:rPr>
                      <m:t>𝑎</m:t>
                    </m:r>
                    <m:r>
                      <a:rPr sz="1200" b="0" i="0">
                        <a:solidFill>
                          <a:srgbClr val="64748B"/>
                        </a:solidFill>
                        <a:latin typeface="Cambria Math" panose="02040503050406030204"/>
                        <a:ea typeface="Cambria Math" panose="02040503050406030204"/>
                        <a:cs typeface="微软雅黑" panose="020B0503020204020204" charset="-122"/>
                      </a:rPr>
                      <m:t>≥</m:t>
                    </m:r>
                    <m:r>
                      <a:rPr sz="1200" b="0" i="0">
                        <a:solidFill>
                          <a:srgbClr val="64748B"/>
                        </a:solidFill>
                        <a:latin typeface="Cambria Math" panose="02040503050406030204"/>
                        <a:ea typeface="Cambria Math" panose="02040503050406030204"/>
                        <a:cs typeface="微软雅黑" panose="020B0503020204020204" charset="-122"/>
                      </a:rPr>
                      <m:t>1</m:t>
                    </m:r>
                  </m:oMath>
                </a14:m>
                <a:r>
                  <a:rPr sz="1200" b="0" i="0">
                    <a:solidFill>
                      <a:srgbClr val="64748B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，</a:t>
                </a:r>
                <a:r>
                  <a:rPr sz="1200" b="0" i="0">
                    <a:solidFill>
                      <a:srgbClr val="64748B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b &gt; 1</a:t>
                </a:r>
                <a:endParaRPr sz="1200"/>
              </a:p>
            </p:txBody>
          </p:sp>
        </mc:Choice>
        <mc:Fallback>
          <p:sp>
            <p:nvSpPr>
              <p:cNvPr id="4" name="TextBox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0352" y="804672"/>
                <a:ext cx="10972800" cy="329184"/>
              </a:xfrm>
              <a:prstGeom prst="rect">
                <a:avLst/>
              </a:prstGeom>
              <a:blipFill rotWithShape="1">
                <a:blip r:embed="rId1"/>
                <a:stretch>
                  <a:fillRect l="-1" t="-39" r="1" b="-432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/>
          <p:cNvSpPr>
            <a:spLocks noGrp="1"/>
          </p:cNvSpPr>
          <p:nvPr/>
        </p:nvSpPr>
        <p:spPr>
          <a:xfrm>
            <a:off x="9555480" y="6510528"/>
            <a:ext cx="2103120" cy="18288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r">
              <a:spcAft>
                <a:spcPts val="500"/>
              </a:spcAft>
              <a:buNone/>
            </a:pPr>
            <a:r>
              <a:rPr sz="900" b="0" i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递推式与渐近分析</a:t>
            </a:r>
            <a:endParaRPr sz="900" b="0" i="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extBox 5"/>
          <p:cNvSpPr>
            <a:spLocks noGrp="1"/>
          </p:cNvSpPr>
          <p:nvPr/>
        </p:nvSpPr>
        <p:spPr>
          <a:xfrm>
            <a:off x="502920" y="6510528"/>
            <a:ext cx="1371600" cy="18288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500"/>
              </a:spcAft>
              <a:buNone/>
            </a:pPr>
            <a:r>
              <a:rPr sz="900" b="0" i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算法设计 · 04</a:t>
            </a:r>
            <a:endParaRPr sz="900" b="0" i="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Rounded Rectangle 6"/>
          <p:cNvSpPr>
            <a:spLocks noGrp="1"/>
          </p:cNvSpPr>
          <p:nvPr/>
        </p:nvSpPr>
        <p:spPr>
          <a:xfrm>
            <a:off x="731520" y="1234440"/>
            <a:ext cx="10744200" cy="868680"/>
          </a:xfrm>
          <a:prstGeom prst="roundRect">
            <a:avLst>
              <a:gd name="adj" fmla="val 12000"/>
            </a:avLst>
          </a:prstGeom>
          <a:solidFill>
            <a:srgbClr val="DBEAFE"/>
          </a:solidFill>
          <a:ln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/>
              <p:cNvSpPr>
                <a:spLocks noGrp="1"/>
              </p:cNvSpPr>
              <p:nvPr/>
            </p:nvSpPr>
            <p:spPr>
              <a:xfrm>
                <a:off x="841248" y="1344168"/>
                <a:ext cx="10524744" cy="451104"/>
              </a:xfrm>
              <a:prstGeom prst="rect">
                <a:avLst/>
              </a:prstGeom>
              <a:noFill/>
            </p:spPr>
            <p:txBody>
              <a:bodyPr wrap="square" lIns="73152" tIns="73152" rIns="73152" bIns="73152" anchor="ctr">
                <a:spAutoFit/>
              </a:bodyPr>
              <a:lstStyle/>
              <a:p>
                <a:pPr algn="ctr">
                  <a:spcAft>
                    <a:spcPts val="500"/>
                  </a:spcAft>
                  <a:buNone/>
                </a:pPr>
                <a:r>
                  <a:rPr sz="1760" b="1" i="0">
                    <a:solidFill>
                      <a:srgbClr val="172554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比较基准：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sz="1760" b="1" i="0">
                            <a:solidFill>
                              <a:srgbClr val="172554"/>
                            </a:solidFill>
                            <a:latin typeface="Cambria Math" panose="02040503050406030204"/>
                            <a:ea typeface="微软雅黑" panose="020B0503020204020204" charset="-122"/>
                            <a:cs typeface="微软雅黑" panose="020B0503020204020204" charset="-122"/>
                          </a:rPr>
                        </m:ctrlPr>
                      </m:sSupPr>
                      <m:e>
                        <m:r>
                          <a:rPr sz="1760" b="1" i="1">
                            <a:solidFill>
                              <a:srgbClr val="172554"/>
                            </a:solidFill>
                            <a:latin typeface="Cambria Math" panose="02040503050406030204"/>
                            <a:ea typeface="Cambria Math" panose="02040503050406030204"/>
                            <a:cs typeface="微软雅黑" panose="020B0503020204020204" charset="-122"/>
                          </a:rPr>
                          <m:t>𝑛</m:t>
                        </m:r>
                      </m:e>
                      <m:sup>
                        <m:r>
                          <a:rPr sz="1760" b="1" i="1">
                            <a:solidFill>
                              <a:srgbClr val="172554"/>
                            </a:solidFill>
                            <a:latin typeface="Cambria Math" panose="02040503050406030204"/>
                            <a:ea typeface="Cambria Math" panose="02040503050406030204"/>
                            <a:cs typeface="微软雅黑" panose="020B0503020204020204" charset="-122"/>
                          </a:rPr>
                          <m:t>𝑝</m:t>
                        </m:r>
                      </m:sup>
                    </m:sSup>
                  </m:oMath>
                </a14:m>
                <a:r>
                  <a:rPr sz="1760" b="1" i="0">
                    <a:solidFill>
                      <a:srgbClr val="172554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，</a:t>
                </a:r>
                <a14:m>
                  <m:oMath xmlns:m="http://schemas.openxmlformats.org/officeDocument/2006/math">
                    <m:r>
                      <a:rPr sz="1760" b="1" i="1">
                        <a:solidFill>
                          <a:srgbClr val="172554"/>
                        </a:solidFill>
                        <a:latin typeface="Cambria Math" panose="02040503050406030204"/>
                        <a:ea typeface="Cambria Math" panose="02040503050406030204"/>
                        <a:cs typeface="微软雅黑" panose="020B0503020204020204" charset="-122"/>
                      </a:rPr>
                      <m:t>𝑝</m:t>
                    </m:r>
                    <m:r>
                      <a:rPr sz="1760" b="1" i="0">
                        <a:solidFill>
                          <a:srgbClr val="172554"/>
                        </a:solidFill>
                        <a:latin typeface="Cambria Math" panose="02040503050406030204"/>
                        <a:ea typeface="Cambria Math" panose="02040503050406030204"/>
                        <a:cs typeface="微软雅黑" panose="020B0503020204020204" charset="-122"/>
                      </a:rPr>
                      <m:t>=</m:t>
                    </m:r>
                    <m:sSub>
                      <m:sSubPr>
                        <m:ctrlPr>
                          <a:rPr sz="1760" b="1" i="0">
                            <a:solidFill>
                              <a:srgbClr val="172554"/>
                            </a:solidFill>
                            <a:latin typeface="Cambria Math" panose="02040503050406030204"/>
                            <a:ea typeface="微软雅黑" panose="020B0503020204020204" charset="-122"/>
                            <a:cs typeface="微软雅黑" panose="020B0503020204020204" charset="-122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sz="1760" b="1" i="0">
                            <a:solidFill>
                              <a:srgbClr val="172554"/>
                            </a:solidFill>
                            <a:latin typeface="Cambria Math" panose="02040503050406030204"/>
                            <a:ea typeface="Cambria Math" panose="02040503050406030204"/>
                            <a:cs typeface="微软雅黑" panose="020B0503020204020204" charset="-122"/>
                          </a:rPr>
                          <m:t>log</m:t>
                        </m:r>
                      </m:e>
                      <m:sub>
                        <m:r>
                          <a:rPr sz="1760" b="1" i="1">
                            <a:solidFill>
                              <a:srgbClr val="172554"/>
                            </a:solidFill>
                            <a:latin typeface="Cambria Math" panose="02040503050406030204"/>
                            <a:ea typeface="Cambria Math" panose="02040503050406030204"/>
                            <a:cs typeface="微软雅黑" panose="020B0503020204020204" charset="-122"/>
                          </a:rPr>
                          <m:t>𝑏</m:t>
                        </m:r>
                      </m:sub>
                    </m:sSub>
                    <m:r>
                      <a:rPr sz="1760" b="1" i="1">
                        <a:solidFill>
                          <a:srgbClr val="172554"/>
                        </a:solidFill>
                        <a:latin typeface="Cambria Math" panose="02040503050406030204"/>
                        <a:ea typeface="Cambria Math" panose="02040503050406030204"/>
                        <a:cs typeface="微软雅黑" panose="020B0503020204020204" charset="-122"/>
                      </a:rPr>
                      <m:t>𝑎</m:t>
                    </m:r>
                  </m:oMath>
                </a14:m>
                <a:endParaRPr sz="1760"/>
              </a:p>
            </p:txBody>
          </p:sp>
        </mc:Choice>
        <mc:Fallback>
          <p:sp>
            <p:nvSpPr>
              <p:cNvPr id="8" name="TextBox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1248" y="1344168"/>
                <a:ext cx="10524744" cy="451104"/>
              </a:xfrm>
              <a:prstGeom prst="rect">
                <a:avLst/>
              </a:prstGeom>
              <a:blipFill rotWithShape="1">
                <a:blip r:embed="rId2"/>
                <a:stretch>
                  <a:fillRect l="-5" t="-113" r="1" b="2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/>
              <p:cNvSpPr>
                <a:spLocks noGrp="1"/>
              </p:cNvSpPr>
              <p:nvPr/>
            </p:nvSpPr>
            <p:spPr>
              <a:xfrm>
                <a:off x="841248" y="1686153"/>
                <a:ext cx="10524744" cy="359664"/>
              </a:xfrm>
              <a:prstGeom prst="rect">
                <a:avLst/>
              </a:prstGeom>
              <a:noFill/>
            </p:spPr>
            <p:txBody>
              <a:bodyPr wrap="square" lIns="73152" tIns="73152" rIns="73152" bIns="73152" anchor="ctr">
                <a:spAutoFit/>
              </a:bodyPr>
              <a:lstStyle/>
              <a:p>
                <a:pPr algn="ctr">
                  <a:spcAft>
                    <a:spcPts val="500"/>
                  </a:spcAft>
                  <a:buNone/>
                </a:pPr>
                <a:r>
                  <a:rPr sz="1400" b="1" i="0">
                    <a:solidFill>
                      <a:srgbClr val="2563EB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比较</a:t>
                </a:r>
                <a14:m>
                  <m:oMath xmlns:m="http://schemas.openxmlformats.org/officeDocument/2006/math">
                    <m:r>
                      <a:rPr sz="1400" b="1" i="1">
                        <a:solidFill>
                          <a:srgbClr val="2563EB"/>
                        </a:solidFill>
                        <a:latin typeface="Cambria Math" panose="02040503050406030204"/>
                        <a:ea typeface="Cambria Math" panose="02040503050406030204"/>
                        <a:cs typeface="微软雅黑" panose="020B0503020204020204" charset="-122"/>
                      </a:rPr>
                      <m:t>𝑓</m:t>
                    </m:r>
                    <m:d>
                      <m:dPr>
                        <m:ctrlPr>
                          <a:rPr sz="1400" b="1" i="0">
                            <a:solidFill>
                              <a:srgbClr val="2563EB"/>
                            </a:solidFill>
                            <a:latin typeface="Cambria Math" panose="02040503050406030204"/>
                            <a:ea typeface="微软雅黑" panose="020B0503020204020204" charset="-122"/>
                            <a:cs typeface="微软雅黑" panose="020B0503020204020204" charset="-122"/>
                          </a:rPr>
                        </m:ctrlPr>
                      </m:dPr>
                      <m:e>
                        <m:r>
                          <a:rPr sz="1400" b="1" i="1">
                            <a:solidFill>
                              <a:srgbClr val="2563EB"/>
                            </a:solidFill>
                            <a:latin typeface="Cambria Math" panose="02040503050406030204"/>
                            <a:ea typeface="Cambria Math" panose="02040503050406030204"/>
                            <a:cs typeface="微软雅黑" panose="020B0503020204020204" charset="-122"/>
                          </a:rPr>
                          <m:t>𝑛</m:t>
                        </m:r>
                      </m:e>
                    </m:d>
                  </m:oMath>
                </a14:m>
                <a:r>
                  <a:rPr sz="1400" b="1" i="0">
                    <a:solidFill>
                      <a:srgbClr val="2563EB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与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sz="1400" b="1" i="0">
                            <a:solidFill>
                              <a:srgbClr val="2563EB"/>
                            </a:solidFill>
                            <a:latin typeface="Cambria Math" panose="02040503050406030204"/>
                            <a:ea typeface="微软雅黑" panose="020B0503020204020204" charset="-122"/>
                            <a:cs typeface="微软雅黑" panose="020B0503020204020204" charset="-122"/>
                          </a:rPr>
                        </m:ctrlPr>
                      </m:sSupPr>
                      <m:e>
                        <m:r>
                          <a:rPr sz="1400" b="1" i="1">
                            <a:solidFill>
                              <a:srgbClr val="2563EB"/>
                            </a:solidFill>
                            <a:latin typeface="Cambria Math" panose="02040503050406030204"/>
                            <a:ea typeface="Cambria Math" panose="02040503050406030204"/>
                            <a:cs typeface="微软雅黑" panose="020B0503020204020204" charset="-122"/>
                          </a:rPr>
                          <m:t>𝑛</m:t>
                        </m:r>
                      </m:e>
                      <m:sup>
                        <m:r>
                          <a:rPr sz="1400" b="1" i="1">
                            <a:solidFill>
                              <a:srgbClr val="2563EB"/>
                            </a:solidFill>
                            <a:latin typeface="Cambria Math" panose="02040503050406030204"/>
                            <a:ea typeface="Cambria Math" panose="02040503050406030204"/>
                            <a:cs typeface="微软雅黑" panose="020B0503020204020204" charset="-122"/>
                          </a:rPr>
                          <m:t>𝑝</m:t>
                        </m:r>
                      </m:sup>
                    </m:sSup>
                  </m:oMath>
                </a14:m>
                <a:r>
                  <a:rPr sz="1400" b="1" i="0">
                    <a:solidFill>
                      <a:srgbClr val="2563EB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，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sz="1400" b="1" i="0">
                        <a:solidFill>
                          <a:srgbClr val="2563EB"/>
                        </a:solidFill>
                        <a:latin typeface="Cambria Math" panose="02040503050406030204"/>
                        <a:ea typeface="Cambria Math" panose="02040503050406030204"/>
                        <a:cs typeface="微软雅黑" panose="020B0503020204020204" charset="-122"/>
                      </a:rPr>
                      <m:t>ε</m:t>
                    </m:r>
                    <m:r>
                      <a:rPr sz="1400" b="1" i="0">
                        <a:solidFill>
                          <a:srgbClr val="2563EB"/>
                        </a:solidFill>
                        <a:latin typeface="Cambria Math" panose="02040503050406030204"/>
                        <a:ea typeface="Cambria Math" panose="02040503050406030204"/>
                        <a:cs typeface="微软雅黑" panose="020B0503020204020204" charset="-122"/>
                      </a:rPr>
                      <m:t>&gt;</m:t>
                    </m:r>
                    <m:r>
                      <a:rPr sz="1400" b="1" i="0">
                        <a:solidFill>
                          <a:srgbClr val="2563EB"/>
                        </a:solidFill>
                        <a:latin typeface="Cambria Math" panose="02040503050406030204"/>
                        <a:ea typeface="Cambria Math" panose="02040503050406030204"/>
                        <a:cs typeface="微软雅黑" panose="020B0503020204020204" charset="-122"/>
                      </a:rPr>
                      <m:t>0</m:t>
                    </m:r>
                  </m:oMath>
                </a14:m>
                <a:r>
                  <a:rPr sz="1400" b="1" i="0">
                    <a:solidFill>
                      <a:srgbClr val="2563EB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，</a:t>
                </a:r>
                <a14:m>
                  <m:oMath xmlns:m="http://schemas.openxmlformats.org/officeDocument/2006/math">
                    <m:r>
                      <a:rPr sz="1400" b="1" i="1">
                        <a:solidFill>
                          <a:srgbClr val="2563EB"/>
                        </a:solidFill>
                        <a:latin typeface="Cambria Math" panose="02040503050406030204"/>
                        <a:ea typeface="Cambria Math" panose="02040503050406030204"/>
                        <a:cs typeface="微软雅黑" panose="020B0503020204020204" charset="-122"/>
                      </a:rPr>
                      <m:t>𝑘</m:t>
                    </m:r>
                    <m:r>
                      <a:rPr sz="1400" b="1" i="0">
                        <a:solidFill>
                          <a:srgbClr val="2563EB"/>
                        </a:solidFill>
                        <a:latin typeface="Cambria Math" panose="02040503050406030204"/>
                        <a:ea typeface="Cambria Math" panose="02040503050406030204"/>
                        <a:cs typeface="微软雅黑" panose="020B0503020204020204" charset="-122"/>
                      </a:rPr>
                      <m:t>≥</m:t>
                    </m:r>
                    <m:r>
                      <a:rPr sz="1400" b="1" i="0">
                        <a:solidFill>
                          <a:srgbClr val="2563EB"/>
                        </a:solidFill>
                        <a:latin typeface="Cambria Math" panose="02040503050406030204"/>
                        <a:ea typeface="Cambria Math" panose="02040503050406030204"/>
                        <a:cs typeface="微软雅黑" panose="020B0503020204020204" charset="-122"/>
                      </a:rPr>
                      <m:t>0</m:t>
                    </m:r>
                  </m:oMath>
                </a14:m>
                <a:endParaRPr sz="1400"/>
              </a:p>
            </p:txBody>
          </p:sp>
        </mc:Choice>
        <mc:Fallback>
          <p:sp>
            <p:nvSpPr>
              <p:cNvPr id="9" name="TextBox 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1248" y="1686153"/>
                <a:ext cx="10524744" cy="359664"/>
              </a:xfrm>
              <a:prstGeom prst="rect">
                <a:avLst/>
              </a:prstGeom>
              <a:blipFill rotWithShape="1">
                <a:blip r:embed="rId3"/>
                <a:stretch>
                  <a:fillRect l="-5" t="-63" r="1" b="13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Rounded Rectangle 9"/>
          <p:cNvSpPr>
            <a:spLocks noGrp="1"/>
          </p:cNvSpPr>
          <p:nvPr/>
        </p:nvSpPr>
        <p:spPr>
          <a:xfrm>
            <a:off x="731520" y="2423160"/>
            <a:ext cx="3474720" cy="23317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11" name="Rectangle 10"/>
          <p:cNvSpPr>
            <a:spLocks noGrp="1"/>
          </p:cNvSpPr>
          <p:nvPr/>
        </p:nvSpPr>
        <p:spPr>
          <a:xfrm>
            <a:off x="731520" y="2423160"/>
            <a:ext cx="73152" cy="2331720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2" name="TextBox 11"/>
              <p:cNvSpPr>
                <a:spLocks noGrp="1"/>
              </p:cNvSpPr>
              <p:nvPr/>
            </p:nvSpPr>
            <p:spPr>
              <a:xfrm>
                <a:off x="932688" y="2569464"/>
                <a:ext cx="3090672" cy="347472"/>
              </a:xfrm>
              <a:prstGeom prst="rect">
                <a:avLst/>
              </a:prstGeom>
              <a:noFill/>
            </p:spPr>
            <p:txBody>
              <a:bodyPr wrap="square" lIns="73152" tIns="73152" rIns="73152" bIns="73152" anchor="t">
                <a:spAutoFit/>
              </a:bodyPr>
              <a:lstStyle/>
              <a:p>
                <a:pPr algn="l">
                  <a:spcAft>
                    <a:spcPts val="500"/>
                  </a:spcAft>
                  <a:buNone/>
                </a:pPr>
                <a:r>
                  <a:rPr sz="1600" b="1" i="0">
                    <a:solidFill>
                      <a:srgbClr val="172554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情况</a:t>
                </a:r>
                <a:r>
                  <a:rPr sz="1600" b="1" i="0">
                    <a:solidFill>
                      <a:srgbClr val="172554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 1</a:t>
                </a:r>
                <a:r>
                  <a:rPr sz="1600" b="1" i="0">
                    <a:solidFill>
                      <a:srgbClr val="172554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：</a:t>
                </a:r>
                <a14:m>
                  <m:oMath xmlns:m="http://schemas.openxmlformats.org/officeDocument/2006/math">
                    <m:r>
                      <a:rPr sz="1600" b="1" i="1">
                        <a:solidFill>
                          <a:srgbClr val="172554"/>
                        </a:solidFill>
                        <a:latin typeface="Cambria Math" panose="02040503050406030204"/>
                        <a:ea typeface="Cambria Math" panose="02040503050406030204"/>
                        <a:cs typeface="微软雅黑" panose="020B0503020204020204" charset="-122"/>
                      </a:rPr>
                      <m:t>𝑓</m:t>
                    </m:r>
                    <m:d>
                      <m:dPr>
                        <m:ctrlPr>
                          <a:rPr sz="1600" b="1" i="0">
                            <a:solidFill>
                              <a:srgbClr val="172554"/>
                            </a:solidFill>
                            <a:latin typeface="Cambria Math" panose="02040503050406030204"/>
                            <a:ea typeface="微软雅黑" panose="020B0503020204020204" charset="-122"/>
                            <a:cs typeface="微软雅黑" panose="020B0503020204020204" charset="-122"/>
                          </a:rPr>
                        </m:ctrlPr>
                      </m:dPr>
                      <m:e>
                        <m:r>
                          <a:rPr sz="1600" b="1" i="1">
                            <a:solidFill>
                              <a:srgbClr val="172554"/>
                            </a:solidFill>
                            <a:latin typeface="Cambria Math" panose="02040503050406030204"/>
                            <a:ea typeface="Cambria Math" panose="02040503050406030204"/>
                            <a:cs typeface="微软雅黑" panose="020B0503020204020204" charset="-122"/>
                          </a:rPr>
                          <m:t>𝑛</m:t>
                        </m:r>
                      </m:e>
                    </m:d>
                  </m:oMath>
                </a14:m>
                <a:r>
                  <a:rPr sz="1600" b="1" i="0">
                    <a:solidFill>
                      <a:srgbClr val="172554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更慢</a:t>
                </a:r>
                <a:endParaRPr sz="1600"/>
              </a:p>
            </p:txBody>
          </p:sp>
        </mc:Choice>
        <mc:Fallback>
          <p:sp>
            <p:nvSpPr>
              <p:cNvPr id="12" name="TextBox 1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2688" y="2569464"/>
                <a:ext cx="3090672" cy="347472"/>
              </a:xfrm>
              <a:prstGeom prst="rect">
                <a:avLst/>
              </a:prstGeom>
              <a:blipFill rotWithShape="1">
                <a:blip r:embed="rId4"/>
                <a:stretch>
                  <a:fillRect l="-16" t="-73" b="11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3" name="TextBox 12"/>
              <p:cNvSpPr>
                <a:spLocks noGrp="1"/>
              </p:cNvSpPr>
              <p:nvPr/>
            </p:nvSpPr>
            <p:spPr>
              <a:xfrm>
                <a:off x="932688" y="2990088"/>
                <a:ext cx="3090672" cy="1035304"/>
              </a:xfrm>
              <a:prstGeom prst="rect">
                <a:avLst/>
              </a:prstGeom>
              <a:noFill/>
            </p:spPr>
            <p:txBody>
              <a:bodyPr wrap="square" lIns="73152" tIns="73152" rIns="73152" bIns="73152" anchor="t">
                <a:spAutoFit/>
              </a:bodyPr>
              <a:lstStyle/>
              <a:p>
                <a:pPr algn="l">
                  <a:spcAft>
                    <a:spcPts val="5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sz="1600" b="0" i="1">
                          <a:solidFill>
                            <a:srgbClr val="1E293B"/>
                          </a:solidFill>
                          <a:latin typeface="Cambria Math" panose="02040503050406030204"/>
                          <a:ea typeface="Cambria Math" panose="02040503050406030204"/>
                          <a:cs typeface="微软雅黑" panose="020B0503020204020204" charset="-122"/>
                        </a:rPr>
                        <m:t>𝑓</m:t>
                      </m:r>
                      <m:d>
                        <m:dPr>
                          <m:ctrlPr>
                            <a:rPr sz="1600" b="0" i="0">
                              <a:solidFill>
                                <a:srgbClr val="1E293B"/>
                              </a:solidFill>
                              <a:latin typeface="Cambria Math" panose="02040503050406030204"/>
                              <a:ea typeface="微软雅黑" panose="020B0503020204020204" charset="-122"/>
                              <a:cs typeface="微软雅黑" panose="020B0503020204020204" charset="-122"/>
                            </a:rPr>
                          </m:ctrlPr>
                        </m:dPr>
                        <m:e>
                          <m:r>
                            <a:rPr sz="1600" b="0" i="1">
                              <a:solidFill>
                                <a:srgbClr val="1E293B"/>
                              </a:solidFill>
                              <a:latin typeface="Cambria Math" panose="02040503050406030204"/>
                              <a:ea typeface="Cambria Math" panose="02040503050406030204"/>
                              <a:cs typeface="微软雅黑" panose="020B0503020204020204" charset="-122"/>
                            </a:rPr>
                            <m:t>𝑛</m:t>
                          </m:r>
                        </m:e>
                      </m:d>
                      <m:r>
                        <a:rPr sz="1600" b="0" i="0">
                          <a:solidFill>
                            <a:srgbClr val="1E293B"/>
                          </a:solidFill>
                          <a:latin typeface="Cambria Math" panose="02040503050406030204"/>
                          <a:ea typeface="Cambria Math" panose="02040503050406030204"/>
                          <a:cs typeface="微软雅黑" panose="020B0503020204020204" charset="-122"/>
                        </a:rPr>
                        <m:t>=</m:t>
                      </m:r>
                      <m:r>
                        <a:rPr sz="1600" b="0" i="1">
                          <a:solidFill>
                            <a:srgbClr val="1E293B"/>
                          </a:solidFill>
                          <a:latin typeface="Cambria Math" panose="02040503050406030204"/>
                          <a:ea typeface="Cambria Math" panose="02040503050406030204"/>
                          <a:cs typeface="微软雅黑" panose="020B0503020204020204" charset="-122"/>
                        </a:rPr>
                        <m:t>𝑂</m:t>
                      </m:r>
                      <m:d>
                        <m:dPr>
                          <m:ctrlPr>
                            <a:rPr sz="1600" b="0" i="0">
                              <a:solidFill>
                                <a:srgbClr val="1E293B"/>
                              </a:solidFill>
                              <a:latin typeface="Cambria Math" panose="02040503050406030204"/>
                              <a:ea typeface="微软雅黑" panose="020B0503020204020204" charset="-122"/>
                              <a:cs typeface="微软雅黑" panose="020B0503020204020204" charset="-122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sz="1600" b="0" i="0">
                                  <a:solidFill>
                                    <a:srgbClr val="1E293B"/>
                                  </a:solidFill>
                                  <a:latin typeface="Cambria Math" panose="02040503050406030204"/>
                                  <a:ea typeface="微软雅黑" panose="020B0503020204020204" charset="-122"/>
                                  <a:cs typeface="微软雅黑" panose="020B0503020204020204" charset="-122"/>
                                </a:rPr>
                              </m:ctrlPr>
                            </m:sSupPr>
                            <m:e>
                              <m:r>
                                <a:rPr sz="1600" b="0" i="1">
                                  <a:solidFill>
                                    <a:srgbClr val="1E293B"/>
                                  </a:solidFill>
                                  <a:latin typeface="Cambria Math" panose="02040503050406030204"/>
                                  <a:ea typeface="Cambria Math" panose="02040503050406030204"/>
                                  <a:cs typeface="微软雅黑" panose="020B0503020204020204" charset="-122"/>
                                </a:rPr>
                                <m:t>𝑛</m:t>
                              </m:r>
                            </m:e>
                            <m:sup>
                              <m:r>
                                <a:rPr sz="1600" b="0" i="1">
                                  <a:solidFill>
                                    <a:srgbClr val="1E293B"/>
                                  </a:solidFill>
                                  <a:latin typeface="Cambria Math" panose="02040503050406030204"/>
                                  <a:ea typeface="Cambria Math" panose="02040503050406030204"/>
                                  <a:cs typeface="微软雅黑" panose="020B0503020204020204" charset="-122"/>
                                </a:rPr>
                                <m:t>𝑝</m:t>
                              </m:r>
                              <m:r>
                                <a:rPr sz="1600" b="0" i="0">
                                  <a:solidFill>
                                    <a:srgbClr val="1E293B"/>
                                  </a:solidFill>
                                  <a:latin typeface="Cambria Math" panose="02040503050406030204"/>
                                  <a:ea typeface="Cambria Math" panose="02040503050406030204"/>
                                  <a:cs typeface="微软雅黑" panose="020B0503020204020204" charset="-122"/>
                                </a:rPr>
                                <m:t>−</m:t>
                              </m:r>
                              <m:r>
                                <m:rPr>
                                  <m:sty m:val="p"/>
                                </m:rPr>
                                <a:rPr sz="1600" b="0" i="0">
                                  <a:solidFill>
                                    <a:srgbClr val="1E293B"/>
                                  </a:solidFill>
                                  <a:latin typeface="Cambria Math" panose="02040503050406030204"/>
                                  <a:ea typeface="Cambria Math" panose="02040503050406030204"/>
                                  <a:cs typeface="微软雅黑" panose="020B0503020204020204" charset="-122"/>
                                </a:rPr>
                                <m:t>ε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sz="1600"/>
              </a:p>
              <a:p>
                <a:pPr algn="l">
                  <a:spcAft>
                    <a:spcPts val="500"/>
                  </a:spcAft>
                  <a:buNone/>
                </a:pPr>
              </a:p>
              <a:p>
                <a:pPr algn="l">
                  <a:spcAft>
                    <a:spcPts val="5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sz="1600" b="0" i="1">
                          <a:solidFill>
                            <a:srgbClr val="1E293B"/>
                          </a:solidFill>
                          <a:latin typeface="Cambria Math" panose="02040503050406030204"/>
                          <a:ea typeface="Cambria Math" panose="02040503050406030204"/>
                          <a:cs typeface="微软雅黑" panose="020B0503020204020204" charset="-122"/>
                        </a:rPr>
                        <m:t>𝑇</m:t>
                      </m:r>
                      <m:d>
                        <m:dPr>
                          <m:ctrlPr>
                            <a:rPr sz="1600" b="0" i="0">
                              <a:solidFill>
                                <a:srgbClr val="1E293B"/>
                              </a:solidFill>
                              <a:latin typeface="Cambria Math" panose="02040503050406030204"/>
                              <a:ea typeface="微软雅黑" panose="020B0503020204020204" charset="-122"/>
                              <a:cs typeface="微软雅黑" panose="020B0503020204020204" charset="-122"/>
                            </a:rPr>
                          </m:ctrlPr>
                        </m:dPr>
                        <m:e>
                          <m:r>
                            <a:rPr sz="1600" b="0" i="1">
                              <a:solidFill>
                                <a:srgbClr val="1E293B"/>
                              </a:solidFill>
                              <a:latin typeface="Cambria Math" panose="02040503050406030204"/>
                              <a:ea typeface="Cambria Math" panose="02040503050406030204"/>
                              <a:cs typeface="微软雅黑" panose="020B0503020204020204" charset="-122"/>
                            </a:rPr>
                            <m:t>𝑛</m:t>
                          </m:r>
                        </m:e>
                      </m:d>
                      <m:r>
                        <a:rPr sz="1600" b="0" i="0">
                          <a:solidFill>
                            <a:srgbClr val="1E293B"/>
                          </a:solidFill>
                          <a:latin typeface="Cambria Math" panose="02040503050406030204"/>
                          <a:ea typeface="Cambria Math" panose="02040503050406030204"/>
                          <a:cs typeface="微软雅黑" panose="020B0503020204020204" charset="-122"/>
                        </a:rPr>
                        <m:t>=</m:t>
                      </m:r>
                      <m:r>
                        <m:rPr>
                          <m:sty m:val="p"/>
                        </m:rPr>
                        <a:rPr sz="1600" b="0" i="0">
                          <a:solidFill>
                            <a:srgbClr val="1E293B"/>
                          </a:solidFill>
                          <a:latin typeface="Cambria Math" panose="02040503050406030204"/>
                          <a:ea typeface="Cambria Math" panose="02040503050406030204"/>
                          <a:cs typeface="微软雅黑" panose="020B0503020204020204" charset="-122"/>
                        </a:rPr>
                        <m:t>Θ</m:t>
                      </m:r>
                      <m:d>
                        <m:dPr>
                          <m:ctrlPr>
                            <a:rPr sz="1600" b="0" i="0">
                              <a:solidFill>
                                <a:srgbClr val="1E293B"/>
                              </a:solidFill>
                              <a:latin typeface="Cambria Math" panose="02040503050406030204"/>
                              <a:ea typeface="微软雅黑" panose="020B0503020204020204" charset="-122"/>
                              <a:cs typeface="微软雅黑" panose="020B0503020204020204" charset="-122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sz="1600" b="0" i="0">
                                  <a:solidFill>
                                    <a:srgbClr val="1E293B"/>
                                  </a:solidFill>
                                  <a:latin typeface="Cambria Math" panose="02040503050406030204"/>
                                  <a:ea typeface="微软雅黑" panose="020B0503020204020204" charset="-122"/>
                                  <a:cs typeface="微软雅黑" panose="020B0503020204020204" charset="-122"/>
                                </a:rPr>
                              </m:ctrlPr>
                            </m:sSupPr>
                            <m:e>
                              <m:r>
                                <a:rPr sz="1600" b="0" i="1">
                                  <a:solidFill>
                                    <a:srgbClr val="1E293B"/>
                                  </a:solidFill>
                                  <a:latin typeface="Cambria Math" panose="02040503050406030204"/>
                                  <a:ea typeface="Cambria Math" panose="02040503050406030204"/>
                                  <a:cs typeface="微软雅黑" panose="020B0503020204020204" charset="-122"/>
                                </a:rPr>
                                <m:t>𝑛</m:t>
                              </m:r>
                            </m:e>
                            <m:sup>
                              <m:r>
                                <a:rPr sz="1600" b="0" i="1">
                                  <a:solidFill>
                                    <a:srgbClr val="1E293B"/>
                                  </a:solidFill>
                                  <a:latin typeface="Cambria Math" panose="02040503050406030204"/>
                                  <a:ea typeface="Cambria Math" panose="02040503050406030204"/>
                                  <a:cs typeface="微软雅黑" panose="020B0503020204020204" charset="-122"/>
                                </a:rPr>
                                <m:t>𝑝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sz="1600"/>
              </a:p>
            </p:txBody>
          </p:sp>
        </mc:Choice>
        <mc:Fallback>
          <p:sp>
            <p:nvSpPr>
              <p:cNvPr id="13" name="TextBox 1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2688" y="2990088"/>
                <a:ext cx="3090672" cy="1035304"/>
              </a:xfrm>
              <a:prstGeom prst="rect">
                <a:avLst/>
              </a:prstGeom>
              <a:blipFill rotWithShape="1">
                <a:blip r:embed="rId5"/>
                <a:stretch>
                  <a:fillRect l="-16" t="-49" b="1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Rounded Rectangle 13"/>
          <p:cNvSpPr>
            <a:spLocks noGrp="1"/>
          </p:cNvSpPr>
          <p:nvPr/>
        </p:nvSpPr>
        <p:spPr>
          <a:xfrm>
            <a:off x="4343400" y="2423160"/>
            <a:ext cx="3474720" cy="23317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15" name="Rectangle 14"/>
          <p:cNvSpPr>
            <a:spLocks noGrp="1"/>
          </p:cNvSpPr>
          <p:nvPr/>
        </p:nvSpPr>
        <p:spPr>
          <a:xfrm>
            <a:off x="4343400" y="2423160"/>
            <a:ext cx="73152" cy="2331720"/>
          </a:xfrm>
          <a:prstGeom prst="rect">
            <a:avLst/>
          </a:prstGeom>
          <a:solidFill>
            <a:srgbClr val="0D9488"/>
          </a:solidFill>
          <a:ln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16" name="TextBox 15"/>
          <p:cNvSpPr>
            <a:spLocks noGrp="1"/>
          </p:cNvSpPr>
          <p:nvPr/>
        </p:nvSpPr>
        <p:spPr>
          <a:xfrm>
            <a:off x="4544568" y="2569464"/>
            <a:ext cx="3090672" cy="34747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500"/>
              </a:spcAft>
              <a:buNone/>
            </a:pPr>
            <a:r>
              <a:rPr sz="1600" b="1" i="0">
                <a:solidFill>
                  <a:srgbClr val="1725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情况 2：增长相当</a:t>
            </a:r>
            <a:endParaRPr sz="1600" b="1" i="0">
              <a:solidFill>
                <a:srgbClr val="17255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7" name="TextBox 16"/>
              <p:cNvSpPr>
                <a:spLocks noGrp="1"/>
              </p:cNvSpPr>
              <p:nvPr/>
            </p:nvSpPr>
            <p:spPr>
              <a:xfrm>
                <a:off x="4544568" y="2990088"/>
                <a:ext cx="3090672" cy="974344"/>
              </a:xfrm>
              <a:prstGeom prst="rect">
                <a:avLst/>
              </a:prstGeom>
              <a:noFill/>
            </p:spPr>
            <p:txBody>
              <a:bodyPr wrap="square" lIns="73152" tIns="73152" rIns="73152" bIns="73152" anchor="t">
                <a:spAutoFit/>
              </a:bodyPr>
              <a:lstStyle/>
              <a:p>
                <a:pPr algn="l">
                  <a:spcAft>
                    <a:spcPts val="5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sz="1400" b="0" i="1">
                          <a:solidFill>
                            <a:srgbClr val="1E293B"/>
                          </a:solidFill>
                          <a:latin typeface="Cambria Math" panose="02040503050406030204"/>
                          <a:ea typeface="Cambria Math" panose="02040503050406030204"/>
                          <a:cs typeface="微软雅黑" panose="020B0503020204020204" charset="-122"/>
                        </a:rPr>
                        <m:t>𝑓</m:t>
                      </m:r>
                      <m:d>
                        <m:dPr>
                          <m:ctrlPr>
                            <a:rPr sz="1400" b="0" i="0">
                              <a:solidFill>
                                <a:srgbClr val="1E293B"/>
                              </a:solidFill>
                              <a:latin typeface="Cambria Math" panose="02040503050406030204"/>
                              <a:ea typeface="微软雅黑" panose="020B0503020204020204" charset="-122"/>
                              <a:cs typeface="微软雅黑" panose="020B0503020204020204" charset="-122"/>
                            </a:rPr>
                          </m:ctrlPr>
                        </m:dPr>
                        <m:e>
                          <m:r>
                            <a:rPr sz="1400" b="0" i="1">
                              <a:solidFill>
                                <a:srgbClr val="1E293B"/>
                              </a:solidFill>
                              <a:latin typeface="Cambria Math" panose="02040503050406030204"/>
                              <a:ea typeface="Cambria Math" panose="02040503050406030204"/>
                              <a:cs typeface="微软雅黑" panose="020B0503020204020204" charset="-122"/>
                            </a:rPr>
                            <m:t>𝑛</m:t>
                          </m:r>
                        </m:e>
                      </m:d>
                      <m:r>
                        <a:rPr sz="1400" b="0" i="0">
                          <a:solidFill>
                            <a:srgbClr val="1E293B"/>
                          </a:solidFill>
                          <a:latin typeface="Cambria Math" panose="02040503050406030204"/>
                          <a:ea typeface="Cambria Math" panose="02040503050406030204"/>
                          <a:cs typeface="微软雅黑" panose="020B0503020204020204" charset="-122"/>
                        </a:rPr>
                        <m:t>=</m:t>
                      </m:r>
                      <m:r>
                        <m:rPr>
                          <m:sty m:val="p"/>
                        </m:rPr>
                        <a:rPr sz="1400" b="0" i="0">
                          <a:solidFill>
                            <a:srgbClr val="1E293B"/>
                          </a:solidFill>
                          <a:latin typeface="Cambria Math" panose="02040503050406030204"/>
                          <a:ea typeface="Cambria Math" panose="02040503050406030204"/>
                          <a:cs typeface="微软雅黑" panose="020B0503020204020204" charset="-122"/>
                        </a:rPr>
                        <m:t>Θ</m:t>
                      </m:r>
                      <m:d>
                        <m:dPr>
                          <m:ctrlPr>
                            <a:rPr sz="1400" b="0" i="0">
                              <a:solidFill>
                                <a:srgbClr val="1E293B"/>
                              </a:solidFill>
                              <a:latin typeface="Cambria Math" panose="02040503050406030204"/>
                              <a:ea typeface="微软雅黑" panose="020B0503020204020204" charset="-122"/>
                              <a:cs typeface="微软雅黑" panose="020B0503020204020204" charset="-122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sz="1400" b="0" i="0">
                                  <a:solidFill>
                                    <a:srgbClr val="1E293B"/>
                                  </a:solidFill>
                                  <a:latin typeface="Cambria Math" panose="02040503050406030204"/>
                                  <a:ea typeface="微软雅黑" panose="020B0503020204020204" charset="-122"/>
                                  <a:cs typeface="微软雅黑" panose="020B0503020204020204" charset="-122"/>
                                </a:rPr>
                              </m:ctrlPr>
                            </m:sSupPr>
                            <m:e>
                              <m:r>
                                <a:rPr sz="1400" b="0" i="1">
                                  <a:solidFill>
                                    <a:srgbClr val="1E293B"/>
                                  </a:solidFill>
                                  <a:latin typeface="Cambria Math" panose="02040503050406030204"/>
                                  <a:ea typeface="Cambria Math" panose="02040503050406030204"/>
                                  <a:cs typeface="微软雅黑" panose="020B0503020204020204" charset="-122"/>
                                </a:rPr>
                                <m:t>𝑛</m:t>
                              </m:r>
                            </m:e>
                            <m:sup>
                              <m:r>
                                <a:rPr sz="1400" b="0" i="1">
                                  <a:solidFill>
                                    <a:srgbClr val="1E293B"/>
                                  </a:solidFill>
                                  <a:latin typeface="Cambria Math" panose="02040503050406030204"/>
                                  <a:ea typeface="Cambria Math" panose="02040503050406030204"/>
                                  <a:cs typeface="微软雅黑" panose="020B0503020204020204" charset="-122"/>
                                </a:rPr>
                                <m:t>𝑝</m:t>
                              </m:r>
                            </m:sup>
                          </m:sSup>
                          <m:sSup>
                            <m:sSupPr>
                              <m:ctrlPr>
                                <a:rPr sz="1400" b="0" i="0">
                                  <a:solidFill>
                                    <a:srgbClr val="1E293B"/>
                                  </a:solidFill>
                                  <a:latin typeface="Cambria Math" panose="02040503050406030204"/>
                                  <a:ea typeface="微软雅黑" panose="020B0503020204020204" charset="-122"/>
                                  <a:cs typeface="微软雅黑" panose="020B0503020204020204" charset="-122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sz="1400" b="0" i="0">
                                  <a:solidFill>
                                    <a:srgbClr val="1E293B"/>
                                  </a:solidFill>
                                  <a:latin typeface="Cambria Math" panose="02040503050406030204"/>
                                  <a:ea typeface="Cambria Math" panose="02040503050406030204"/>
                                  <a:cs typeface="微软雅黑" panose="020B0503020204020204" charset="-122"/>
                                </a:rPr>
                                <m:t>lg</m:t>
                              </m:r>
                            </m:e>
                            <m:sup>
                              <m:r>
                                <a:rPr sz="1400" b="0" i="1">
                                  <a:solidFill>
                                    <a:srgbClr val="1E293B"/>
                                  </a:solidFill>
                                  <a:latin typeface="Cambria Math" panose="02040503050406030204"/>
                                  <a:ea typeface="Cambria Math" panose="02040503050406030204"/>
                                  <a:cs typeface="微软雅黑" panose="020B0503020204020204" charset="-122"/>
                                </a:rPr>
                                <m:t>𝑘</m:t>
                              </m:r>
                            </m:sup>
                          </m:sSup>
                          <m:r>
                            <a:rPr sz="1400" b="0" i="1">
                              <a:solidFill>
                                <a:srgbClr val="1E293B"/>
                              </a:solidFill>
                              <a:latin typeface="Cambria Math" panose="02040503050406030204"/>
                              <a:ea typeface="Cambria Math" panose="02040503050406030204"/>
                              <a:cs typeface="微软雅黑" panose="020B0503020204020204" charset="-122"/>
                            </a:rPr>
                            <m:t>𝑛</m:t>
                          </m:r>
                        </m:e>
                      </m:d>
                    </m:oMath>
                  </m:oMathPara>
                </a14:m>
                <a:endParaRPr sz="1400"/>
              </a:p>
              <a:p>
                <a:pPr algn="l">
                  <a:spcAft>
                    <a:spcPts val="500"/>
                  </a:spcAft>
                  <a:buNone/>
                </a:pPr>
              </a:p>
              <a:p>
                <a:pPr algn="l">
                  <a:spcAft>
                    <a:spcPts val="5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sz="1400" b="0" i="1">
                          <a:solidFill>
                            <a:srgbClr val="1E293B"/>
                          </a:solidFill>
                          <a:latin typeface="Cambria Math" panose="02040503050406030204"/>
                          <a:ea typeface="Cambria Math" panose="02040503050406030204"/>
                          <a:cs typeface="微软雅黑" panose="020B0503020204020204" charset="-122"/>
                        </a:rPr>
                        <m:t>𝑇</m:t>
                      </m:r>
                      <m:d>
                        <m:dPr>
                          <m:ctrlPr>
                            <a:rPr sz="1400" b="0" i="0">
                              <a:solidFill>
                                <a:srgbClr val="1E293B"/>
                              </a:solidFill>
                              <a:latin typeface="Cambria Math" panose="02040503050406030204"/>
                              <a:ea typeface="微软雅黑" panose="020B0503020204020204" charset="-122"/>
                              <a:cs typeface="微软雅黑" panose="020B0503020204020204" charset="-122"/>
                            </a:rPr>
                          </m:ctrlPr>
                        </m:dPr>
                        <m:e>
                          <m:r>
                            <a:rPr sz="1400" b="0" i="1">
                              <a:solidFill>
                                <a:srgbClr val="1E293B"/>
                              </a:solidFill>
                              <a:latin typeface="Cambria Math" panose="02040503050406030204"/>
                              <a:ea typeface="Cambria Math" panose="02040503050406030204"/>
                              <a:cs typeface="微软雅黑" panose="020B0503020204020204" charset="-122"/>
                            </a:rPr>
                            <m:t>𝑛</m:t>
                          </m:r>
                        </m:e>
                      </m:d>
                      <m:r>
                        <a:rPr sz="1400" b="0" i="0">
                          <a:solidFill>
                            <a:srgbClr val="1E293B"/>
                          </a:solidFill>
                          <a:latin typeface="Cambria Math" panose="02040503050406030204"/>
                          <a:ea typeface="Cambria Math" panose="02040503050406030204"/>
                          <a:cs typeface="微软雅黑" panose="020B0503020204020204" charset="-122"/>
                        </a:rPr>
                        <m:t>=</m:t>
                      </m:r>
                      <m:r>
                        <m:rPr>
                          <m:sty m:val="p"/>
                        </m:rPr>
                        <a:rPr sz="1400" b="0" i="0">
                          <a:solidFill>
                            <a:srgbClr val="1E293B"/>
                          </a:solidFill>
                          <a:latin typeface="Cambria Math" panose="02040503050406030204"/>
                          <a:ea typeface="Cambria Math" panose="02040503050406030204"/>
                          <a:cs typeface="微软雅黑" panose="020B0503020204020204" charset="-122"/>
                        </a:rPr>
                        <m:t>Θ</m:t>
                      </m:r>
                      <m:d>
                        <m:dPr>
                          <m:ctrlPr>
                            <a:rPr sz="1400" b="0" i="0">
                              <a:solidFill>
                                <a:srgbClr val="1E293B"/>
                              </a:solidFill>
                              <a:latin typeface="Cambria Math" panose="02040503050406030204"/>
                              <a:ea typeface="微软雅黑" panose="020B0503020204020204" charset="-122"/>
                              <a:cs typeface="微软雅黑" panose="020B0503020204020204" charset="-122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sz="1400" b="0" i="0">
                                  <a:solidFill>
                                    <a:srgbClr val="1E293B"/>
                                  </a:solidFill>
                                  <a:latin typeface="Cambria Math" panose="02040503050406030204"/>
                                  <a:ea typeface="微软雅黑" panose="020B0503020204020204" charset="-122"/>
                                  <a:cs typeface="微软雅黑" panose="020B0503020204020204" charset="-122"/>
                                </a:rPr>
                              </m:ctrlPr>
                            </m:sSupPr>
                            <m:e>
                              <m:r>
                                <a:rPr sz="1400" b="0" i="1">
                                  <a:solidFill>
                                    <a:srgbClr val="1E293B"/>
                                  </a:solidFill>
                                  <a:latin typeface="Cambria Math" panose="02040503050406030204"/>
                                  <a:ea typeface="Cambria Math" panose="02040503050406030204"/>
                                  <a:cs typeface="微软雅黑" panose="020B0503020204020204" charset="-122"/>
                                </a:rPr>
                                <m:t>𝑛</m:t>
                              </m:r>
                            </m:e>
                            <m:sup>
                              <m:r>
                                <a:rPr sz="1400" b="0" i="1">
                                  <a:solidFill>
                                    <a:srgbClr val="1E293B"/>
                                  </a:solidFill>
                                  <a:latin typeface="Cambria Math" panose="02040503050406030204"/>
                                  <a:ea typeface="Cambria Math" panose="02040503050406030204"/>
                                  <a:cs typeface="微软雅黑" panose="020B0503020204020204" charset="-122"/>
                                </a:rPr>
                                <m:t>𝑝</m:t>
                              </m:r>
                            </m:sup>
                          </m:sSup>
                          <m:sSup>
                            <m:sSupPr>
                              <m:ctrlPr>
                                <a:rPr sz="1400" b="0" i="0">
                                  <a:solidFill>
                                    <a:srgbClr val="1E293B"/>
                                  </a:solidFill>
                                  <a:latin typeface="Cambria Math" panose="02040503050406030204"/>
                                  <a:ea typeface="微软雅黑" panose="020B0503020204020204" charset="-122"/>
                                  <a:cs typeface="微软雅黑" panose="020B0503020204020204" charset="-122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sz="1400" b="0" i="0">
                                  <a:solidFill>
                                    <a:srgbClr val="1E293B"/>
                                  </a:solidFill>
                                  <a:latin typeface="Cambria Math" panose="02040503050406030204"/>
                                  <a:ea typeface="Cambria Math" panose="02040503050406030204"/>
                                  <a:cs typeface="微软雅黑" panose="020B0503020204020204" charset="-122"/>
                                </a:rPr>
                                <m:t>lg</m:t>
                              </m:r>
                            </m:e>
                            <m:sup>
                              <m:r>
                                <a:rPr sz="1400" b="0" i="1">
                                  <a:solidFill>
                                    <a:srgbClr val="1E293B"/>
                                  </a:solidFill>
                                  <a:latin typeface="Cambria Math" panose="02040503050406030204"/>
                                  <a:ea typeface="Cambria Math" panose="02040503050406030204"/>
                                  <a:cs typeface="微软雅黑" panose="020B0503020204020204" charset="-122"/>
                                </a:rPr>
                                <m:t>𝑘</m:t>
                              </m:r>
                              <m:r>
                                <a:rPr sz="1400" b="0" i="0">
                                  <a:solidFill>
                                    <a:srgbClr val="1E293B"/>
                                  </a:solidFill>
                                  <a:latin typeface="Cambria Math" panose="02040503050406030204"/>
                                  <a:ea typeface="Cambria Math" panose="02040503050406030204"/>
                                  <a:cs typeface="微软雅黑" panose="020B0503020204020204" charset="-122"/>
                                </a:rPr>
                                <m:t>+</m:t>
                              </m:r>
                              <m:r>
                                <a:rPr sz="1400" b="0" i="0">
                                  <a:solidFill>
                                    <a:srgbClr val="1E293B"/>
                                  </a:solidFill>
                                  <a:latin typeface="Cambria Math" panose="02040503050406030204"/>
                                  <a:ea typeface="Cambria Math" panose="02040503050406030204"/>
                                  <a:cs typeface="微软雅黑" panose="020B0503020204020204" charset="-122"/>
                                </a:rPr>
                                <m:t>1</m:t>
                              </m:r>
                            </m:sup>
                          </m:sSup>
                          <m:r>
                            <a:rPr sz="1400" b="0" i="1">
                              <a:solidFill>
                                <a:srgbClr val="1E293B"/>
                              </a:solidFill>
                              <a:latin typeface="Cambria Math" panose="02040503050406030204"/>
                              <a:ea typeface="Cambria Math" panose="02040503050406030204"/>
                              <a:cs typeface="微软雅黑" panose="020B0503020204020204" charset="-122"/>
                            </a:rPr>
                            <m:t>𝑛</m:t>
                          </m:r>
                        </m:e>
                      </m:d>
                    </m:oMath>
                  </m:oMathPara>
                </a14:m>
                <a:endParaRPr sz="1400"/>
              </a:p>
            </p:txBody>
          </p:sp>
        </mc:Choice>
        <mc:Fallback>
          <p:sp>
            <p:nvSpPr>
              <p:cNvPr id="17" name="TextBox 1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44568" y="2990088"/>
                <a:ext cx="3090672" cy="974344"/>
              </a:xfrm>
              <a:prstGeom prst="rect">
                <a:avLst/>
              </a:prstGeom>
              <a:blipFill rotWithShape="1">
                <a:blip r:embed="rId6"/>
                <a:stretch>
                  <a:fillRect l="-16" t="-52" b="1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Rounded Rectangle 17"/>
          <p:cNvSpPr>
            <a:spLocks noGrp="1"/>
          </p:cNvSpPr>
          <p:nvPr/>
        </p:nvSpPr>
        <p:spPr>
          <a:xfrm>
            <a:off x="7955279" y="2423160"/>
            <a:ext cx="3474720" cy="23317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19" name="Rectangle 18"/>
          <p:cNvSpPr>
            <a:spLocks noGrp="1"/>
          </p:cNvSpPr>
          <p:nvPr/>
        </p:nvSpPr>
        <p:spPr>
          <a:xfrm>
            <a:off x="7955279" y="2423160"/>
            <a:ext cx="73152" cy="2331720"/>
          </a:xfrm>
          <a:prstGeom prst="rect">
            <a:avLst/>
          </a:prstGeom>
          <a:solidFill>
            <a:srgbClr val="EA580C"/>
          </a:solidFill>
          <a:ln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0" name="TextBox 19"/>
              <p:cNvSpPr>
                <a:spLocks noGrp="1"/>
              </p:cNvSpPr>
              <p:nvPr/>
            </p:nvSpPr>
            <p:spPr>
              <a:xfrm>
                <a:off x="8156448" y="2569464"/>
                <a:ext cx="3090672" cy="347472"/>
              </a:xfrm>
              <a:prstGeom prst="rect">
                <a:avLst/>
              </a:prstGeom>
              <a:noFill/>
            </p:spPr>
            <p:txBody>
              <a:bodyPr wrap="square" lIns="73152" tIns="73152" rIns="73152" bIns="73152" anchor="t">
                <a:spAutoFit/>
              </a:bodyPr>
              <a:lstStyle/>
              <a:p>
                <a:pPr algn="l">
                  <a:spcAft>
                    <a:spcPts val="500"/>
                  </a:spcAft>
                  <a:buNone/>
                </a:pPr>
                <a:r>
                  <a:rPr sz="1600" b="1" i="0">
                    <a:solidFill>
                      <a:srgbClr val="172554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情况</a:t>
                </a:r>
                <a:r>
                  <a:rPr sz="1600" b="1" i="0">
                    <a:solidFill>
                      <a:srgbClr val="172554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 3</a:t>
                </a:r>
                <a:r>
                  <a:rPr sz="1600" b="1" i="0">
                    <a:solidFill>
                      <a:srgbClr val="172554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：</a:t>
                </a:r>
                <a14:m>
                  <m:oMath xmlns:m="http://schemas.openxmlformats.org/officeDocument/2006/math">
                    <m:r>
                      <a:rPr sz="1600" b="1" i="1">
                        <a:solidFill>
                          <a:srgbClr val="172554"/>
                        </a:solidFill>
                        <a:latin typeface="Cambria Math" panose="02040503050406030204"/>
                        <a:ea typeface="Cambria Math" panose="02040503050406030204"/>
                        <a:cs typeface="微软雅黑" panose="020B0503020204020204" charset="-122"/>
                      </a:rPr>
                      <m:t>𝑓</m:t>
                    </m:r>
                    <m:d>
                      <m:dPr>
                        <m:ctrlPr>
                          <a:rPr sz="1600" b="1" i="0">
                            <a:solidFill>
                              <a:srgbClr val="172554"/>
                            </a:solidFill>
                            <a:latin typeface="Cambria Math" panose="02040503050406030204"/>
                            <a:ea typeface="微软雅黑" panose="020B0503020204020204" charset="-122"/>
                            <a:cs typeface="微软雅黑" panose="020B0503020204020204" charset="-122"/>
                          </a:rPr>
                        </m:ctrlPr>
                      </m:dPr>
                      <m:e>
                        <m:r>
                          <a:rPr sz="1600" b="1" i="1">
                            <a:solidFill>
                              <a:srgbClr val="172554"/>
                            </a:solidFill>
                            <a:latin typeface="Cambria Math" panose="02040503050406030204"/>
                            <a:ea typeface="Cambria Math" panose="02040503050406030204"/>
                            <a:cs typeface="微软雅黑" panose="020B0503020204020204" charset="-122"/>
                          </a:rPr>
                          <m:t>𝑛</m:t>
                        </m:r>
                      </m:e>
                    </m:d>
                  </m:oMath>
                </a14:m>
                <a:r>
                  <a:rPr sz="1600" b="1" i="0">
                    <a:solidFill>
                      <a:srgbClr val="172554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更快</a:t>
                </a:r>
                <a:endParaRPr sz="1600"/>
              </a:p>
            </p:txBody>
          </p:sp>
        </mc:Choice>
        <mc:Fallback>
          <p:sp>
            <p:nvSpPr>
              <p:cNvPr id="20" name="TextBox 1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56448" y="2569464"/>
                <a:ext cx="3090672" cy="347472"/>
              </a:xfrm>
              <a:prstGeom prst="rect">
                <a:avLst/>
              </a:prstGeom>
              <a:blipFill rotWithShape="1">
                <a:blip r:embed="rId7"/>
                <a:stretch>
                  <a:fillRect l="-16" t="-73" b="11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1" name="TextBox 20"/>
              <p:cNvSpPr>
                <a:spLocks noGrp="1"/>
              </p:cNvSpPr>
              <p:nvPr/>
            </p:nvSpPr>
            <p:spPr>
              <a:xfrm>
                <a:off x="8156448" y="2990088"/>
                <a:ext cx="3090672" cy="1251204"/>
              </a:xfrm>
              <a:prstGeom prst="rect">
                <a:avLst/>
              </a:prstGeom>
              <a:noFill/>
            </p:spPr>
            <p:txBody>
              <a:bodyPr wrap="square" lIns="73152" tIns="73152" rIns="73152" bIns="73152" anchor="t">
                <a:spAutoFit/>
              </a:bodyPr>
              <a:lstStyle/>
              <a:p>
                <a:pPr algn="l">
                  <a:spcAft>
                    <a:spcPts val="5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sz="1400" b="0" i="1">
                          <a:solidFill>
                            <a:srgbClr val="1E293B"/>
                          </a:solidFill>
                          <a:latin typeface="Cambria Math" panose="02040503050406030204"/>
                          <a:ea typeface="Cambria Math" panose="02040503050406030204"/>
                          <a:cs typeface="微软雅黑" panose="020B0503020204020204" charset="-122"/>
                        </a:rPr>
                        <m:t>𝑓</m:t>
                      </m:r>
                      <m:d>
                        <m:dPr>
                          <m:ctrlPr>
                            <a:rPr sz="1400" b="0" i="0">
                              <a:solidFill>
                                <a:srgbClr val="1E293B"/>
                              </a:solidFill>
                              <a:latin typeface="Cambria Math" panose="02040503050406030204"/>
                              <a:ea typeface="微软雅黑" panose="020B0503020204020204" charset="-122"/>
                              <a:cs typeface="微软雅黑" panose="020B0503020204020204" charset="-122"/>
                            </a:rPr>
                          </m:ctrlPr>
                        </m:dPr>
                        <m:e>
                          <m:r>
                            <a:rPr sz="1400" b="0" i="1">
                              <a:solidFill>
                                <a:srgbClr val="1E293B"/>
                              </a:solidFill>
                              <a:latin typeface="Cambria Math" panose="02040503050406030204"/>
                              <a:ea typeface="Cambria Math" panose="02040503050406030204"/>
                              <a:cs typeface="微软雅黑" panose="020B0503020204020204" charset="-122"/>
                            </a:rPr>
                            <m:t>𝑛</m:t>
                          </m:r>
                        </m:e>
                      </m:d>
                      <m:r>
                        <a:rPr sz="1400" b="0" i="0">
                          <a:solidFill>
                            <a:srgbClr val="1E293B"/>
                          </a:solidFill>
                          <a:latin typeface="Cambria Math" panose="02040503050406030204"/>
                          <a:ea typeface="Cambria Math" panose="02040503050406030204"/>
                          <a:cs typeface="微软雅黑" panose="020B0503020204020204" charset="-122"/>
                        </a:rPr>
                        <m:t>=</m:t>
                      </m:r>
                      <m:r>
                        <m:rPr>
                          <m:sty m:val="p"/>
                        </m:rPr>
                        <a:rPr sz="1400" b="0" i="0">
                          <a:solidFill>
                            <a:srgbClr val="1E293B"/>
                          </a:solidFill>
                          <a:latin typeface="Cambria Math" panose="02040503050406030204"/>
                          <a:ea typeface="Cambria Math" panose="02040503050406030204"/>
                          <a:cs typeface="微软雅黑" panose="020B0503020204020204" charset="-122"/>
                        </a:rPr>
                        <m:t>Ω</m:t>
                      </m:r>
                      <m:d>
                        <m:dPr>
                          <m:ctrlPr>
                            <a:rPr sz="1400" b="0" i="0">
                              <a:solidFill>
                                <a:srgbClr val="1E293B"/>
                              </a:solidFill>
                              <a:latin typeface="Cambria Math" panose="02040503050406030204"/>
                              <a:ea typeface="微软雅黑" panose="020B0503020204020204" charset="-122"/>
                              <a:cs typeface="微软雅黑" panose="020B0503020204020204" charset="-122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sz="1400" b="0" i="0">
                                  <a:solidFill>
                                    <a:srgbClr val="1E293B"/>
                                  </a:solidFill>
                                  <a:latin typeface="Cambria Math" panose="02040503050406030204"/>
                                  <a:ea typeface="微软雅黑" panose="020B0503020204020204" charset="-122"/>
                                  <a:cs typeface="微软雅黑" panose="020B0503020204020204" charset="-122"/>
                                </a:rPr>
                              </m:ctrlPr>
                            </m:sSupPr>
                            <m:e>
                              <m:r>
                                <a:rPr sz="1400" b="0" i="1">
                                  <a:solidFill>
                                    <a:srgbClr val="1E293B"/>
                                  </a:solidFill>
                                  <a:latin typeface="Cambria Math" panose="02040503050406030204"/>
                                  <a:ea typeface="Cambria Math" panose="02040503050406030204"/>
                                  <a:cs typeface="微软雅黑" panose="020B0503020204020204" charset="-122"/>
                                </a:rPr>
                                <m:t>𝑛</m:t>
                              </m:r>
                            </m:e>
                            <m:sup>
                              <m:r>
                                <a:rPr sz="1400" b="0" i="1">
                                  <a:solidFill>
                                    <a:srgbClr val="1E293B"/>
                                  </a:solidFill>
                                  <a:latin typeface="Cambria Math" panose="02040503050406030204"/>
                                  <a:ea typeface="Cambria Math" panose="02040503050406030204"/>
                                  <a:cs typeface="微软雅黑" panose="020B0503020204020204" charset="-122"/>
                                </a:rPr>
                                <m:t>𝑝</m:t>
                              </m:r>
                              <m:r>
                                <a:rPr sz="1400" b="0" i="0">
                                  <a:solidFill>
                                    <a:srgbClr val="1E293B"/>
                                  </a:solidFill>
                                  <a:latin typeface="Cambria Math" panose="02040503050406030204"/>
                                  <a:ea typeface="Cambria Math" panose="02040503050406030204"/>
                                  <a:cs typeface="微软雅黑" panose="020B0503020204020204" charset="-122"/>
                                </a:rPr>
                                <m:t>+</m:t>
                              </m:r>
                              <m:r>
                                <m:rPr>
                                  <m:sty m:val="p"/>
                                </m:rPr>
                                <a:rPr sz="1400" b="0" i="0">
                                  <a:solidFill>
                                    <a:srgbClr val="1E293B"/>
                                  </a:solidFill>
                                  <a:latin typeface="Cambria Math" panose="02040503050406030204"/>
                                  <a:ea typeface="Cambria Math" panose="02040503050406030204"/>
                                  <a:cs typeface="微软雅黑" panose="020B0503020204020204" charset="-122"/>
                                </a:rPr>
                                <m:t>ε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sz="1400"/>
              </a:p>
              <a:p>
                <a:pPr algn="l">
                  <a:spcAft>
                    <a:spcPts val="500"/>
                  </a:spcAft>
                  <a:buNone/>
                </a:pPr>
                <a14:m>
                  <m:oMath xmlns:m="http://schemas.openxmlformats.org/officeDocument/2006/math">
                    <m:r>
                      <a:rPr sz="1400" b="0" i="1">
                        <a:solidFill>
                          <a:srgbClr val="1E293B"/>
                        </a:solidFill>
                        <a:latin typeface="Cambria Math" panose="02040503050406030204"/>
                        <a:ea typeface="Cambria Math" panose="02040503050406030204"/>
                        <a:cs typeface="微软雅黑" panose="020B0503020204020204" charset="-122"/>
                      </a:rPr>
                      <m:t>𝑎</m:t>
                    </m:r>
                    <m:r>
                      <a:rPr sz="1400" b="0" i="1">
                        <a:solidFill>
                          <a:srgbClr val="1E293B"/>
                        </a:solidFill>
                        <a:latin typeface="Cambria Math" panose="02040503050406030204"/>
                        <a:ea typeface="Cambria Math" panose="02040503050406030204"/>
                        <a:cs typeface="微软雅黑" panose="020B0503020204020204" charset="-122"/>
                      </a:rPr>
                      <m:t>𝑓</m:t>
                    </m:r>
                    <m:d>
                      <m:dPr>
                        <m:ctrlPr>
                          <a:rPr sz="1400" b="0" i="0">
                            <a:solidFill>
                              <a:srgbClr val="1E293B"/>
                            </a:solidFill>
                            <a:latin typeface="Cambria Math" panose="02040503050406030204"/>
                            <a:ea typeface="微软雅黑" panose="020B0503020204020204" charset="-122"/>
                            <a:cs typeface="微软雅黑" panose="020B0503020204020204" charset="-122"/>
                          </a:rPr>
                        </m:ctrlPr>
                      </m:dPr>
                      <m:e>
                        <m:f>
                          <m:fPr>
                            <m:ctrlPr>
                              <a:rPr sz="1400" b="0" i="0">
                                <a:solidFill>
                                  <a:srgbClr val="1E293B"/>
                                </a:solidFill>
                                <a:latin typeface="Cambria Math" panose="02040503050406030204"/>
                                <a:ea typeface="微软雅黑" panose="020B0503020204020204" charset="-122"/>
                                <a:cs typeface="微软雅黑" panose="020B0503020204020204" charset="-122"/>
                              </a:rPr>
                            </m:ctrlPr>
                          </m:fPr>
                          <m:num>
                            <m:r>
                              <a:rPr sz="1400" b="0" i="1">
                                <a:solidFill>
                                  <a:srgbClr val="1E293B"/>
                                </a:solidFill>
                                <a:latin typeface="Cambria Math" panose="02040503050406030204"/>
                                <a:ea typeface="Cambria Math" panose="02040503050406030204"/>
                                <a:cs typeface="微软雅黑" panose="020B0503020204020204" charset="-122"/>
                              </a:rPr>
                              <m:t>𝑛</m:t>
                            </m:r>
                          </m:num>
                          <m:den>
                            <m:r>
                              <a:rPr sz="1400" b="0" i="1">
                                <a:solidFill>
                                  <a:srgbClr val="1E293B"/>
                                </a:solidFill>
                                <a:latin typeface="Cambria Math" panose="02040503050406030204"/>
                                <a:ea typeface="Cambria Math" panose="02040503050406030204"/>
                                <a:cs typeface="微软雅黑" panose="020B0503020204020204" charset="-122"/>
                              </a:rPr>
                              <m:t>𝑏</m:t>
                            </m:r>
                          </m:den>
                        </m:f>
                      </m:e>
                    </m:d>
                    <m:r>
                      <a:rPr sz="1400" b="0" i="0">
                        <a:solidFill>
                          <a:srgbClr val="1E293B"/>
                        </a:solidFill>
                        <a:latin typeface="Cambria Math" panose="02040503050406030204"/>
                        <a:ea typeface="Cambria Math" panose="02040503050406030204"/>
                        <a:cs typeface="微软雅黑" panose="020B0503020204020204" charset="-122"/>
                      </a:rPr>
                      <m:t>≤</m:t>
                    </m:r>
                    <m:r>
                      <a:rPr sz="1400" b="0" i="1">
                        <a:solidFill>
                          <a:srgbClr val="1E293B"/>
                        </a:solidFill>
                        <a:latin typeface="Cambria Math" panose="02040503050406030204"/>
                        <a:ea typeface="Cambria Math" panose="02040503050406030204"/>
                        <a:cs typeface="微软雅黑" panose="020B0503020204020204" charset="-122"/>
                      </a:rPr>
                      <m:t>𝑐</m:t>
                    </m:r>
                    <m:r>
                      <a:rPr sz="1400" b="0" i="1">
                        <a:solidFill>
                          <a:srgbClr val="1E293B"/>
                        </a:solidFill>
                        <a:latin typeface="Cambria Math" panose="02040503050406030204"/>
                        <a:ea typeface="Cambria Math" panose="02040503050406030204"/>
                        <a:cs typeface="微软雅黑" panose="020B0503020204020204" charset="-122"/>
                      </a:rPr>
                      <m:t>𝑓</m:t>
                    </m:r>
                    <m:d>
                      <m:dPr>
                        <m:ctrlPr>
                          <a:rPr sz="1400" b="0" i="0">
                            <a:solidFill>
                              <a:srgbClr val="1E293B"/>
                            </a:solidFill>
                            <a:latin typeface="Cambria Math" panose="02040503050406030204"/>
                            <a:ea typeface="微软雅黑" panose="020B0503020204020204" charset="-122"/>
                            <a:cs typeface="微软雅黑" panose="020B0503020204020204" charset="-122"/>
                          </a:rPr>
                        </m:ctrlPr>
                      </m:dPr>
                      <m:e>
                        <m:r>
                          <a:rPr sz="1400" b="0" i="1">
                            <a:solidFill>
                              <a:srgbClr val="1E293B"/>
                            </a:solidFill>
                            <a:latin typeface="Cambria Math" panose="02040503050406030204"/>
                            <a:ea typeface="Cambria Math" panose="02040503050406030204"/>
                            <a:cs typeface="微软雅黑" panose="020B0503020204020204" charset="-122"/>
                          </a:rPr>
                          <m:t>𝑛</m:t>
                        </m:r>
                      </m:e>
                    </m:d>
                  </m:oMath>
                </a14:m>
                <a:r>
                  <a:rPr sz="1400" b="0" i="0">
                    <a:solidFill>
                      <a:srgbClr val="1E293B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，</a:t>
                </a:r>
                <a:r>
                  <a:rPr sz="1400" b="0" i="0">
                    <a:solidFill>
                      <a:srgbClr val="1E293B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c &lt; 1</a:t>
                </a:r>
                <a:endParaRPr sz="1400"/>
              </a:p>
              <a:p>
                <a:pPr algn="l">
                  <a:spcAft>
                    <a:spcPts val="500"/>
                  </a:spcAft>
                  <a:buNone/>
                </a:pPr>
              </a:p>
              <a:p>
                <a:pPr algn="l">
                  <a:spcAft>
                    <a:spcPts val="5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sz="1400" b="0" i="1">
                          <a:solidFill>
                            <a:srgbClr val="1E293B"/>
                          </a:solidFill>
                          <a:latin typeface="Cambria Math" panose="02040503050406030204"/>
                          <a:ea typeface="Cambria Math" panose="02040503050406030204"/>
                          <a:cs typeface="微软雅黑" panose="020B0503020204020204" charset="-122"/>
                        </a:rPr>
                        <m:t>𝑇</m:t>
                      </m:r>
                      <m:d>
                        <m:dPr>
                          <m:ctrlPr>
                            <a:rPr sz="1400" b="0" i="0">
                              <a:solidFill>
                                <a:srgbClr val="1E293B"/>
                              </a:solidFill>
                              <a:latin typeface="Cambria Math" panose="02040503050406030204"/>
                              <a:ea typeface="微软雅黑" panose="020B0503020204020204" charset="-122"/>
                              <a:cs typeface="微软雅黑" panose="020B0503020204020204" charset="-122"/>
                            </a:rPr>
                          </m:ctrlPr>
                        </m:dPr>
                        <m:e>
                          <m:r>
                            <a:rPr sz="1400" b="0" i="1">
                              <a:solidFill>
                                <a:srgbClr val="1E293B"/>
                              </a:solidFill>
                              <a:latin typeface="Cambria Math" panose="02040503050406030204"/>
                              <a:ea typeface="Cambria Math" panose="02040503050406030204"/>
                              <a:cs typeface="微软雅黑" panose="020B0503020204020204" charset="-122"/>
                            </a:rPr>
                            <m:t>𝑛</m:t>
                          </m:r>
                        </m:e>
                      </m:d>
                      <m:r>
                        <a:rPr sz="1400" b="0" i="0">
                          <a:solidFill>
                            <a:srgbClr val="1E293B"/>
                          </a:solidFill>
                          <a:latin typeface="Cambria Math" panose="02040503050406030204"/>
                          <a:ea typeface="Cambria Math" panose="02040503050406030204"/>
                          <a:cs typeface="微软雅黑" panose="020B0503020204020204" charset="-122"/>
                        </a:rPr>
                        <m:t>=</m:t>
                      </m:r>
                      <m:r>
                        <m:rPr>
                          <m:sty m:val="p"/>
                        </m:rPr>
                        <a:rPr sz="1400" b="0" i="0">
                          <a:solidFill>
                            <a:srgbClr val="1E293B"/>
                          </a:solidFill>
                          <a:latin typeface="Cambria Math" panose="02040503050406030204"/>
                          <a:ea typeface="Cambria Math" panose="02040503050406030204"/>
                          <a:cs typeface="微软雅黑" panose="020B0503020204020204" charset="-122"/>
                        </a:rPr>
                        <m:t>Θ</m:t>
                      </m:r>
                      <m:d>
                        <m:dPr>
                          <m:ctrlPr>
                            <a:rPr sz="1400" b="0" i="0">
                              <a:solidFill>
                                <a:srgbClr val="1E293B"/>
                              </a:solidFill>
                              <a:latin typeface="Cambria Math" panose="02040503050406030204"/>
                              <a:ea typeface="微软雅黑" panose="020B0503020204020204" charset="-122"/>
                              <a:cs typeface="微软雅黑" panose="020B0503020204020204" charset="-122"/>
                            </a:rPr>
                          </m:ctrlPr>
                        </m:dPr>
                        <m:e>
                          <m:r>
                            <a:rPr sz="1400" b="0" i="1">
                              <a:solidFill>
                                <a:srgbClr val="1E293B"/>
                              </a:solidFill>
                              <a:latin typeface="Cambria Math" panose="02040503050406030204"/>
                              <a:ea typeface="Cambria Math" panose="02040503050406030204"/>
                              <a:cs typeface="微软雅黑" panose="020B0503020204020204" charset="-122"/>
                            </a:rPr>
                            <m:t>𝑓</m:t>
                          </m:r>
                          <m:d>
                            <m:dPr>
                              <m:ctrlPr>
                                <a:rPr sz="1400" b="0" i="0">
                                  <a:solidFill>
                                    <a:srgbClr val="1E293B"/>
                                  </a:solidFill>
                                  <a:latin typeface="Cambria Math" panose="02040503050406030204"/>
                                  <a:ea typeface="微软雅黑" panose="020B0503020204020204" charset="-122"/>
                                  <a:cs typeface="微软雅黑" panose="020B0503020204020204" charset="-122"/>
                                </a:rPr>
                              </m:ctrlPr>
                            </m:dPr>
                            <m:e>
                              <m:r>
                                <a:rPr sz="1400" b="0" i="1">
                                  <a:solidFill>
                                    <a:srgbClr val="1E293B"/>
                                  </a:solidFill>
                                  <a:latin typeface="Cambria Math" panose="02040503050406030204"/>
                                  <a:ea typeface="Cambria Math" panose="02040503050406030204"/>
                                  <a:cs typeface="微软雅黑" panose="020B0503020204020204" charset="-122"/>
                                </a:rPr>
                                <m:t>𝑛</m:t>
                              </m:r>
                            </m:e>
                          </m:d>
                        </m:e>
                      </m:d>
                    </m:oMath>
                  </m:oMathPara>
                </a14:m>
                <a:endParaRPr sz="1400"/>
              </a:p>
            </p:txBody>
          </p:sp>
        </mc:Choice>
        <mc:Fallback>
          <p:sp>
            <p:nvSpPr>
              <p:cNvPr id="21" name="TextBox 2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56448" y="2990088"/>
                <a:ext cx="3090672" cy="1251204"/>
              </a:xfrm>
              <a:prstGeom prst="rect">
                <a:avLst/>
              </a:prstGeom>
              <a:blipFill rotWithShape="1">
                <a:blip r:embed="rId8"/>
                <a:stretch>
                  <a:fillRect l="-16" t="-41" b="-435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2" name="TextBox 21"/>
              <p:cNvSpPr>
                <a:spLocks noGrp="1"/>
              </p:cNvSpPr>
              <p:nvPr/>
            </p:nvSpPr>
            <p:spPr>
              <a:xfrm>
                <a:off x="868680" y="5166360"/>
                <a:ext cx="10424160" cy="374904"/>
              </a:xfrm>
              <a:prstGeom prst="rect">
                <a:avLst/>
              </a:prstGeom>
              <a:noFill/>
            </p:spPr>
            <p:txBody>
              <a:bodyPr wrap="square" lIns="73152" tIns="73152" rIns="73152" bIns="73152" anchor="t">
                <a:spAutoFit/>
              </a:bodyPr>
              <a:lstStyle/>
              <a:p>
                <a:pPr algn="l">
                  <a:spcAft>
                    <a:spcPts val="500"/>
                  </a:spcAft>
                  <a:buNone/>
                </a:pPr>
                <a14:m>
                  <m:oMath xmlns:m="http://schemas.openxmlformats.org/officeDocument/2006/math">
                    <m:f>
                      <m:fPr>
                        <m:ctrlPr>
                          <a:rPr sz="1500" b="1" i="0">
                            <a:solidFill>
                              <a:srgbClr val="64748B"/>
                            </a:solidFill>
                            <a:latin typeface="Cambria Math" panose="02040503050406030204"/>
                            <a:ea typeface="微软雅黑" panose="020B0503020204020204" charset="-122"/>
                            <a:cs typeface="微软雅黑" panose="020B0503020204020204" charset="-122"/>
                          </a:rPr>
                        </m:ctrlPr>
                      </m:fPr>
                      <m:num>
                        <m:r>
                          <a:rPr sz="1500" b="1" i="1">
                            <a:solidFill>
                              <a:srgbClr val="64748B"/>
                            </a:solidFill>
                            <a:latin typeface="Cambria Math" panose="02040503050406030204"/>
                            <a:ea typeface="Cambria Math" panose="02040503050406030204"/>
                            <a:cs typeface="微软雅黑" panose="020B0503020204020204" charset="-122"/>
                          </a:rPr>
                          <m:t>𝑛</m:t>
                        </m:r>
                      </m:num>
                      <m:den>
                        <m:r>
                          <m:rPr>
                            <m:sty m:val="p"/>
                          </m:rPr>
                          <a:rPr sz="1500" b="1" i="0">
                            <a:solidFill>
                              <a:srgbClr val="64748B"/>
                            </a:solidFill>
                            <a:latin typeface="Cambria Math" panose="02040503050406030204"/>
                            <a:ea typeface="Cambria Math" panose="02040503050406030204"/>
                            <a:cs typeface="微软雅黑" panose="020B0503020204020204" charset="-122"/>
                          </a:rPr>
                          <m:t>lg</m:t>
                        </m:r>
                        <m:r>
                          <a:rPr sz="1500" b="1" i="1">
                            <a:solidFill>
                              <a:srgbClr val="64748B"/>
                            </a:solidFill>
                            <a:latin typeface="Cambria Math" panose="02040503050406030204"/>
                            <a:ea typeface="Cambria Math" panose="02040503050406030204"/>
                            <a:cs typeface="微软雅黑" panose="020B0503020204020204" charset="-122"/>
                          </a:rPr>
                          <m:t>𝑛</m:t>
                        </m:r>
                      </m:den>
                    </m:f>
                  </m:oMath>
                </a14:m>
                <a:r>
                  <a:rPr sz="1500" b="1" i="0">
                    <a:solidFill>
                      <a:srgbClr val="64748B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用逐层求和，</a:t>
                </a:r>
                <a14:m>
                  <m:oMath xmlns:m="http://schemas.openxmlformats.org/officeDocument/2006/math">
                    <m:f>
                      <m:fPr>
                        <m:ctrlPr>
                          <a:rPr sz="1500" b="1" i="0">
                            <a:solidFill>
                              <a:srgbClr val="64748B"/>
                            </a:solidFill>
                            <a:latin typeface="Cambria Math" panose="02040503050406030204"/>
                            <a:ea typeface="微软雅黑" panose="020B0503020204020204" charset="-122"/>
                            <a:cs typeface="微软雅黑" panose="020B0503020204020204" charset="-122"/>
                          </a:rPr>
                        </m:ctrlPr>
                      </m:fPr>
                      <m:num>
                        <m:r>
                          <a:rPr sz="1500" b="1" i="1">
                            <a:solidFill>
                              <a:srgbClr val="64748B"/>
                            </a:solidFill>
                            <a:latin typeface="Cambria Math" panose="02040503050406030204"/>
                            <a:ea typeface="Cambria Math" panose="02040503050406030204"/>
                            <a:cs typeface="微软雅黑" panose="020B0503020204020204" charset="-122"/>
                          </a:rPr>
                          <m:t>𝑛</m:t>
                        </m:r>
                      </m:num>
                      <m:den>
                        <m:r>
                          <a:rPr sz="1500" b="1" i="0">
                            <a:solidFill>
                              <a:srgbClr val="64748B"/>
                            </a:solidFill>
                            <a:latin typeface="Cambria Math" panose="02040503050406030204"/>
                            <a:ea typeface="Cambria Math" panose="02040503050406030204"/>
                            <a:cs typeface="微软雅黑" panose="020B0503020204020204" charset="-122"/>
                          </a:rPr>
                          <m:t>2</m:t>
                        </m:r>
                      </m:den>
                    </m:f>
                    <m:r>
                      <a:rPr sz="1500" b="1" i="0">
                        <a:solidFill>
                          <a:srgbClr val="64748B"/>
                        </a:solidFill>
                        <a:latin typeface="Cambria Math" panose="02040503050406030204"/>
                        <a:ea typeface="Cambria Math" panose="02040503050406030204"/>
                        <a:cs typeface="微软雅黑" panose="020B0503020204020204" charset="-122"/>
                      </a:rPr>
                      <m:t>−</m:t>
                    </m:r>
                    <m:r>
                      <a:rPr sz="1500" b="1" i="0">
                        <a:solidFill>
                          <a:srgbClr val="64748B"/>
                        </a:solidFill>
                        <a:latin typeface="Cambria Math" panose="02040503050406030204"/>
                        <a:ea typeface="Cambria Math" panose="02040503050406030204"/>
                        <a:cs typeface="微软雅黑" panose="020B0503020204020204" charset="-122"/>
                      </a:rPr>
                      <m:t>2</m:t>
                    </m:r>
                  </m:oMath>
                </a14:m>
                <a:r>
                  <a:rPr sz="1500" b="1" i="0">
                    <a:solidFill>
                      <a:srgbClr val="64748B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先做变量代换</a:t>
                </a:r>
                <a:endParaRPr sz="1500"/>
              </a:p>
            </p:txBody>
          </p:sp>
        </mc:Choice>
        <mc:Fallback>
          <p:sp>
            <p:nvSpPr>
              <p:cNvPr id="22" name="TextBox 2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8680" y="5166360"/>
                <a:ext cx="10424160" cy="374904"/>
              </a:xfrm>
              <a:prstGeom prst="rect">
                <a:avLst/>
              </a:prstGeom>
              <a:blipFill rotWithShape="1">
                <a:blip r:embed="rId9"/>
                <a:stretch>
                  <a:fillRect b="-1534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>
            <a:spLocks noGrp="1"/>
          </p:cNvSpPr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3" name="TextBox 2"/>
          <p:cNvSpPr>
            <a:spLocks noGrp="1"/>
          </p:cNvSpPr>
          <p:nvPr/>
        </p:nvSpPr>
        <p:spPr>
          <a:xfrm>
            <a:off x="502920" y="292608"/>
            <a:ext cx="10881360" cy="557784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500"/>
              </a:spcAft>
              <a:buNone/>
            </a:pPr>
            <a:r>
              <a:rPr sz="2375" b="1" i="0">
                <a:solidFill>
                  <a:srgbClr val="1725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三、递归树</a:t>
            </a:r>
            <a:endParaRPr sz="2375" b="1" i="0">
              <a:solidFill>
                <a:srgbClr val="17255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TextBox 3"/>
          <p:cNvSpPr>
            <a:spLocks noGrp="1"/>
          </p:cNvSpPr>
          <p:nvPr/>
        </p:nvSpPr>
        <p:spPr>
          <a:xfrm>
            <a:off x="530352" y="804672"/>
            <a:ext cx="10972800" cy="329184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500"/>
              </a:spcAft>
              <a:buNone/>
            </a:pPr>
            <a:r>
              <a:rPr sz="1200" b="0" i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节点表示子问题，标注该节点的额外工作量。</a:t>
            </a:r>
            <a:endParaRPr sz="1200" b="0" i="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TextBox 4"/>
          <p:cNvSpPr>
            <a:spLocks noGrp="1"/>
          </p:cNvSpPr>
          <p:nvPr/>
        </p:nvSpPr>
        <p:spPr>
          <a:xfrm>
            <a:off x="9555480" y="6510528"/>
            <a:ext cx="2103120" cy="18288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r">
              <a:spcAft>
                <a:spcPts val="500"/>
              </a:spcAft>
              <a:buNone/>
            </a:pPr>
            <a:r>
              <a:rPr sz="900" b="0" i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递推式与渐近分析</a:t>
            </a:r>
            <a:endParaRPr sz="900" b="0" i="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extBox 5"/>
          <p:cNvSpPr>
            <a:spLocks noGrp="1"/>
          </p:cNvSpPr>
          <p:nvPr/>
        </p:nvSpPr>
        <p:spPr>
          <a:xfrm>
            <a:off x="502920" y="6510528"/>
            <a:ext cx="1371600" cy="18288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500"/>
              </a:spcAft>
              <a:buNone/>
            </a:pPr>
            <a:r>
              <a:rPr sz="900" b="0" i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算法设计 · 05</a:t>
            </a:r>
            <a:endParaRPr sz="900" b="0" i="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Rounded Rectangle 6"/>
          <p:cNvSpPr>
            <a:spLocks noGrp="1"/>
          </p:cNvSpPr>
          <p:nvPr/>
        </p:nvSpPr>
        <p:spPr>
          <a:xfrm>
            <a:off x="4800600" y="1234440"/>
            <a:ext cx="2560320" cy="685800"/>
          </a:xfrm>
          <a:prstGeom prst="roundRect">
            <a:avLst>
              <a:gd name="adj" fmla="val 12000"/>
            </a:avLst>
          </a:prstGeom>
          <a:solidFill>
            <a:srgbClr val="DBEAFE"/>
          </a:solidFill>
          <a:ln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/>
              <p:cNvSpPr>
                <a:spLocks noGrp="1"/>
              </p:cNvSpPr>
              <p:nvPr/>
            </p:nvSpPr>
            <p:spPr>
              <a:xfrm>
                <a:off x="4892040" y="1389888"/>
                <a:ext cx="2377440" cy="320040"/>
              </a:xfrm>
              <a:prstGeom prst="rect">
                <a:avLst/>
              </a:prstGeom>
              <a:noFill/>
            </p:spPr>
            <p:txBody>
              <a:bodyPr wrap="square" lIns="73152" tIns="73152" rIns="73152" bIns="73152" anchor="t">
                <a:spAutoFit/>
              </a:bodyPr>
              <a:lstStyle/>
              <a:p>
                <a:pPr algn="ctr">
                  <a:spcAft>
                    <a:spcPts val="500"/>
                  </a:spcAft>
                  <a:buNone/>
                </a:pPr>
                <a14:m>
                  <m:oMath xmlns:m="http://schemas.openxmlformats.org/officeDocument/2006/math">
                    <m:r>
                      <a:rPr sz="1600" b="1" i="1">
                        <a:solidFill>
                          <a:srgbClr val="172554"/>
                        </a:solidFill>
                        <a:latin typeface="Cambria Math" panose="02040503050406030204"/>
                        <a:ea typeface="Cambria Math" panose="02040503050406030204"/>
                        <a:cs typeface="微软雅黑" panose="020B0503020204020204" charset="-122"/>
                      </a:rPr>
                      <m:t>𝑇</m:t>
                    </m:r>
                    <m:d>
                      <m:dPr>
                        <m:ctrlPr>
                          <a:rPr sz="1600" b="1" i="0">
                            <a:solidFill>
                              <a:srgbClr val="172554"/>
                            </a:solidFill>
                            <a:latin typeface="Cambria Math" panose="02040503050406030204"/>
                            <a:ea typeface="微软雅黑" panose="020B0503020204020204" charset="-122"/>
                            <a:cs typeface="微软雅黑" panose="020B0503020204020204" charset="-122"/>
                          </a:rPr>
                        </m:ctrlPr>
                      </m:dPr>
                      <m:e>
                        <m:r>
                          <a:rPr sz="1600" b="1" i="1">
                            <a:solidFill>
                              <a:srgbClr val="172554"/>
                            </a:solidFill>
                            <a:latin typeface="Cambria Math" panose="02040503050406030204"/>
                            <a:ea typeface="Cambria Math" panose="02040503050406030204"/>
                            <a:cs typeface="微软雅黑" panose="020B0503020204020204" charset="-122"/>
                          </a:rPr>
                          <m:t>𝑛</m:t>
                        </m:r>
                      </m:e>
                    </m:d>
                  </m:oMath>
                </a14:m>
                <a:r>
                  <a:rPr sz="1600" b="1" i="0">
                    <a:solidFill>
                      <a:srgbClr val="172554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：工作量</a:t>
                </a:r>
                <a14:m>
                  <m:oMath xmlns:m="http://schemas.openxmlformats.org/officeDocument/2006/math">
                    <m:r>
                      <a:rPr sz="1600" b="1" i="1">
                        <a:solidFill>
                          <a:srgbClr val="172554"/>
                        </a:solidFill>
                        <a:latin typeface="Cambria Math" panose="02040503050406030204"/>
                        <a:ea typeface="Cambria Math" panose="02040503050406030204"/>
                        <a:cs typeface="微软雅黑" panose="020B0503020204020204" charset="-122"/>
                      </a:rPr>
                      <m:t>𝑛</m:t>
                    </m:r>
                  </m:oMath>
                </a14:m>
                <a:endParaRPr sz="1600"/>
              </a:p>
            </p:txBody>
          </p:sp>
        </mc:Choice>
        <mc:Fallback>
          <p:sp>
            <p:nvSpPr>
              <p:cNvPr id="8" name="TextBox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92040" y="1389888"/>
                <a:ext cx="2377440" cy="320040"/>
              </a:xfrm>
              <a:prstGeom prst="rect">
                <a:avLst/>
              </a:prstGeom>
              <a:blipFill rotWithShape="1">
                <a:blip r:embed="rId1"/>
                <a:stretch>
                  <a:fillRect t="-159" b="15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Connector 8"/>
          <p:cNvSpPr>
            <a:spLocks noGrp="1"/>
          </p:cNvSpPr>
          <p:nvPr/>
        </p:nvSpPr>
        <p:spPr>
          <a:xfrm flipH="1">
            <a:off x="3200400" y="1920240"/>
            <a:ext cx="2286000" cy="594360"/>
          </a:xfrm>
          <a:prstGeom prst="line">
            <a:avLst/>
          </a:prstGeom>
          <a:ln w="1905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sp>
      <p:sp>
        <p:nvSpPr>
          <p:cNvPr id="10" name="Connector 9"/>
          <p:cNvSpPr>
            <a:spLocks noGrp="1"/>
          </p:cNvSpPr>
          <p:nvPr/>
        </p:nvSpPr>
        <p:spPr>
          <a:xfrm>
            <a:off x="6675120" y="1920240"/>
            <a:ext cx="2286000" cy="594360"/>
          </a:xfrm>
          <a:prstGeom prst="line">
            <a:avLst/>
          </a:prstGeom>
          <a:ln w="1905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sp>
      <p:sp>
        <p:nvSpPr>
          <p:cNvPr id="11" name="Rounded Rectangle 10"/>
          <p:cNvSpPr>
            <a:spLocks noGrp="1"/>
          </p:cNvSpPr>
          <p:nvPr/>
        </p:nvSpPr>
        <p:spPr>
          <a:xfrm>
            <a:off x="1691640" y="2514600"/>
            <a:ext cx="2926080" cy="621792"/>
          </a:xfrm>
          <a:prstGeom prst="roundRect">
            <a:avLst>
              <a:gd name="adj" fmla="val 12000"/>
            </a:avLst>
          </a:prstGeom>
          <a:solidFill>
            <a:srgbClr val="CCFBF1"/>
          </a:solidFill>
          <a:ln>
            <a:solidFill>
              <a:srgbClr val="CCFB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2" name="TextBox 11"/>
              <p:cNvSpPr>
                <a:spLocks noGrp="1"/>
              </p:cNvSpPr>
              <p:nvPr/>
            </p:nvSpPr>
            <p:spPr>
              <a:xfrm>
                <a:off x="1764792" y="2660904"/>
                <a:ext cx="2779776" cy="292608"/>
              </a:xfrm>
              <a:prstGeom prst="rect">
                <a:avLst/>
              </a:prstGeom>
              <a:noFill/>
            </p:spPr>
            <p:txBody>
              <a:bodyPr wrap="square" lIns="73152" tIns="73152" rIns="73152" bIns="73152" anchor="t">
                <a:spAutoFit/>
              </a:bodyPr>
              <a:lstStyle/>
              <a:p>
                <a:pPr algn="ctr">
                  <a:spcAft>
                    <a:spcPts val="500"/>
                  </a:spcAft>
                  <a:buNone/>
                </a:pPr>
                <a14:m>
                  <m:oMath xmlns:m="http://schemas.openxmlformats.org/officeDocument/2006/math">
                    <m:r>
                      <a:rPr sz="1600" b="1" i="1">
                        <a:solidFill>
                          <a:srgbClr val="172554"/>
                        </a:solidFill>
                        <a:latin typeface="Cambria Math" panose="02040503050406030204"/>
                        <a:ea typeface="Cambria Math" panose="02040503050406030204"/>
                        <a:cs typeface="微软雅黑" panose="020B0503020204020204" charset="-122"/>
                      </a:rPr>
                      <m:t>𝑇</m:t>
                    </m:r>
                    <m:d>
                      <m:dPr>
                        <m:ctrlPr>
                          <a:rPr sz="1600" b="1" i="0">
                            <a:solidFill>
                              <a:srgbClr val="172554"/>
                            </a:solidFill>
                            <a:latin typeface="Cambria Math" panose="02040503050406030204"/>
                            <a:ea typeface="微软雅黑" panose="020B0503020204020204" charset="-122"/>
                            <a:cs typeface="微软雅黑" panose="020B0503020204020204" charset="-122"/>
                          </a:rPr>
                        </m:ctrlPr>
                      </m:dPr>
                      <m:e>
                        <m:f>
                          <m:fPr>
                            <m:ctrlPr>
                              <a:rPr sz="1600" b="1" i="0">
                                <a:solidFill>
                                  <a:srgbClr val="172554"/>
                                </a:solidFill>
                                <a:latin typeface="Cambria Math" panose="02040503050406030204"/>
                                <a:ea typeface="微软雅黑" panose="020B0503020204020204" charset="-122"/>
                                <a:cs typeface="微软雅黑" panose="020B0503020204020204" charset="-122"/>
                              </a:rPr>
                            </m:ctrlPr>
                          </m:fPr>
                          <m:num>
                            <m:r>
                              <a:rPr sz="1600" b="1" i="1">
                                <a:solidFill>
                                  <a:srgbClr val="172554"/>
                                </a:solidFill>
                                <a:latin typeface="Cambria Math" panose="02040503050406030204"/>
                                <a:ea typeface="Cambria Math" panose="02040503050406030204"/>
                                <a:cs typeface="微软雅黑" panose="020B0503020204020204" charset="-122"/>
                              </a:rPr>
                              <m:t>𝑛</m:t>
                            </m:r>
                          </m:num>
                          <m:den>
                            <m:r>
                              <a:rPr sz="1600" b="1" i="0">
                                <a:solidFill>
                                  <a:srgbClr val="172554"/>
                                </a:solidFill>
                                <a:latin typeface="Cambria Math" panose="02040503050406030204"/>
                                <a:ea typeface="Cambria Math" panose="02040503050406030204"/>
                                <a:cs typeface="微软雅黑" panose="020B0503020204020204" charset="-122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sz="1600" b="1" i="0">
                    <a:solidFill>
                      <a:srgbClr val="172554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：</a:t>
                </a:r>
                <a14:m>
                  <m:oMath xmlns:m="http://schemas.openxmlformats.org/officeDocument/2006/math">
                    <m:f>
                      <m:fPr>
                        <m:ctrlPr>
                          <a:rPr sz="1600" b="1" i="0">
                            <a:solidFill>
                              <a:srgbClr val="172554"/>
                            </a:solidFill>
                            <a:latin typeface="Cambria Math" panose="02040503050406030204"/>
                            <a:ea typeface="微软雅黑" panose="020B0503020204020204" charset="-122"/>
                            <a:cs typeface="微软雅黑" panose="020B0503020204020204" charset="-122"/>
                          </a:rPr>
                        </m:ctrlPr>
                      </m:fPr>
                      <m:num>
                        <m:r>
                          <a:rPr sz="1600" b="1" i="1">
                            <a:solidFill>
                              <a:srgbClr val="172554"/>
                            </a:solidFill>
                            <a:latin typeface="Cambria Math" panose="02040503050406030204"/>
                            <a:ea typeface="Cambria Math" panose="02040503050406030204"/>
                            <a:cs typeface="微软雅黑" panose="020B0503020204020204" charset="-122"/>
                          </a:rPr>
                          <m:t>𝑛</m:t>
                        </m:r>
                      </m:num>
                      <m:den>
                        <m:r>
                          <a:rPr sz="1600" b="1" i="0">
                            <a:solidFill>
                              <a:srgbClr val="172554"/>
                            </a:solidFill>
                            <a:latin typeface="Cambria Math" panose="02040503050406030204"/>
                            <a:ea typeface="Cambria Math" panose="02040503050406030204"/>
                            <a:cs typeface="微软雅黑" panose="020B0503020204020204" charset="-122"/>
                          </a:rPr>
                          <m:t>2</m:t>
                        </m:r>
                      </m:den>
                    </m:f>
                  </m:oMath>
                </a14:m>
                <a:endParaRPr sz="1600"/>
              </a:p>
            </p:txBody>
          </p:sp>
        </mc:Choice>
        <mc:Fallback>
          <p:sp>
            <p:nvSpPr>
              <p:cNvPr id="12" name="TextBox 1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792" y="2660904"/>
                <a:ext cx="2779776" cy="292608"/>
              </a:xfrm>
              <a:prstGeom prst="rect">
                <a:avLst/>
              </a:prstGeom>
              <a:blipFill rotWithShape="1">
                <a:blip r:embed="rId2"/>
                <a:stretch>
                  <a:fillRect l="-5" t="-87" r="18" b="-4813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Rounded Rectangle 12"/>
          <p:cNvSpPr>
            <a:spLocks noGrp="1"/>
          </p:cNvSpPr>
          <p:nvPr/>
        </p:nvSpPr>
        <p:spPr>
          <a:xfrm>
            <a:off x="7452360" y="2514600"/>
            <a:ext cx="2926080" cy="621792"/>
          </a:xfrm>
          <a:prstGeom prst="roundRect">
            <a:avLst>
              <a:gd name="adj" fmla="val 12000"/>
            </a:avLst>
          </a:prstGeom>
          <a:solidFill>
            <a:srgbClr val="CCFBF1"/>
          </a:solidFill>
          <a:ln>
            <a:solidFill>
              <a:srgbClr val="CCFB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4" name="TextBox 13"/>
              <p:cNvSpPr>
                <a:spLocks noGrp="1"/>
              </p:cNvSpPr>
              <p:nvPr/>
            </p:nvSpPr>
            <p:spPr>
              <a:xfrm>
                <a:off x="7525512" y="2660904"/>
                <a:ext cx="2779776" cy="292608"/>
              </a:xfrm>
              <a:prstGeom prst="rect">
                <a:avLst/>
              </a:prstGeom>
              <a:noFill/>
            </p:spPr>
            <p:txBody>
              <a:bodyPr wrap="square" lIns="73152" tIns="73152" rIns="73152" bIns="73152" anchor="t">
                <a:spAutoFit/>
              </a:bodyPr>
              <a:lstStyle/>
              <a:p>
                <a:pPr algn="ctr">
                  <a:spcAft>
                    <a:spcPts val="500"/>
                  </a:spcAft>
                  <a:buNone/>
                </a:pPr>
                <a14:m>
                  <m:oMath xmlns:m="http://schemas.openxmlformats.org/officeDocument/2006/math">
                    <m:r>
                      <a:rPr sz="1600" b="1" i="1">
                        <a:solidFill>
                          <a:srgbClr val="172554"/>
                        </a:solidFill>
                        <a:latin typeface="Cambria Math" panose="02040503050406030204"/>
                        <a:ea typeface="Cambria Math" panose="02040503050406030204"/>
                        <a:cs typeface="微软雅黑" panose="020B0503020204020204" charset="-122"/>
                      </a:rPr>
                      <m:t>𝑇</m:t>
                    </m:r>
                    <m:d>
                      <m:dPr>
                        <m:ctrlPr>
                          <a:rPr sz="1600" b="1" i="0">
                            <a:solidFill>
                              <a:srgbClr val="172554"/>
                            </a:solidFill>
                            <a:latin typeface="Cambria Math" panose="02040503050406030204"/>
                            <a:ea typeface="微软雅黑" panose="020B0503020204020204" charset="-122"/>
                            <a:cs typeface="微软雅黑" panose="020B0503020204020204" charset="-122"/>
                          </a:rPr>
                        </m:ctrlPr>
                      </m:dPr>
                      <m:e>
                        <m:f>
                          <m:fPr>
                            <m:ctrlPr>
                              <a:rPr sz="1600" b="1" i="0">
                                <a:solidFill>
                                  <a:srgbClr val="172554"/>
                                </a:solidFill>
                                <a:latin typeface="Cambria Math" panose="02040503050406030204"/>
                                <a:ea typeface="微软雅黑" panose="020B0503020204020204" charset="-122"/>
                                <a:cs typeface="微软雅黑" panose="020B0503020204020204" charset="-122"/>
                              </a:rPr>
                            </m:ctrlPr>
                          </m:fPr>
                          <m:num>
                            <m:r>
                              <a:rPr sz="1600" b="1" i="1">
                                <a:solidFill>
                                  <a:srgbClr val="172554"/>
                                </a:solidFill>
                                <a:latin typeface="Cambria Math" panose="02040503050406030204"/>
                                <a:ea typeface="Cambria Math" panose="02040503050406030204"/>
                                <a:cs typeface="微软雅黑" panose="020B0503020204020204" charset="-122"/>
                              </a:rPr>
                              <m:t>𝑛</m:t>
                            </m:r>
                          </m:num>
                          <m:den>
                            <m:r>
                              <a:rPr sz="1600" b="1" i="0">
                                <a:solidFill>
                                  <a:srgbClr val="172554"/>
                                </a:solidFill>
                                <a:latin typeface="Cambria Math" panose="02040503050406030204"/>
                                <a:ea typeface="Cambria Math" panose="02040503050406030204"/>
                                <a:cs typeface="微软雅黑" panose="020B0503020204020204" charset="-122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sz="1600" b="1" i="0">
                    <a:solidFill>
                      <a:srgbClr val="172554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：</a:t>
                </a:r>
                <a14:m>
                  <m:oMath xmlns:m="http://schemas.openxmlformats.org/officeDocument/2006/math">
                    <m:f>
                      <m:fPr>
                        <m:ctrlPr>
                          <a:rPr sz="1600" b="1" i="0">
                            <a:solidFill>
                              <a:srgbClr val="172554"/>
                            </a:solidFill>
                            <a:latin typeface="Cambria Math" panose="02040503050406030204"/>
                            <a:ea typeface="微软雅黑" panose="020B0503020204020204" charset="-122"/>
                            <a:cs typeface="微软雅黑" panose="020B0503020204020204" charset="-122"/>
                          </a:rPr>
                        </m:ctrlPr>
                      </m:fPr>
                      <m:num>
                        <m:r>
                          <a:rPr sz="1600" b="1" i="1">
                            <a:solidFill>
                              <a:srgbClr val="172554"/>
                            </a:solidFill>
                            <a:latin typeface="Cambria Math" panose="02040503050406030204"/>
                            <a:ea typeface="Cambria Math" panose="02040503050406030204"/>
                            <a:cs typeface="微软雅黑" panose="020B0503020204020204" charset="-122"/>
                          </a:rPr>
                          <m:t>𝑛</m:t>
                        </m:r>
                      </m:num>
                      <m:den>
                        <m:r>
                          <a:rPr sz="1600" b="1" i="0">
                            <a:solidFill>
                              <a:srgbClr val="172554"/>
                            </a:solidFill>
                            <a:latin typeface="Cambria Math" panose="02040503050406030204"/>
                            <a:ea typeface="Cambria Math" panose="02040503050406030204"/>
                            <a:cs typeface="微软雅黑" panose="020B0503020204020204" charset="-122"/>
                          </a:rPr>
                          <m:t>2</m:t>
                        </m:r>
                      </m:den>
                    </m:f>
                  </m:oMath>
                </a14:m>
                <a:endParaRPr sz="1600"/>
              </a:p>
            </p:txBody>
          </p:sp>
        </mc:Choice>
        <mc:Fallback>
          <p:sp>
            <p:nvSpPr>
              <p:cNvPr id="14" name="TextBox 1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25512" y="2660904"/>
                <a:ext cx="2779776" cy="292608"/>
              </a:xfrm>
              <a:prstGeom prst="rect">
                <a:avLst/>
              </a:prstGeom>
              <a:blipFill rotWithShape="1">
                <a:blip r:embed="rId2"/>
                <a:stretch>
                  <a:fillRect l="-5" t="-87" r="18" b="-4813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5" name="TextBox 14"/>
              <p:cNvSpPr>
                <a:spLocks noGrp="1"/>
              </p:cNvSpPr>
              <p:nvPr/>
            </p:nvSpPr>
            <p:spPr>
              <a:xfrm>
                <a:off x="822960" y="3474720"/>
                <a:ext cx="10515600" cy="405384"/>
              </a:xfrm>
              <a:prstGeom prst="rect">
                <a:avLst/>
              </a:prstGeom>
              <a:noFill/>
            </p:spPr>
            <p:txBody>
              <a:bodyPr wrap="square" lIns="73152" tIns="73152" rIns="73152" bIns="73152" anchor="t">
                <a:spAutoFit/>
              </a:bodyPr>
              <a:lstStyle/>
              <a:p>
                <a:pPr algn="ctr">
                  <a:spcAft>
                    <a:spcPts val="500"/>
                  </a:spcAft>
                  <a:buNone/>
                </a:pPr>
                <a:r>
                  <a:rPr sz="1600" b="0" i="0">
                    <a:solidFill>
                      <a:srgbClr val="1E293B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第</a:t>
                </a:r>
                <a:r>
                  <a:rPr sz="1600" b="0" i="0">
                    <a:solidFill>
                      <a:srgbClr val="1E293B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 2 </a:t>
                </a:r>
                <a:r>
                  <a:rPr sz="1600" b="0" i="0">
                    <a:solidFill>
                      <a:srgbClr val="1E293B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层：</a:t>
                </a:r>
                <a14:m>
                  <m:oMath xmlns:m="http://schemas.openxmlformats.org/officeDocument/2006/math">
                    <m:r>
                      <a:rPr sz="1600" b="0" i="0">
                        <a:solidFill>
                          <a:srgbClr val="1E293B"/>
                        </a:solidFill>
                        <a:latin typeface="Cambria Math" panose="02040503050406030204"/>
                        <a:ea typeface="Cambria Math" panose="02040503050406030204"/>
                        <a:cs typeface="微软雅黑" panose="020B0503020204020204" charset="-122"/>
                      </a:rPr>
                      <m:t>4</m:t>
                    </m:r>
                    <m:r>
                      <a:rPr sz="1600" b="0" i="0">
                        <a:solidFill>
                          <a:srgbClr val="1E293B"/>
                        </a:solidFill>
                        <a:latin typeface="Cambria Math" panose="02040503050406030204"/>
                        <a:ea typeface="Cambria Math" panose="02040503050406030204"/>
                        <a:cs typeface="微软雅黑" panose="020B0503020204020204" charset="-122"/>
                      </a:rPr>
                      <m:t>×</m:t>
                    </m:r>
                    <m:d>
                      <m:dPr>
                        <m:ctrlPr>
                          <a:rPr sz="1600" b="0" i="0">
                            <a:solidFill>
                              <a:srgbClr val="1E293B"/>
                            </a:solidFill>
                            <a:latin typeface="Cambria Math" panose="02040503050406030204"/>
                            <a:ea typeface="微软雅黑" panose="020B0503020204020204" charset="-122"/>
                            <a:cs typeface="微软雅黑" panose="020B0503020204020204" charset="-122"/>
                          </a:rPr>
                        </m:ctrlPr>
                      </m:dPr>
                      <m:e>
                        <m:f>
                          <m:fPr>
                            <m:ctrlPr>
                              <a:rPr sz="1600" b="0" i="0">
                                <a:solidFill>
                                  <a:srgbClr val="1E293B"/>
                                </a:solidFill>
                                <a:latin typeface="Cambria Math" panose="02040503050406030204"/>
                                <a:ea typeface="微软雅黑" panose="020B0503020204020204" charset="-122"/>
                                <a:cs typeface="微软雅黑" panose="020B0503020204020204" charset="-122"/>
                              </a:rPr>
                            </m:ctrlPr>
                          </m:fPr>
                          <m:num>
                            <m:r>
                              <a:rPr sz="1600" b="0" i="1">
                                <a:solidFill>
                                  <a:srgbClr val="1E293B"/>
                                </a:solidFill>
                                <a:latin typeface="Cambria Math" panose="02040503050406030204"/>
                                <a:ea typeface="Cambria Math" panose="02040503050406030204"/>
                                <a:cs typeface="微软雅黑" panose="020B0503020204020204" charset="-122"/>
                              </a:rPr>
                              <m:t>𝑛</m:t>
                            </m:r>
                          </m:num>
                          <m:den>
                            <m:r>
                              <a:rPr sz="1600" b="0" i="0">
                                <a:solidFill>
                                  <a:srgbClr val="1E293B"/>
                                </a:solidFill>
                                <a:latin typeface="Cambria Math" panose="02040503050406030204"/>
                                <a:ea typeface="Cambria Math" panose="02040503050406030204"/>
                                <a:cs typeface="微软雅黑" panose="020B0503020204020204" charset="-122"/>
                              </a:rPr>
                              <m:t>4</m:t>
                            </m:r>
                          </m:den>
                        </m:f>
                      </m:e>
                    </m:d>
                    <m:r>
                      <a:rPr sz="1600" b="0" i="0">
                        <a:solidFill>
                          <a:srgbClr val="1E293B"/>
                        </a:solidFill>
                        <a:latin typeface="Cambria Math" panose="02040503050406030204"/>
                        <a:ea typeface="Cambria Math" panose="02040503050406030204"/>
                        <a:cs typeface="微软雅黑" panose="020B0503020204020204" charset="-122"/>
                      </a:rPr>
                      <m:t>=</m:t>
                    </m:r>
                    <m:r>
                      <a:rPr sz="1600" b="0" i="1">
                        <a:solidFill>
                          <a:srgbClr val="1E293B"/>
                        </a:solidFill>
                        <a:latin typeface="Cambria Math" panose="02040503050406030204"/>
                        <a:ea typeface="Cambria Math" panose="02040503050406030204"/>
                        <a:cs typeface="微软雅黑" panose="020B0503020204020204" charset="-122"/>
                      </a:rPr>
                      <m:t>𝑛</m:t>
                    </m:r>
                  </m:oMath>
                </a14:m>
                <a:endParaRPr sz="1600"/>
              </a:p>
            </p:txBody>
          </p:sp>
        </mc:Choice>
        <mc:Fallback>
          <p:sp>
            <p:nvSpPr>
              <p:cNvPr id="15" name="TextBox 1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2960" y="3474720"/>
                <a:ext cx="10515600" cy="405384"/>
              </a:xfrm>
              <a:prstGeom prst="rect">
                <a:avLst/>
              </a:prstGeom>
              <a:blipFill rotWithShape="1">
                <a:blip r:embed="rId3"/>
                <a:stretch>
                  <a:fillRect b="-698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Rounded Rectangle 15"/>
          <p:cNvSpPr>
            <a:spLocks noGrp="1"/>
          </p:cNvSpPr>
          <p:nvPr/>
        </p:nvSpPr>
        <p:spPr>
          <a:xfrm>
            <a:off x="822960" y="4069080"/>
            <a:ext cx="10515600" cy="1188720"/>
          </a:xfrm>
          <a:prstGeom prst="roundRect">
            <a:avLst>
              <a:gd name="adj" fmla="val 12000"/>
            </a:avLst>
          </a:prstGeom>
          <a:solidFill>
            <a:srgbClr val="F1F5F9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7" name="TextBox 16"/>
              <p:cNvSpPr>
                <a:spLocks noGrp="1"/>
              </p:cNvSpPr>
              <p:nvPr/>
            </p:nvSpPr>
            <p:spPr>
              <a:xfrm>
                <a:off x="1097280" y="4315968"/>
                <a:ext cx="9966960" cy="819404"/>
              </a:xfrm>
              <a:prstGeom prst="rect">
                <a:avLst/>
              </a:prstGeom>
              <a:noFill/>
            </p:spPr>
            <p:txBody>
              <a:bodyPr wrap="square" lIns="73152" tIns="73152" rIns="73152" bIns="73152" anchor="t">
                <a:spAutoFit/>
              </a:bodyPr>
              <a:lstStyle/>
              <a:p>
                <a:pPr algn="ctr">
                  <a:spcAft>
                    <a:spcPts val="5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sz="1760" b="1" i="1">
                          <a:solidFill>
                            <a:srgbClr val="172554"/>
                          </a:solidFill>
                          <a:latin typeface="Cambria Math" panose="02040503050406030204"/>
                          <a:ea typeface="Cambria Math" panose="02040503050406030204"/>
                          <a:cs typeface="微软雅黑" panose="020B0503020204020204" charset="-122"/>
                        </a:rPr>
                        <m:t>𝑇</m:t>
                      </m:r>
                      <m:d>
                        <m:dPr>
                          <m:ctrlPr>
                            <a:rPr sz="1760" b="1" i="0">
                              <a:solidFill>
                                <a:srgbClr val="172554"/>
                              </a:solidFill>
                              <a:latin typeface="Cambria Math" panose="02040503050406030204"/>
                              <a:ea typeface="微软雅黑" panose="020B0503020204020204" charset="-122"/>
                              <a:cs typeface="微软雅黑" panose="020B0503020204020204" charset="-122"/>
                            </a:rPr>
                          </m:ctrlPr>
                        </m:dPr>
                        <m:e>
                          <m:r>
                            <a:rPr sz="1760" b="1" i="1">
                              <a:solidFill>
                                <a:srgbClr val="172554"/>
                              </a:solidFill>
                              <a:latin typeface="Cambria Math" panose="02040503050406030204"/>
                              <a:ea typeface="Cambria Math" panose="02040503050406030204"/>
                              <a:cs typeface="微软雅黑" panose="020B0503020204020204" charset="-122"/>
                            </a:rPr>
                            <m:t>𝑛</m:t>
                          </m:r>
                        </m:e>
                      </m:d>
                      <m:r>
                        <a:rPr sz="1760" b="1" i="0">
                          <a:solidFill>
                            <a:srgbClr val="172554"/>
                          </a:solidFill>
                          <a:latin typeface="Cambria Math" panose="02040503050406030204"/>
                          <a:ea typeface="Cambria Math" panose="02040503050406030204"/>
                          <a:cs typeface="微软雅黑" panose="020B0503020204020204" charset="-122"/>
                        </a:rPr>
                        <m:t>=</m:t>
                      </m:r>
                      <m:r>
                        <a:rPr sz="1760" b="1" i="0">
                          <a:solidFill>
                            <a:srgbClr val="172554"/>
                          </a:solidFill>
                          <a:latin typeface="Cambria Math" panose="02040503050406030204"/>
                          <a:ea typeface="Cambria Math" panose="02040503050406030204"/>
                          <a:cs typeface="微软雅黑" panose="020B0503020204020204" charset="-122"/>
                        </a:rPr>
                        <m:t>2</m:t>
                      </m:r>
                      <m:r>
                        <a:rPr sz="1760" b="1" i="1">
                          <a:solidFill>
                            <a:srgbClr val="172554"/>
                          </a:solidFill>
                          <a:latin typeface="Cambria Math" panose="02040503050406030204"/>
                          <a:ea typeface="Cambria Math" panose="02040503050406030204"/>
                          <a:cs typeface="微软雅黑" panose="020B0503020204020204" charset="-122"/>
                        </a:rPr>
                        <m:t>𝑇</m:t>
                      </m:r>
                      <m:d>
                        <m:dPr>
                          <m:ctrlPr>
                            <a:rPr sz="1760" b="1" i="0">
                              <a:solidFill>
                                <a:srgbClr val="172554"/>
                              </a:solidFill>
                              <a:latin typeface="Cambria Math" panose="02040503050406030204"/>
                              <a:ea typeface="微软雅黑" panose="020B0503020204020204" charset="-122"/>
                              <a:cs typeface="微软雅黑" panose="020B0503020204020204" charset="-122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sz="1760" b="1" i="0">
                                  <a:solidFill>
                                    <a:srgbClr val="172554"/>
                                  </a:solidFill>
                                  <a:latin typeface="Cambria Math" panose="02040503050406030204"/>
                                  <a:ea typeface="微软雅黑" panose="020B0503020204020204" charset="-122"/>
                                  <a:cs typeface="微软雅黑" panose="020B0503020204020204" charset="-122"/>
                                </a:rPr>
                              </m:ctrlPr>
                            </m:fPr>
                            <m:num>
                              <m:r>
                                <a:rPr sz="1760" b="1" i="1">
                                  <a:solidFill>
                                    <a:srgbClr val="172554"/>
                                  </a:solidFill>
                                  <a:latin typeface="Cambria Math" panose="02040503050406030204"/>
                                  <a:ea typeface="Cambria Math" panose="02040503050406030204"/>
                                  <a:cs typeface="微软雅黑" panose="020B0503020204020204" charset="-122"/>
                                </a:rPr>
                                <m:t>𝑛</m:t>
                              </m:r>
                            </m:num>
                            <m:den>
                              <m:r>
                                <a:rPr sz="1760" b="1" i="0">
                                  <a:solidFill>
                                    <a:srgbClr val="172554"/>
                                  </a:solidFill>
                                  <a:latin typeface="Cambria Math" panose="02040503050406030204"/>
                                  <a:ea typeface="Cambria Math" panose="02040503050406030204"/>
                                  <a:cs typeface="微软雅黑" panose="020B0503020204020204" charset="-122"/>
                                </a:rPr>
                                <m:t>2</m:t>
                              </m:r>
                            </m:den>
                          </m:f>
                        </m:e>
                      </m:d>
                      <m:r>
                        <a:rPr sz="1760" b="1" i="0">
                          <a:solidFill>
                            <a:srgbClr val="172554"/>
                          </a:solidFill>
                          <a:latin typeface="Cambria Math" panose="02040503050406030204"/>
                          <a:ea typeface="Cambria Math" panose="02040503050406030204"/>
                          <a:cs typeface="微软雅黑" panose="020B0503020204020204" charset="-122"/>
                        </a:rPr>
                        <m:t>+</m:t>
                      </m:r>
                      <m:r>
                        <a:rPr sz="1760" b="1" i="1">
                          <a:solidFill>
                            <a:srgbClr val="172554"/>
                          </a:solidFill>
                          <a:latin typeface="Cambria Math" panose="02040503050406030204"/>
                          <a:ea typeface="Cambria Math" panose="02040503050406030204"/>
                          <a:cs typeface="微软雅黑" panose="020B0503020204020204" charset="-122"/>
                        </a:rPr>
                        <m:t>𝑛</m:t>
                      </m:r>
                    </m:oMath>
                  </m:oMathPara>
                </a14:m>
                <a:endParaRPr sz="1760"/>
              </a:p>
              <a:p>
                <a:pPr algn="ctr">
                  <a:spcAft>
                    <a:spcPts val="500"/>
                  </a:spcAft>
                  <a:buNone/>
                </a:pPr>
                <a:r>
                  <a:rPr sz="1760" b="1" i="0">
                    <a:solidFill>
                      <a:srgbClr val="172554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每层</a:t>
                </a:r>
                <a14:m>
                  <m:oMath xmlns:m="http://schemas.openxmlformats.org/officeDocument/2006/math">
                    <m:r>
                      <a:rPr sz="1760" b="1" i="1">
                        <a:solidFill>
                          <a:srgbClr val="172554"/>
                        </a:solidFill>
                        <a:latin typeface="Cambria Math" panose="02040503050406030204"/>
                        <a:ea typeface="Cambria Math" panose="02040503050406030204"/>
                        <a:cs typeface="微软雅黑" panose="020B0503020204020204" charset="-122"/>
                      </a:rPr>
                      <m:t>𝑛</m:t>
                    </m:r>
                  </m:oMath>
                </a14:m>
                <a:r>
                  <a:rPr sz="1760" b="1" i="0">
                    <a:solidFill>
                      <a:srgbClr val="172554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，约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sz="1760" b="1" i="0">
                        <a:solidFill>
                          <a:srgbClr val="172554"/>
                        </a:solidFill>
                        <a:latin typeface="Cambria Math" panose="02040503050406030204"/>
                        <a:ea typeface="Cambria Math" panose="02040503050406030204"/>
                        <a:cs typeface="微软雅黑" panose="020B0503020204020204" charset="-122"/>
                      </a:rPr>
                      <m:t>lg</m:t>
                    </m:r>
                    <m:r>
                      <a:rPr sz="1760" b="1" i="1">
                        <a:solidFill>
                          <a:srgbClr val="172554"/>
                        </a:solidFill>
                        <a:latin typeface="Cambria Math" panose="02040503050406030204"/>
                        <a:ea typeface="Cambria Math" panose="02040503050406030204"/>
                        <a:cs typeface="微软雅黑" panose="020B0503020204020204" charset="-122"/>
                      </a:rPr>
                      <m:t>𝑛</m:t>
                    </m:r>
                  </m:oMath>
                </a14:m>
                <a:r>
                  <a:rPr sz="1760" b="1" i="0">
                    <a:solidFill>
                      <a:srgbClr val="172554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层，故</a:t>
                </a:r>
                <a14:m>
                  <m:oMath xmlns:m="http://schemas.openxmlformats.org/officeDocument/2006/math">
                    <m:r>
                      <a:rPr sz="1760" b="1" i="1">
                        <a:solidFill>
                          <a:srgbClr val="172554"/>
                        </a:solidFill>
                        <a:latin typeface="Cambria Math" panose="02040503050406030204"/>
                        <a:ea typeface="Cambria Math" panose="02040503050406030204"/>
                        <a:cs typeface="微软雅黑" panose="020B0503020204020204" charset="-122"/>
                      </a:rPr>
                      <m:t>𝑇</m:t>
                    </m:r>
                    <m:d>
                      <m:dPr>
                        <m:ctrlPr>
                          <a:rPr sz="1760" b="1" i="0">
                            <a:solidFill>
                              <a:srgbClr val="172554"/>
                            </a:solidFill>
                            <a:latin typeface="Cambria Math" panose="02040503050406030204"/>
                            <a:ea typeface="微软雅黑" panose="020B0503020204020204" charset="-122"/>
                            <a:cs typeface="微软雅黑" panose="020B0503020204020204" charset="-122"/>
                          </a:rPr>
                        </m:ctrlPr>
                      </m:dPr>
                      <m:e>
                        <m:r>
                          <a:rPr sz="1760" b="1" i="1">
                            <a:solidFill>
                              <a:srgbClr val="172554"/>
                            </a:solidFill>
                            <a:latin typeface="Cambria Math" panose="02040503050406030204"/>
                            <a:ea typeface="Cambria Math" panose="02040503050406030204"/>
                            <a:cs typeface="微软雅黑" panose="020B0503020204020204" charset="-122"/>
                          </a:rPr>
                          <m:t>𝑛</m:t>
                        </m:r>
                      </m:e>
                    </m:d>
                    <m:r>
                      <a:rPr sz="1760" b="1" i="0">
                        <a:solidFill>
                          <a:srgbClr val="172554"/>
                        </a:solidFill>
                        <a:latin typeface="Cambria Math" panose="02040503050406030204"/>
                        <a:ea typeface="Cambria Math" panose="02040503050406030204"/>
                        <a:cs typeface="微软雅黑" panose="020B0503020204020204" charset="-122"/>
                      </a:rPr>
                      <m:t>=</m:t>
                    </m:r>
                    <m:r>
                      <m:rPr>
                        <m:sty m:val="p"/>
                      </m:rPr>
                      <a:rPr sz="1760" b="1" i="0">
                        <a:solidFill>
                          <a:srgbClr val="172554"/>
                        </a:solidFill>
                        <a:latin typeface="Cambria Math" panose="02040503050406030204"/>
                        <a:ea typeface="Cambria Math" panose="02040503050406030204"/>
                        <a:cs typeface="微软雅黑" panose="020B0503020204020204" charset="-122"/>
                      </a:rPr>
                      <m:t>Θ</m:t>
                    </m:r>
                    <m:d>
                      <m:dPr>
                        <m:ctrlPr>
                          <a:rPr sz="1760" b="1" i="0">
                            <a:solidFill>
                              <a:srgbClr val="172554"/>
                            </a:solidFill>
                            <a:latin typeface="Cambria Math" panose="02040503050406030204"/>
                            <a:ea typeface="微软雅黑" panose="020B0503020204020204" charset="-122"/>
                            <a:cs typeface="微软雅黑" panose="020B0503020204020204" charset="-122"/>
                          </a:rPr>
                        </m:ctrlPr>
                      </m:dPr>
                      <m:e>
                        <m:r>
                          <a:rPr sz="1760" b="1" i="1">
                            <a:solidFill>
                              <a:srgbClr val="172554"/>
                            </a:solidFill>
                            <a:latin typeface="Cambria Math" panose="02040503050406030204"/>
                            <a:ea typeface="Cambria Math" panose="02040503050406030204"/>
                            <a:cs typeface="微软雅黑" panose="020B0503020204020204" charset="-122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sz="1760" b="1" i="0">
                            <a:solidFill>
                              <a:srgbClr val="172554"/>
                            </a:solidFill>
                            <a:latin typeface="Cambria Math" panose="02040503050406030204"/>
                            <a:ea typeface="Cambria Math" panose="02040503050406030204"/>
                            <a:cs typeface="微软雅黑" panose="020B0503020204020204" charset="-122"/>
                          </a:rPr>
                          <m:t>lg</m:t>
                        </m:r>
                        <m:r>
                          <a:rPr sz="1760" b="1" i="1">
                            <a:solidFill>
                              <a:srgbClr val="172554"/>
                            </a:solidFill>
                            <a:latin typeface="Cambria Math" panose="02040503050406030204"/>
                            <a:ea typeface="Cambria Math" panose="02040503050406030204"/>
                            <a:cs typeface="微软雅黑" panose="020B0503020204020204" charset="-122"/>
                          </a:rPr>
                          <m:t>𝑛</m:t>
                        </m:r>
                      </m:e>
                    </m:d>
                  </m:oMath>
                </a14:m>
                <a:endParaRPr sz="1760"/>
              </a:p>
            </p:txBody>
          </p:sp>
        </mc:Choice>
        <mc:Fallback>
          <p:sp>
            <p:nvSpPr>
              <p:cNvPr id="17" name="TextBox 1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97280" y="4315968"/>
                <a:ext cx="9966960" cy="819404"/>
              </a:xfrm>
              <a:prstGeom prst="rect">
                <a:avLst/>
              </a:prstGeom>
              <a:blipFill rotWithShape="1">
                <a:blip r:embed="rId4"/>
                <a:stretch>
                  <a:fillRect t="-62" b="-455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TextBox 17"/>
          <p:cNvSpPr>
            <a:spLocks noGrp="1"/>
          </p:cNvSpPr>
          <p:nvPr/>
        </p:nvSpPr>
        <p:spPr>
          <a:xfrm>
            <a:off x="914400" y="5486400"/>
            <a:ext cx="10332720" cy="390144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ctr">
              <a:spcAft>
                <a:spcPts val="500"/>
              </a:spcAft>
              <a:buNone/>
            </a:pPr>
            <a:r>
              <a:rPr sz="1600" b="0" i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总成本 = 各层工作量之和 + 叶子成本</a:t>
            </a:r>
            <a:endParaRPr sz="1600" b="0" i="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>
            <a:spLocks noGrp="1"/>
          </p:cNvSpPr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3" name="TextBox 2"/>
          <p:cNvSpPr>
            <a:spLocks noGrp="1"/>
          </p:cNvSpPr>
          <p:nvPr/>
        </p:nvSpPr>
        <p:spPr>
          <a:xfrm>
            <a:off x="502920" y="292608"/>
            <a:ext cx="10881360" cy="512064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>
            <a:defPPr>
              <a:defRPr sz="2400"/>
            </a:defPPr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algn="l">
              <a:spcAft>
                <a:spcPts val="500"/>
              </a:spcAft>
              <a:buNone/>
            </a:pPr>
            <a:r>
              <a:rPr sz="2400" b="1" i="0">
                <a:solidFill>
                  <a:srgbClr val="1725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题目解析（a）</a:t>
            </a:r>
            <a:endParaRPr sz="2400" b="1" i="0">
              <a:solidFill>
                <a:srgbClr val="17255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TextBox 3"/>
          <p:cNvSpPr>
            <a:spLocks noGrp="1"/>
          </p:cNvSpPr>
          <p:nvPr/>
        </p:nvSpPr>
        <p:spPr>
          <a:xfrm>
            <a:off x="530352" y="804672"/>
            <a:ext cx="10972800" cy="329184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>
            <a:defPPr>
              <a:defRPr sz="1200"/>
            </a:defPPr>
            <a:lvl1pPr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algn="l">
              <a:spcAft>
                <a:spcPts val="500"/>
              </a:spcAft>
              <a:buNone/>
            </a:pPr>
            <a:r>
              <a:rPr sz="1200" b="0" i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主定理情况 1：先算基准，再验证多项式差距</a:t>
            </a:r>
            <a:endParaRPr sz="1200" b="0" i="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TextBox 4"/>
          <p:cNvSpPr>
            <a:spLocks noGrp="1"/>
          </p:cNvSpPr>
          <p:nvPr/>
        </p:nvSpPr>
        <p:spPr>
          <a:xfrm>
            <a:off x="9555480" y="6510528"/>
            <a:ext cx="2103120" cy="18288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r">
              <a:spcAft>
                <a:spcPts val="500"/>
              </a:spcAft>
              <a:buNone/>
            </a:pPr>
            <a:r>
              <a:rPr sz="900" b="0" i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递推式与渐近分析</a:t>
            </a:r>
            <a:endParaRPr sz="900" b="0" i="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extBox 5"/>
          <p:cNvSpPr>
            <a:spLocks noGrp="1"/>
          </p:cNvSpPr>
          <p:nvPr/>
        </p:nvSpPr>
        <p:spPr>
          <a:xfrm>
            <a:off x="502920" y="6510528"/>
            <a:ext cx="1371600" cy="283464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500"/>
              </a:spcAft>
              <a:buNone/>
            </a:pPr>
            <a:r>
              <a:rPr sz="900" b="0" i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算法设计 · 06</a:t>
            </a:r>
            <a:endParaRPr sz="900" b="0" i="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Rounded Rectangle 6"/>
          <p:cNvSpPr>
            <a:spLocks noGrp="1"/>
          </p:cNvSpPr>
          <p:nvPr/>
        </p:nvSpPr>
        <p:spPr>
          <a:xfrm>
            <a:off x="640080" y="1280160"/>
            <a:ext cx="10927080" cy="49149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8" name="Rectangle 7"/>
          <p:cNvSpPr>
            <a:spLocks noGrp="1"/>
          </p:cNvSpPr>
          <p:nvPr/>
        </p:nvSpPr>
        <p:spPr>
          <a:xfrm>
            <a:off x="640080" y="1280160"/>
            <a:ext cx="73152" cy="4914900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eq_a_recurrence" descr="LaTeX: T(n)=5T(\frac{n}{3})+n\lg n"/>
              <p:cNvSpPr>
                <a:spLocks noGrp="1"/>
              </p:cNvSpPr>
              <p:nvPr/>
            </p:nvSpPr>
            <p:spPr>
              <a:xfrm>
                <a:off x="952500" y="1457325"/>
                <a:ext cx="10287000" cy="552450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lIns="0" tIns="0" rIns="0" bIns="0" anchor="t"/>
              <a:lstStyle>
                <a:defPPr>
                  <a:defRPr sz="1700" b="1">
                    <a:solidFill>
                      <a:srgbClr val="2563EB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defRPr>
                </a:defPPr>
                <a:lvl1pPr>
                  <a:defRPr sz="1700" b="1">
                    <a:solidFill>
                      <a:srgbClr val="2563EB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defRPr>
                </a:lvl1pPr>
                <a:lvl2pPr>
                  <a:defRPr sz="1700" b="1">
                    <a:solidFill>
                      <a:srgbClr val="2563EB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defRPr>
                </a:lvl2pPr>
                <a:lvl3pPr>
                  <a:defRPr sz="1700" b="1">
                    <a:solidFill>
                      <a:srgbClr val="2563EB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defRPr>
                </a:lvl3pPr>
                <a:lvl4pPr>
                  <a:defRPr sz="1700" b="1">
                    <a:solidFill>
                      <a:srgbClr val="2563EB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defRPr>
                </a:lvl4pPr>
                <a:lvl5pPr>
                  <a:defRPr sz="1700" b="1">
                    <a:solidFill>
                      <a:srgbClr val="2563EB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defRPr>
                </a:lvl5pPr>
                <a:lvl6pPr>
                  <a:defRPr sz="1700" b="1">
                    <a:solidFill>
                      <a:srgbClr val="2563EB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defRPr>
                </a:lvl6pPr>
                <a:lvl7pPr>
                  <a:defRPr sz="1700" b="1">
                    <a:solidFill>
                      <a:srgbClr val="2563EB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defRPr>
                </a:lvl7pPr>
                <a:lvl8pPr>
                  <a:defRPr sz="1700" b="1">
                    <a:solidFill>
                      <a:srgbClr val="2563EB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defRPr>
                </a:lvl8pPr>
                <a:lvl9pPr>
                  <a:defRPr sz="1700" b="1">
                    <a:solidFill>
                      <a:srgbClr val="2563EB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defRPr>
                </a:lvl9pPr>
              </a:lstStyle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sz="1700" b="1" i="1">
                          <a:solidFill>
                            <a:srgbClr val="2563EB"/>
                          </a:solidFill>
                          <a:latin typeface="Cambria Math" panose="02040503050406030204"/>
                          <a:ea typeface="Cambria Math" panose="02040503050406030204"/>
                        </a:rPr>
                        <m:t>𝑇</m:t>
                      </m:r>
                      <m:d>
                        <m:dPr>
                          <m:ctrlPr>
                            <a:rPr sz="1700" b="1">
                              <a:solidFill>
                                <a:srgbClr val="2563EB"/>
                              </a:solidFill>
                              <a:latin typeface="Cambria Math" panose="02040503050406030204"/>
                              <a:ea typeface="微软雅黑" panose="020B0503020204020204" charset="-122"/>
                            </a:rPr>
                          </m:ctrlPr>
                        </m:dPr>
                        <m:e>
                          <m:r>
                            <a:rPr sz="1700" b="1" i="1">
                              <a:solidFill>
                                <a:srgbClr val="2563EB"/>
                              </a:solidFill>
                              <a:latin typeface="Cambria Math" panose="02040503050406030204"/>
                              <a:ea typeface="Cambria Math" panose="02040503050406030204"/>
                            </a:rPr>
                            <m:t>𝑛</m:t>
                          </m:r>
                        </m:e>
                      </m:d>
                      <m:r>
                        <a:rPr sz="1700" b="1" i="0">
                          <a:solidFill>
                            <a:srgbClr val="2563EB"/>
                          </a:solidFill>
                          <a:latin typeface="Cambria Math" panose="02040503050406030204"/>
                          <a:ea typeface="Cambria Math" panose="02040503050406030204"/>
                        </a:rPr>
                        <m:t>=</m:t>
                      </m:r>
                      <m:r>
                        <a:rPr sz="1700" b="1" i="0">
                          <a:solidFill>
                            <a:srgbClr val="2563EB"/>
                          </a:solidFill>
                          <a:latin typeface="Cambria Math" panose="02040503050406030204"/>
                          <a:ea typeface="Cambria Math" panose="02040503050406030204"/>
                        </a:rPr>
                        <m:t>5</m:t>
                      </m:r>
                      <m:r>
                        <a:rPr sz="1700" b="1" i="1">
                          <a:solidFill>
                            <a:srgbClr val="2563EB"/>
                          </a:solidFill>
                          <a:latin typeface="Cambria Math" panose="02040503050406030204"/>
                          <a:ea typeface="Cambria Math" panose="02040503050406030204"/>
                        </a:rPr>
                        <m:t>𝑇</m:t>
                      </m:r>
                      <m:d>
                        <m:dPr>
                          <m:ctrlPr>
                            <a:rPr sz="1700" b="1">
                              <a:solidFill>
                                <a:srgbClr val="2563EB"/>
                              </a:solidFill>
                              <a:latin typeface="Cambria Math" panose="02040503050406030204"/>
                              <a:ea typeface="微软雅黑" panose="020B0503020204020204" charset="-122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sz="1700" b="1">
                                  <a:solidFill>
                                    <a:srgbClr val="2563EB"/>
                                  </a:solidFill>
                                  <a:latin typeface="Cambria Math" panose="02040503050406030204"/>
                                  <a:ea typeface="微软雅黑" panose="020B0503020204020204" charset="-122"/>
                                </a:rPr>
                              </m:ctrlPr>
                            </m:fPr>
                            <m:num>
                              <m:r>
                                <a:rPr sz="1700" b="1" i="1">
                                  <a:solidFill>
                                    <a:srgbClr val="2563EB"/>
                                  </a:solidFill>
                                  <a:latin typeface="Cambria Math" panose="02040503050406030204"/>
                                  <a:ea typeface="Cambria Math" panose="02040503050406030204"/>
                                </a:rPr>
                                <m:t>𝑛</m:t>
                              </m:r>
                            </m:num>
                            <m:den>
                              <m:r>
                                <a:rPr sz="1700" b="1" i="0">
                                  <a:solidFill>
                                    <a:srgbClr val="2563EB"/>
                                  </a:solidFill>
                                  <a:latin typeface="Cambria Math" panose="02040503050406030204"/>
                                  <a:ea typeface="Cambria Math" panose="02040503050406030204"/>
                                </a:rPr>
                                <m:t>3</m:t>
                              </m:r>
                            </m:den>
                          </m:f>
                        </m:e>
                      </m:d>
                      <m:r>
                        <a:rPr sz="1700" b="1" i="0">
                          <a:solidFill>
                            <a:srgbClr val="2563EB"/>
                          </a:solidFill>
                          <a:latin typeface="Cambria Math" panose="02040503050406030204"/>
                          <a:ea typeface="Cambria Math" panose="02040503050406030204"/>
                        </a:rPr>
                        <m:t>+</m:t>
                      </m:r>
                      <m:r>
                        <a:rPr sz="1700" b="1" i="1">
                          <a:solidFill>
                            <a:srgbClr val="2563EB"/>
                          </a:solidFill>
                          <a:latin typeface="Cambria Math" panose="02040503050406030204"/>
                          <a:ea typeface="Cambria Math" panose="02040503050406030204"/>
                        </a:rPr>
                        <m:t>𝑛</m:t>
                      </m:r>
                      <m:r>
                        <m:rPr>
                          <m:sty m:val="p"/>
                        </m:rPr>
                        <a:rPr sz="1700" b="1" i="0">
                          <a:solidFill>
                            <a:srgbClr val="2563EB"/>
                          </a:solidFill>
                          <a:latin typeface="Cambria Math" panose="02040503050406030204"/>
                          <a:ea typeface="Cambria Math" panose="02040503050406030204"/>
                        </a:rPr>
                        <m:t>lg</m:t>
                      </m:r>
                      <m:r>
                        <a:rPr sz="1700" b="1" i="1">
                          <a:solidFill>
                            <a:srgbClr val="2563EB"/>
                          </a:solidFill>
                          <a:latin typeface="Cambria Math" panose="02040503050406030204"/>
                          <a:ea typeface="Cambria Math" panose="02040503050406030204"/>
                        </a:rPr>
                        <m:t>𝑛</m:t>
                      </m:r>
                    </m:oMath>
                  </m:oMathPara>
                </a14:m>
                <a:endParaRPr sz="1700"/>
              </a:p>
            </p:txBody>
          </p:sp>
        </mc:Choice>
        <mc:Fallback>
          <p:sp>
            <p:nvSpPr>
              <p:cNvPr id="9" name="eq_a_recurrence" descr="LaTeX: T(n)=5T(\frac{n}{3})+n\lg n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2500" y="1457325"/>
                <a:ext cx="10287000" cy="552450"/>
              </a:xfrm>
              <a:prstGeom prst="rect">
                <a:avLst/>
              </a:prstGeom>
              <a:blipFill rotWithShape="1">
                <a:blip r:embed="rId1"/>
                <a:stretch>
                  <a:fillRect/>
                </a:stretch>
              </a:blipFill>
              <a:ln w="0"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step_a_0"/>
          <p:cNvSpPr>
            <a:spLocks noGrp="1"/>
          </p:cNvSpPr>
          <p:nvPr/>
        </p:nvSpPr>
        <p:spPr>
          <a:xfrm>
            <a:off x="952500" y="2143125"/>
            <a:ext cx="3048000" cy="2762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>
              <a:defRPr sz="1600" b="1">
                <a:solidFill>
                  <a:srgbClr val="1725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>
              <a:defRPr sz="1600" b="1">
                <a:solidFill>
                  <a:srgbClr val="1725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>
              <a:defRPr sz="1600" b="1">
                <a:solidFill>
                  <a:srgbClr val="1725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>
              <a:defRPr sz="1600" b="1">
                <a:solidFill>
                  <a:srgbClr val="1725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>
              <a:defRPr sz="1600" b="1">
                <a:solidFill>
                  <a:srgbClr val="1725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>
              <a:defRPr sz="1600" b="1">
                <a:solidFill>
                  <a:srgbClr val="1725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>
              <a:defRPr sz="1600" b="1">
                <a:solidFill>
                  <a:srgbClr val="1725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>
              <a:defRPr sz="1600" b="1">
                <a:solidFill>
                  <a:srgbClr val="1725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>
              <a:defRPr sz="1600" b="1">
                <a:solidFill>
                  <a:srgbClr val="1725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>
              <a:defRPr sz="1600" b="1">
                <a:solidFill>
                  <a:srgbClr val="1725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>
              <a:defRPr sz="1600" b="1">
                <a:solidFill>
                  <a:srgbClr val="1725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00" b="1">
                <a:solidFill>
                  <a:srgbClr val="1725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  确定参数</a:t>
            </a:r>
            <a:endParaRPr sz="1600" b="1">
              <a:solidFill>
                <a:srgbClr val="17255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note_a_0"/>
          <p:cNvSpPr>
            <a:spLocks noGrp="1"/>
          </p:cNvSpPr>
          <p:nvPr/>
        </p:nvSpPr>
        <p:spPr>
          <a:xfrm>
            <a:off x="952500" y="2447925"/>
            <a:ext cx="3086100" cy="5238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>
              <a:defRPr sz="1300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>
              <a:defRPr sz="1300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>
              <a:defRPr sz="1300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>
              <a:defRPr sz="1300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>
              <a:defRPr sz="1300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>
              <a:defRPr sz="1300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>
              <a:defRPr sz="1300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>
              <a:defRPr sz="1300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>
              <a:defRPr sz="1300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>
              <a:defRPr sz="1300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>
              <a:defRPr sz="1300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00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子问题数为 5，规模缩小为原来的 1/3。</a:t>
            </a:r>
            <a:endParaRPr sz="1300" b="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2" name="eq_a_0_0" descr="LaTeX: a=5,\quad b=3,\quad f(n)=n\lg n"/>
              <p:cNvSpPr>
                <a:spLocks noGrp="1"/>
              </p:cNvSpPr>
              <p:nvPr/>
            </p:nvSpPr>
            <p:spPr>
              <a:xfrm>
                <a:off x="4333875" y="2124075"/>
                <a:ext cx="6810375" cy="419100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lIns="0" tIns="0" rIns="0" bIns="0" anchor="t"/>
              <a:lstStyle>
                <a:defPPr>
                  <a:defRPr sz="1600" b="0">
                    <a:solidFill>
                      <a:srgbClr val="1E293B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defRPr>
                </a:defPPr>
                <a:lvl1pPr>
                  <a:defRPr sz="1600" b="0">
                    <a:solidFill>
                      <a:srgbClr val="1E293B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defRPr>
                </a:lvl1pPr>
                <a:lvl2pPr>
                  <a:defRPr sz="1600" b="0">
                    <a:solidFill>
                      <a:srgbClr val="1E293B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defRPr>
                </a:lvl2pPr>
                <a:lvl3pPr>
                  <a:defRPr sz="1600" b="0">
                    <a:solidFill>
                      <a:srgbClr val="1E293B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defRPr>
                </a:lvl3pPr>
                <a:lvl4pPr>
                  <a:defRPr sz="1600" b="0">
                    <a:solidFill>
                      <a:srgbClr val="1E293B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defRPr>
                </a:lvl4pPr>
                <a:lvl5pPr>
                  <a:defRPr sz="1600" b="0">
                    <a:solidFill>
                      <a:srgbClr val="1E293B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defRPr>
                </a:lvl5pPr>
                <a:lvl6pPr>
                  <a:defRPr sz="1600" b="0">
                    <a:solidFill>
                      <a:srgbClr val="1E293B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defRPr>
                </a:lvl6pPr>
                <a:lvl7pPr>
                  <a:defRPr sz="1600" b="0">
                    <a:solidFill>
                      <a:srgbClr val="1E293B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defRPr>
                </a:lvl7pPr>
                <a:lvl8pPr>
                  <a:defRPr sz="1600" b="0">
                    <a:solidFill>
                      <a:srgbClr val="1E293B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defRPr>
                </a:lvl8pPr>
                <a:lvl9pPr>
                  <a:defRPr sz="1600" b="0">
                    <a:solidFill>
                      <a:srgbClr val="1E293B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defRPr>
                </a:lvl9pPr>
              </a:lstStyle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sz="1600" b="0" i="1">
                          <a:solidFill>
                            <a:srgbClr val="1E293B"/>
                          </a:solidFill>
                          <a:latin typeface="Cambria Math" panose="02040503050406030204"/>
                          <a:ea typeface="Cambria Math" panose="02040503050406030204"/>
                        </a:rPr>
                        <m:t>𝑎</m:t>
                      </m:r>
                      <m:r>
                        <a:rPr sz="1600" b="0" i="0">
                          <a:solidFill>
                            <a:srgbClr val="1E293B"/>
                          </a:solidFill>
                          <a:latin typeface="Cambria Math" panose="02040503050406030204"/>
                          <a:ea typeface="Cambria Math" panose="02040503050406030204"/>
                        </a:rPr>
                        <m:t>=</m:t>
                      </m:r>
                      <m:r>
                        <a:rPr sz="1600" b="0" i="0">
                          <a:solidFill>
                            <a:srgbClr val="1E293B"/>
                          </a:solidFill>
                          <a:latin typeface="Cambria Math" panose="02040503050406030204"/>
                          <a:ea typeface="Cambria Math" panose="02040503050406030204"/>
                        </a:rPr>
                        <m:t>5</m:t>
                      </m:r>
                      <m:r>
                        <a:rPr sz="1600" b="0" i="0">
                          <a:solidFill>
                            <a:srgbClr val="1E293B"/>
                          </a:solidFill>
                          <a:latin typeface="Cambria Math" panose="02040503050406030204"/>
                          <a:ea typeface="Cambria Math" panose="02040503050406030204"/>
                        </a:rPr>
                        <m:t>,</m:t>
                      </m:r>
                      <m:r>
                        <a:rPr sz="1600" b="0" i="0">
                          <a:solidFill>
                            <a:srgbClr val="1E293B"/>
                          </a:solidFill>
                          <a:latin typeface="Cambria Math" panose="02040503050406030204"/>
                          <a:ea typeface="Cambria Math" panose="02040503050406030204"/>
                        </a:rPr>
                        <m:t> </m:t>
                      </m:r>
                      <m:r>
                        <a:rPr sz="1600" b="0" i="1">
                          <a:solidFill>
                            <a:srgbClr val="1E293B"/>
                          </a:solidFill>
                          <a:latin typeface="Cambria Math" panose="02040503050406030204"/>
                          <a:ea typeface="Cambria Math" panose="02040503050406030204"/>
                        </a:rPr>
                        <m:t>𝑏</m:t>
                      </m:r>
                      <m:r>
                        <a:rPr sz="1600" b="0" i="0">
                          <a:solidFill>
                            <a:srgbClr val="1E293B"/>
                          </a:solidFill>
                          <a:latin typeface="Cambria Math" panose="02040503050406030204"/>
                          <a:ea typeface="Cambria Math" panose="02040503050406030204"/>
                        </a:rPr>
                        <m:t>=</m:t>
                      </m:r>
                      <m:r>
                        <a:rPr sz="1600" b="0" i="0">
                          <a:solidFill>
                            <a:srgbClr val="1E293B"/>
                          </a:solidFill>
                          <a:latin typeface="Cambria Math" panose="02040503050406030204"/>
                          <a:ea typeface="Cambria Math" panose="02040503050406030204"/>
                        </a:rPr>
                        <m:t>3</m:t>
                      </m:r>
                      <m:r>
                        <a:rPr sz="1600" b="0" i="0">
                          <a:solidFill>
                            <a:srgbClr val="1E293B"/>
                          </a:solidFill>
                          <a:latin typeface="Cambria Math" panose="02040503050406030204"/>
                          <a:ea typeface="Cambria Math" panose="02040503050406030204"/>
                        </a:rPr>
                        <m:t>,</m:t>
                      </m:r>
                      <m:r>
                        <a:rPr sz="1600" b="0" i="0">
                          <a:solidFill>
                            <a:srgbClr val="1E293B"/>
                          </a:solidFill>
                          <a:latin typeface="Cambria Math" panose="02040503050406030204"/>
                          <a:ea typeface="Cambria Math" panose="02040503050406030204"/>
                        </a:rPr>
                        <m:t> </m:t>
                      </m:r>
                      <m:r>
                        <a:rPr sz="1600" b="0" i="1">
                          <a:solidFill>
                            <a:srgbClr val="1E293B"/>
                          </a:solidFill>
                          <a:latin typeface="Cambria Math" panose="02040503050406030204"/>
                          <a:ea typeface="Cambria Math" panose="02040503050406030204"/>
                        </a:rPr>
                        <m:t>𝑓</m:t>
                      </m:r>
                      <m:d>
                        <m:dPr>
                          <m:ctrlPr>
                            <a:rPr sz="1600" b="0">
                              <a:solidFill>
                                <a:srgbClr val="1E293B"/>
                              </a:solidFill>
                              <a:latin typeface="Cambria Math" panose="02040503050406030204"/>
                              <a:ea typeface="微软雅黑" panose="020B0503020204020204" charset="-122"/>
                            </a:rPr>
                          </m:ctrlPr>
                        </m:dPr>
                        <m:e>
                          <m:r>
                            <a:rPr sz="1600" b="0" i="1">
                              <a:solidFill>
                                <a:srgbClr val="1E293B"/>
                              </a:solidFill>
                              <a:latin typeface="Cambria Math" panose="02040503050406030204"/>
                              <a:ea typeface="Cambria Math" panose="02040503050406030204"/>
                            </a:rPr>
                            <m:t>𝑛</m:t>
                          </m:r>
                        </m:e>
                      </m:d>
                      <m:r>
                        <a:rPr sz="1600" b="0" i="0">
                          <a:solidFill>
                            <a:srgbClr val="1E293B"/>
                          </a:solidFill>
                          <a:latin typeface="Cambria Math" panose="02040503050406030204"/>
                          <a:ea typeface="Cambria Math" panose="02040503050406030204"/>
                        </a:rPr>
                        <m:t>=</m:t>
                      </m:r>
                      <m:r>
                        <a:rPr sz="1600" b="0" i="1">
                          <a:solidFill>
                            <a:srgbClr val="1E293B"/>
                          </a:solidFill>
                          <a:latin typeface="Cambria Math" panose="02040503050406030204"/>
                          <a:ea typeface="Cambria Math" panose="02040503050406030204"/>
                        </a:rPr>
                        <m:t>𝑛</m:t>
                      </m:r>
                      <m:r>
                        <m:rPr>
                          <m:sty m:val="p"/>
                        </m:rPr>
                        <a:rPr sz="1600" b="0" i="0">
                          <a:solidFill>
                            <a:srgbClr val="1E293B"/>
                          </a:solidFill>
                          <a:latin typeface="Cambria Math" panose="02040503050406030204"/>
                          <a:ea typeface="Cambria Math" panose="02040503050406030204"/>
                        </a:rPr>
                        <m:t>lg</m:t>
                      </m:r>
                      <m:r>
                        <a:rPr sz="1600" b="0" i="1">
                          <a:solidFill>
                            <a:srgbClr val="1E293B"/>
                          </a:solidFill>
                          <a:latin typeface="Cambria Math" panose="02040503050406030204"/>
                          <a:ea typeface="Cambria Math" panose="02040503050406030204"/>
                        </a:rPr>
                        <m:t>𝑛</m:t>
                      </m:r>
                    </m:oMath>
                  </m:oMathPara>
                </a14:m>
                <a:endParaRPr sz="1600"/>
              </a:p>
            </p:txBody>
          </p:sp>
        </mc:Choice>
        <mc:Fallback>
          <p:sp>
            <p:nvSpPr>
              <p:cNvPr id="12" name="eq_a_0_0" descr="LaTeX: a=5,\quad b=3,\quad f(n)=n\lg n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33875" y="2124075"/>
                <a:ext cx="6810375" cy="419100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  <a:ln w="0"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step_a_1"/>
          <p:cNvSpPr>
            <a:spLocks noGrp="1"/>
          </p:cNvSpPr>
          <p:nvPr/>
        </p:nvSpPr>
        <p:spPr>
          <a:xfrm>
            <a:off x="952500" y="3000375"/>
            <a:ext cx="3048000" cy="2762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>
              <a:defRPr sz="1600" b="1">
                <a:solidFill>
                  <a:srgbClr val="1725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>
              <a:defRPr sz="1600" b="1">
                <a:solidFill>
                  <a:srgbClr val="1725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>
              <a:defRPr sz="1600" b="1">
                <a:solidFill>
                  <a:srgbClr val="1725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>
              <a:defRPr sz="1600" b="1">
                <a:solidFill>
                  <a:srgbClr val="1725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>
              <a:defRPr sz="1600" b="1">
                <a:solidFill>
                  <a:srgbClr val="1725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>
              <a:defRPr sz="1600" b="1">
                <a:solidFill>
                  <a:srgbClr val="1725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>
              <a:defRPr sz="1600" b="1">
                <a:solidFill>
                  <a:srgbClr val="1725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>
              <a:defRPr sz="1600" b="1">
                <a:solidFill>
                  <a:srgbClr val="1725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>
              <a:defRPr sz="1600" b="1">
                <a:solidFill>
                  <a:srgbClr val="1725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>
              <a:defRPr sz="1600" b="1">
                <a:solidFill>
                  <a:srgbClr val="1725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>
              <a:defRPr sz="1600" b="1">
                <a:solidFill>
                  <a:srgbClr val="1725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00" b="1">
                <a:solidFill>
                  <a:srgbClr val="1725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  计算比较基准</a:t>
            </a:r>
            <a:endParaRPr sz="1600" b="1">
              <a:solidFill>
                <a:srgbClr val="17255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note_a_1"/>
          <p:cNvSpPr>
            <a:spLocks noGrp="1"/>
          </p:cNvSpPr>
          <p:nvPr/>
        </p:nvSpPr>
        <p:spPr>
          <a:xfrm>
            <a:off x="952500" y="3305175"/>
            <a:ext cx="3086100" cy="5238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>
              <a:defRPr sz="1300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>
              <a:defRPr sz="1300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>
              <a:defRPr sz="1300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>
              <a:defRPr sz="1300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>
              <a:defRPr sz="1300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>
              <a:defRPr sz="1300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>
              <a:defRPr sz="1300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>
              <a:defRPr sz="1300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>
              <a:defRPr sz="1300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>
              <a:defRPr sz="1300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>
              <a:defRPr sz="1300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00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基准来自递归分支的增长。</a:t>
            </a:r>
            <a:endParaRPr sz="1300" b="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5" name="eq_a_1_0" descr="LaTeX: p=\log_3 5\approx1.465"/>
              <p:cNvSpPr>
                <a:spLocks noGrp="1"/>
              </p:cNvSpPr>
              <p:nvPr/>
            </p:nvSpPr>
            <p:spPr>
              <a:xfrm>
                <a:off x="4333875" y="2981325"/>
                <a:ext cx="6810375" cy="419100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lIns="0" tIns="0" rIns="0" bIns="0" anchor="t"/>
              <a:lstStyle>
                <a:defPPr>
                  <a:defRPr sz="1600" b="0">
                    <a:solidFill>
                      <a:srgbClr val="1E293B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defRPr>
                </a:defPPr>
                <a:lvl1pPr>
                  <a:defRPr sz="1600" b="0">
                    <a:solidFill>
                      <a:srgbClr val="1E293B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defRPr>
                </a:lvl1pPr>
                <a:lvl2pPr>
                  <a:defRPr sz="1600" b="0">
                    <a:solidFill>
                      <a:srgbClr val="1E293B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defRPr>
                </a:lvl2pPr>
                <a:lvl3pPr>
                  <a:defRPr sz="1600" b="0">
                    <a:solidFill>
                      <a:srgbClr val="1E293B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defRPr>
                </a:lvl3pPr>
                <a:lvl4pPr>
                  <a:defRPr sz="1600" b="0">
                    <a:solidFill>
                      <a:srgbClr val="1E293B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defRPr>
                </a:lvl4pPr>
                <a:lvl5pPr>
                  <a:defRPr sz="1600" b="0">
                    <a:solidFill>
                      <a:srgbClr val="1E293B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defRPr>
                </a:lvl5pPr>
                <a:lvl6pPr>
                  <a:defRPr sz="1600" b="0">
                    <a:solidFill>
                      <a:srgbClr val="1E293B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defRPr>
                </a:lvl6pPr>
                <a:lvl7pPr>
                  <a:defRPr sz="1600" b="0">
                    <a:solidFill>
                      <a:srgbClr val="1E293B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defRPr>
                </a:lvl7pPr>
                <a:lvl8pPr>
                  <a:defRPr sz="1600" b="0">
                    <a:solidFill>
                      <a:srgbClr val="1E293B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defRPr>
                </a:lvl8pPr>
                <a:lvl9pPr>
                  <a:defRPr sz="1600" b="0">
                    <a:solidFill>
                      <a:srgbClr val="1E293B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defRPr>
                </a:lvl9pPr>
              </a:lstStyle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sz="1600" b="0" i="1">
                          <a:solidFill>
                            <a:srgbClr val="1E293B"/>
                          </a:solidFill>
                          <a:latin typeface="Cambria Math" panose="02040503050406030204"/>
                          <a:ea typeface="Cambria Math" panose="02040503050406030204"/>
                        </a:rPr>
                        <m:t>𝑝</m:t>
                      </m:r>
                      <m:r>
                        <a:rPr sz="1600" b="0" i="0">
                          <a:solidFill>
                            <a:srgbClr val="1E293B"/>
                          </a:solidFill>
                          <a:latin typeface="Cambria Math" panose="02040503050406030204"/>
                          <a:ea typeface="Cambria Math" panose="02040503050406030204"/>
                        </a:rPr>
                        <m:t>=</m:t>
                      </m:r>
                      <m:sSub>
                        <m:sSubPr>
                          <m:ctrlPr>
                            <a:rPr sz="1600" b="0">
                              <a:solidFill>
                                <a:srgbClr val="1E293B"/>
                              </a:solidFill>
                              <a:latin typeface="Cambria Math" panose="02040503050406030204"/>
                              <a:ea typeface="微软雅黑" panose="020B0503020204020204" charset="-122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sz="1600" b="0" i="0">
                              <a:solidFill>
                                <a:srgbClr val="1E293B"/>
                              </a:solidFill>
                              <a:latin typeface="Cambria Math" panose="02040503050406030204"/>
                              <a:ea typeface="Cambria Math" panose="02040503050406030204"/>
                            </a:rPr>
                            <m:t>log</m:t>
                          </m:r>
                        </m:e>
                        <m:sub>
                          <m:r>
                            <a:rPr sz="1600" b="0" i="0">
                              <a:solidFill>
                                <a:srgbClr val="1E293B"/>
                              </a:solidFill>
                              <a:latin typeface="Cambria Math" panose="02040503050406030204"/>
                              <a:ea typeface="Cambria Math" panose="02040503050406030204"/>
                            </a:rPr>
                            <m:t>3</m:t>
                          </m:r>
                        </m:sub>
                      </m:sSub>
                      <m:r>
                        <a:rPr sz="1600" b="0" i="0">
                          <a:solidFill>
                            <a:srgbClr val="1E293B"/>
                          </a:solidFill>
                          <a:latin typeface="Cambria Math" panose="02040503050406030204"/>
                          <a:ea typeface="Cambria Math" panose="02040503050406030204"/>
                        </a:rPr>
                        <m:t>5</m:t>
                      </m:r>
                      <m:r>
                        <a:rPr sz="1600" b="0" i="0">
                          <a:solidFill>
                            <a:srgbClr val="1E293B"/>
                          </a:solidFill>
                          <a:latin typeface="Cambria Math" panose="02040503050406030204"/>
                          <a:ea typeface="Cambria Math" panose="02040503050406030204"/>
                        </a:rPr>
                        <m:t>≈</m:t>
                      </m:r>
                      <m:r>
                        <a:rPr sz="1600" b="0" i="0">
                          <a:solidFill>
                            <a:srgbClr val="1E293B"/>
                          </a:solidFill>
                          <a:latin typeface="Cambria Math" panose="02040503050406030204"/>
                          <a:ea typeface="Cambria Math" panose="02040503050406030204"/>
                        </a:rPr>
                        <m:t>1</m:t>
                      </m:r>
                      <m:r>
                        <a:rPr sz="1600" b="0" i="0">
                          <a:solidFill>
                            <a:srgbClr val="1E293B"/>
                          </a:solidFill>
                          <a:latin typeface="Cambria Math" panose="02040503050406030204"/>
                          <a:ea typeface="Cambria Math" panose="02040503050406030204"/>
                        </a:rPr>
                        <m:t>.</m:t>
                      </m:r>
                      <m:r>
                        <a:rPr sz="1600" b="0" i="0">
                          <a:solidFill>
                            <a:srgbClr val="1E293B"/>
                          </a:solidFill>
                          <a:latin typeface="Cambria Math" panose="02040503050406030204"/>
                          <a:ea typeface="Cambria Math" panose="02040503050406030204"/>
                        </a:rPr>
                        <m:t>4</m:t>
                      </m:r>
                      <m:r>
                        <a:rPr sz="1600" b="0" i="0">
                          <a:solidFill>
                            <a:srgbClr val="1E293B"/>
                          </a:solidFill>
                          <a:latin typeface="Cambria Math" panose="02040503050406030204"/>
                          <a:ea typeface="Cambria Math" panose="02040503050406030204"/>
                        </a:rPr>
                        <m:t>6</m:t>
                      </m:r>
                      <m:r>
                        <a:rPr sz="1600" b="0" i="0">
                          <a:solidFill>
                            <a:srgbClr val="1E293B"/>
                          </a:solidFill>
                          <a:latin typeface="Cambria Math" panose="02040503050406030204"/>
                          <a:ea typeface="Cambria Math" panose="02040503050406030204"/>
                        </a:rPr>
                        <m:t>5</m:t>
                      </m:r>
                    </m:oMath>
                  </m:oMathPara>
                </a14:m>
                <a:endParaRPr sz="1600"/>
              </a:p>
            </p:txBody>
          </p:sp>
        </mc:Choice>
        <mc:Fallback>
          <p:sp>
            <p:nvSpPr>
              <p:cNvPr id="15" name="eq_a_1_0" descr="LaTeX: p=\log_3 5\approx1.46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33875" y="2981325"/>
                <a:ext cx="6810375" cy="419100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  <a:ln w="0"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6" name="eq_a_1_1" descr="LaTeX: n^p=n^{\log_3 5}"/>
              <p:cNvSpPr>
                <a:spLocks noGrp="1"/>
              </p:cNvSpPr>
              <p:nvPr/>
            </p:nvSpPr>
            <p:spPr>
              <a:xfrm>
                <a:off x="4333875" y="3400425"/>
                <a:ext cx="6810375" cy="419100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lIns="0" tIns="0" rIns="0" bIns="0" anchor="t"/>
              <a:lstStyle>
                <a:defPPr>
                  <a:defRPr sz="1600" b="0">
                    <a:solidFill>
                      <a:srgbClr val="1E293B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defRPr>
                </a:defPPr>
                <a:lvl1pPr>
                  <a:defRPr sz="1600" b="0">
                    <a:solidFill>
                      <a:srgbClr val="1E293B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defRPr>
                </a:lvl1pPr>
                <a:lvl2pPr>
                  <a:defRPr sz="1600" b="0">
                    <a:solidFill>
                      <a:srgbClr val="1E293B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defRPr>
                </a:lvl2pPr>
                <a:lvl3pPr>
                  <a:defRPr sz="1600" b="0">
                    <a:solidFill>
                      <a:srgbClr val="1E293B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defRPr>
                </a:lvl3pPr>
                <a:lvl4pPr>
                  <a:defRPr sz="1600" b="0">
                    <a:solidFill>
                      <a:srgbClr val="1E293B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defRPr>
                </a:lvl4pPr>
                <a:lvl5pPr>
                  <a:defRPr sz="1600" b="0">
                    <a:solidFill>
                      <a:srgbClr val="1E293B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defRPr>
                </a:lvl5pPr>
                <a:lvl6pPr>
                  <a:defRPr sz="1600" b="0">
                    <a:solidFill>
                      <a:srgbClr val="1E293B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defRPr>
                </a:lvl6pPr>
                <a:lvl7pPr>
                  <a:defRPr sz="1600" b="0">
                    <a:solidFill>
                      <a:srgbClr val="1E293B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defRPr>
                </a:lvl7pPr>
                <a:lvl8pPr>
                  <a:defRPr sz="1600" b="0">
                    <a:solidFill>
                      <a:srgbClr val="1E293B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defRPr>
                </a:lvl8pPr>
                <a:lvl9pPr>
                  <a:defRPr sz="1600" b="0">
                    <a:solidFill>
                      <a:srgbClr val="1E293B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defRPr>
                </a:lvl9pPr>
              </a:lstStyle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sz="1600" b="0">
                              <a:solidFill>
                                <a:srgbClr val="1E293B"/>
                              </a:solidFill>
                              <a:latin typeface="Cambria Math" panose="02040503050406030204"/>
                              <a:ea typeface="微软雅黑" panose="020B0503020204020204" charset="-122"/>
                            </a:rPr>
                          </m:ctrlPr>
                        </m:sSupPr>
                        <m:e>
                          <m:r>
                            <a:rPr sz="1600" b="0" i="1">
                              <a:solidFill>
                                <a:srgbClr val="1E293B"/>
                              </a:solidFill>
                              <a:latin typeface="Cambria Math" panose="02040503050406030204"/>
                              <a:ea typeface="Cambria Math" panose="02040503050406030204"/>
                            </a:rPr>
                            <m:t>𝑛</m:t>
                          </m:r>
                        </m:e>
                        <m:sup>
                          <m:r>
                            <a:rPr sz="1600" b="0" i="1">
                              <a:solidFill>
                                <a:srgbClr val="1E293B"/>
                              </a:solidFill>
                              <a:latin typeface="Cambria Math" panose="02040503050406030204"/>
                              <a:ea typeface="Cambria Math" panose="02040503050406030204"/>
                            </a:rPr>
                            <m:t>𝑝</m:t>
                          </m:r>
                        </m:sup>
                      </m:sSup>
                      <m:r>
                        <a:rPr sz="1600" b="0" i="0">
                          <a:solidFill>
                            <a:srgbClr val="1E293B"/>
                          </a:solidFill>
                          <a:latin typeface="Cambria Math" panose="02040503050406030204"/>
                          <a:ea typeface="Cambria Math" panose="02040503050406030204"/>
                        </a:rPr>
                        <m:t>=</m:t>
                      </m:r>
                      <m:sSup>
                        <m:sSupPr>
                          <m:ctrlPr>
                            <a:rPr sz="1600" b="0">
                              <a:solidFill>
                                <a:srgbClr val="1E293B"/>
                              </a:solidFill>
                              <a:latin typeface="Cambria Math" panose="02040503050406030204"/>
                              <a:ea typeface="微软雅黑" panose="020B0503020204020204" charset="-122"/>
                            </a:rPr>
                          </m:ctrlPr>
                        </m:sSupPr>
                        <m:e>
                          <m:r>
                            <a:rPr sz="1600" b="0" i="1">
                              <a:solidFill>
                                <a:srgbClr val="1E293B"/>
                              </a:solidFill>
                              <a:latin typeface="Cambria Math" panose="02040503050406030204"/>
                              <a:ea typeface="Cambria Math" panose="02040503050406030204"/>
                            </a:rPr>
                            <m:t>𝑛</m:t>
                          </m:r>
                        </m:e>
                        <m:sup>
                          <m:sSub>
                            <m:sSubPr>
                              <m:ctrlPr>
                                <a:rPr sz="1600" b="0">
                                  <a:solidFill>
                                    <a:srgbClr val="1E293B"/>
                                  </a:solidFill>
                                  <a:latin typeface="Cambria Math" panose="02040503050406030204"/>
                                  <a:ea typeface="微软雅黑" panose="020B0503020204020204" charset="-122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sz="1600" b="0" i="0">
                                  <a:solidFill>
                                    <a:srgbClr val="1E293B"/>
                                  </a:solidFill>
                                  <a:latin typeface="Cambria Math" panose="02040503050406030204"/>
                                  <a:ea typeface="Cambria Math" panose="02040503050406030204"/>
                                </a:rPr>
                                <m:t>log</m:t>
                              </m:r>
                            </m:e>
                            <m:sub>
                              <m:r>
                                <a:rPr sz="1600" b="0" i="0">
                                  <a:solidFill>
                                    <a:srgbClr val="1E293B"/>
                                  </a:solidFill>
                                  <a:latin typeface="Cambria Math" panose="02040503050406030204"/>
                                  <a:ea typeface="Cambria Math" panose="02040503050406030204"/>
                                </a:rPr>
                                <m:t>3</m:t>
                              </m:r>
                            </m:sub>
                          </m:sSub>
                          <m:r>
                            <a:rPr sz="1600" b="0" i="0">
                              <a:solidFill>
                                <a:srgbClr val="1E293B"/>
                              </a:solidFill>
                              <a:latin typeface="Cambria Math" panose="02040503050406030204"/>
                              <a:ea typeface="Cambria Math" panose="02040503050406030204"/>
                            </a:rPr>
                            <m:t>5</m:t>
                          </m:r>
                        </m:sup>
                      </m:sSup>
                    </m:oMath>
                  </m:oMathPara>
                </a14:m>
                <a:endParaRPr sz="1600"/>
              </a:p>
            </p:txBody>
          </p:sp>
        </mc:Choice>
        <mc:Fallback>
          <p:sp>
            <p:nvSpPr>
              <p:cNvPr id="16" name="eq_a_1_1" descr="LaTeX: n^p=n^{\log_3 5}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33875" y="3400425"/>
                <a:ext cx="6810375" cy="419100"/>
              </a:xfrm>
              <a:prstGeom prst="rect">
                <a:avLst/>
              </a:prstGeom>
              <a:blipFill rotWithShape="1">
                <a:blip r:embed="rId4"/>
                <a:stretch>
                  <a:fillRect/>
                </a:stretch>
              </a:blipFill>
              <a:ln w="0"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step_a_2"/>
          <p:cNvSpPr>
            <a:spLocks noGrp="1"/>
          </p:cNvSpPr>
          <p:nvPr/>
        </p:nvSpPr>
        <p:spPr>
          <a:xfrm>
            <a:off x="952500" y="3857625"/>
            <a:ext cx="3048000" cy="2762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>
              <a:defRPr sz="1600" b="1">
                <a:solidFill>
                  <a:srgbClr val="1725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>
              <a:defRPr sz="1600" b="1">
                <a:solidFill>
                  <a:srgbClr val="1725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>
              <a:defRPr sz="1600" b="1">
                <a:solidFill>
                  <a:srgbClr val="1725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>
              <a:defRPr sz="1600" b="1">
                <a:solidFill>
                  <a:srgbClr val="1725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>
              <a:defRPr sz="1600" b="1">
                <a:solidFill>
                  <a:srgbClr val="1725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>
              <a:defRPr sz="1600" b="1">
                <a:solidFill>
                  <a:srgbClr val="1725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>
              <a:defRPr sz="1600" b="1">
                <a:solidFill>
                  <a:srgbClr val="1725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>
              <a:defRPr sz="1600" b="1">
                <a:solidFill>
                  <a:srgbClr val="1725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>
              <a:defRPr sz="1600" b="1">
                <a:solidFill>
                  <a:srgbClr val="1725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>
              <a:defRPr sz="1600" b="1">
                <a:solidFill>
                  <a:srgbClr val="1725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>
              <a:defRPr sz="1600" b="1">
                <a:solidFill>
                  <a:srgbClr val="1725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00" b="1">
                <a:solidFill>
                  <a:srgbClr val="1725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  验证情况 1</a:t>
            </a:r>
            <a:endParaRPr sz="1600" b="1">
              <a:solidFill>
                <a:srgbClr val="17255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note_a_2"/>
          <p:cNvSpPr>
            <a:spLocks noGrp="1"/>
          </p:cNvSpPr>
          <p:nvPr/>
        </p:nvSpPr>
        <p:spPr>
          <a:xfrm>
            <a:off x="952500" y="4162425"/>
            <a:ext cx="3086100" cy="5238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>
              <a:defRPr sz="1300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>
              <a:defRPr sz="1300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>
              <a:defRPr sz="1300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>
              <a:defRPr sz="1300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>
              <a:defRPr sz="1300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>
              <a:defRPr sz="1300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>
              <a:defRPr sz="1300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>
              <a:defRPr sz="1300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>
              <a:defRPr sz="1300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>
              <a:defRPr sz="1300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>
              <a:defRPr sz="1300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00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对数增长慢于任意正幂。</a:t>
            </a:r>
            <a:endParaRPr sz="1300" b="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defRPr sz="1300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00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取 ε=p−1.2&gt;0。</a:t>
            </a:r>
            <a:endParaRPr sz="1300" b="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9" name="eq_a_2_0" descr="LaTeX: \lg n=O(n^{0.2})"/>
              <p:cNvSpPr>
                <a:spLocks noGrp="1"/>
              </p:cNvSpPr>
              <p:nvPr/>
            </p:nvSpPr>
            <p:spPr>
              <a:xfrm>
                <a:off x="4333875" y="3838575"/>
                <a:ext cx="6810375" cy="419100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lIns="0" tIns="0" rIns="0" bIns="0" anchor="t"/>
              <a:lstStyle>
                <a:defPPr>
                  <a:defRPr sz="1600" b="0">
                    <a:solidFill>
                      <a:srgbClr val="1E293B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defRPr>
                </a:defPPr>
                <a:lvl1pPr>
                  <a:defRPr sz="1600" b="0">
                    <a:solidFill>
                      <a:srgbClr val="1E293B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defRPr>
                </a:lvl1pPr>
                <a:lvl2pPr>
                  <a:defRPr sz="1600" b="0">
                    <a:solidFill>
                      <a:srgbClr val="1E293B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defRPr>
                </a:lvl2pPr>
                <a:lvl3pPr>
                  <a:defRPr sz="1600" b="0">
                    <a:solidFill>
                      <a:srgbClr val="1E293B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defRPr>
                </a:lvl3pPr>
                <a:lvl4pPr>
                  <a:defRPr sz="1600" b="0">
                    <a:solidFill>
                      <a:srgbClr val="1E293B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defRPr>
                </a:lvl4pPr>
                <a:lvl5pPr>
                  <a:defRPr sz="1600" b="0">
                    <a:solidFill>
                      <a:srgbClr val="1E293B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defRPr>
                </a:lvl5pPr>
                <a:lvl6pPr>
                  <a:defRPr sz="1600" b="0">
                    <a:solidFill>
                      <a:srgbClr val="1E293B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defRPr>
                </a:lvl6pPr>
                <a:lvl7pPr>
                  <a:defRPr sz="1600" b="0">
                    <a:solidFill>
                      <a:srgbClr val="1E293B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defRPr>
                </a:lvl7pPr>
                <a:lvl8pPr>
                  <a:defRPr sz="1600" b="0">
                    <a:solidFill>
                      <a:srgbClr val="1E293B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defRPr>
                </a:lvl8pPr>
                <a:lvl9pPr>
                  <a:defRPr sz="1600" b="0">
                    <a:solidFill>
                      <a:srgbClr val="1E293B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defRPr>
                </a:lvl9pPr>
              </a:lstStyle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sz="1600" b="0" i="0">
                          <a:solidFill>
                            <a:srgbClr val="1E293B"/>
                          </a:solidFill>
                          <a:latin typeface="Cambria Math" panose="02040503050406030204"/>
                          <a:ea typeface="Cambria Math" panose="02040503050406030204"/>
                        </a:rPr>
                        <m:t>lg</m:t>
                      </m:r>
                      <m:r>
                        <a:rPr sz="1600" b="0" i="1">
                          <a:solidFill>
                            <a:srgbClr val="1E293B"/>
                          </a:solidFill>
                          <a:latin typeface="Cambria Math" panose="02040503050406030204"/>
                          <a:ea typeface="Cambria Math" panose="02040503050406030204"/>
                        </a:rPr>
                        <m:t>𝑛</m:t>
                      </m:r>
                      <m:r>
                        <a:rPr sz="1600" b="0" i="0">
                          <a:solidFill>
                            <a:srgbClr val="1E293B"/>
                          </a:solidFill>
                          <a:latin typeface="Cambria Math" panose="02040503050406030204"/>
                          <a:ea typeface="Cambria Math" panose="02040503050406030204"/>
                        </a:rPr>
                        <m:t>=</m:t>
                      </m:r>
                      <m:r>
                        <a:rPr sz="1600" b="0" i="1">
                          <a:solidFill>
                            <a:srgbClr val="1E293B"/>
                          </a:solidFill>
                          <a:latin typeface="Cambria Math" panose="02040503050406030204"/>
                          <a:ea typeface="Cambria Math" panose="02040503050406030204"/>
                        </a:rPr>
                        <m:t>𝑂</m:t>
                      </m:r>
                      <m:d>
                        <m:dPr>
                          <m:ctrlPr>
                            <a:rPr sz="1600" b="0">
                              <a:solidFill>
                                <a:srgbClr val="1E293B"/>
                              </a:solidFill>
                              <a:latin typeface="Cambria Math" panose="02040503050406030204"/>
                              <a:ea typeface="微软雅黑" panose="020B0503020204020204" charset="-122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sz="1600" b="0">
                                  <a:solidFill>
                                    <a:srgbClr val="1E293B"/>
                                  </a:solidFill>
                                  <a:latin typeface="Cambria Math" panose="02040503050406030204"/>
                                  <a:ea typeface="微软雅黑" panose="020B0503020204020204" charset="-122"/>
                                </a:rPr>
                              </m:ctrlPr>
                            </m:sSupPr>
                            <m:e>
                              <m:r>
                                <a:rPr sz="1600" b="0" i="1">
                                  <a:solidFill>
                                    <a:srgbClr val="1E293B"/>
                                  </a:solidFill>
                                  <a:latin typeface="Cambria Math" panose="02040503050406030204"/>
                                  <a:ea typeface="Cambria Math" panose="02040503050406030204"/>
                                </a:rPr>
                                <m:t>𝑛</m:t>
                              </m:r>
                            </m:e>
                            <m:sup>
                              <m:r>
                                <a:rPr sz="1600" b="0" i="0">
                                  <a:solidFill>
                                    <a:srgbClr val="1E293B"/>
                                  </a:solidFill>
                                  <a:latin typeface="Cambria Math" panose="02040503050406030204"/>
                                  <a:ea typeface="Cambria Math" panose="02040503050406030204"/>
                                </a:rPr>
                                <m:t>0</m:t>
                              </m:r>
                              <m:r>
                                <a:rPr sz="1600" b="0" i="0">
                                  <a:solidFill>
                                    <a:srgbClr val="1E293B"/>
                                  </a:solidFill>
                                  <a:latin typeface="Cambria Math" panose="02040503050406030204"/>
                                  <a:ea typeface="Cambria Math" panose="02040503050406030204"/>
                                </a:rPr>
                                <m:t>.</m:t>
                              </m:r>
                              <m:r>
                                <a:rPr sz="1600" b="0" i="0">
                                  <a:solidFill>
                                    <a:srgbClr val="1E293B"/>
                                  </a:solidFill>
                                  <a:latin typeface="Cambria Math" panose="02040503050406030204"/>
                                  <a:ea typeface="Cambria Math" panose="02040503050406030204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sz="1600"/>
              </a:p>
            </p:txBody>
          </p:sp>
        </mc:Choice>
        <mc:Fallback>
          <p:sp>
            <p:nvSpPr>
              <p:cNvPr id="19" name="eq_a_2_0" descr="LaTeX: \lg n=O(n^{0.2})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33875" y="3838575"/>
                <a:ext cx="6810375" cy="419100"/>
              </a:xfrm>
              <a:prstGeom prst="rect">
                <a:avLst/>
              </a:prstGeom>
              <a:blipFill rotWithShape="1">
                <a:blip r:embed="rId5"/>
                <a:stretch>
                  <a:fillRect/>
                </a:stretch>
              </a:blipFill>
              <a:ln w="0"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0" name="eq_a_2_1" descr="LaTeX: n\lg n=O(n^{1.2})=O(n^{p-\epsilon})"/>
              <p:cNvSpPr>
                <a:spLocks noGrp="1"/>
              </p:cNvSpPr>
              <p:nvPr/>
            </p:nvSpPr>
            <p:spPr>
              <a:xfrm>
                <a:off x="4333875" y="4257675"/>
                <a:ext cx="6810375" cy="419100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lIns="0" tIns="0" rIns="0" bIns="0" anchor="t"/>
              <a:lstStyle>
                <a:defPPr>
                  <a:defRPr sz="1600" b="0">
                    <a:solidFill>
                      <a:srgbClr val="1E293B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defRPr>
                </a:defPPr>
                <a:lvl1pPr>
                  <a:defRPr sz="1600" b="0">
                    <a:solidFill>
                      <a:srgbClr val="1E293B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defRPr>
                </a:lvl1pPr>
                <a:lvl2pPr>
                  <a:defRPr sz="1600" b="0">
                    <a:solidFill>
                      <a:srgbClr val="1E293B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defRPr>
                </a:lvl2pPr>
                <a:lvl3pPr>
                  <a:defRPr sz="1600" b="0">
                    <a:solidFill>
                      <a:srgbClr val="1E293B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defRPr>
                </a:lvl3pPr>
                <a:lvl4pPr>
                  <a:defRPr sz="1600" b="0">
                    <a:solidFill>
                      <a:srgbClr val="1E293B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defRPr>
                </a:lvl4pPr>
                <a:lvl5pPr>
                  <a:defRPr sz="1600" b="0">
                    <a:solidFill>
                      <a:srgbClr val="1E293B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defRPr>
                </a:lvl5pPr>
                <a:lvl6pPr>
                  <a:defRPr sz="1600" b="0">
                    <a:solidFill>
                      <a:srgbClr val="1E293B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defRPr>
                </a:lvl6pPr>
                <a:lvl7pPr>
                  <a:defRPr sz="1600" b="0">
                    <a:solidFill>
                      <a:srgbClr val="1E293B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defRPr>
                </a:lvl7pPr>
                <a:lvl8pPr>
                  <a:defRPr sz="1600" b="0">
                    <a:solidFill>
                      <a:srgbClr val="1E293B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defRPr>
                </a:lvl8pPr>
                <a:lvl9pPr>
                  <a:defRPr sz="1600" b="0">
                    <a:solidFill>
                      <a:srgbClr val="1E293B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defRPr>
                </a:lvl9pPr>
              </a:lstStyle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sz="1600" b="0" i="1">
                          <a:solidFill>
                            <a:srgbClr val="1E293B"/>
                          </a:solidFill>
                          <a:latin typeface="Cambria Math" panose="02040503050406030204"/>
                          <a:ea typeface="Cambria Math" panose="02040503050406030204"/>
                        </a:rPr>
                        <m:t>𝑛</m:t>
                      </m:r>
                      <m:r>
                        <m:rPr>
                          <m:sty m:val="p"/>
                        </m:rPr>
                        <a:rPr sz="1600" b="0" i="0">
                          <a:solidFill>
                            <a:srgbClr val="1E293B"/>
                          </a:solidFill>
                          <a:latin typeface="Cambria Math" panose="02040503050406030204"/>
                          <a:ea typeface="Cambria Math" panose="02040503050406030204"/>
                        </a:rPr>
                        <m:t>lg</m:t>
                      </m:r>
                      <m:r>
                        <a:rPr sz="1600" b="0" i="1">
                          <a:solidFill>
                            <a:srgbClr val="1E293B"/>
                          </a:solidFill>
                          <a:latin typeface="Cambria Math" panose="02040503050406030204"/>
                          <a:ea typeface="Cambria Math" panose="02040503050406030204"/>
                        </a:rPr>
                        <m:t>𝑛</m:t>
                      </m:r>
                      <m:r>
                        <a:rPr sz="1600" b="0" i="0">
                          <a:solidFill>
                            <a:srgbClr val="1E293B"/>
                          </a:solidFill>
                          <a:latin typeface="Cambria Math" panose="02040503050406030204"/>
                          <a:ea typeface="Cambria Math" panose="02040503050406030204"/>
                        </a:rPr>
                        <m:t>=</m:t>
                      </m:r>
                      <m:r>
                        <a:rPr sz="1600" b="0" i="1">
                          <a:solidFill>
                            <a:srgbClr val="1E293B"/>
                          </a:solidFill>
                          <a:latin typeface="Cambria Math" panose="02040503050406030204"/>
                          <a:ea typeface="Cambria Math" panose="02040503050406030204"/>
                        </a:rPr>
                        <m:t>𝑂</m:t>
                      </m:r>
                      <m:d>
                        <m:dPr>
                          <m:ctrlPr>
                            <a:rPr sz="1600" b="0">
                              <a:solidFill>
                                <a:srgbClr val="1E293B"/>
                              </a:solidFill>
                              <a:latin typeface="Cambria Math" panose="02040503050406030204"/>
                              <a:ea typeface="微软雅黑" panose="020B0503020204020204" charset="-122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sz="1600" b="0">
                                  <a:solidFill>
                                    <a:srgbClr val="1E293B"/>
                                  </a:solidFill>
                                  <a:latin typeface="Cambria Math" panose="02040503050406030204"/>
                                  <a:ea typeface="微软雅黑" panose="020B0503020204020204" charset="-122"/>
                                </a:rPr>
                              </m:ctrlPr>
                            </m:sSupPr>
                            <m:e>
                              <m:r>
                                <a:rPr sz="1600" b="0" i="1">
                                  <a:solidFill>
                                    <a:srgbClr val="1E293B"/>
                                  </a:solidFill>
                                  <a:latin typeface="Cambria Math" panose="02040503050406030204"/>
                                  <a:ea typeface="Cambria Math" panose="02040503050406030204"/>
                                </a:rPr>
                                <m:t>𝑛</m:t>
                              </m:r>
                            </m:e>
                            <m:sup>
                              <m:r>
                                <a:rPr sz="1600" b="0" i="0">
                                  <a:solidFill>
                                    <a:srgbClr val="1E293B"/>
                                  </a:solidFill>
                                  <a:latin typeface="Cambria Math" panose="02040503050406030204"/>
                                  <a:ea typeface="Cambria Math" panose="02040503050406030204"/>
                                </a:rPr>
                                <m:t>1</m:t>
                              </m:r>
                              <m:r>
                                <a:rPr sz="1600" b="0" i="0">
                                  <a:solidFill>
                                    <a:srgbClr val="1E293B"/>
                                  </a:solidFill>
                                  <a:latin typeface="Cambria Math" panose="02040503050406030204"/>
                                  <a:ea typeface="Cambria Math" panose="02040503050406030204"/>
                                </a:rPr>
                                <m:t>.</m:t>
                              </m:r>
                              <m:r>
                                <a:rPr sz="1600" b="0" i="0">
                                  <a:solidFill>
                                    <a:srgbClr val="1E293B"/>
                                  </a:solidFill>
                                  <a:latin typeface="Cambria Math" panose="02040503050406030204"/>
                                  <a:ea typeface="Cambria Math" panose="02040503050406030204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  <m:r>
                        <a:rPr sz="1600" b="0" i="0">
                          <a:solidFill>
                            <a:srgbClr val="1E293B"/>
                          </a:solidFill>
                          <a:latin typeface="Cambria Math" panose="02040503050406030204"/>
                          <a:ea typeface="Cambria Math" panose="02040503050406030204"/>
                        </a:rPr>
                        <m:t>=</m:t>
                      </m:r>
                      <m:r>
                        <a:rPr sz="1600" b="0" i="1">
                          <a:solidFill>
                            <a:srgbClr val="1E293B"/>
                          </a:solidFill>
                          <a:latin typeface="Cambria Math" panose="02040503050406030204"/>
                          <a:ea typeface="Cambria Math" panose="02040503050406030204"/>
                        </a:rPr>
                        <m:t>𝑂</m:t>
                      </m:r>
                      <m:d>
                        <m:dPr>
                          <m:ctrlPr>
                            <a:rPr sz="1600" b="0">
                              <a:solidFill>
                                <a:srgbClr val="1E293B"/>
                              </a:solidFill>
                              <a:latin typeface="Cambria Math" panose="02040503050406030204"/>
                              <a:ea typeface="微软雅黑" panose="020B0503020204020204" charset="-122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sz="1600" b="0">
                                  <a:solidFill>
                                    <a:srgbClr val="1E293B"/>
                                  </a:solidFill>
                                  <a:latin typeface="Cambria Math" panose="02040503050406030204"/>
                                  <a:ea typeface="微软雅黑" panose="020B0503020204020204" charset="-122"/>
                                </a:rPr>
                              </m:ctrlPr>
                            </m:sSupPr>
                            <m:e>
                              <m:r>
                                <a:rPr sz="1600" b="0" i="1">
                                  <a:solidFill>
                                    <a:srgbClr val="1E293B"/>
                                  </a:solidFill>
                                  <a:latin typeface="Cambria Math" panose="02040503050406030204"/>
                                  <a:ea typeface="Cambria Math" panose="02040503050406030204"/>
                                </a:rPr>
                                <m:t>𝑛</m:t>
                              </m:r>
                            </m:e>
                            <m:sup>
                              <m:r>
                                <a:rPr sz="1600" b="0" i="1">
                                  <a:solidFill>
                                    <a:srgbClr val="1E293B"/>
                                  </a:solidFill>
                                  <a:latin typeface="Cambria Math" panose="02040503050406030204"/>
                                  <a:ea typeface="Cambria Math" panose="02040503050406030204"/>
                                </a:rPr>
                                <m:t>𝑝</m:t>
                              </m:r>
                              <m:r>
                                <a:rPr sz="1600" b="0" i="0">
                                  <a:solidFill>
                                    <a:srgbClr val="1E293B"/>
                                  </a:solidFill>
                                  <a:latin typeface="Cambria Math" panose="02040503050406030204"/>
                                  <a:ea typeface="Cambria Math" panose="02040503050406030204"/>
                                </a:rPr>
                                <m:t>−</m:t>
                              </m:r>
                              <m:r>
                                <m:rPr>
                                  <m:sty m:val="p"/>
                                </m:rPr>
                                <a:rPr sz="1600" b="0" i="0">
                                  <a:solidFill>
                                    <a:srgbClr val="1E293B"/>
                                  </a:solidFill>
                                  <a:latin typeface="Cambria Math" panose="02040503050406030204"/>
                                  <a:ea typeface="Cambria Math" panose="02040503050406030204"/>
                                </a:rPr>
                                <m:t>ε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sz="1600"/>
              </a:p>
            </p:txBody>
          </p:sp>
        </mc:Choice>
        <mc:Fallback>
          <p:sp>
            <p:nvSpPr>
              <p:cNvPr id="20" name="eq_a_2_1" descr="LaTeX: n\lg n=O(n^{1.2})=O(n^{p-\epsilon})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33875" y="4257675"/>
                <a:ext cx="6810375" cy="419100"/>
              </a:xfrm>
              <a:prstGeom prst="rect">
                <a:avLst/>
              </a:prstGeom>
              <a:blipFill rotWithShape="1">
                <a:blip r:embed="rId6"/>
                <a:stretch>
                  <a:fillRect/>
                </a:stretch>
              </a:blipFill>
              <a:ln w="0"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step_a_3"/>
          <p:cNvSpPr>
            <a:spLocks noGrp="1"/>
          </p:cNvSpPr>
          <p:nvPr/>
        </p:nvSpPr>
        <p:spPr>
          <a:xfrm>
            <a:off x="952500" y="4714875"/>
            <a:ext cx="3048000" cy="2762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>
              <a:defRPr sz="1600" b="1">
                <a:solidFill>
                  <a:srgbClr val="1725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>
              <a:defRPr sz="1600" b="1">
                <a:solidFill>
                  <a:srgbClr val="1725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>
              <a:defRPr sz="1600" b="1">
                <a:solidFill>
                  <a:srgbClr val="1725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>
              <a:defRPr sz="1600" b="1">
                <a:solidFill>
                  <a:srgbClr val="1725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>
              <a:defRPr sz="1600" b="1">
                <a:solidFill>
                  <a:srgbClr val="1725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>
              <a:defRPr sz="1600" b="1">
                <a:solidFill>
                  <a:srgbClr val="1725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>
              <a:defRPr sz="1600" b="1">
                <a:solidFill>
                  <a:srgbClr val="1725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>
              <a:defRPr sz="1600" b="1">
                <a:solidFill>
                  <a:srgbClr val="1725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>
              <a:defRPr sz="1600" b="1">
                <a:solidFill>
                  <a:srgbClr val="1725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>
              <a:defRPr sz="1600" b="1">
                <a:solidFill>
                  <a:srgbClr val="1725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>
              <a:defRPr sz="1600" b="1">
                <a:solidFill>
                  <a:srgbClr val="1725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00" b="1">
                <a:solidFill>
                  <a:srgbClr val="1725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  应用主定理</a:t>
            </a:r>
            <a:endParaRPr sz="1600" b="1">
              <a:solidFill>
                <a:srgbClr val="17255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note_a_3"/>
          <p:cNvSpPr>
            <a:spLocks noGrp="1"/>
          </p:cNvSpPr>
          <p:nvPr/>
        </p:nvSpPr>
        <p:spPr>
          <a:xfrm>
            <a:off x="952500" y="5019675"/>
            <a:ext cx="3086100" cy="5238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>
              <a:defRPr sz="1300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>
              <a:defRPr sz="1300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>
              <a:defRPr sz="1300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>
              <a:defRPr sz="1300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>
              <a:defRPr sz="1300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>
              <a:defRPr sz="1300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>
              <a:defRPr sz="1300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>
              <a:defRPr sz="1300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>
              <a:defRPr sz="1300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>
              <a:defRPr sz="1300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>
              <a:defRPr sz="1300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00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额外工作量比基准慢一个多项式因子。</a:t>
            </a:r>
            <a:endParaRPr sz="1300" b="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3" name="eq_a_3_0" descr="LaTeX: T(n)=\Theta(n^p)"/>
              <p:cNvSpPr>
                <a:spLocks noGrp="1"/>
              </p:cNvSpPr>
              <p:nvPr/>
            </p:nvSpPr>
            <p:spPr>
              <a:xfrm>
                <a:off x="4333875" y="4695825"/>
                <a:ext cx="6810375" cy="419100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lIns="0" tIns="0" rIns="0" bIns="0" anchor="t"/>
              <a:lstStyle>
                <a:defPPr>
                  <a:defRPr sz="1600" b="0">
                    <a:solidFill>
                      <a:srgbClr val="1E293B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defRPr>
                </a:defPPr>
                <a:lvl1pPr>
                  <a:defRPr sz="1600" b="0">
                    <a:solidFill>
                      <a:srgbClr val="1E293B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defRPr>
                </a:lvl1pPr>
                <a:lvl2pPr>
                  <a:defRPr sz="1600" b="0">
                    <a:solidFill>
                      <a:srgbClr val="1E293B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defRPr>
                </a:lvl2pPr>
                <a:lvl3pPr>
                  <a:defRPr sz="1600" b="0">
                    <a:solidFill>
                      <a:srgbClr val="1E293B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defRPr>
                </a:lvl3pPr>
                <a:lvl4pPr>
                  <a:defRPr sz="1600" b="0">
                    <a:solidFill>
                      <a:srgbClr val="1E293B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defRPr>
                </a:lvl4pPr>
                <a:lvl5pPr>
                  <a:defRPr sz="1600" b="0">
                    <a:solidFill>
                      <a:srgbClr val="1E293B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defRPr>
                </a:lvl5pPr>
                <a:lvl6pPr>
                  <a:defRPr sz="1600" b="0">
                    <a:solidFill>
                      <a:srgbClr val="1E293B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defRPr>
                </a:lvl6pPr>
                <a:lvl7pPr>
                  <a:defRPr sz="1600" b="0">
                    <a:solidFill>
                      <a:srgbClr val="1E293B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defRPr>
                </a:lvl7pPr>
                <a:lvl8pPr>
                  <a:defRPr sz="1600" b="0">
                    <a:solidFill>
                      <a:srgbClr val="1E293B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defRPr>
                </a:lvl8pPr>
                <a:lvl9pPr>
                  <a:defRPr sz="1600" b="0">
                    <a:solidFill>
                      <a:srgbClr val="1E293B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defRPr>
                </a:lvl9pPr>
              </a:lstStyle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sz="1600" b="0" i="1">
                          <a:solidFill>
                            <a:srgbClr val="1E293B"/>
                          </a:solidFill>
                          <a:latin typeface="Cambria Math" panose="02040503050406030204"/>
                          <a:ea typeface="Cambria Math" panose="02040503050406030204"/>
                        </a:rPr>
                        <m:t>𝑇</m:t>
                      </m:r>
                      <m:d>
                        <m:dPr>
                          <m:ctrlPr>
                            <a:rPr sz="1600" b="0">
                              <a:solidFill>
                                <a:srgbClr val="1E293B"/>
                              </a:solidFill>
                              <a:latin typeface="Cambria Math" panose="02040503050406030204"/>
                              <a:ea typeface="微软雅黑" panose="020B0503020204020204" charset="-122"/>
                            </a:rPr>
                          </m:ctrlPr>
                        </m:dPr>
                        <m:e>
                          <m:r>
                            <a:rPr sz="1600" b="0" i="1">
                              <a:solidFill>
                                <a:srgbClr val="1E293B"/>
                              </a:solidFill>
                              <a:latin typeface="Cambria Math" panose="02040503050406030204"/>
                              <a:ea typeface="Cambria Math" panose="02040503050406030204"/>
                            </a:rPr>
                            <m:t>𝑛</m:t>
                          </m:r>
                        </m:e>
                      </m:d>
                      <m:r>
                        <a:rPr sz="1600" b="0" i="0">
                          <a:solidFill>
                            <a:srgbClr val="1E293B"/>
                          </a:solidFill>
                          <a:latin typeface="Cambria Math" panose="02040503050406030204"/>
                          <a:ea typeface="Cambria Math" panose="02040503050406030204"/>
                        </a:rPr>
                        <m:t>=</m:t>
                      </m:r>
                      <m:r>
                        <m:rPr>
                          <m:sty m:val="p"/>
                        </m:rPr>
                        <a:rPr sz="1600" b="0" i="0">
                          <a:solidFill>
                            <a:srgbClr val="1E293B"/>
                          </a:solidFill>
                          <a:latin typeface="Cambria Math" panose="02040503050406030204"/>
                          <a:ea typeface="Cambria Math" panose="02040503050406030204"/>
                        </a:rPr>
                        <m:t>Θ</m:t>
                      </m:r>
                      <m:d>
                        <m:dPr>
                          <m:ctrlPr>
                            <a:rPr sz="1600" b="0">
                              <a:solidFill>
                                <a:srgbClr val="1E293B"/>
                              </a:solidFill>
                              <a:latin typeface="Cambria Math" panose="02040503050406030204"/>
                              <a:ea typeface="微软雅黑" panose="020B0503020204020204" charset="-122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sz="1600" b="0">
                                  <a:solidFill>
                                    <a:srgbClr val="1E293B"/>
                                  </a:solidFill>
                                  <a:latin typeface="Cambria Math" panose="02040503050406030204"/>
                                  <a:ea typeface="微软雅黑" panose="020B0503020204020204" charset="-122"/>
                                </a:rPr>
                              </m:ctrlPr>
                            </m:sSupPr>
                            <m:e>
                              <m:r>
                                <a:rPr sz="1600" b="0" i="1">
                                  <a:solidFill>
                                    <a:srgbClr val="1E293B"/>
                                  </a:solidFill>
                                  <a:latin typeface="Cambria Math" panose="02040503050406030204"/>
                                  <a:ea typeface="Cambria Math" panose="02040503050406030204"/>
                                </a:rPr>
                                <m:t>𝑛</m:t>
                              </m:r>
                            </m:e>
                            <m:sup>
                              <m:r>
                                <a:rPr sz="1600" b="0" i="1">
                                  <a:solidFill>
                                    <a:srgbClr val="1E293B"/>
                                  </a:solidFill>
                                  <a:latin typeface="Cambria Math" panose="02040503050406030204"/>
                                  <a:ea typeface="Cambria Math" panose="02040503050406030204"/>
                                </a:rPr>
                                <m:t>𝑝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sz="1600"/>
              </a:p>
            </p:txBody>
          </p:sp>
        </mc:Choice>
        <mc:Fallback>
          <p:sp>
            <p:nvSpPr>
              <p:cNvPr id="23" name="eq_a_3_0" descr="LaTeX: T(n)=\Theta(n^p)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33875" y="4695825"/>
                <a:ext cx="6810375" cy="419100"/>
              </a:xfrm>
              <a:prstGeom prst="rect">
                <a:avLst/>
              </a:prstGeom>
              <a:blipFill rotWithShape="1">
                <a:blip r:embed="rId7"/>
                <a:stretch>
                  <a:fillRect/>
                </a:stretch>
              </a:blipFill>
              <a:ln w="0"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4" name="eq_a_result" descr="LaTeX: T(n)=\Theta(n^{\log_3 5})"/>
              <p:cNvSpPr>
                <a:spLocks noGrp="1"/>
              </p:cNvSpPr>
              <p:nvPr/>
            </p:nvSpPr>
            <p:spPr>
              <a:xfrm>
                <a:off x="4333875" y="5743575"/>
                <a:ext cx="6810375" cy="409575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lIns="0" tIns="0" rIns="0" bIns="0" anchor="t"/>
              <a:lstStyle>
                <a:defPPr>
                  <a:defRPr sz="1700" b="1">
                    <a:solidFill>
                      <a:srgbClr val="2563EB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defRPr>
                </a:defPPr>
                <a:lvl1pPr>
                  <a:defRPr sz="1700" b="1">
                    <a:solidFill>
                      <a:srgbClr val="2563EB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defRPr>
                </a:lvl1pPr>
                <a:lvl2pPr>
                  <a:defRPr sz="1700" b="1">
                    <a:solidFill>
                      <a:srgbClr val="2563EB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defRPr>
                </a:lvl2pPr>
                <a:lvl3pPr>
                  <a:defRPr sz="1700" b="1">
                    <a:solidFill>
                      <a:srgbClr val="2563EB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defRPr>
                </a:lvl3pPr>
                <a:lvl4pPr>
                  <a:defRPr sz="1700" b="1">
                    <a:solidFill>
                      <a:srgbClr val="2563EB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defRPr>
                </a:lvl4pPr>
                <a:lvl5pPr>
                  <a:defRPr sz="1700" b="1">
                    <a:solidFill>
                      <a:srgbClr val="2563EB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defRPr>
                </a:lvl5pPr>
                <a:lvl6pPr>
                  <a:defRPr sz="1700" b="1">
                    <a:solidFill>
                      <a:srgbClr val="2563EB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defRPr>
                </a:lvl6pPr>
                <a:lvl7pPr>
                  <a:defRPr sz="1700" b="1">
                    <a:solidFill>
                      <a:srgbClr val="2563EB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defRPr>
                </a:lvl7pPr>
                <a:lvl8pPr>
                  <a:defRPr sz="1700" b="1">
                    <a:solidFill>
                      <a:srgbClr val="2563EB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defRPr>
                </a:lvl8pPr>
                <a:lvl9pPr>
                  <a:defRPr sz="1700" b="1">
                    <a:solidFill>
                      <a:srgbClr val="2563EB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defRPr>
                </a:lvl9pPr>
              </a:lstStyle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sz="1700" b="1" i="1">
                          <a:solidFill>
                            <a:srgbClr val="2563EB"/>
                          </a:solidFill>
                          <a:latin typeface="Cambria Math" panose="02040503050406030204"/>
                          <a:ea typeface="Cambria Math" panose="02040503050406030204"/>
                        </a:rPr>
                        <m:t>𝑇</m:t>
                      </m:r>
                      <m:d>
                        <m:dPr>
                          <m:ctrlPr>
                            <a:rPr sz="1700" b="1">
                              <a:solidFill>
                                <a:srgbClr val="2563EB"/>
                              </a:solidFill>
                              <a:latin typeface="Cambria Math" panose="02040503050406030204"/>
                              <a:ea typeface="微软雅黑" panose="020B0503020204020204" charset="-122"/>
                            </a:rPr>
                          </m:ctrlPr>
                        </m:dPr>
                        <m:e>
                          <m:r>
                            <a:rPr sz="1700" b="1" i="1">
                              <a:solidFill>
                                <a:srgbClr val="2563EB"/>
                              </a:solidFill>
                              <a:latin typeface="Cambria Math" panose="02040503050406030204"/>
                              <a:ea typeface="Cambria Math" panose="02040503050406030204"/>
                            </a:rPr>
                            <m:t>𝑛</m:t>
                          </m:r>
                        </m:e>
                      </m:d>
                      <m:r>
                        <a:rPr sz="1700" b="1" i="0">
                          <a:solidFill>
                            <a:srgbClr val="2563EB"/>
                          </a:solidFill>
                          <a:latin typeface="Cambria Math" panose="02040503050406030204"/>
                          <a:ea typeface="Cambria Math" panose="02040503050406030204"/>
                        </a:rPr>
                        <m:t>=</m:t>
                      </m:r>
                      <m:r>
                        <m:rPr>
                          <m:sty m:val="p"/>
                        </m:rPr>
                        <a:rPr sz="1700" b="1" i="0">
                          <a:solidFill>
                            <a:srgbClr val="2563EB"/>
                          </a:solidFill>
                          <a:latin typeface="Cambria Math" panose="02040503050406030204"/>
                          <a:ea typeface="Cambria Math" panose="02040503050406030204"/>
                        </a:rPr>
                        <m:t>Θ</m:t>
                      </m:r>
                      <m:d>
                        <m:dPr>
                          <m:ctrlPr>
                            <a:rPr sz="1700" b="1">
                              <a:solidFill>
                                <a:srgbClr val="2563EB"/>
                              </a:solidFill>
                              <a:latin typeface="Cambria Math" panose="02040503050406030204"/>
                              <a:ea typeface="微软雅黑" panose="020B0503020204020204" charset="-122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sz="1700" b="1">
                                  <a:solidFill>
                                    <a:srgbClr val="2563EB"/>
                                  </a:solidFill>
                                  <a:latin typeface="Cambria Math" panose="02040503050406030204"/>
                                  <a:ea typeface="微软雅黑" panose="020B0503020204020204" charset="-122"/>
                                </a:rPr>
                              </m:ctrlPr>
                            </m:sSupPr>
                            <m:e>
                              <m:r>
                                <a:rPr sz="1700" b="1" i="1">
                                  <a:solidFill>
                                    <a:srgbClr val="2563EB"/>
                                  </a:solidFill>
                                  <a:latin typeface="Cambria Math" panose="02040503050406030204"/>
                                  <a:ea typeface="Cambria Math" panose="02040503050406030204"/>
                                </a:rPr>
                                <m:t>𝑛</m:t>
                              </m:r>
                            </m:e>
                            <m:sup>
                              <m:sSub>
                                <m:sSubPr>
                                  <m:ctrlPr>
                                    <a:rPr sz="1700" b="1">
                                      <a:solidFill>
                                        <a:srgbClr val="2563EB"/>
                                      </a:solidFill>
                                      <a:latin typeface="Cambria Math" panose="02040503050406030204"/>
                                      <a:ea typeface="微软雅黑" panose="020B0503020204020204" charset="-122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sz="1700" b="1" i="0">
                                      <a:solidFill>
                                        <a:srgbClr val="2563EB"/>
                                      </a:solidFill>
                                      <a:latin typeface="Cambria Math" panose="02040503050406030204"/>
                                      <a:ea typeface="Cambria Math" panose="02040503050406030204"/>
                                    </a:rPr>
                                    <m:t>log</m:t>
                                  </m:r>
                                </m:e>
                                <m:sub>
                                  <m:r>
                                    <a:rPr sz="1700" b="1" i="0">
                                      <a:solidFill>
                                        <a:srgbClr val="2563EB"/>
                                      </a:solidFill>
                                      <a:latin typeface="Cambria Math" panose="02040503050406030204"/>
                                      <a:ea typeface="Cambria Math" panose="02040503050406030204"/>
                                    </a:rPr>
                                    <m:t>3</m:t>
                                  </m:r>
                                </m:sub>
                              </m:sSub>
                              <m:r>
                                <a:rPr sz="1700" b="1" i="0">
                                  <a:solidFill>
                                    <a:srgbClr val="2563EB"/>
                                  </a:solidFill>
                                  <a:latin typeface="Cambria Math" panose="02040503050406030204"/>
                                  <a:ea typeface="Cambria Math" panose="02040503050406030204"/>
                                </a:rPr>
                                <m:t>5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sz="1700"/>
              </a:p>
            </p:txBody>
          </p:sp>
        </mc:Choice>
        <mc:Fallback>
          <p:sp>
            <p:nvSpPr>
              <p:cNvPr id="24" name="eq_a_result" descr="LaTeX: T(n)=\Theta(n^{\log_3 5})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33875" y="5743575"/>
                <a:ext cx="6810375" cy="409575"/>
              </a:xfrm>
              <a:prstGeom prst="rect">
                <a:avLst/>
              </a:prstGeom>
              <a:blipFill rotWithShape="1">
                <a:blip r:embed="rId8"/>
                <a:stretch>
                  <a:fillRect/>
                </a:stretch>
              </a:blipFill>
              <a:ln w="0"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" name="result_label_a"/>
          <p:cNvSpPr>
            <a:spLocks noGrp="1"/>
          </p:cNvSpPr>
          <p:nvPr/>
        </p:nvSpPr>
        <p:spPr>
          <a:xfrm>
            <a:off x="952500" y="5781675"/>
            <a:ext cx="3048000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>
              <a:defRPr sz="1600" b="1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>
              <a:defRPr sz="1600" b="1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>
              <a:defRPr sz="1600" b="1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>
              <a:defRPr sz="1600" b="1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>
              <a:defRPr sz="1600" b="1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>
              <a:defRPr sz="1600" b="1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>
              <a:defRPr sz="1600" b="1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>
              <a:defRPr sz="1600" b="1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>
              <a:defRPr sz="1600" b="1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>
              <a:defRPr sz="1600" b="1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>
              <a:defRPr sz="1600" b="1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00" b="1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紧确渐近界</a:t>
            </a:r>
            <a:endParaRPr sz="1600" b="1">
              <a:solidFill>
                <a:srgbClr val="2563E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>
            <a:spLocks noGrp="1"/>
          </p:cNvSpPr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3" name="TextBox 2"/>
          <p:cNvSpPr>
            <a:spLocks noGrp="1"/>
          </p:cNvSpPr>
          <p:nvPr/>
        </p:nvSpPr>
        <p:spPr>
          <a:xfrm>
            <a:off x="502920" y="292608"/>
            <a:ext cx="10881360" cy="512064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>
            <a:defPPr>
              <a:defRPr sz="2400"/>
            </a:defPPr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algn="l">
              <a:spcAft>
                <a:spcPts val="500"/>
              </a:spcAft>
              <a:buNone/>
            </a:pPr>
            <a:r>
              <a:rPr sz="2400" b="1" i="0">
                <a:solidFill>
                  <a:srgbClr val="1725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题目解析（b）</a:t>
            </a:r>
            <a:endParaRPr sz="2400" b="1" i="0">
              <a:solidFill>
                <a:srgbClr val="17255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TextBox 3"/>
          <p:cNvSpPr>
            <a:spLocks noGrp="1"/>
          </p:cNvSpPr>
          <p:nvPr/>
        </p:nvSpPr>
        <p:spPr>
          <a:xfrm>
            <a:off x="530352" y="804672"/>
            <a:ext cx="10972800" cy="329184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>
            <a:defPPr>
              <a:defRPr sz="1200"/>
            </a:defPPr>
            <a:lvl1pPr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algn="l">
              <a:spcAft>
                <a:spcPts val="500"/>
              </a:spcAft>
              <a:buNone/>
            </a:pPr>
            <a:r>
              <a:rPr sz="1200" b="0" i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递归树与调和级数：n/lg n 不符合主定理的多项式差距条件</a:t>
            </a:r>
            <a:endParaRPr sz="1200" b="0" i="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TextBox 4"/>
          <p:cNvSpPr>
            <a:spLocks noGrp="1"/>
          </p:cNvSpPr>
          <p:nvPr/>
        </p:nvSpPr>
        <p:spPr>
          <a:xfrm>
            <a:off x="9555480" y="6510528"/>
            <a:ext cx="2103120" cy="18288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r">
              <a:spcAft>
                <a:spcPts val="500"/>
              </a:spcAft>
              <a:buNone/>
            </a:pPr>
            <a:r>
              <a:rPr sz="900" b="0" i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递推式与渐近分析</a:t>
            </a:r>
            <a:endParaRPr sz="900" b="0" i="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extBox 5"/>
          <p:cNvSpPr>
            <a:spLocks noGrp="1"/>
          </p:cNvSpPr>
          <p:nvPr/>
        </p:nvSpPr>
        <p:spPr>
          <a:xfrm>
            <a:off x="502920" y="6510528"/>
            <a:ext cx="1371600" cy="283464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500"/>
              </a:spcAft>
              <a:buNone/>
            </a:pPr>
            <a:r>
              <a:rPr sz="900" b="0" i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算法设计 · 07</a:t>
            </a:r>
            <a:endParaRPr sz="900" b="0" i="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Rounded Rectangle 6"/>
          <p:cNvSpPr>
            <a:spLocks noGrp="1"/>
          </p:cNvSpPr>
          <p:nvPr/>
        </p:nvSpPr>
        <p:spPr>
          <a:xfrm>
            <a:off x="575945" y="1280160"/>
            <a:ext cx="10927080" cy="49149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8" name="Rectangle 7"/>
          <p:cNvSpPr>
            <a:spLocks noGrp="1"/>
          </p:cNvSpPr>
          <p:nvPr/>
        </p:nvSpPr>
        <p:spPr>
          <a:xfrm>
            <a:off x="640080" y="1280160"/>
            <a:ext cx="73152" cy="4914900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eq_b_recurrence" descr="LaTeX: T(n)=3T(\frac{n}{3})+\frac{n}{\lg n}"/>
              <p:cNvSpPr>
                <a:spLocks noGrp="1"/>
              </p:cNvSpPr>
              <p:nvPr/>
            </p:nvSpPr>
            <p:spPr>
              <a:xfrm>
                <a:off x="952500" y="1457325"/>
                <a:ext cx="10287000" cy="552450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lIns="0" tIns="0" rIns="0" bIns="0" anchor="t"/>
              <a:lstStyle>
                <a:defPPr>
                  <a:defRPr sz="1700" b="1">
                    <a:solidFill>
                      <a:srgbClr val="2563EB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defRPr>
                </a:defPPr>
                <a:lvl1pPr>
                  <a:defRPr sz="1700" b="1">
                    <a:solidFill>
                      <a:srgbClr val="2563EB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defRPr>
                </a:lvl1pPr>
                <a:lvl2pPr>
                  <a:defRPr sz="1700" b="1">
                    <a:solidFill>
                      <a:srgbClr val="2563EB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defRPr>
                </a:lvl2pPr>
                <a:lvl3pPr>
                  <a:defRPr sz="1700" b="1">
                    <a:solidFill>
                      <a:srgbClr val="2563EB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defRPr>
                </a:lvl3pPr>
                <a:lvl4pPr>
                  <a:defRPr sz="1700" b="1">
                    <a:solidFill>
                      <a:srgbClr val="2563EB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defRPr>
                </a:lvl4pPr>
                <a:lvl5pPr>
                  <a:defRPr sz="1700" b="1">
                    <a:solidFill>
                      <a:srgbClr val="2563EB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defRPr>
                </a:lvl5pPr>
                <a:lvl6pPr>
                  <a:defRPr sz="1700" b="1">
                    <a:solidFill>
                      <a:srgbClr val="2563EB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defRPr>
                </a:lvl6pPr>
                <a:lvl7pPr>
                  <a:defRPr sz="1700" b="1">
                    <a:solidFill>
                      <a:srgbClr val="2563EB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defRPr>
                </a:lvl7pPr>
                <a:lvl8pPr>
                  <a:defRPr sz="1700" b="1">
                    <a:solidFill>
                      <a:srgbClr val="2563EB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defRPr>
                </a:lvl8pPr>
                <a:lvl9pPr>
                  <a:defRPr sz="1700" b="1">
                    <a:solidFill>
                      <a:srgbClr val="2563EB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defRPr>
                </a:lvl9pPr>
              </a:lstStyle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sz="1700" b="1" i="1">
                          <a:solidFill>
                            <a:srgbClr val="2563EB"/>
                          </a:solidFill>
                          <a:latin typeface="Cambria Math" panose="02040503050406030204"/>
                          <a:ea typeface="Cambria Math" panose="02040503050406030204"/>
                        </a:rPr>
                        <m:t>𝑇</m:t>
                      </m:r>
                      <m:d>
                        <m:dPr>
                          <m:ctrlPr>
                            <a:rPr sz="1700" b="1">
                              <a:solidFill>
                                <a:srgbClr val="2563EB"/>
                              </a:solidFill>
                              <a:latin typeface="Cambria Math" panose="02040503050406030204"/>
                              <a:ea typeface="微软雅黑" panose="020B0503020204020204" charset="-122"/>
                            </a:rPr>
                          </m:ctrlPr>
                        </m:dPr>
                        <m:e>
                          <m:r>
                            <a:rPr sz="1700" b="1" i="1">
                              <a:solidFill>
                                <a:srgbClr val="2563EB"/>
                              </a:solidFill>
                              <a:latin typeface="Cambria Math" panose="02040503050406030204"/>
                              <a:ea typeface="Cambria Math" panose="02040503050406030204"/>
                            </a:rPr>
                            <m:t>𝑛</m:t>
                          </m:r>
                        </m:e>
                      </m:d>
                      <m:r>
                        <a:rPr sz="1700" b="1" i="0">
                          <a:solidFill>
                            <a:srgbClr val="2563EB"/>
                          </a:solidFill>
                          <a:latin typeface="Cambria Math" panose="02040503050406030204"/>
                          <a:ea typeface="Cambria Math" panose="02040503050406030204"/>
                        </a:rPr>
                        <m:t>=</m:t>
                      </m:r>
                      <m:r>
                        <a:rPr sz="1700" b="1" i="0">
                          <a:solidFill>
                            <a:srgbClr val="2563EB"/>
                          </a:solidFill>
                          <a:latin typeface="Cambria Math" panose="02040503050406030204"/>
                          <a:ea typeface="Cambria Math" panose="02040503050406030204"/>
                        </a:rPr>
                        <m:t>3</m:t>
                      </m:r>
                      <m:r>
                        <a:rPr sz="1700" b="1" i="1">
                          <a:solidFill>
                            <a:srgbClr val="2563EB"/>
                          </a:solidFill>
                          <a:latin typeface="Cambria Math" panose="02040503050406030204"/>
                          <a:ea typeface="Cambria Math" panose="02040503050406030204"/>
                        </a:rPr>
                        <m:t>𝑇</m:t>
                      </m:r>
                      <m:d>
                        <m:dPr>
                          <m:ctrlPr>
                            <a:rPr sz="1700" b="1">
                              <a:solidFill>
                                <a:srgbClr val="2563EB"/>
                              </a:solidFill>
                              <a:latin typeface="Cambria Math" panose="02040503050406030204"/>
                              <a:ea typeface="微软雅黑" panose="020B0503020204020204" charset="-122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sz="1700" b="1">
                                  <a:solidFill>
                                    <a:srgbClr val="2563EB"/>
                                  </a:solidFill>
                                  <a:latin typeface="Cambria Math" panose="02040503050406030204"/>
                                  <a:ea typeface="微软雅黑" panose="020B0503020204020204" charset="-122"/>
                                </a:rPr>
                              </m:ctrlPr>
                            </m:fPr>
                            <m:num>
                              <m:r>
                                <a:rPr sz="1700" b="1" i="1">
                                  <a:solidFill>
                                    <a:srgbClr val="2563EB"/>
                                  </a:solidFill>
                                  <a:latin typeface="Cambria Math" panose="02040503050406030204"/>
                                  <a:ea typeface="Cambria Math" panose="02040503050406030204"/>
                                </a:rPr>
                                <m:t>𝑛</m:t>
                              </m:r>
                            </m:num>
                            <m:den>
                              <m:r>
                                <a:rPr sz="1700" b="1" i="0">
                                  <a:solidFill>
                                    <a:srgbClr val="2563EB"/>
                                  </a:solidFill>
                                  <a:latin typeface="Cambria Math" panose="02040503050406030204"/>
                                  <a:ea typeface="Cambria Math" panose="02040503050406030204"/>
                                </a:rPr>
                                <m:t>3</m:t>
                              </m:r>
                            </m:den>
                          </m:f>
                        </m:e>
                      </m:d>
                      <m:r>
                        <a:rPr sz="1700" b="1" i="0">
                          <a:solidFill>
                            <a:srgbClr val="2563EB"/>
                          </a:solidFill>
                          <a:latin typeface="Cambria Math" panose="02040503050406030204"/>
                          <a:ea typeface="Cambria Math" panose="02040503050406030204"/>
                        </a:rPr>
                        <m:t>+</m:t>
                      </m:r>
                      <m:f>
                        <m:fPr>
                          <m:ctrlPr>
                            <a:rPr sz="1700" b="1">
                              <a:solidFill>
                                <a:srgbClr val="2563EB"/>
                              </a:solidFill>
                              <a:latin typeface="Cambria Math" panose="02040503050406030204"/>
                              <a:ea typeface="微软雅黑" panose="020B0503020204020204" charset="-122"/>
                            </a:rPr>
                          </m:ctrlPr>
                        </m:fPr>
                        <m:num>
                          <m:r>
                            <a:rPr sz="1700" b="1" i="1">
                              <a:solidFill>
                                <a:srgbClr val="2563EB"/>
                              </a:solidFill>
                              <a:latin typeface="Cambria Math" panose="02040503050406030204"/>
                              <a:ea typeface="Cambria Math" panose="02040503050406030204"/>
                            </a:rPr>
                            <m:t>𝑛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sz="1700" b="1" i="0">
                              <a:solidFill>
                                <a:srgbClr val="2563EB"/>
                              </a:solidFill>
                              <a:latin typeface="Cambria Math" panose="02040503050406030204"/>
                              <a:ea typeface="Cambria Math" panose="02040503050406030204"/>
                            </a:rPr>
                            <m:t>lg</m:t>
                          </m:r>
                          <m:r>
                            <a:rPr sz="1700" b="1" i="1">
                              <a:solidFill>
                                <a:srgbClr val="2563EB"/>
                              </a:solidFill>
                              <a:latin typeface="Cambria Math" panose="02040503050406030204"/>
                              <a:ea typeface="Cambria Math" panose="02040503050406030204"/>
                            </a:rPr>
                            <m:t>𝑛</m:t>
                          </m:r>
                        </m:den>
                      </m:f>
                    </m:oMath>
                  </m:oMathPara>
                </a14:m>
                <a:endParaRPr sz="1700"/>
              </a:p>
            </p:txBody>
          </p:sp>
        </mc:Choice>
        <mc:Fallback>
          <p:sp>
            <p:nvSpPr>
              <p:cNvPr id="9" name="eq_b_recurrence" descr="LaTeX: T(n)=3T(\frac{n}{3})+\frac{n}{\lg n}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2500" y="1457325"/>
                <a:ext cx="10287000" cy="552450"/>
              </a:xfrm>
              <a:prstGeom prst="rect">
                <a:avLst/>
              </a:prstGeom>
              <a:blipFill rotWithShape="1">
                <a:blip r:embed="rId1"/>
                <a:stretch>
                  <a:fillRect/>
                </a:stretch>
              </a:blipFill>
              <a:ln w="0"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step_b_0"/>
          <p:cNvSpPr>
            <a:spLocks noGrp="1"/>
          </p:cNvSpPr>
          <p:nvPr/>
        </p:nvSpPr>
        <p:spPr>
          <a:xfrm>
            <a:off x="952500" y="2143125"/>
            <a:ext cx="3048000" cy="2762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>
              <a:defRPr sz="1600" b="1">
                <a:solidFill>
                  <a:srgbClr val="1725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>
              <a:defRPr sz="1600" b="1">
                <a:solidFill>
                  <a:srgbClr val="1725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>
              <a:defRPr sz="1600" b="1">
                <a:solidFill>
                  <a:srgbClr val="1725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>
              <a:defRPr sz="1600" b="1">
                <a:solidFill>
                  <a:srgbClr val="1725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>
              <a:defRPr sz="1600" b="1">
                <a:solidFill>
                  <a:srgbClr val="1725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>
              <a:defRPr sz="1600" b="1">
                <a:solidFill>
                  <a:srgbClr val="1725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>
              <a:defRPr sz="1600" b="1">
                <a:solidFill>
                  <a:srgbClr val="1725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>
              <a:defRPr sz="1600" b="1">
                <a:solidFill>
                  <a:srgbClr val="1725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>
              <a:defRPr sz="1600" b="1">
                <a:solidFill>
                  <a:srgbClr val="1725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>
              <a:defRPr sz="1600" b="1">
                <a:solidFill>
                  <a:srgbClr val="1725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>
              <a:defRPr sz="1600" b="1">
                <a:solidFill>
                  <a:srgbClr val="1725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00" b="1">
                <a:solidFill>
                  <a:srgbClr val="1725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  确定树高与叶子成本</a:t>
            </a:r>
            <a:endParaRPr sz="1600" b="1">
              <a:solidFill>
                <a:srgbClr val="17255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note_b_0"/>
          <p:cNvSpPr>
            <a:spLocks noGrp="1"/>
          </p:cNvSpPr>
          <p:nvPr/>
        </p:nvSpPr>
        <p:spPr>
          <a:xfrm>
            <a:off x="952500" y="2447925"/>
            <a:ext cx="3086100" cy="5238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>
              <a:defRPr sz="1300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>
              <a:defRPr sz="1300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>
              <a:defRPr sz="1300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>
              <a:defRPr sz="1300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>
              <a:defRPr sz="1300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>
              <a:defRPr sz="1300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>
              <a:defRPr sz="1300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>
              <a:defRPr sz="1300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>
              <a:defRPr sz="1300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>
              <a:defRPr sz="1300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>
              <a:defRPr sz="1300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00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先按 n 为 3 的整数次幂分析。</a:t>
            </a:r>
            <a:endParaRPr sz="1300" b="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defRPr sz="1300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00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取常数基例 T(1)=Θ(1)。</a:t>
            </a:r>
            <a:endParaRPr sz="1300" b="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2" name="eq_b_0_0" descr="LaTeX: L=\log_3 n,\quad n=3^L"/>
              <p:cNvSpPr>
                <a:spLocks noGrp="1"/>
              </p:cNvSpPr>
              <p:nvPr/>
            </p:nvSpPr>
            <p:spPr>
              <a:xfrm>
                <a:off x="4333875" y="2124075"/>
                <a:ext cx="6810375" cy="419100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lIns="0" tIns="0" rIns="0" bIns="0" anchor="t"/>
              <a:lstStyle>
                <a:defPPr>
                  <a:defRPr sz="1600" b="0">
                    <a:solidFill>
                      <a:srgbClr val="1E293B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defRPr>
                </a:defPPr>
                <a:lvl1pPr>
                  <a:defRPr sz="1600" b="0">
                    <a:solidFill>
                      <a:srgbClr val="1E293B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defRPr>
                </a:lvl1pPr>
                <a:lvl2pPr>
                  <a:defRPr sz="1600" b="0">
                    <a:solidFill>
                      <a:srgbClr val="1E293B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defRPr>
                </a:lvl2pPr>
                <a:lvl3pPr>
                  <a:defRPr sz="1600" b="0">
                    <a:solidFill>
                      <a:srgbClr val="1E293B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defRPr>
                </a:lvl3pPr>
                <a:lvl4pPr>
                  <a:defRPr sz="1600" b="0">
                    <a:solidFill>
                      <a:srgbClr val="1E293B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defRPr>
                </a:lvl4pPr>
                <a:lvl5pPr>
                  <a:defRPr sz="1600" b="0">
                    <a:solidFill>
                      <a:srgbClr val="1E293B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defRPr>
                </a:lvl5pPr>
                <a:lvl6pPr>
                  <a:defRPr sz="1600" b="0">
                    <a:solidFill>
                      <a:srgbClr val="1E293B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defRPr>
                </a:lvl6pPr>
                <a:lvl7pPr>
                  <a:defRPr sz="1600" b="0">
                    <a:solidFill>
                      <a:srgbClr val="1E293B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defRPr>
                </a:lvl7pPr>
                <a:lvl8pPr>
                  <a:defRPr sz="1600" b="0">
                    <a:solidFill>
                      <a:srgbClr val="1E293B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defRPr>
                </a:lvl8pPr>
                <a:lvl9pPr>
                  <a:defRPr sz="1600" b="0">
                    <a:solidFill>
                      <a:srgbClr val="1E293B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defRPr>
                </a:lvl9pPr>
              </a:lstStyle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sz="1600" b="0" i="1">
                          <a:solidFill>
                            <a:srgbClr val="1E293B"/>
                          </a:solidFill>
                          <a:latin typeface="Cambria Math" panose="02040503050406030204"/>
                          <a:ea typeface="Cambria Math" panose="02040503050406030204"/>
                        </a:rPr>
                        <m:t>𝐿</m:t>
                      </m:r>
                      <m:r>
                        <a:rPr sz="1600" b="0" i="0">
                          <a:solidFill>
                            <a:srgbClr val="1E293B"/>
                          </a:solidFill>
                          <a:latin typeface="Cambria Math" panose="02040503050406030204"/>
                          <a:ea typeface="Cambria Math" panose="02040503050406030204"/>
                        </a:rPr>
                        <m:t>=</m:t>
                      </m:r>
                      <m:sSub>
                        <m:sSubPr>
                          <m:ctrlPr>
                            <a:rPr sz="1600" b="0">
                              <a:solidFill>
                                <a:srgbClr val="1E293B"/>
                              </a:solidFill>
                              <a:latin typeface="Cambria Math" panose="02040503050406030204"/>
                              <a:ea typeface="微软雅黑" panose="020B0503020204020204" charset="-122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sz="1600" b="0" i="0">
                              <a:solidFill>
                                <a:srgbClr val="1E293B"/>
                              </a:solidFill>
                              <a:latin typeface="Cambria Math" panose="02040503050406030204"/>
                              <a:ea typeface="Cambria Math" panose="02040503050406030204"/>
                            </a:rPr>
                            <m:t>log</m:t>
                          </m:r>
                        </m:e>
                        <m:sub>
                          <m:r>
                            <a:rPr sz="1600" b="0" i="0">
                              <a:solidFill>
                                <a:srgbClr val="1E293B"/>
                              </a:solidFill>
                              <a:latin typeface="Cambria Math" panose="02040503050406030204"/>
                              <a:ea typeface="Cambria Math" panose="02040503050406030204"/>
                            </a:rPr>
                            <m:t>3</m:t>
                          </m:r>
                        </m:sub>
                      </m:sSub>
                      <m:r>
                        <a:rPr sz="1600" b="0" i="1">
                          <a:solidFill>
                            <a:srgbClr val="1E293B"/>
                          </a:solidFill>
                          <a:latin typeface="Cambria Math" panose="02040503050406030204"/>
                          <a:ea typeface="Cambria Math" panose="02040503050406030204"/>
                        </a:rPr>
                        <m:t>𝑛</m:t>
                      </m:r>
                      <m:r>
                        <a:rPr sz="1600" b="0" i="0">
                          <a:solidFill>
                            <a:srgbClr val="1E293B"/>
                          </a:solidFill>
                          <a:latin typeface="Cambria Math" panose="02040503050406030204"/>
                          <a:ea typeface="Cambria Math" panose="02040503050406030204"/>
                        </a:rPr>
                        <m:t>,</m:t>
                      </m:r>
                      <m:r>
                        <a:rPr sz="1600" b="0" i="0">
                          <a:solidFill>
                            <a:srgbClr val="1E293B"/>
                          </a:solidFill>
                          <a:latin typeface="Cambria Math" panose="02040503050406030204"/>
                          <a:ea typeface="Cambria Math" panose="02040503050406030204"/>
                        </a:rPr>
                        <m:t> </m:t>
                      </m:r>
                      <m:r>
                        <a:rPr sz="1600" b="0" i="1">
                          <a:solidFill>
                            <a:srgbClr val="1E293B"/>
                          </a:solidFill>
                          <a:latin typeface="Cambria Math" panose="02040503050406030204"/>
                          <a:ea typeface="Cambria Math" panose="02040503050406030204"/>
                        </a:rPr>
                        <m:t>𝑛</m:t>
                      </m:r>
                      <m:r>
                        <a:rPr sz="1600" b="0" i="0">
                          <a:solidFill>
                            <a:srgbClr val="1E293B"/>
                          </a:solidFill>
                          <a:latin typeface="Cambria Math" panose="02040503050406030204"/>
                          <a:ea typeface="Cambria Math" panose="02040503050406030204"/>
                        </a:rPr>
                        <m:t>=</m:t>
                      </m:r>
                      <m:sSup>
                        <m:sSupPr>
                          <m:ctrlPr>
                            <a:rPr sz="1600" b="0">
                              <a:solidFill>
                                <a:srgbClr val="1E293B"/>
                              </a:solidFill>
                              <a:latin typeface="Cambria Math" panose="02040503050406030204"/>
                              <a:ea typeface="微软雅黑" panose="020B0503020204020204" charset="-122"/>
                            </a:rPr>
                          </m:ctrlPr>
                        </m:sSupPr>
                        <m:e>
                          <m:r>
                            <a:rPr sz="1600" b="0" i="0">
                              <a:solidFill>
                                <a:srgbClr val="1E293B"/>
                              </a:solidFill>
                              <a:latin typeface="Cambria Math" panose="02040503050406030204"/>
                              <a:ea typeface="Cambria Math" panose="02040503050406030204"/>
                            </a:rPr>
                            <m:t>3</m:t>
                          </m:r>
                        </m:e>
                        <m:sup>
                          <m:r>
                            <a:rPr sz="1600" b="0" i="1">
                              <a:solidFill>
                                <a:srgbClr val="1E293B"/>
                              </a:solidFill>
                              <a:latin typeface="Cambria Math" panose="02040503050406030204"/>
                              <a:ea typeface="Cambria Math" panose="02040503050406030204"/>
                            </a:rPr>
                            <m:t>𝐿</m:t>
                          </m:r>
                        </m:sup>
                      </m:sSup>
                    </m:oMath>
                  </m:oMathPara>
                </a14:m>
                <a:endParaRPr sz="1600"/>
              </a:p>
            </p:txBody>
          </p:sp>
        </mc:Choice>
        <mc:Fallback>
          <p:sp>
            <p:nvSpPr>
              <p:cNvPr id="12" name="eq_b_0_0" descr="LaTeX: L=\log_3 n,\quad n=3^L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33875" y="2124075"/>
                <a:ext cx="6810375" cy="419100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  <a:ln w="0"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3" name="eq_b_0_1" descr="LaTeX: 3^L=n,\quad\Theta(3^L)=\Theta(n)"/>
              <p:cNvSpPr>
                <a:spLocks noGrp="1"/>
              </p:cNvSpPr>
              <p:nvPr/>
            </p:nvSpPr>
            <p:spPr>
              <a:xfrm>
                <a:off x="4333875" y="2543175"/>
                <a:ext cx="6810375" cy="419100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lIns="0" tIns="0" rIns="0" bIns="0" anchor="t"/>
              <a:lstStyle>
                <a:defPPr>
                  <a:defRPr sz="1600" b="0">
                    <a:solidFill>
                      <a:srgbClr val="1E293B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defRPr>
                </a:defPPr>
                <a:lvl1pPr>
                  <a:defRPr sz="1600" b="0">
                    <a:solidFill>
                      <a:srgbClr val="1E293B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defRPr>
                </a:lvl1pPr>
                <a:lvl2pPr>
                  <a:defRPr sz="1600" b="0">
                    <a:solidFill>
                      <a:srgbClr val="1E293B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defRPr>
                </a:lvl2pPr>
                <a:lvl3pPr>
                  <a:defRPr sz="1600" b="0">
                    <a:solidFill>
                      <a:srgbClr val="1E293B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defRPr>
                </a:lvl3pPr>
                <a:lvl4pPr>
                  <a:defRPr sz="1600" b="0">
                    <a:solidFill>
                      <a:srgbClr val="1E293B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defRPr>
                </a:lvl4pPr>
                <a:lvl5pPr>
                  <a:defRPr sz="1600" b="0">
                    <a:solidFill>
                      <a:srgbClr val="1E293B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defRPr>
                </a:lvl5pPr>
                <a:lvl6pPr>
                  <a:defRPr sz="1600" b="0">
                    <a:solidFill>
                      <a:srgbClr val="1E293B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defRPr>
                </a:lvl6pPr>
                <a:lvl7pPr>
                  <a:defRPr sz="1600" b="0">
                    <a:solidFill>
                      <a:srgbClr val="1E293B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defRPr>
                </a:lvl7pPr>
                <a:lvl8pPr>
                  <a:defRPr sz="1600" b="0">
                    <a:solidFill>
                      <a:srgbClr val="1E293B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defRPr>
                </a:lvl8pPr>
                <a:lvl9pPr>
                  <a:defRPr sz="1600" b="0">
                    <a:solidFill>
                      <a:srgbClr val="1E293B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defRPr>
                </a:lvl9pPr>
              </a:lstStyle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sz="1600" b="0">
                              <a:solidFill>
                                <a:srgbClr val="1E293B"/>
                              </a:solidFill>
                              <a:latin typeface="Cambria Math" panose="02040503050406030204"/>
                              <a:ea typeface="微软雅黑" panose="020B0503020204020204" charset="-122"/>
                            </a:rPr>
                          </m:ctrlPr>
                        </m:sSupPr>
                        <m:e>
                          <m:r>
                            <a:rPr sz="1600" b="0" i="0">
                              <a:solidFill>
                                <a:srgbClr val="1E293B"/>
                              </a:solidFill>
                              <a:latin typeface="Cambria Math" panose="02040503050406030204"/>
                              <a:ea typeface="Cambria Math" panose="02040503050406030204"/>
                            </a:rPr>
                            <m:t>3</m:t>
                          </m:r>
                        </m:e>
                        <m:sup>
                          <m:r>
                            <a:rPr sz="1600" b="0" i="1">
                              <a:solidFill>
                                <a:srgbClr val="1E293B"/>
                              </a:solidFill>
                              <a:latin typeface="Cambria Math" panose="02040503050406030204"/>
                              <a:ea typeface="Cambria Math" panose="02040503050406030204"/>
                            </a:rPr>
                            <m:t>𝐿</m:t>
                          </m:r>
                        </m:sup>
                      </m:sSup>
                      <m:r>
                        <a:rPr sz="1600" b="0" i="0">
                          <a:solidFill>
                            <a:srgbClr val="1E293B"/>
                          </a:solidFill>
                          <a:latin typeface="Cambria Math" panose="02040503050406030204"/>
                          <a:ea typeface="Cambria Math" panose="02040503050406030204"/>
                        </a:rPr>
                        <m:t>=</m:t>
                      </m:r>
                      <m:r>
                        <a:rPr sz="1600" b="0" i="1">
                          <a:solidFill>
                            <a:srgbClr val="1E293B"/>
                          </a:solidFill>
                          <a:latin typeface="Cambria Math" panose="02040503050406030204"/>
                          <a:ea typeface="Cambria Math" panose="02040503050406030204"/>
                        </a:rPr>
                        <m:t>𝑛</m:t>
                      </m:r>
                      <m:r>
                        <a:rPr sz="1600" b="0" i="0">
                          <a:solidFill>
                            <a:srgbClr val="1E293B"/>
                          </a:solidFill>
                          <a:latin typeface="Cambria Math" panose="02040503050406030204"/>
                          <a:ea typeface="Cambria Math" panose="02040503050406030204"/>
                        </a:rPr>
                        <m:t>,</m:t>
                      </m:r>
                      <m:r>
                        <a:rPr sz="1600" b="0" i="0">
                          <a:solidFill>
                            <a:srgbClr val="1E293B"/>
                          </a:solidFill>
                          <a:latin typeface="Cambria Math" panose="02040503050406030204"/>
                          <a:ea typeface="Cambria Math" panose="02040503050406030204"/>
                        </a:rPr>
                        <m:t> </m:t>
                      </m:r>
                      <m:r>
                        <m:rPr>
                          <m:sty m:val="p"/>
                        </m:rPr>
                        <a:rPr sz="1600" b="0" i="0">
                          <a:solidFill>
                            <a:srgbClr val="1E293B"/>
                          </a:solidFill>
                          <a:latin typeface="Cambria Math" panose="02040503050406030204"/>
                          <a:ea typeface="Cambria Math" panose="02040503050406030204"/>
                        </a:rPr>
                        <m:t>Θ</m:t>
                      </m:r>
                      <m:d>
                        <m:dPr>
                          <m:ctrlPr>
                            <a:rPr sz="1600" b="0">
                              <a:solidFill>
                                <a:srgbClr val="1E293B"/>
                              </a:solidFill>
                              <a:latin typeface="Cambria Math" panose="02040503050406030204"/>
                              <a:ea typeface="微软雅黑" panose="020B0503020204020204" charset="-122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sz="1600" b="0">
                                  <a:solidFill>
                                    <a:srgbClr val="1E293B"/>
                                  </a:solidFill>
                                  <a:latin typeface="Cambria Math" panose="02040503050406030204"/>
                                  <a:ea typeface="微软雅黑" panose="020B0503020204020204" charset="-122"/>
                                </a:rPr>
                              </m:ctrlPr>
                            </m:sSupPr>
                            <m:e>
                              <m:r>
                                <a:rPr sz="1600" b="0" i="0">
                                  <a:solidFill>
                                    <a:srgbClr val="1E293B"/>
                                  </a:solidFill>
                                  <a:latin typeface="Cambria Math" panose="02040503050406030204"/>
                                  <a:ea typeface="Cambria Math" panose="02040503050406030204"/>
                                </a:rPr>
                                <m:t>3</m:t>
                              </m:r>
                            </m:e>
                            <m:sup>
                              <m:r>
                                <a:rPr sz="1600" b="0" i="1">
                                  <a:solidFill>
                                    <a:srgbClr val="1E293B"/>
                                  </a:solidFill>
                                  <a:latin typeface="Cambria Math" panose="02040503050406030204"/>
                                  <a:ea typeface="Cambria Math" panose="02040503050406030204"/>
                                </a:rPr>
                                <m:t>𝐿</m:t>
                              </m:r>
                            </m:sup>
                          </m:sSup>
                        </m:e>
                      </m:d>
                      <m:r>
                        <a:rPr sz="1600" b="0" i="0">
                          <a:solidFill>
                            <a:srgbClr val="1E293B"/>
                          </a:solidFill>
                          <a:latin typeface="Cambria Math" panose="02040503050406030204"/>
                          <a:ea typeface="Cambria Math" panose="02040503050406030204"/>
                        </a:rPr>
                        <m:t>=</m:t>
                      </m:r>
                      <m:r>
                        <m:rPr>
                          <m:sty m:val="p"/>
                        </m:rPr>
                        <a:rPr sz="1600" b="0" i="0">
                          <a:solidFill>
                            <a:srgbClr val="1E293B"/>
                          </a:solidFill>
                          <a:latin typeface="Cambria Math" panose="02040503050406030204"/>
                          <a:ea typeface="Cambria Math" panose="02040503050406030204"/>
                        </a:rPr>
                        <m:t>Θ</m:t>
                      </m:r>
                      <m:d>
                        <m:dPr>
                          <m:ctrlPr>
                            <a:rPr sz="1600" b="0">
                              <a:solidFill>
                                <a:srgbClr val="1E293B"/>
                              </a:solidFill>
                              <a:latin typeface="Cambria Math" panose="02040503050406030204"/>
                              <a:ea typeface="微软雅黑" panose="020B0503020204020204" charset="-122"/>
                            </a:rPr>
                          </m:ctrlPr>
                        </m:dPr>
                        <m:e>
                          <m:r>
                            <a:rPr sz="1600" b="0" i="1">
                              <a:solidFill>
                                <a:srgbClr val="1E293B"/>
                              </a:solidFill>
                              <a:latin typeface="Cambria Math" panose="02040503050406030204"/>
                              <a:ea typeface="Cambria Math" panose="02040503050406030204"/>
                            </a:rPr>
                            <m:t>𝑛</m:t>
                          </m:r>
                        </m:e>
                      </m:d>
                    </m:oMath>
                  </m:oMathPara>
                </a14:m>
                <a:endParaRPr sz="1600"/>
              </a:p>
            </p:txBody>
          </p:sp>
        </mc:Choice>
        <mc:Fallback>
          <p:sp>
            <p:nvSpPr>
              <p:cNvPr id="13" name="eq_b_0_1" descr="LaTeX: 3^L=n,\quad\Theta(3^L)=\Theta(n)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33875" y="2543175"/>
                <a:ext cx="6810375" cy="419100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  <a:ln w="0"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step_b_1"/>
          <p:cNvSpPr>
            <a:spLocks noGrp="1"/>
          </p:cNvSpPr>
          <p:nvPr/>
        </p:nvSpPr>
        <p:spPr>
          <a:xfrm>
            <a:off x="952500" y="3000375"/>
            <a:ext cx="3048000" cy="2762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>
              <a:defRPr sz="1600" b="1">
                <a:solidFill>
                  <a:srgbClr val="1725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>
              <a:defRPr sz="1600" b="1">
                <a:solidFill>
                  <a:srgbClr val="1725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>
              <a:defRPr sz="1600" b="1">
                <a:solidFill>
                  <a:srgbClr val="1725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>
              <a:defRPr sz="1600" b="1">
                <a:solidFill>
                  <a:srgbClr val="1725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>
              <a:defRPr sz="1600" b="1">
                <a:solidFill>
                  <a:srgbClr val="1725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>
              <a:defRPr sz="1600" b="1">
                <a:solidFill>
                  <a:srgbClr val="1725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>
              <a:defRPr sz="1600" b="1">
                <a:solidFill>
                  <a:srgbClr val="1725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>
              <a:defRPr sz="1600" b="1">
                <a:solidFill>
                  <a:srgbClr val="1725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>
              <a:defRPr sz="1600" b="1">
                <a:solidFill>
                  <a:srgbClr val="1725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>
              <a:defRPr sz="1600" b="1">
                <a:solidFill>
                  <a:srgbClr val="1725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>
              <a:defRPr sz="1600" b="1">
                <a:solidFill>
                  <a:srgbClr val="1725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00" b="1">
                <a:solidFill>
                  <a:srgbClr val="1725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  计算第 i 层工作量</a:t>
            </a:r>
            <a:endParaRPr sz="1600" b="1">
              <a:solidFill>
                <a:srgbClr val="17255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note_b_1"/>
          <p:cNvSpPr>
            <a:spLocks noGrp="1"/>
          </p:cNvSpPr>
          <p:nvPr/>
        </p:nvSpPr>
        <p:spPr>
          <a:xfrm>
            <a:off x="952500" y="3305175"/>
            <a:ext cx="3086100" cy="5238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>
              <a:defRPr sz="1300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>
              <a:defRPr sz="1300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>
              <a:defRPr sz="1300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>
              <a:defRPr sz="1300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>
              <a:defRPr sz="1300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>
              <a:defRPr sz="1300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>
              <a:defRPr sz="1300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>
              <a:defRPr sz="1300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>
              <a:defRPr sz="1300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>
              <a:defRPr sz="1300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>
              <a:defRPr sz="1300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00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有 3ⁱ 个节点，每个规模 n/3ⁱ。</a:t>
            </a:r>
            <a:endParaRPr sz="1300" b="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defRPr sz="1300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00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i 从 0 到 L−1。</a:t>
            </a:r>
            <a:endParaRPr sz="1300" b="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6" name="eq_b_1_0" descr="LaTeX: W_i=3^i\frac{n/3^i}{\lg(n/3^i)}"/>
              <p:cNvSpPr>
                <a:spLocks noGrp="1"/>
              </p:cNvSpPr>
              <p:nvPr/>
            </p:nvSpPr>
            <p:spPr>
              <a:xfrm>
                <a:off x="4333875" y="2803525"/>
                <a:ext cx="6810375" cy="596900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lIns="0" tIns="0" rIns="0" bIns="0" anchor="t"/>
              <a:lstStyle>
                <a:defPPr>
                  <a:defRPr sz="1600" b="0">
                    <a:solidFill>
                      <a:srgbClr val="1E293B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defRPr>
                </a:defPPr>
                <a:lvl1pPr>
                  <a:defRPr sz="1600" b="0">
                    <a:solidFill>
                      <a:srgbClr val="1E293B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defRPr>
                </a:lvl1pPr>
                <a:lvl2pPr>
                  <a:defRPr sz="1600" b="0">
                    <a:solidFill>
                      <a:srgbClr val="1E293B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defRPr>
                </a:lvl2pPr>
                <a:lvl3pPr>
                  <a:defRPr sz="1600" b="0">
                    <a:solidFill>
                      <a:srgbClr val="1E293B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defRPr>
                </a:lvl3pPr>
                <a:lvl4pPr>
                  <a:defRPr sz="1600" b="0">
                    <a:solidFill>
                      <a:srgbClr val="1E293B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defRPr>
                </a:lvl4pPr>
                <a:lvl5pPr>
                  <a:defRPr sz="1600" b="0">
                    <a:solidFill>
                      <a:srgbClr val="1E293B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defRPr>
                </a:lvl5pPr>
                <a:lvl6pPr>
                  <a:defRPr sz="1600" b="0">
                    <a:solidFill>
                      <a:srgbClr val="1E293B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defRPr>
                </a:lvl6pPr>
                <a:lvl7pPr>
                  <a:defRPr sz="1600" b="0">
                    <a:solidFill>
                      <a:srgbClr val="1E293B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defRPr>
                </a:lvl7pPr>
                <a:lvl8pPr>
                  <a:defRPr sz="1600" b="0">
                    <a:solidFill>
                      <a:srgbClr val="1E293B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defRPr>
                </a:lvl8pPr>
                <a:lvl9pPr>
                  <a:defRPr sz="1600" b="0">
                    <a:solidFill>
                      <a:srgbClr val="1E293B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defRPr>
                </a:lvl9pPr>
              </a:lstStyle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sz="1600" b="0">
                              <a:solidFill>
                                <a:srgbClr val="1E293B"/>
                              </a:solidFill>
                              <a:latin typeface="Cambria Math" panose="02040503050406030204"/>
                              <a:ea typeface="微软雅黑" panose="020B0503020204020204" charset="-122"/>
                            </a:rPr>
                          </m:ctrlPr>
                        </m:sSubPr>
                        <m:e>
                          <m:r>
                            <a:rPr sz="1600" b="0" i="1">
                              <a:solidFill>
                                <a:srgbClr val="1E293B"/>
                              </a:solidFill>
                              <a:latin typeface="Cambria Math" panose="02040503050406030204"/>
                              <a:ea typeface="Cambria Math" panose="02040503050406030204"/>
                            </a:rPr>
                            <m:t>𝑊</m:t>
                          </m:r>
                        </m:e>
                        <m:sub>
                          <m:r>
                            <a:rPr sz="1600" b="0" i="1">
                              <a:solidFill>
                                <a:srgbClr val="1E293B"/>
                              </a:solidFill>
                              <a:latin typeface="Cambria Math" panose="02040503050406030204"/>
                              <a:ea typeface="Cambria Math" panose="02040503050406030204"/>
                            </a:rPr>
                            <m:t>𝑖</m:t>
                          </m:r>
                        </m:sub>
                      </m:sSub>
                      <m:r>
                        <a:rPr sz="1600" b="0" i="0">
                          <a:solidFill>
                            <a:srgbClr val="1E293B"/>
                          </a:solidFill>
                          <a:latin typeface="Cambria Math" panose="02040503050406030204"/>
                          <a:ea typeface="Cambria Math" panose="02040503050406030204"/>
                        </a:rPr>
                        <m:t>=</m:t>
                      </m:r>
                      <m:sSup>
                        <m:sSupPr>
                          <m:ctrlPr>
                            <a:rPr sz="1600" b="0">
                              <a:solidFill>
                                <a:srgbClr val="1E293B"/>
                              </a:solidFill>
                              <a:latin typeface="Cambria Math" panose="02040503050406030204"/>
                              <a:ea typeface="微软雅黑" panose="020B0503020204020204" charset="-122"/>
                            </a:rPr>
                          </m:ctrlPr>
                        </m:sSupPr>
                        <m:e>
                          <m:r>
                            <a:rPr sz="1600" b="0" i="0">
                              <a:solidFill>
                                <a:srgbClr val="1E293B"/>
                              </a:solidFill>
                              <a:latin typeface="Cambria Math" panose="02040503050406030204"/>
                              <a:ea typeface="Cambria Math" panose="02040503050406030204"/>
                            </a:rPr>
                            <m:t>3</m:t>
                          </m:r>
                        </m:e>
                        <m:sup>
                          <m:r>
                            <a:rPr sz="1600" b="0" i="1">
                              <a:solidFill>
                                <a:srgbClr val="1E293B"/>
                              </a:solidFill>
                              <a:latin typeface="Cambria Math" panose="02040503050406030204"/>
                              <a:ea typeface="Cambria Math" panose="02040503050406030204"/>
                            </a:rPr>
                            <m:t>𝑖</m:t>
                          </m:r>
                        </m:sup>
                      </m:sSup>
                      <m:f>
                        <m:fPr>
                          <m:ctrlPr>
                            <a:rPr sz="1600" b="0">
                              <a:solidFill>
                                <a:srgbClr val="1E293B"/>
                              </a:solidFill>
                              <a:latin typeface="Cambria Math" panose="02040503050406030204"/>
                              <a:ea typeface="微软雅黑" panose="020B0503020204020204" charset="-122"/>
                            </a:rPr>
                          </m:ctrlPr>
                        </m:fPr>
                        <m:num>
                          <m:r>
                            <a:rPr sz="1600" b="0" i="1">
                              <a:solidFill>
                                <a:srgbClr val="1E293B"/>
                              </a:solidFill>
                              <a:latin typeface="Cambria Math" panose="02040503050406030204"/>
                              <a:ea typeface="Cambria Math" panose="02040503050406030204"/>
                            </a:rPr>
                            <m:t>𝑛</m:t>
                          </m:r>
                          <m:r>
                            <a:rPr sz="1600" b="0" i="0">
                              <a:solidFill>
                                <a:srgbClr val="1E293B"/>
                              </a:solidFill>
                              <a:latin typeface="Cambria Math" panose="02040503050406030204"/>
                              <a:ea typeface="Cambria Math" panose="02040503050406030204"/>
                            </a:rPr>
                            <m:t>/</m:t>
                          </m:r>
                          <m:sSup>
                            <m:sSupPr>
                              <m:ctrlPr>
                                <a:rPr sz="1600" b="0">
                                  <a:solidFill>
                                    <a:srgbClr val="1E293B"/>
                                  </a:solidFill>
                                  <a:latin typeface="Cambria Math" panose="02040503050406030204"/>
                                  <a:ea typeface="微软雅黑" panose="020B0503020204020204" charset="-122"/>
                                </a:rPr>
                              </m:ctrlPr>
                            </m:sSupPr>
                            <m:e>
                              <m:r>
                                <a:rPr sz="1600" b="0" i="0">
                                  <a:solidFill>
                                    <a:srgbClr val="1E293B"/>
                                  </a:solidFill>
                                  <a:latin typeface="Cambria Math" panose="02040503050406030204"/>
                                  <a:ea typeface="Cambria Math" panose="02040503050406030204"/>
                                </a:rPr>
                                <m:t>3</m:t>
                              </m:r>
                            </m:e>
                            <m:sup>
                              <m:r>
                                <a:rPr sz="1600" b="0" i="1">
                                  <a:solidFill>
                                    <a:srgbClr val="1E293B"/>
                                  </a:solidFill>
                                  <a:latin typeface="Cambria Math" panose="02040503050406030204"/>
                                  <a:ea typeface="Cambria Math" panose="02040503050406030204"/>
                                </a:rPr>
                                <m:t>𝑖</m:t>
                              </m:r>
                            </m:sup>
                          </m:sSup>
                        </m:num>
                        <m:den>
                          <m:r>
                            <m:rPr>
                              <m:sty m:val="p"/>
                            </m:rPr>
                            <a:rPr sz="1600" b="0" i="0">
                              <a:solidFill>
                                <a:srgbClr val="1E293B"/>
                              </a:solidFill>
                              <a:latin typeface="Cambria Math" panose="02040503050406030204"/>
                              <a:ea typeface="Cambria Math" panose="02040503050406030204"/>
                            </a:rPr>
                            <m:t>lg</m:t>
                          </m:r>
                          <m:d>
                            <m:dPr>
                              <m:ctrlPr>
                                <a:rPr sz="1600" b="0">
                                  <a:solidFill>
                                    <a:srgbClr val="1E293B"/>
                                  </a:solidFill>
                                  <a:latin typeface="Cambria Math" panose="02040503050406030204"/>
                                  <a:ea typeface="微软雅黑" panose="020B0503020204020204" charset="-122"/>
                                </a:rPr>
                              </m:ctrlPr>
                            </m:dPr>
                            <m:e>
                              <m:r>
                                <a:rPr sz="1600" b="0" i="1">
                                  <a:solidFill>
                                    <a:srgbClr val="1E293B"/>
                                  </a:solidFill>
                                  <a:latin typeface="Cambria Math" panose="02040503050406030204"/>
                                  <a:ea typeface="Cambria Math" panose="02040503050406030204"/>
                                </a:rPr>
                                <m:t>𝑛</m:t>
                              </m:r>
                              <m:r>
                                <a:rPr sz="1600" b="0" i="0">
                                  <a:solidFill>
                                    <a:srgbClr val="1E293B"/>
                                  </a:solidFill>
                                  <a:latin typeface="Cambria Math" panose="02040503050406030204"/>
                                  <a:ea typeface="Cambria Math" panose="02040503050406030204"/>
                                </a:rPr>
                                <m:t>/</m:t>
                              </m:r>
                              <m:sSup>
                                <m:sSupPr>
                                  <m:ctrlPr>
                                    <a:rPr sz="1600" b="0">
                                      <a:solidFill>
                                        <a:srgbClr val="1E293B"/>
                                      </a:solidFill>
                                      <a:latin typeface="Cambria Math" panose="02040503050406030204"/>
                                      <a:ea typeface="微软雅黑" panose="020B0503020204020204" charset="-122"/>
                                    </a:rPr>
                                  </m:ctrlPr>
                                </m:sSupPr>
                                <m:e>
                                  <m:r>
                                    <a:rPr sz="1600" b="0" i="0">
                                      <a:solidFill>
                                        <a:srgbClr val="1E293B"/>
                                      </a:solidFill>
                                      <a:latin typeface="Cambria Math" panose="02040503050406030204"/>
                                      <a:ea typeface="Cambria Math" panose="02040503050406030204"/>
                                    </a:rPr>
                                    <m:t>3</m:t>
                                  </m:r>
                                </m:e>
                                <m:sup>
                                  <m:r>
                                    <a:rPr sz="1600" b="0" i="1">
                                      <a:solidFill>
                                        <a:srgbClr val="1E293B"/>
                                      </a:solidFill>
                                      <a:latin typeface="Cambria Math" panose="02040503050406030204"/>
                                      <a:ea typeface="Cambria Math" panose="02040503050406030204"/>
                                    </a:rPr>
                                    <m:t>𝑖</m:t>
                                  </m:r>
                                </m:sup>
                              </m:sSup>
                            </m:e>
                          </m:d>
                        </m:den>
                      </m:f>
                    </m:oMath>
                  </m:oMathPara>
                </a14:m>
                <a:endParaRPr sz="1600"/>
              </a:p>
            </p:txBody>
          </p:sp>
        </mc:Choice>
        <mc:Fallback>
          <p:sp>
            <p:nvSpPr>
              <p:cNvPr id="16" name="eq_b_1_0" descr="LaTeX: W_i=3^i\frac{n/3^i}{\lg(n/3^i)}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33875" y="2803525"/>
                <a:ext cx="6810375" cy="596900"/>
              </a:xfrm>
              <a:prstGeom prst="rect">
                <a:avLst/>
              </a:prstGeom>
              <a:blipFill rotWithShape="1">
                <a:blip r:embed="rId4"/>
                <a:stretch>
                  <a:fillRect/>
                </a:stretch>
              </a:blipFill>
              <a:ln w="0"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7" name="eq_b_1_1" descr="LaTeX: W_i=\frac{n}{(L-i)\lg3}"/>
              <p:cNvSpPr>
                <a:spLocks noGrp="1"/>
              </p:cNvSpPr>
              <p:nvPr/>
            </p:nvSpPr>
            <p:spPr>
              <a:xfrm>
                <a:off x="4333875" y="3448050"/>
                <a:ext cx="6810375" cy="419100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lIns="0" tIns="0" rIns="0" bIns="0" anchor="t"/>
              <a:lstStyle>
                <a:defPPr>
                  <a:defRPr sz="1600" b="0">
                    <a:solidFill>
                      <a:srgbClr val="1E293B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defRPr>
                </a:defPPr>
                <a:lvl1pPr>
                  <a:defRPr sz="1600" b="0">
                    <a:solidFill>
                      <a:srgbClr val="1E293B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defRPr>
                </a:lvl1pPr>
                <a:lvl2pPr>
                  <a:defRPr sz="1600" b="0">
                    <a:solidFill>
                      <a:srgbClr val="1E293B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defRPr>
                </a:lvl2pPr>
                <a:lvl3pPr>
                  <a:defRPr sz="1600" b="0">
                    <a:solidFill>
                      <a:srgbClr val="1E293B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defRPr>
                </a:lvl3pPr>
                <a:lvl4pPr>
                  <a:defRPr sz="1600" b="0">
                    <a:solidFill>
                      <a:srgbClr val="1E293B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defRPr>
                </a:lvl4pPr>
                <a:lvl5pPr>
                  <a:defRPr sz="1600" b="0">
                    <a:solidFill>
                      <a:srgbClr val="1E293B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defRPr>
                </a:lvl5pPr>
                <a:lvl6pPr>
                  <a:defRPr sz="1600" b="0">
                    <a:solidFill>
                      <a:srgbClr val="1E293B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defRPr>
                </a:lvl6pPr>
                <a:lvl7pPr>
                  <a:defRPr sz="1600" b="0">
                    <a:solidFill>
                      <a:srgbClr val="1E293B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defRPr>
                </a:lvl7pPr>
                <a:lvl8pPr>
                  <a:defRPr sz="1600" b="0">
                    <a:solidFill>
                      <a:srgbClr val="1E293B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defRPr>
                </a:lvl8pPr>
                <a:lvl9pPr>
                  <a:defRPr sz="1600" b="0">
                    <a:solidFill>
                      <a:srgbClr val="1E293B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defRPr>
                </a:lvl9pPr>
              </a:lstStyle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sz="1600" b="0">
                              <a:solidFill>
                                <a:srgbClr val="1E293B"/>
                              </a:solidFill>
                              <a:latin typeface="Cambria Math" panose="02040503050406030204"/>
                              <a:ea typeface="微软雅黑" panose="020B0503020204020204" charset="-122"/>
                            </a:rPr>
                          </m:ctrlPr>
                        </m:sSubPr>
                        <m:e>
                          <m:r>
                            <a:rPr sz="1600" b="0" i="1">
                              <a:solidFill>
                                <a:srgbClr val="1E293B"/>
                              </a:solidFill>
                              <a:latin typeface="Cambria Math" panose="02040503050406030204"/>
                              <a:ea typeface="Cambria Math" panose="02040503050406030204"/>
                            </a:rPr>
                            <m:t>𝑊</m:t>
                          </m:r>
                        </m:e>
                        <m:sub>
                          <m:r>
                            <a:rPr sz="1600" b="0" i="1">
                              <a:solidFill>
                                <a:srgbClr val="1E293B"/>
                              </a:solidFill>
                              <a:latin typeface="Cambria Math" panose="02040503050406030204"/>
                              <a:ea typeface="Cambria Math" panose="02040503050406030204"/>
                            </a:rPr>
                            <m:t>𝑖</m:t>
                          </m:r>
                        </m:sub>
                      </m:sSub>
                      <m:r>
                        <a:rPr sz="1600" b="0" i="0">
                          <a:solidFill>
                            <a:srgbClr val="1E293B"/>
                          </a:solidFill>
                          <a:latin typeface="Cambria Math" panose="02040503050406030204"/>
                          <a:ea typeface="Cambria Math" panose="02040503050406030204"/>
                        </a:rPr>
                        <m:t>=</m:t>
                      </m:r>
                      <m:f>
                        <m:fPr>
                          <m:ctrlPr>
                            <a:rPr sz="1600" b="0">
                              <a:solidFill>
                                <a:srgbClr val="1E293B"/>
                              </a:solidFill>
                              <a:latin typeface="Cambria Math" panose="02040503050406030204"/>
                              <a:ea typeface="微软雅黑" panose="020B0503020204020204" charset="-122"/>
                            </a:rPr>
                          </m:ctrlPr>
                        </m:fPr>
                        <m:num>
                          <m:r>
                            <a:rPr sz="1600" b="0" i="1">
                              <a:solidFill>
                                <a:srgbClr val="1E293B"/>
                              </a:solidFill>
                              <a:latin typeface="Cambria Math" panose="02040503050406030204"/>
                              <a:ea typeface="Cambria Math" panose="02040503050406030204"/>
                            </a:rPr>
                            <m:t>𝑛</m:t>
                          </m:r>
                        </m:num>
                        <m:den>
                          <m:d>
                            <m:dPr>
                              <m:ctrlPr>
                                <a:rPr sz="1600" b="0">
                                  <a:solidFill>
                                    <a:srgbClr val="1E293B"/>
                                  </a:solidFill>
                                  <a:latin typeface="Cambria Math" panose="02040503050406030204"/>
                                  <a:ea typeface="微软雅黑" panose="020B0503020204020204" charset="-122"/>
                                </a:rPr>
                              </m:ctrlPr>
                            </m:dPr>
                            <m:e>
                              <m:r>
                                <a:rPr sz="1600" b="0" i="1">
                                  <a:solidFill>
                                    <a:srgbClr val="1E293B"/>
                                  </a:solidFill>
                                  <a:latin typeface="Cambria Math" panose="02040503050406030204"/>
                                  <a:ea typeface="Cambria Math" panose="02040503050406030204"/>
                                </a:rPr>
                                <m:t>𝐿</m:t>
                              </m:r>
                              <m:r>
                                <a:rPr sz="1600" b="0" i="0">
                                  <a:solidFill>
                                    <a:srgbClr val="1E293B"/>
                                  </a:solidFill>
                                  <a:latin typeface="Cambria Math" panose="02040503050406030204"/>
                                  <a:ea typeface="Cambria Math" panose="02040503050406030204"/>
                                </a:rPr>
                                <m:t>−</m:t>
                              </m:r>
                              <m:r>
                                <a:rPr sz="1600" b="0" i="1">
                                  <a:solidFill>
                                    <a:srgbClr val="1E293B"/>
                                  </a:solidFill>
                                  <a:latin typeface="Cambria Math" panose="02040503050406030204"/>
                                  <a:ea typeface="Cambria Math" panose="02040503050406030204"/>
                                </a:rPr>
                                <m:t>𝑖</m:t>
                              </m:r>
                            </m:e>
                          </m:d>
                          <m:r>
                            <m:rPr>
                              <m:sty m:val="p"/>
                            </m:rPr>
                            <a:rPr sz="1600" b="0" i="0">
                              <a:solidFill>
                                <a:srgbClr val="1E293B"/>
                              </a:solidFill>
                              <a:latin typeface="Cambria Math" panose="02040503050406030204"/>
                              <a:ea typeface="Cambria Math" panose="02040503050406030204"/>
                            </a:rPr>
                            <m:t>lg</m:t>
                          </m:r>
                          <m:r>
                            <a:rPr sz="1600" b="0" i="0">
                              <a:solidFill>
                                <a:srgbClr val="1E293B"/>
                              </a:solidFill>
                              <a:latin typeface="Cambria Math" panose="02040503050406030204"/>
                              <a:ea typeface="Cambria Math" panose="02040503050406030204"/>
                            </a:rPr>
                            <m:t>3</m:t>
                          </m:r>
                        </m:den>
                      </m:f>
                    </m:oMath>
                  </m:oMathPara>
                </a14:m>
                <a:endParaRPr sz="1600"/>
              </a:p>
            </p:txBody>
          </p:sp>
        </mc:Choice>
        <mc:Fallback>
          <p:sp>
            <p:nvSpPr>
              <p:cNvPr id="17" name="eq_b_1_1" descr="LaTeX: W_i=\frac{n}{(L-i)\lg3}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33875" y="3448050"/>
                <a:ext cx="6810375" cy="419100"/>
              </a:xfrm>
              <a:prstGeom prst="rect">
                <a:avLst/>
              </a:prstGeom>
              <a:blipFill rotWithShape="1">
                <a:blip r:embed="rId5"/>
                <a:stretch>
                  <a:fillRect b="-8788"/>
                </a:stretch>
              </a:blipFill>
              <a:ln w="0"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step_b_2"/>
          <p:cNvSpPr>
            <a:spLocks noGrp="1"/>
          </p:cNvSpPr>
          <p:nvPr/>
        </p:nvSpPr>
        <p:spPr>
          <a:xfrm>
            <a:off x="952500" y="3857625"/>
            <a:ext cx="3048000" cy="2762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>
              <a:defRPr sz="1600" b="1">
                <a:solidFill>
                  <a:srgbClr val="1725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>
              <a:defRPr sz="1600" b="1">
                <a:solidFill>
                  <a:srgbClr val="1725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>
              <a:defRPr sz="1600" b="1">
                <a:solidFill>
                  <a:srgbClr val="1725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>
              <a:defRPr sz="1600" b="1">
                <a:solidFill>
                  <a:srgbClr val="1725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>
              <a:defRPr sz="1600" b="1">
                <a:solidFill>
                  <a:srgbClr val="1725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>
              <a:defRPr sz="1600" b="1">
                <a:solidFill>
                  <a:srgbClr val="1725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>
              <a:defRPr sz="1600" b="1">
                <a:solidFill>
                  <a:srgbClr val="1725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>
              <a:defRPr sz="1600" b="1">
                <a:solidFill>
                  <a:srgbClr val="1725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>
              <a:defRPr sz="1600" b="1">
                <a:solidFill>
                  <a:srgbClr val="1725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>
              <a:defRPr sz="1600" b="1">
                <a:solidFill>
                  <a:srgbClr val="1725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>
              <a:defRPr sz="1600" b="1">
                <a:solidFill>
                  <a:srgbClr val="1725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00" b="1">
                <a:solidFill>
                  <a:srgbClr val="1725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  逐层求和</a:t>
            </a:r>
            <a:endParaRPr sz="1600" b="1">
              <a:solidFill>
                <a:srgbClr val="17255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note_b_2"/>
          <p:cNvSpPr>
            <a:spLocks noGrp="1"/>
          </p:cNvSpPr>
          <p:nvPr/>
        </p:nvSpPr>
        <p:spPr>
          <a:xfrm>
            <a:off x="952500" y="4162425"/>
            <a:ext cx="3086100" cy="5238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>
              <a:defRPr sz="1300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>
              <a:defRPr sz="1300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>
              <a:defRPr sz="1300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>
              <a:defRPr sz="1300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>
              <a:defRPr sz="1300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>
              <a:defRPr sz="1300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>
              <a:defRPr sz="1300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>
              <a:defRPr sz="1300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>
              <a:defRPr sz="1300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>
              <a:defRPr sz="1300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>
              <a:defRPr sz="1300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00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换元 j=L−i，加上叶子成本。</a:t>
            </a:r>
            <a:endParaRPr sz="1300" b="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0" name="eq_b_2_0" descr="LaTeX: T(n)=\frac{n}{\lg3}\sum_{j=1}^{L}\frac{1}{j}+\Theta(n)"/>
              <p:cNvSpPr>
                <a:spLocks noGrp="1"/>
              </p:cNvSpPr>
              <p:nvPr/>
            </p:nvSpPr>
            <p:spPr>
              <a:xfrm>
                <a:off x="4333875" y="3838575"/>
                <a:ext cx="6810375" cy="419100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lIns="0" tIns="0" rIns="0" bIns="0" anchor="t"/>
              <a:lstStyle>
                <a:defPPr>
                  <a:defRPr sz="1600" b="0">
                    <a:solidFill>
                      <a:srgbClr val="1E293B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defRPr>
                </a:defPPr>
                <a:lvl1pPr>
                  <a:defRPr sz="1600" b="0">
                    <a:solidFill>
                      <a:srgbClr val="1E293B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defRPr>
                </a:lvl1pPr>
                <a:lvl2pPr>
                  <a:defRPr sz="1600" b="0">
                    <a:solidFill>
                      <a:srgbClr val="1E293B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defRPr>
                </a:lvl2pPr>
                <a:lvl3pPr>
                  <a:defRPr sz="1600" b="0">
                    <a:solidFill>
                      <a:srgbClr val="1E293B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defRPr>
                </a:lvl3pPr>
                <a:lvl4pPr>
                  <a:defRPr sz="1600" b="0">
                    <a:solidFill>
                      <a:srgbClr val="1E293B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defRPr>
                </a:lvl4pPr>
                <a:lvl5pPr>
                  <a:defRPr sz="1600" b="0">
                    <a:solidFill>
                      <a:srgbClr val="1E293B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defRPr>
                </a:lvl5pPr>
                <a:lvl6pPr>
                  <a:defRPr sz="1600" b="0">
                    <a:solidFill>
                      <a:srgbClr val="1E293B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defRPr>
                </a:lvl6pPr>
                <a:lvl7pPr>
                  <a:defRPr sz="1600" b="0">
                    <a:solidFill>
                      <a:srgbClr val="1E293B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defRPr>
                </a:lvl7pPr>
                <a:lvl8pPr>
                  <a:defRPr sz="1600" b="0">
                    <a:solidFill>
                      <a:srgbClr val="1E293B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defRPr>
                </a:lvl8pPr>
                <a:lvl9pPr>
                  <a:defRPr sz="1600" b="0">
                    <a:solidFill>
                      <a:srgbClr val="1E293B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defRPr>
                </a:lvl9pPr>
              </a:lstStyle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sz="1600" b="0" i="1">
                          <a:solidFill>
                            <a:srgbClr val="1E293B"/>
                          </a:solidFill>
                          <a:latin typeface="Cambria Math" panose="02040503050406030204"/>
                          <a:ea typeface="Cambria Math" panose="02040503050406030204"/>
                        </a:rPr>
                        <m:t>𝑇</m:t>
                      </m:r>
                      <m:d>
                        <m:dPr>
                          <m:ctrlPr>
                            <a:rPr sz="1600" b="0">
                              <a:solidFill>
                                <a:srgbClr val="1E293B"/>
                              </a:solidFill>
                              <a:latin typeface="Cambria Math" panose="02040503050406030204"/>
                              <a:ea typeface="微软雅黑" panose="020B0503020204020204" charset="-122"/>
                            </a:rPr>
                          </m:ctrlPr>
                        </m:dPr>
                        <m:e>
                          <m:r>
                            <a:rPr sz="1600" b="0" i="1">
                              <a:solidFill>
                                <a:srgbClr val="1E293B"/>
                              </a:solidFill>
                              <a:latin typeface="Cambria Math" panose="02040503050406030204"/>
                              <a:ea typeface="Cambria Math" panose="02040503050406030204"/>
                            </a:rPr>
                            <m:t>𝑛</m:t>
                          </m:r>
                        </m:e>
                      </m:d>
                      <m:r>
                        <a:rPr sz="1600" b="0" i="0">
                          <a:solidFill>
                            <a:srgbClr val="1E293B"/>
                          </a:solidFill>
                          <a:latin typeface="Cambria Math" panose="02040503050406030204"/>
                          <a:ea typeface="Cambria Math" panose="02040503050406030204"/>
                        </a:rPr>
                        <m:t>=</m:t>
                      </m:r>
                      <m:f>
                        <m:fPr>
                          <m:ctrlPr>
                            <a:rPr sz="1600" b="0">
                              <a:solidFill>
                                <a:srgbClr val="1E293B"/>
                              </a:solidFill>
                              <a:latin typeface="Cambria Math" panose="02040503050406030204"/>
                              <a:ea typeface="微软雅黑" panose="020B0503020204020204" charset="-122"/>
                            </a:rPr>
                          </m:ctrlPr>
                        </m:fPr>
                        <m:num>
                          <m:r>
                            <a:rPr sz="1600" b="0" i="1">
                              <a:solidFill>
                                <a:srgbClr val="1E293B"/>
                              </a:solidFill>
                              <a:latin typeface="Cambria Math" panose="02040503050406030204"/>
                              <a:ea typeface="Cambria Math" panose="02040503050406030204"/>
                            </a:rPr>
                            <m:t>𝑛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sz="1600" b="0" i="0">
                              <a:solidFill>
                                <a:srgbClr val="1E293B"/>
                              </a:solidFill>
                              <a:latin typeface="Cambria Math" panose="02040503050406030204"/>
                              <a:ea typeface="Cambria Math" panose="02040503050406030204"/>
                            </a:rPr>
                            <m:t>lg</m:t>
                          </m:r>
                          <m:r>
                            <a:rPr sz="1600" b="0" i="0">
                              <a:solidFill>
                                <a:srgbClr val="1E293B"/>
                              </a:solidFill>
                              <a:latin typeface="Cambria Math" panose="02040503050406030204"/>
                              <a:ea typeface="Cambria Math" panose="02040503050406030204"/>
                            </a:rPr>
                            <m:t>3</m:t>
                          </m:r>
                        </m:den>
                      </m:f>
                      <m:nary>
                        <m:naryPr>
                          <m:chr m:val="∑"/>
                          <m:grow m:val="on"/>
                          <m:limLoc m:val="subSup"/>
                          <m:ctrlPr>
                            <a:rPr sz="1600" b="0">
                              <a:solidFill>
                                <a:srgbClr val="1E293B"/>
                              </a:solidFill>
                              <a:latin typeface="Cambria Math" panose="02040503050406030204"/>
                              <a:ea typeface="微软雅黑" panose="020B0503020204020204" charset="-122"/>
                            </a:rPr>
                          </m:ctrlPr>
                        </m:naryPr>
                        <m:sub>
                          <m:r>
                            <a:rPr sz="1600" b="0" i="1">
                              <a:solidFill>
                                <a:srgbClr val="1E293B"/>
                              </a:solidFill>
                              <a:latin typeface="Cambria Math" panose="02040503050406030204"/>
                              <a:ea typeface="Cambria Math" panose="02040503050406030204"/>
                            </a:rPr>
                            <m:t>𝑗</m:t>
                          </m:r>
                          <m:r>
                            <a:rPr sz="1600" b="0" i="0">
                              <a:solidFill>
                                <a:srgbClr val="1E293B"/>
                              </a:solidFill>
                              <a:latin typeface="Cambria Math" panose="02040503050406030204"/>
                              <a:ea typeface="Cambria Math" panose="02040503050406030204"/>
                            </a:rPr>
                            <m:t>=</m:t>
                          </m:r>
                          <m:r>
                            <a:rPr sz="1600" b="0" i="0">
                              <a:solidFill>
                                <a:srgbClr val="1E293B"/>
                              </a:solidFill>
                              <a:latin typeface="Cambria Math" panose="02040503050406030204"/>
                              <a:ea typeface="Cambria Math" panose="02040503050406030204"/>
                            </a:rPr>
                            <m:t>1</m:t>
                          </m:r>
                        </m:sub>
                        <m:sup>
                          <m:r>
                            <a:rPr sz="1600" b="0" i="1">
                              <a:solidFill>
                                <a:srgbClr val="1E293B"/>
                              </a:solidFill>
                              <a:latin typeface="Cambria Math" panose="02040503050406030204"/>
                              <a:ea typeface="Cambria Math" panose="02040503050406030204"/>
                            </a:rPr>
                            <m:t>𝐿</m:t>
                          </m:r>
                        </m:sup>
                        <m:e>
                          <m:f>
                            <m:fPr>
                              <m:ctrlPr>
                                <a:rPr sz="1600" b="0">
                                  <a:solidFill>
                                    <a:srgbClr val="1E293B"/>
                                  </a:solidFill>
                                  <a:latin typeface="Cambria Math" panose="02040503050406030204"/>
                                  <a:ea typeface="微软雅黑" panose="020B0503020204020204" charset="-122"/>
                                </a:rPr>
                              </m:ctrlPr>
                            </m:fPr>
                            <m:num>
                              <m:r>
                                <a:rPr sz="1600" b="0" i="0">
                                  <a:solidFill>
                                    <a:srgbClr val="1E293B"/>
                                  </a:solidFill>
                                  <a:latin typeface="Cambria Math" panose="02040503050406030204"/>
                                  <a:ea typeface="Cambria Math" panose="02040503050406030204"/>
                                </a:rPr>
                                <m:t>1</m:t>
                              </m:r>
                            </m:num>
                            <m:den>
                              <m:r>
                                <a:rPr sz="1600" b="0" i="1">
                                  <a:solidFill>
                                    <a:srgbClr val="1E293B"/>
                                  </a:solidFill>
                                  <a:latin typeface="Cambria Math" panose="02040503050406030204"/>
                                  <a:ea typeface="Cambria Math" panose="02040503050406030204"/>
                                </a:rPr>
                                <m:t>𝑗</m:t>
                              </m:r>
                            </m:den>
                          </m:f>
                        </m:e>
                      </m:nary>
                      <m:r>
                        <a:rPr sz="1600" b="0" i="0">
                          <a:solidFill>
                            <a:srgbClr val="1E293B"/>
                          </a:solidFill>
                          <a:latin typeface="Cambria Math" panose="02040503050406030204"/>
                          <a:ea typeface="Cambria Math" panose="02040503050406030204"/>
                        </a:rPr>
                        <m:t>+</m:t>
                      </m:r>
                      <m:r>
                        <m:rPr>
                          <m:sty m:val="p"/>
                        </m:rPr>
                        <a:rPr sz="1600" b="0" i="0">
                          <a:solidFill>
                            <a:srgbClr val="1E293B"/>
                          </a:solidFill>
                          <a:latin typeface="Cambria Math" panose="02040503050406030204"/>
                          <a:ea typeface="Cambria Math" panose="02040503050406030204"/>
                        </a:rPr>
                        <m:t>Θ</m:t>
                      </m:r>
                      <m:d>
                        <m:dPr>
                          <m:ctrlPr>
                            <a:rPr sz="1600" b="0">
                              <a:solidFill>
                                <a:srgbClr val="1E293B"/>
                              </a:solidFill>
                              <a:latin typeface="Cambria Math" panose="02040503050406030204"/>
                              <a:ea typeface="微软雅黑" panose="020B0503020204020204" charset="-122"/>
                            </a:rPr>
                          </m:ctrlPr>
                        </m:dPr>
                        <m:e>
                          <m:r>
                            <a:rPr sz="1600" b="0" i="1">
                              <a:solidFill>
                                <a:srgbClr val="1E293B"/>
                              </a:solidFill>
                              <a:latin typeface="Cambria Math" panose="02040503050406030204"/>
                              <a:ea typeface="Cambria Math" panose="02040503050406030204"/>
                            </a:rPr>
                            <m:t>𝑛</m:t>
                          </m:r>
                        </m:e>
                      </m:d>
                    </m:oMath>
                  </m:oMathPara>
                </a14:m>
                <a:endParaRPr sz="1600"/>
              </a:p>
            </p:txBody>
          </p:sp>
        </mc:Choice>
        <mc:Fallback>
          <p:sp>
            <p:nvSpPr>
              <p:cNvPr id="20" name="eq_b_2_0" descr="LaTeX: T(n)=\frac{n}{\lg3}\sum_{j=1}^{L}\frac{1}{j}+\Theta(n)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33875" y="3838575"/>
                <a:ext cx="6810375" cy="419100"/>
              </a:xfrm>
              <a:prstGeom prst="rect">
                <a:avLst/>
              </a:prstGeom>
              <a:blipFill rotWithShape="1">
                <a:blip r:embed="rId6"/>
                <a:stretch>
                  <a:fillRect b="-73636"/>
                </a:stretch>
              </a:blipFill>
              <a:ln w="0"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step_b_3"/>
          <p:cNvSpPr>
            <a:spLocks noGrp="1"/>
          </p:cNvSpPr>
          <p:nvPr/>
        </p:nvSpPr>
        <p:spPr>
          <a:xfrm>
            <a:off x="952500" y="4714875"/>
            <a:ext cx="3048000" cy="2762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>
              <a:defRPr sz="1600" b="1">
                <a:solidFill>
                  <a:srgbClr val="1725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>
              <a:defRPr sz="1600" b="1">
                <a:solidFill>
                  <a:srgbClr val="1725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>
              <a:defRPr sz="1600" b="1">
                <a:solidFill>
                  <a:srgbClr val="1725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>
              <a:defRPr sz="1600" b="1">
                <a:solidFill>
                  <a:srgbClr val="1725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>
              <a:defRPr sz="1600" b="1">
                <a:solidFill>
                  <a:srgbClr val="1725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>
              <a:defRPr sz="1600" b="1">
                <a:solidFill>
                  <a:srgbClr val="1725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>
              <a:defRPr sz="1600" b="1">
                <a:solidFill>
                  <a:srgbClr val="1725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>
              <a:defRPr sz="1600" b="1">
                <a:solidFill>
                  <a:srgbClr val="1725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>
              <a:defRPr sz="1600" b="1">
                <a:solidFill>
                  <a:srgbClr val="1725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>
              <a:defRPr sz="1600" b="1">
                <a:solidFill>
                  <a:srgbClr val="1725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>
              <a:defRPr sz="1600" b="1">
                <a:solidFill>
                  <a:srgbClr val="1725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00" b="1">
                <a:solidFill>
                  <a:srgbClr val="1725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  使用调和级数</a:t>
            </a:r>
            <a:endParaRPr sz="1600" b="1">
              <a:solidFill>
                <a:srgbClr val="17255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note_b_3"/>
          <p:cNvSpPr>
            <a:spLocks noGrp="1"/>
          </p:cNvSpPr>
          <p:nvPr/>
        </p:nvSpPr>
        <p:spPr>
          <a:xfrm>
            <a:off x="952500" y="5019675"/>
            <a:ext cx="3086100" cy="5238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>
              <a:defRPr sz="1300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>
              <a:defRPr sz="1300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>
              <a:defRPr sz="1300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>
              <a:defRPr sz="1300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>
              <a:defRPr sz="1300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>
              <a:defRPr sz="1300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>
              <a:defRPr sz="1300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>
              <a:defRPr sz="1300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>
              <a:defRPr sz="1300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>
              <a:defRPr sz="1300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>
              <a:defRPr sz="1300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00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树高为对数量级，再取对数得到双对数。</a:t>
            </a:r>
            <a:endParaRPr sz="1300" b="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3" name="eq_b_3_0" descr="LaTeX: H_L=\sum_{j=1}^{L}\frac{1}{j}=\Theta(\lg L)"/>
              <p:cNvSpPr>
                <a:spLocks noGrp="1"/>
              </p:cNvSpPr>
              <p:nvPr/>
            </p:nvSpPr>
            <p:spPr>
              <a:xfrm>
                <a:off x="4333875" y="4695825"/>
                <a:ext cx="6810375" cy="419100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lIns="0" tIns="0" rIns="0" bIns="0" anchor="t"/>
              <a:lstStyle>
                <a:defPPr>
                  <a:defRPr sz="1600" b="0">
                    <a:solidFill>
                      <a:srgbClr val="1E293B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defRPr>
                </a:defPPr>
                <a:lvl1pPr>
                  <a:defRPr sz="1600" b="0">
                    <a:solidFill>
                      <a:srgbClr val="1E293B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defRPr>
                </a:lvl1pPr>
                <a:lvl2pPr>
                  <a:defRPr sz="1600" b="0">
                    <a:solidFill>
                      <a:srgbClr val="1E293B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defRPr>
                </a:lvl2pPr>
                <a:lvl3pPr>
                  <a:defRPr sz="1600" b="0">
                    <a:solidFill>
                      <a:srgbClr val="1E293B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defRPr>
                </a:lvl3pPr>
                <a:lvl4pPr>
                  <a:defRPr sz="1600" b="0">
                    <a:solidFill>
                      <a:srgbClr val="1E293B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defRPr>
                </a:lvl4pPr>
                <a:lvl5pPr>
                  <a:defRPr sz="1600" b="0">
                    <a:solidFill>
                      <a:srgbClr val="1E293B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defRPr>
                </a:lvl5pPr>
                <a:lvl6pPr>
                  <a:defRPr sz="1600" b="0">
                    <a:solidFill>
                      <a:srgbClr val="1E293B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defRPr>
                </a:lvl6pPr>
                <a:lvl7pPr>
                  <a:defRPr sz="1600" b="0">
                    <a:solidFill>
                      <a:srgbClr val="1E293B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defRPr>
                </a:lvl7pPr>
                <a:lvl8pPr>
                  <a:defRPr sz="1600" b="0">
                    <a:solidFill>
                      <a:srgbClr val="1E293B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defRPr>
                </a:lvl8pPr>
                <a:lvl9pPr>
                  <a:defRPr sz="1600" b="0">
                    <a:solidFill>
                      <a:srgbClr val="1E293B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defRPr>
                </a:lvl9pPr>
              </a:lstStyle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sz="1600" b="0">
                              <a:solidFill>
                                <a:srgbClr val="1E293B"/>
                              </a:solidFill>
                              <a:latin typeface="Cambria Math" panose="02040503050406030204"/>
                              <a:ea typeface="微软雅黑" panose="020B0503020204020204" charset="-122"/>
                            </a:rPr>
                          </m:ctrlPr>
                        </m:sSubPr>
                        <m:e>
                          <m:r>
                            <a:rPr sz="1600" b="0" i="1">
                              <a:solidFill>
                                <a:srgbClr val="1E293B"/>
                              </a:solidFill>
                              <a:latin typeface="Cambria Math" panose="02040503050406030204"/>
                              <a:ea typeface="Cambria Math" panose="02040503050406030204"/>
                            </a:rPr>
                            <m:t>𝐻</m:t>
                          </m:r>
                        </m:e>
                        <m:sub>
                          <m:r>
                            <a:rPr sz="1600" b="0" i="1">
                              <a:solidFill>
                                <a:srgbClr val="1E293B"/>
                              </a:solidFill>
                              <a:latin typeface="Cambria Math" panose="02040503050406030204"/>
                              <a:ea typeface="Cambria Math" panose="02040503050406030204"/>
                            </a:rPr>
                            <m:t>𝐿</m:t>
                          </m:r>
                        </m:sub>
                      </m:sSub>
                      <m:r>
                        <a:rPr sz="1600" b="0" i="0">
                          <a:solidFill>
                            <a:srgbClr val="1E293B"/>
                          </a:solidFill>
                          <a:latin typeface="Cambria Math" panose="02040503050406030204"/>
                          <a:ea typeface="Cambria Math" panose="02040503050406030204"/>
                        </a:rPr>
                        <m:t>=</m:t>
                      </m:r>
                      <m:nary>
                        <m:naryPr>
                          <m:chr m:val="∑"/>
                          <m:grow m:val="on"/>
                          <m:limLoc m:val="subSup"/>
                          <m:ctrlPr>
                            <a:rPr sz="1600" b="0">
                              <a:solidFill>
                                <a:srgbClr val="1E293B"/>
                              </a:solidFill>
                              <a:latin typeface="Cambria Math" panose="02040503050406030204"/>
                              <a:ea typeface="微软雅黑" panose="020B0503020204020204" charset="-122"/>
                            </a:rPr>
                          </m:ctrlPr>
                        </m:naryPr>
                        <m:sub>
                          <m:r>
                            <a:rPr sz="1600" b="0" i="1">
                              <a:solidFill>
                                <a:srgbClr val="1E293B"/>
                              </a:solidFill>
                              <a:latin typeface="Cambria Math" panose="02040503050406030204"/>
                              <a:ea typeface="Cambria Math" panose="02040503050406030204"/>
                            </a:rPr>
                            <m:t>𝑗</m:t>
                          </m:r>
                          <m:r>
                            <a:rPr sz="1600" b="0" i="0">
                              <a:solidFill>
                                <a:srgbClr val="1E293B"/>
                              </a:solidFill>
                              <a:latin typeface="Cambria Math" panose="02040503050406030204"/>
                              <a:ea typeface="Cambria Math" panose="02040503050406030204"/>
                            </a:rPr>
                            <m:t>=</m:t>
                          </m:r>
                          <m:r>
                            <a:rPr sz="1600" b="0" i="0">
                              <a:solidFill>
                                <a:srgbClr val="1E293B"/>
                              </a:solidFill>
                              <a:latin typeface="Cambria Math" panose="02040503050406030204"/>
                              <a:ea typeface="Cambria Math" panose="02040503050406030204"/>
                            </a:rPr>
                            <m:t>1</m:t>
                          </m:r>
                        </m:sub>
                        <m:sup>
                          <m:r>
                            <a:rPr sz="1600" b="0" i="1">
                              <a:solidFill>
                                <a:srgbClr val="1E293B"/>
                              </a:solidFill>
                              <a:latin typeface="Cambria Math" panose="02040503050406030204"/>
                              <a:ea typeface="Cambria Math" panose="02040503050406030204"/>
                            </a:rPr>
                            <m:t>𝐿</m:t>
                          </m:r>
                        </m:sup>
                        <m:e>
                          <m:f>
                            <m:fPr>
                              <m:ctrlPr>
                                <a:rPr sz="1600" b="0">
                                  <a:solidFill>
                                    <a:srgbClr val="1E293B"/>
                                  </a:solidFill>
                                  <a:latin typeface="Cambria Math" panose="02040503050406030204"/>
                                  <a:ea typeface="微软雅黑" panose="020B0503020204020204" charset="-122"/>
                                </a:rPr>
                              </m:ctrlPr>
                            </m:fPr>
                            <m:num>
                              <m:r>
                                <a:rPr sz="1600" b="0" i="0">
                                  <a:solidFill>
                                    <a:srgbClr val="1E293B"/>
                                  </a:solidFill>
                                  <a:latin typeface="Cambria Math" panose="02040503050406030204"/>
                                  <a:ea typeface="Cambria Math" panose="02040503050406030204"/>
                                </a:rPr>
                                <m:t>1</m:t>
                              </m:r>
                            </m:num>
                            <m:den>
                              <m:r>
                                <a:rPr sz="1600" b="0" i="1">
                                  <a:solidFill>
                                    <a:srgbClr val="1E293B"/>
                                  </a:solidFill>
                                  <a:latin typeface="Cambria Math" panose="02040503050406030204"/>
                                  <a:ea typeface="Cambria Math" panose="02040503050406030204"/>
                                </a:rPr>
                                <m:t>𝑗</m:t>
                              </m:r>
                            </m:den>
                          </m:f>
                        </m:e>
                      </m:nary>
                      <m:r>
                        <a:rPr sz="1600" b="0" i="0">
                          <a:solidFill>
                            <a:srgbClr val="1E293B"/>
                          </a:solidFill>
                          <a:latin typeface="Cambria Math" panose="02040503050406030204"/>
                          <a:ea typeface="Cambria Math" panose="02040503050406030204"/>
                        </a:rPr>
                        <m:t>=</m:t>
                      </m:r>
                      <m:r>
                        <m:rPr>
                          <m:sty m:val="p"/>
                        </m:rPr>
                        <a:rPr sz="1600" b="0" i="0">
                          <a:solidFill>
                            <a:srgbClr val="1E293B"/>
                          </a:solidFill>
                          <a:latin typeface="Cambria Math" panose="02040503050406030204"/>
                          <a:ea typeface="Cambria Math" panose="02040503050406030204"/>
                        </a:rPr>
                        <m:t>Θ</m:t>
                      </m:r>
                      <m:d>
                        <m:dPr>
                          <m:ctrlPr>
                            <a:rPr sz="1600" b="0">
                              <a:solidFill>
                                <a:srgbClr val="1E293B"/>
                              </a:solidFill>
                              <a:latin typeface="Cambria Math" panose="02040503050406030204"/>
                              <a:ea typeface="微软雅黑" panose="020B0503020204020204" charset="-122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sz="1600" b="0" i="0">
                              <a:solidFill>
                                <a:srgbClr val="1E293B"/>
                              </a:solidFill>
                              <a:latin typeface="Cambria Math" panose="02040503050406030204"/>
                              <a:ea typeface="Cambria Math" panose="02040503050406030204"/>
                            </a:rPr>
                            <m:t>lg</m:t>
                          </m:r>
                          <m:r>
                            <a:rPr sz="1600" b="0" i="1">
                              <a:solidFill>
                                <a:srgbClr val="1E293B"/>
                              </a:solidFill>
                              <a:latin typeface="Cambria Math" panose="02040503050406030204"/>
                              <a:ea typeface="Cambria Math" panose="02040503050406030204"/>
                            </a:rPr>
                            <m:t>𝐿</m:t>
                          </m:r>
                        </m:e>
                      </m:d>
                    </m:oMath>
                  </m:oMathPara>
                </a14:m>
                <a:endParaRPr sz="1600"/>
              </a:p>
            </p:txBody>
          </p:sp>
        </mc:Choice>
        <mc:Fallback>
          <p:sp>
            <p:nvSpPr>
              <p:cNvPr id="23" name="eq_b_3_0" descr="LaTeX: H_L=\sum_{j=1}^{L}\frac{1}{j}=\Theta(\lg L)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33875" y="4695825"/>
                <a:ext cx="6810375" cy="419100"/>
              </a:xfrm>
              <a:prstGeom prst="rect">
                <a:avLst/>
              </a:prstGeom>
              <a:blipFill rotWithShape="1">
                <a:blip r:embed="rId7"/>
                <a:stretch>
                  <a:fillRect b="-73636"/>
                </a:stretch>
              </a:blipFill>
              <a:ln w="0"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4" name="eq_b_3_1" descr="LaTeX: \lg L=\Theta(\lg\lg n)"/>
              <p:cNvSpPr>
                <a:spLocks noGrp="1"/>
              </p:cNvSpPr>
              <p:nvPr/>
            </p:nvSpPr>
            <p:spPr>
              <a:xfrm>
                <a:off x="4429125" y="5399405"/>
                <a:ext cx="6810375" cy="419100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lIns="0" tIns="0" rIns="0" bIns="0" anchor="t"/>
              <a:lstStyle>
                <a:defPPr>
                  <a:defRPr sz="1600" b="0">
                    <a:solidFill>
                      <a:srgbClr val="1E293B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defRPr>
                </a:defPPr>
                <a:lvl1pPr>
                  <a:defRPr sz="1600" b="0">
                    <a:solidFill>
                      <a:srgbClr val="1E293B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defRPr>
                </a:lvl1pPr>
                <a:lvl2pPr>
                  <a:defRPr sz="1600" b="0">
                    <a:solidFill>
                      <a:srgbClr val="1E293B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defRPr>
                </a:lvl2pPr>
                <a:lvl3pPr>
                  <a:defRPr sz="1600" b="0">
                    <a:solidFill>
                      <a:srgbClr val="1E293B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defRPr>
                </a:lvl3pPr>
                <a:lvl4pPr>
                  <a:defRPr sz="1600" b="0">
                    <a:solidFill>
                      <a:srgbClr val="1E293B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defRPr>
                </a:lvl4pPr>
                <a:lvl5pPr>
                  <a:defRPr sz="1600" b="0">
                    <a:solidFill>
                      <a:srgbClr val="1E293B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defRPr>
                </a:lvl5pPr>
                <a:lvl6pPr>
                  <a:defRPr sz="1600" b="0">
                    <a:solidFill>
                      <a:srgbClr val="1E293B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defRPr>
                </a:lvl6pPr>
                <a:lvl7pPr>
                  <a:defRPr sz="1600" b="0">
                    <a:solidFill>
                      <a:srgbClr val="1E293B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defRPr>
                </a:lvl7pPr>
                <a:lvl8pPr>
                  <a:defRPr sz="1600" b="0">
                    <a:solidFill>
                      <a:srgbClr val="1E293B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defRPr>
                </a:lvl8pPr>
                <a:lvl9pPr>
                  <a:defRPr sz="1600" b="0">
                    <a:solidFill>
                      <a:srgbClr val="1E293B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defRPr>
                </a:lvl9pPr>
              </a:lstStyle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sz="1600" b="0" i="0">
                          <a:solidFill>
                            <a:srgbClr val="1E293B"/>
                          </a:solidFill>
                          <a:latin typeface="Cambria Math" panose="02040503050406030204"/>
                          <a:ea typeface="Cambria Math" panose="02040503050406030204"/>
                        </a:rPr>
                        <m:t>lg</m:t>
                      </m:r>
                      <m:r>
                        <a:rPr sz="1600" b="0" i="1">
                          <a:solidFill>
                            <a:srgbClr val="1E293B"/>
                          </a:solidFill>
                          <a:latin typeface="Cambria Math" panose="02040503050406030204"/>
                          <a:ea typeface="Cambria Math" panose="02040503050406030204"/>
                        </a:rPr>
                        <m:t>𝐿</m:t>
                      </m:r>
                      <m:r>
                        <a:rPr sz="1600" b="0" i="0">
                          <a:solidFill>
                            <a:srgbClr val="1E293B"/>
                          </a:solidFill>
                          <a:latin typeface="Cambria Math" panose="02040503050406030204"/>
                          <a:ea typeface="Cambria Math" panose="02040503050406030204"/>
                        </a:rPr>
                        <m:t>=</m:t>
                      </m:r>
                      <m:r>
                        <m:rPr>
                          <m:sty m:val="p"/>
                        </m:rPr>
                        <a:rPr sz="1600" b="0" i="0">
                          <a:solidFill>
                            <a:srgbClr val="1E293B"/>
                          </a:solidFill>
                          <a:latin typeface="Cambria Math" panose="02040503050406030204"/>
                          <a:ea typeface="Cambria Math" panose="02040503050406030204"/>
                        </a:rPr>
                        <m:t>Θ</m:t>
                      </m:r>
                      <m:d>
                        <m:dPr>
                          <m:ctrlPr>
                            <a:rPr sz="1600" b="0">
                              <a:solidFill>
                                <a:srgbClr val="1E293B"/>
                              </a:solidFill>
                              <a:latin typeface="Cambria Math" panose="02040503050406030204"/>
                              <a:ea typeface="微软雅黑" panose="020B0503020204020204" charset="-122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sz="1600" b="0" i="0">
                              <a:solidFill>
                                <a:srgbClr val="1E293B"/>
                              </a:solidFill>
                              <a:latin typeface="Cambria Math" panose="02040503050406030204"/>
                              <a:ea typeface="Cambria Math" panose="02040503050406030204"/>
                            </a:rPr>
                            <m:t>lg</m:t>
                          </m:r>
                          <m:r>
                            <m:rPr>
                              <m:sty m:val="p"/>
                            </m:rPr>
                            <a:rPr sz="1600" b="0" i="0">
                              <a:solidFill>
                                <a:srgbClr val="1E293B"/>
                              </a:solidFill>
                              <a:latin typeface="Cambria Math" panose="02040503050406030204"/>
                              <a:ea typeface="Cambria Math" panose="02040503050406030204"/>
                            </a:rPr>
                            <m:t>lg</m:t>
                          </m:r>
                          <m:r>
                            <a:rPr sz="1600" b="0" i="1">
                              <a:solidFill>
                                <a:srgbClr val="1E293B"/>
                              </a:solidFill>
                              <a:latin typeface="Cambria Math" panose="02040503050406030204"/>
                              <a:ea typeface="Cambria Math" panose="02040503050406030204"/>
                            </a:rPr>
                            <m:t>𝑛</m:t>
                          </m:r>
                        </m:e>
                      </m:d>
                    </m:oMath>
                  </m:oMathPara>
                </a14:m>
                <a:endParaRPr sz="1600"/>
              </a:p>
            </p:txBody>
          </p:sp>
        </mc:Choice>
        <mc:Fallback>
          <p:sp>
            <p:nvSpPr>
              <p:cNvPr id="24" name="eq_b_3_1" descr="LaTeX: \lg L=\Theta(\lg\lg n)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29125" y="5399405"/>
                <a:ext cx="6810375" cy="419100"/>
              </a:xfrm>
              <a:prstGeom prst="rect">
                <a:avLst/>
              </a:prstGeom>
              <a:blipFill rotWithShape="1">
                <a:blip r:embed="rId8"/>
                <a:stretch>
                  <a:fillRect/>
                </a:stretch>
              </a:blipFill>
              <a:ln w="0"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5" name="eq_b_result" descr="LaTeX: T(n)=\Theta(n\lg\lg n)"/>
              <p:cNvSpPr>
                <a:spLocks noGrp="1"/>
              </p:cNvSpPr>
              <p:nvPr/>
            </p:nvSpPr>
            <p:spPr>
              <a:xfrm>
                <a:off x="4333875" y="5743575"/>
                <a:ext cx="6810375" cy="409575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lIns="0" tIns="0" rIns="0" bIns="0" anchor="t"/>
              <a:lstStyle>
                <a:defPPr>
                  <a:defRPr sz="1700" b="1">
                    <a:solidFill>
                      <a:srgbClr val="2563EB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defRPr>
                </a:defPPr>
                <a:lvl1pPr>
                  <a:defRPr sz="1700" b="1">
                    <a:solidFill>
                      <a:srgbClr val="2563EB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defRPr>
                </a:lvl1pPr>
                <a:lvl2pPr>
                  <a:defRPr sz="1700" b="1">
                    <a:solidFill>
                      <a:srgbClr val="2563EB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defRPr>
                </a:lvl2pPr>
                <a:lvl3pPr>
                  <a:defRPr sz="1700" b="1">
                    <a:solidFill>
                      <a:srgbClr val="2563EB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defRPr>
                </a:lvl3pPr>
                <a:lvl4pPr>
                  <a:defRPr sz="1700" b="1">
                    <a:solidFill>
                      <a:srgbClr val="2563EB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defRPr>
                </a:lvl4pPr>
                <a:lvl5pPr>
                  <a:defRPr sz="1700" b="1">
                    <a:solidFill>
                      <a:srgbClr val="2563EB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defRPr>
                </a:lvl5pPr>
                <a:lvl6pPr>
                  <a:defRPr sz="1700" b="1">
                    <a:solidFill>
                      <a:srgbClr val="2563EB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defRPr>
                </a:lvl6pPr>
                <a:lvl7pPr>
                  <a:defRPr sz="1700" b="1">
                    <a:solidFill>
                      <a:srgbClr val="2563EB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defRPr>
                </a:lvl7pPr>
                <a:lvl8pPr>
                  <a:defRPr sz="1700" b="1">
                    <a:solidFill>
                      <a:srgbClr val="2563EB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defRPr>
                </a:lvl8pPr>
                <a:lvl9pPr>
                  <a:defRPr sz="1700" b="1">
                    <a:solidFill>
                      <a:srgbClr val="2563EB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defRPr>
                </a:lvl9pPr>
              </a:lstStyle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sz="1700" b="1" i="1">
                          <a:solidFill>
                            <a:srgbClr val="2563EB"/>
                          </a:solidFill>
                          <a:latin typeface="Cambria Math" panose="02040503050406030204"/>
                          <a:ea typeface="Cambria Math" panose="02040503050406030204"/>
                        </a:rPr>
                        <m:t>𝑇</m:t>
                      </m:r>
                      <m:d>
                        <m:dPr>
                          <m:ctrlPr>
                            <a:rPr sz="1700" b="1">
                              <a:solidFill>
                                <a:srgbClr val="2563EB"/>
                              </a:solidFill>
                              <a:latin typeface="Cambria Math" panose="02040503050406030204"/>
                              <a:ea typeface="微软雅黑" panose="020B0503020204020204" charset="-122"/>
                            </a:rPr>
                          </m:ctrlPr>
                        </m:dPr>
                        <m:e>
                          <m:r>
                            <a:rPr sz="1700" b="1" i="1">
                              <a:solidFill>
                                <a:srgbClr val="2563EB"/>
                              </a:solidFill>
                              <a:latin typeface="Cambria Math" panose="02040503050406030204"/>
                              <a:ea typeface="Cambria Math" panose="02040503050406030204"/>
                            </a:rPr>
                            <m:t>𝑛</m:t>
                          </m:r>
                        </m:e>
                      </m:d>
                      <m:r>
                        <a:rPr sz="1700" b="1" i="0">
                          <a:solidFill>
                            <a:srgbClr val="2563EB"/>
                          </a:solidFill>
                          <a:latin typeface="Cambria Math" panose="02040503050406030204"/>
                          <a:ea typeface="Cambria Math" panose="02040503050406030204"/>
                        </a:rPr>
                        <m:t>=</m:t>
                      </m:r>
                      <m:r>
                        <m:rPr>
                          <m:sty m:val="p"/>
                        </m:rPr>
                        <a:rPr sz="1700" b="1" i="0">
                          <a:solidFill>
                            <a:srgbClr val="2563EB"/>
                          </a:solidFill>
                          <a:latin typeface="Cambria Math" panose="02040503050406030204"/>
                          <a:ea typeface="Cambria Math" panose="02040503050406030204"/>
                        </a:rPr>
                        <m:t>Θ</m:t>
                      </m:r>
                      <m:d>
                        <m:dPr>
                          <m:ctrlPr>
                            <a:rPr sz="1700" b="1">
                              <a:solidFill>
                                <a:srgbClr val="2563EB"/>
                              </a:solidFill>
                              <a:latin typeface="Cambria Math" panose="02040503050406030204"/>
                              <a:ea typeface="微软雅黑" panose="020B0503020204020204" charset="-122"/>
                            </a:rPr>
                          </m:ctrlPr>
                        </m:dPr>
                        <m:e>
                          <m:r>
                            <a:rPr sz="1700" b="1" i="1">
                              <a:solidFill>
                                <a:srgbClr val="2563EB"/>
                              </a:solidFill>
                              <a:latin typeface="Cambria Math" panose="02040503050406030204"/>
                              <a:ea typeface="Cambria Math" panose="02040503050406030204"/>
                            </a:rPr>
                            <m:t>𝑛</m:t>
                          </m:r>
                          <m:r>
                            <m:rPr>
                              <m:sty m:val="p"/>
                            </m:rPr>
                            <a:rPr sz="1700" b="1" i="0">
                              <a:solidFill>
                                <a:srgbClr val="2563EB"/>
                              </a:solidFill>
                              <a:latin typeface="Cambria Math" panose="02040503050406030204"/>
                              <a:ea typeface="Cambria Math" panose="02040503050406030204"/>
                            </a:rPr>
                            <m:t>lg</m:t>
                          </m:r>
                          <m:r>
                            <m:rPr>
                              <m:sty m:val="p"/>
                            </m:rPr>
                            <a:rPr sz="1700" b="1" i="0">
                              <a:solidFill>
                                <a:srgbClr val="2563EB"/>
                              </a:solidFill>
                              <a:latin typeface="Cambria Math" panose="02040503050406030204"/>
                              <a:ea typeface="Cambria Math" panose="02040503050406030204"/>
                            </a:rPr>
                            <m:t>lg</m:t>
                          </m:r>
                          <m:r>
                            <a:rPr sz="1700" b="1" i="1">
                              <a:solidFill>
                                <a:srgbClr val="2563EB"/>
                              </a:solidFill>
                              <a:latin typeface="Cambria Math" panose="02040503050406030204"/>
                              <a:ea typeface="Cambria Math" panose="02040503050406030204"/>
                            </a:rPr>
                            <m:t>𝑛</m:t>
                          </m:r>
                        </m:e>
                      </m:d>
                    </m:oMath>
                  </m:oMathPara>
                </a14:m>
                <a:endParaRPr sz="1700"/>
              </a:p>
            </p:txBody>
          </p:sp>
        </mc:Choice>
        <mc:Fallback>
          <p:sp>
            <p:nvSpPr>
              <p:cNvPr id="25" name="eq_b_result" descr="LaTeX: T(n)=\Theta(n\lg\lg n)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33875" y="5743575"/>
                <a:ext cx="6810375" cy="409575"/>
              </a:xfrm>
              <a:prstGeom prst="rect">
                <a:avLst/>
              </a:prstGeom>
              <a:blipFill rotWithShape="1">
                <a:blip r:embed="rId9"/>
                <a:stretch>
                  <a:fillRect/>
                </a:stretch>
              </a:blipFill>
              <a:ln w="0"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6" name="result_label_b"/>
          <p:cNvSpPr>
            <a:spLocks noGrp="1"/>
          </p:cNvSpPr>
          <p:nvPr/>
        </p:nvSpPr>
        <p:spPr>
          <a:xfrm>
            <a:off x="952500" y="5781675"/>
            <a:ext cx="3048000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>
              <a:defRPr sz="1600" b="1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>
              <a:defRPr sz="1600" b="1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>
              <a:defRPr sz="1600" b="1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>
              <a:defRPr sz="1600" b="1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>
              <a:defRPr sz="1600" b="1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>
              <a:defRPr sz="1600" b="1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>
              <a:defRPr sz="1600" b="1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>
              <a:defRPr sz="1600" b="1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>
              <a:defRPr sz="1600" b="1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>
              <a:defRPr sz="1600" b="1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>
              <a:defRPr sz="1600" b="1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00" b="1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紧确渐近界</a:t>
            </a:r>
            <a:endParaRPr sz="1600" b="1">
              <a:solidFill>
                <a:srgbClr val="2563E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>
            <a:spLocks noGrp="1"/>
          </p:cNvSpPr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3" name="TextBox 2"/>
          <p:cNvSpPr>
            <a:spLocks noGrp="1"/>
          </p:cNvSpPr>
          <p:nvPr/>
        </p:nvSpPr>
        <p:spPr>
          <a:xfrm>
            <a:off x="502920" y="292608"/>
            <a:ext cx="10881360" cy="512064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>
            <a:defPPr>
              <a:defRPr sz="2400"/>
            </a:defPPr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algn="l">
              <a:spcAft>
                <a:spcPts val="500"/>
              </a:spcAft>
              <a:buNone/>
            </a:pPr>
            <a:r>
              <a:rPr sz="2400" b="1" i="0">
                <a:solidFill>
                  <a:srgbClr val="1725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题目解析（c）</a:t>
            </a:r>
            <a:endParaRPr sz="2400" b="1" i="0">
              <a:solidFill>
                <a:srgbClr val="17255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TextBox 3"/>
          <p:cNvSpPr>
            <a:spLocks noGrp="1"/>
          </p:cNvSpPr>
          <p:nvPr/>
        </p:nvSpPr>
        <p:spPr>
          <a:xfrm>
            <a:off x="530352" y="804672"/>
            <a:ext cx="10972800" cy="329184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>
            <a:defPPr>
              <a:defRPr sz="1200"/>
            </a:defPPr>
            <a:lvl1pPr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algn="l">
              <a:spcAft>
                <a:spcPts val="500"/>
              </a:spcAft>
              <a:buNone/>
            </a:pPr>
            <a:r>
              <a:rPr sz="1200" b="0" i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主定理情况 3：额外工作量更大，并验证正则条件</a:t>
            </a:r>
            <a:endParaRPr sz="1200" b="0" i="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TextBox 4"/>
          <p:cNvSpPr>
            <a:spLocks noGrp="1"/>
          </p:cNvSpPr>
          <p:nvPr/>
        </p:nvSpPr>
        <p:spPr>
          <a:xfrm>
            <a:off x="9555480" y="6510528"/>
            <a:ext cx="2103120" cy="18288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r">
              <a:spcAft>
                <a:spcPts val="500"/>
              </a:spcAft>
              <a:buNone/>
            </a:pPr>
            <a:r>
              <a:rPr sz="900" b="0" i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递推式与渐近分析</a:t>
            </a:r>
            <a:endParaRPr sz="900" b="0" i="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extBox 5"/>
          <p:cNvSpPr>
            <a:spLocks noGrp="1"/>
          </p:cNvSpPr>
          <p:nvPr/>
        </p:nvSpPr>
        <p:spPr>
          <a:xfrm>
            <a:off x="502920" y="6510528"/>
            <a:ext cx="1371600" cy="283464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500"/>
              </a:spcAft>
              <a:buNone/>
            </a:pPr>
            <a:r>
              <a:rPr sz="900" b="0" i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算法设计 · 08</a:t>
            </a:r>
            <a:endParaRPr sz="900" b="0" i="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Rounded Rectangle 6"/>
          <p:cNvSpPr>
            <a:spLocks noGrp="1"/>
          </p:cNvSpPr>
          <p:nvPr/>
        </p:nvSpPr>
        <p:spPr>
          <a:xfrm>
            <a:off x="640080" y="1280160"/>
            <a:ext cx="10927080" cy="49149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8" name="Rectangle 7"/>
          <p:cNvSpPr>
            <a:spLocks noGrp="1"/>
          </p:cNvSpPr>
          <p:nvPr/>
        </p:nvSpPr>
        <p:spPr>
          <a:xfrm>
            <a:off x="640080" y="1280160"/>
            <a:ext cx="73152" cy="4914900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eq_c_recurrence" descr="LaTeX: T(n)=8T(\frac{n}{2})+n^3\sqrt{n}"/>
              <p:cNvSpPr>
                <a:spLocks noGrp="1"/>
              </p:cNvSpPr>
              <p:nvPr/>
            </p:nvSpPr>
            <p:spPr>
              <a:xfrm>
                <a:off x="952500" y="1457325"/>
                <a:ext cx="10287000" cy="552450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lIns="0" tIns="0" rIns="0" bIns="0" anchor="t"/>
              <a:lstStyle>
                <a:defPPr>
                  <a:defRPr sz="1700" b="1">
                    <a:solidFill>
                      <a:srgbClr val="2563EB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defRPr>
                </a:defPPr>
                <a:lvl1pPr>
                  <a:defRPr sz="1700" b="1">
                    <a:solidFill>
                      <a:srgbClr val="2563EB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defRPr>
                </a:lvl1pPr>
                <a:lvl2pPr>
                  <a:defRPr sz="1700" b="1">
                    <a:solidFill>
                      <a:srgbClr val="2563EB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defRPr>
                </a:lvl2pPr>
                <a:lvl3pPr>
                  <a:defRPr sz="1700" b="1">
                    <a:solidFill>
                      <a:srgbClr val="2563EB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defRPr>
                </a:lvl3pPr>
                <a:lvl4pPr>
                  <a:defRPr sz="1700" b="1">
                    <a:solidFill>
                      <a:srgbClr val="2563EB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defRPr>
                </a:lvl4pPr>
                <a:lvl5pPr>
                  <a:defRPr sz="1700" b="1">
                    <a:solidFill>
                      <a:srgbClr val="2563EB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defRPr>
                </a:lvl5pPr>
                <a:lvl6pPr>
                  <a:defRPr sz="1700" b="1">
                    <a:solidFill>
                      <a:srgbClr val="2563EB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defRPr>
                </a:lvl6pPr>
                <a:lvl7pPr>
                  <a:defRPr sz="1700" b="1">
                    <a:solidFill>
                      <a:srgbClr val="2563EB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defRPr>
                </a:lvl7pPr>
                <a:lvl8pPr>
                  <a:defRPr sz="1700" b="1">
                    <a:solidFill>
                      <a:srgbClr val="2563EB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defRPr>
                </a:lvl8pPr>
                <a:lvl9pPr>
                  <a:defRPr sz="1700" b="1">
                    <a:solidFill>
                      <a:srgbClr val="2563EB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defRPr>
                </a:lvl9pPr>
              </a:lstStyle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sz="1700" b="1" i="1">
                          <a:solidFill>
                            <a:srgbClr val="2563EB"/>
                          </a:solidFill>
                          <a:latin typeface="Cambria Math" panose="02040503050406030204"/>
                          <a:ea typeface="Cambria Math" panose="02040503050406030204"/>
                        </a:rPr>
                        <m:t>𝑇</m:t>
                      </m:r>
                      <m:d>
                        <m:dPr>
                          <m:ctrlPr>
                            <a:rPr sz="1700" b="1">
                              <a:solidFill>
                                <a:srgbClr val="2563EB"/>
                              </a:solidFill>
                              <a:latin typeface="Cambria Math" panose="02040503050406030204"/>
                              <a:ea typeface="微软雅黑" panose="020B0503020204020204" charset="-122"/>
                            </a:rPr>
                          </m:ctrlPr>
                        </m:dPr>
                        <m:e>
                          <m:r>
                            <a:rPr sz="1700" b="1" i="1">
                              <a:solidFill>
                                <a:srgbClr val="2563EB"/>
                              </a:solidFill>
                              <a:latin typeface="Cambria Math" panose="02040503050406030204"/>
                              <a:ea typeface="Cambria Math" panose="02040503050406030204"/>
                            </a:rPr>
                            <m:t>𝑛</m:t>
                          </m:r>
                        </m:e>
                      </m:d>
                      <m:r>
                        <a:rPr sz="1700" b="1" i="0">
                          <a:solidFill>
                            <a:srgbClr val="2563EB"/>
                          </a:solidFill>
                          <a:latin typeface="Cambria Math" panose="02040503050406030204"/>
                          <a:ea typeface="Cambria Math" panose="02040503050406030204"/>
                        </a:rPr>
                        <m:t>=</m:t>
                      </m:r>
                      <m:r>
                        <a:rPr sz="1700" b="1" i="0">
                          <a:solidFill>
                            <a:srgbClr val="2563EB"/>
                          </a:solidFill>
                          <a:latin typeface="Cambria Math" panose="02040503050406030204"/>
                          <a:ea typeface="Cambria Math" panose="02040503050406030204"/>
                        </a:rPr>
                        <m:t>8</m:t>
                      </m:r>
                      <m:r>
                        <a:rPr sz="1700" b="1" i="1">
                          <a:solidFill>
                            <a:srgbClr val="2563EB"/>
                          </a:solidFill>
                          <a:latin typeface="Cambria Math" panose="02040503050406030204"/>
                          <a:ea typeface="Cambria Math" panose="02040503050406030204"/>
                        </a:rPr>
                        <m:t>𝑇</m:t>
                      </m:r>
                      <m:d>
                        <m:dPr>
                          <m:ctrlPr>
                            <a:rPr sz="1700" b="1">
                              <a:solidFill>
                                <a:srgbClr val="2563EB"/>
                              </a:solidFill>
                              <a:latin typeface="Cambria Math" panose="02040503050406030204"/>
                              <a:ea typeface="微软雅黑" panose="020B0503020204020204" charset="-122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sz="1700" b="1">
                                  <a:solidFill>
                                    <a:srgbClr val="2563EB"/>
                                  </a:solidFill>
                                  <a:latin typeface="Cambria Math" panose="02040503050406030204"/>
                                  <a:ea typeface="微软雅黑" panose="020B0503020204020204" charset="-122"/>
                                </a:rPr>
                              </m:ctrlPr>
                            </m:fPr>
                            <m:num>
                              <m:r>
                                <a:rPr sz="1700" b="1" i="1">
                                  <a:solidFill>
                                    <a:srgbClr val="2563EB"/>
                                  </a:solidFill>
                                  <a:latin typeface="Cambria Math" panose="02040503050406030204"/>
                                  <a:ea typeface="Cambria Math" panose="02040503050406030204"/>
                                </a:rPr>
                                <m:t>𝑛</m:t>
                              </m:r>
                            </m:num>
                            <m:den>
                              <m:r>
                                <a:rPr sz="1700" b="1" i="0">
                                  <a:solidFill>
                                    <a:srgbClr val="2563EB"/>
                                  </a:solidFill>
                                  <a:latin typeface="Cambria Math" panose="02040503050406030204"/>
                                  <a:ea typeface="Cambria Math" panose="02040503050406030204"/>
                                </a:rPr>
                                <m:t>2</m:t>
                              </m:r>
                            </m:den>
                          </m:f>
                        </m:e>
                      </m:d>
                      <m:r>
                        <a:rPr sz="1700" b="1" i="0">
                          <a:solidFill>
                            <a:srgbClr val="2563EB"/>
                          </a:solidFill>
                          <a:latin typeface="Cambria Math" panose="02040503050406030204"/>
                          <a:ea typeface="Cambria Math" panose="02040503050406030204"/>
                        </a:rPr>
                        <m:t>+</m:t>
                      </m:r>
                      <m:sSup>
                        <m:sSupPr>
                          <m:ctrlPr>
                            <a:rPr sz="1700" b="1">
                              <a:solidFill>
                                <a:srgbClr val="2563EB"/>
                              </a:solidFill>
                              <a:latin typeface="Cambria Math" panose="02040503050406030204"/>
                              <a:ea typeface="微软雅黑" panose="020B0503020204020204" charset="-122"/>
                            </a:rPr>
                          </m:ctrlPr>
                        </m:sSupPr>
                        <m:e>
                          <m:r>
                            <a:rPr sz="1700" b="1" i="1">
                              <a:solidFill>
                                <a:srgbClr val="2563EB"/>
                              </a:solidFill>
                              <a:latin typeface="Cambria Math" panose="02040503050406030204"/>
                              <a:ea typeface="Cambria Math" panose="02040503050406030204"/>
                            </a:rPr>
                            <m:t>𝑛</m:t>
                          </m:r>
                        </m:e>
                        <m:sup>
                          <m:r>
                            <a:rPr sz="1700" b="1" i="0">
                              <a:solidFill>
                                <a:srgbClr val="2563EB"/>
                              </a:solidFill>
                              <a:latin typeface="Cambria Math" panose="02040503050406030204"/>
                              <a:ea typeface="Cambria Math" panose="02040503050406030204"/>
                            </a:rPr>
                            <m:t>3</m:t>
                          </m:r>
                        </m:sup>
                      </m:sSup>
                      <m:rad>
                        <m:radPr>
                          <m:degHide m:val="on"/>
                          <m:ctrlPr>
                            <a:rPr sz="1700" b="1">
                              <a:solidFill>
                                <a:srgbClr val="2563EB"/>
                              </a:solidFill>
                              <a:latin typeface="Cambria Math" panose="02040503050406030204"/>
                              <a:ea typeface="微软雅黑" panose="020B0503020204020204" charset="-122"/>
                            </a:rPr>
                          </m:ctrlPr>
                        </m:radPr>
                        <m:deg/>
                        <m:e>
                          <m:r>
                            <a:rPr sz="1700" b="1" i="1">
                              <a:solidFill>
                                <a:srgbClr val="2563EB"/>
                              </a:solidFill>
                              <a:latin typeface="Cambria Math" panose="02040503050406030204"/>
                              <a:ea typeface="Cambria Math" panose="02040503050406030204"/>
                            </a:rPr>
                            <m:t>𝑛</m:t>
                          </m:r>
                        </m:e>
                      </m:rad>
                    </m:oMath>
                  </m:oMathPara>
                </a14:m>
                <a:endParaRPr sz="1700"/>
              </a:p>
            </p:txBody>
          </p:sp>
        </mc:Choice>
        <mc:Fallback>
          <p:sp>
            <p:nvSpPr>
              <p:cNvPr id="9" name="eq_c_recurrence" descr="LaTeX: T(n)=8T(\frac{n}{2})+n^3\sqrt{n}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2500" y="1457325"/>
                <a:ext cx="10287000" cy="552450"/>
              </a:xfrm>
              <a:prstGeom prst="rect">
                <a:avLst/>
              </a:prstGeom>
              <a:blipFill rotWithShape="1">
                <a:blip r:embed="rId1"/>
                <a:stretch>
                  <a:fillRect/>
                </a:stretch>
              </a:blipFill>
              <a:ln w="0"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step_c_0"/>
          <p:cNvSpPr>
            <a:spLocks noGrp="1"/>
          </p:cNvSpPr>
          <p:nvPr/>
        </p:nvSpPr>
        <p:spPr>
          <a:xfrm>
            <a:off x="952500" y="2143125"/>
            <a:ext cx="3048000" cy="2762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>
              <a:defRPr sz="1600" b="1">
                <a:solidFill>
                  <a:srgbClr val="1725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>
              <a:defRPr sz="1600" b="1">
                <a:solidFill>
                  <a:srgbClr val="1725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>
              <a:defRPr sz="1600" b="1">
                <a:solidFill>
                  <a:srgbClr val="1725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>
              <a:defRPr sz="1600" b="1">
                <a:solidFill>
                  <a:srgbClr val="1725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>
              <a:defRPr sz="1600" b="1">
                <a:solidFill>
                  <a:srgbClr val="1725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>
              <a:defRPr sz="1600" b="1">
                <a:solidFill>
                  <a:srgbClr val="1725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>
              <a:defRPr sz="1600" b="1">
                <a:solidFill>
                  <a:srgbClr val="1725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>
              <a:defRPr sz="1600" b="1">
                <a:solidFill>
                  <a:srgbClr val="1725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>
              <a:defRPr sz="1600" b="1">
                <a:solidFill>
                  <a:srgbClr val="1725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>
              <a:defRPr sz="1600" b="1">
                <a:solidFill>
                  <a:srgbClr val="1725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>
              <a:defRPr sz="1600" b="1">
                <a:solidFill>
                  <a:srgbClr val="1725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00" b="1">
                <a:solidFill>
                  <a:srgbClr val="1725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  化简额外工作量</a:t>
            </a:r>
            <a:endParaRPr sz="1600" b="1">
              <a:solidFill>
                <a:srgbClr val="17255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note_c_0"/>
          <p:cNvSpPr>
            <a:spLocks noGrp="1"/>
          </p:cNvSpPr>
          <p:nvPr/>
        </p:nvSpPr>
        <p:spPr>
          <a:xfrm>
            <a:off x="952500" y="2447925"/>
            <a:ext cx="3086100" cy="5238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>
              <a:defRPr sz="1300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>
              <a:defRPr sz="1300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>
              <a:defRPr sz="1300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>
              <a:defRPr sz="1300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>
              <a:defRPr sz="1300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>
              <a:defRPr sz="1300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>
              <a:defRPr sz="1300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>
              <a:defRPr sz="1300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>
              <a:defRPr sz="1300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>
              <a:defRPr sz="1300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>
              <a:defRPr sz="1300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00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把根号写成幂，便于比较指数。</a:t>
            </a:r>
            <a:endParaRPr sz="1300" b="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2" name="eq_c_0_0" descr="LaTeX: f(n)=n^3\sqrt{n}=n^{7/2}"/>
              <p:cNvSpPr>
                <a:spLocks noGrp="1"/>
              </p:cNvSpPr>
              <p:nvPr/>
            </p:nvSpPr>
            <p:spPr>
              <a:xfrm>
                <a:off x="4333875" y="2124075"/>
                <a:ext cx="6810375" cy="419100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lIns="0" tIns="0" rIns="0" bIns="0" anchor="t"/>
              <a:lstStyle>
                <a:defPPr>
                  <a:defRPr sz="1600" b="0">
                    <a:solidFill>
                      <a:srgbClr val="1E293B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defRPr>
                </a:defPPr>
                <a:lvl1pPr>
                  <a:defRPr sz="1600" b="0">
                    <a:solidFill>
                      <a:srgbClr val="1E293B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defRPr>
                </a:lvl1pPr>
                <a:lvl2pPr>
                  <a:defRPr sz="1600" b="0">
                    <a:solidFill>
                      <a:srgbClr val="1E293B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defRPr>
                </a:lvl2pPr>
                <a:lvl3pPr>
                  <a:defRPr sz="1600" b="0">
                    <a:solidFill>
                      <a:srgbClr val="1E293B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defRPr>
                </a:lvl3pPr>
                <a:lvl4pPr>
                  <a:defRPr sz="1600" b="0">
                    <a:solidFill>
                      <a:srgbClr val="1E293B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defRPr>
                </a:lvl4pPr>
                <a:lvl5pPr>
                  <a:defRPr sz="1600" b="0">
                    <a:solidFill>
                      <a:srgbClr val="1E293B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defRPr>
                </a:lvl5pPr>
                <a:lvl6pPr>
                  <a:defRPr sz="1600" b="0">
                    <a:solidFill>
                      <a:srgbClr val="1E293B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defRPr>
                </a:lvl6pPr>
                <a:lvl7pPr>
                  <a:defRPr sz="1600" b="0">
                    <a:solidFill>
                      <a:srgbClr val="1E293B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defRPr>
                </a:lvl7pPr>
                <a:lvl8pPr>
                  <a:defRPr sz="1600" b="0">
                    <a:solidFill>
                      <a:srgbClr val="1E293B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defRPr>
                </a:lvl8pPr>
                <a:lvl9pPr>
                  <a:defRPr sz="1600" b="0">
                    <a:solidFill>
                      <a:srgbClr val="1E293B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defRPr>
                </a:lvl9pPr>
              </a:lstStyle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sz="1600" b="0" i="1">
                          <a:solidFill>
                            <a:srgbClr val="1E293B"/>
                          </a:solidFill>
                          <a:latin typeface="Cambria Math" panose="02040503050406030204"/>
                          <a:ea typeface="Cambria Math" panose="02040503050406030204"/>
                        </a:rPr>
                        <m:t>𝑓</m:t>
                      </m:r>
                      <m:d>
                        <m:dPr>
                          <m:ctrlPr>
                            <a:rPr sz="1600" b="0">
                              <a:solidFill>
                                <a:srgbClr val="1E293B"/>
                              </a:solidFill>
                              <a:latin typeface="Cambria Math" panose="02040503050406030204"/>
                              <a:ea typeface="微软雅黑" panose="020B0503020204020204" charset="-122"/>
                            </a:rPr>
                          </m:ctrlPr>
                        </m:dPr>
                        <m:e>
                          <m:r>
                            <a:rPr sz="1600" b="0" i="1">
                              <a:solidFill>
                                <a:srgbClr val="1E293B"/>
                              </a:solidFill>
                              <a:latin typeface="Cambria Math" panose="02040503050406030204"/>
                              <a:ea typeface="Cambria Math" panose="02040503050406030204"/>
                            </a:rPr>
                            <m:t>𝑛</m:t>
                          </m:r>
                        </m:e>
                      </m:d>
                      <m:r>
                        <a:rPr sz="1600" b="0" i="0">
                          <a:solidFill>
                            <a:srgbClr val="1E293B"/>
                          </a:solidFill>
                          <a:latin typeface="Cambria Math" panose="02040503050406030204"/>
                          <a:ea typeface="Cambria Math" panose="02040503050406030204"/>
                        </a:rPr>
                        <m:t>=</m:t>
                      </m:r>
                      <m:sSup>
                        <m:sSupPr>
                          <m:ctrlPr>
                            <a:rPr sz="1600" b="0">
                              <a:solidFill>
                                <a:srgbClr val="1E293B"/>
                              </a:solidFill>
                              <a:latin typeface="Cambria Math" panose="02040503050406030204"/>
                              <a:ea typeface="微软雅黑" panose="020B0503020204020204" charset="-122"/>
                            </a:rPr>
                          </m:ctrlPr>
                        </m:sSupPr>
                        <m:e>
                          <m:r>
                            <a:rPr sz="1600" b="0" i="1">
                              <a:solidFill>
                                <a:srgbClr val="1E293B"/>
                              </a:solidFill>
                              <a:latin typeface="Cambria Math" panose="02040503050406030204"/>
                              <a:ea typeface="Cambria Math" panose="02040503050406030204"/>
                            </a:rPr>
                            <m:t>𝑛</m:t>
                          </m:r>
                        </m:e>
                        <m:sup>
                          <m:r>
                            <a:rPr sz="1600" b="0" i="0">
                              <a:solidFill>
                                <a:srgbClr val="1E293B"/>
                              </a:solidFill>
                              <a:latin typeface="Cambria Math" panose="02040503050406030204"/>
                              <a:ea typeface="Cambria Math" panose="02040503050406030204"/>
                            </a:rPr>
                            <m:t>3</m:t>
                          </m:r>
                        </m:sup>
                      </m:sSup>
                      <m:rad>
                        <m:radPr>
                          <m:degHide m:val="on"/>
                          <m:ctrlPr>
                            <a:rPr sz="1600" b="0">
                              <a:solidFill>
                                <a:srgbClr val="1E293B"/>
                              </a:solidFill>
                              <a:latin typeface="Cambria Math" panose="02040503050406030204"/>
                              <a:ea typeface="微软雅黑" panose="020B0503020204020204" charset="-122"/>
                            </a:rPr>
                          </m:ctrlPr>
                        </m:radPr>
                        <m:deg/>
                        <m:e>
                          <m:r>
                            <a:rPr sz="1600" b="0" i="1">
                              <a:solidFill>
                                <a:srgbClr val="1E293B"/>
                              </a:solidFill>
                              <a:latin typeface="Cambria Math" panose="02040503050406030204"/>
                              <a:ea typeface="Cambria Math" panose="02040503050406030204"/>
                            </a:rPr>
                            <m:t>𝑛</m:t>
                          </m:r>
                        </m:e>
                      </m:rad>
                      <m:r>
                        <a:rPr sz="1600" b="0" i="0">
                          <a:solidFill>
                            <a:srgbClr val="1E293B"/>
                          </a:solidFill>
                          <a:latin typeface="Cambria Math" panose="02040503050406030204"/>
                          <a:ea typeface="Cambria Math" panose="02040503050406030204"/>
                        </a:rPr>
                        <m:t>=</m:t>
                      </m:r>
                      <m:sSup>
                        <m:sSupPr>
                          <m:ctrlPr>
                            <a:rPr sz="1600" b="0">
                              <a:solidFill>
                                <a:srgbClr val="1E293B"/>
                              </a:solidFill>
                              <a:latin typeface="Cambria Math" panose="02040503050406030204"/>
                              <a:ea typeface="微软雅黑" panose="020B0503020204020204" charset="-122"/>
                            </a:rPr>
                          </m:ctrlPr>
                        </m:sSupPr>
                        <m:e>
                          <m:r>
                            <a:rPr sz="1600" b="0" i="1">
                              <a:solidFill>
                                <a:srgbClr val="1E293B"/>
                              </a:solidFill>
                              <a:latin typeface="Cambria Math" panose="02040503050406030204"/>
                              <a:ea typeface="Cambria Math" panose="02040503050406030204"/>
                            </a:rPr>
                            <m:t>𝑛</m:t>
                          </m:r>
                        </m:e>
                        <m:sup>
                          <m:r>
                            <a:rPr sz="1600" b="0" i="0">
                              <a:solidFill>
                                <a:srgbClr val="1E293B"/>
                              </a:solidFill>
                              <a:latin typeface="Cambria Math" panose="02040503050406030204"/>
                              <a:ea typeface="Cambria Math" panose="02040503050406030204"/>
                            </a:rPr>
                            <m:t>7</m:t>
                          </m:r>
                          <m:r>
                            <a:rPr sz="1600" b="0" i="0">
                              <a:solidFill>
                                <a:srgbClr val="1E293B"/>
                              </a:solidFill>
                              <a:latin typeface="Cambria Math" panose="02040503050406030204"/>
                              <a:ea typeface="Cambria Math" panose="02040503050406030204"/>
                            </a:rPr>
                            <m:t>/</m:t>
                          </m:r>
                          <m:r>
                            <a:rPr sz="1600" b="0" i="0">
                              <a:solidFill>
                                <a:srgbClr val="1E293B"/>
                              </a:solidFill>
                              <a:latin typeface="Cambria Math" panose="02040503050406030204"/>
                              <a:ea typeface="Cambria Math" panose="02040503050406030204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sz="1600"/>
              </a:p>
            </p:txBody>
          </p:sp>
        </mc:Choice>
        <mc:Fallback>
          <p:sp>
            <p:nvSpPr>
              <p:cNvPr id="12" name="eq_c_0_0" descr="LaTeX: f(n)=n^3\sqrt{n}=n^{7/2}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33875" y="2124075"/>
                <a:ext cx="6810375" cy="419100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  <a:ln w="0"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step_c_1"/>
          <p:cNvSpPr>
            <a:spLocks noGrp="1"/>
          </p:cNvSpPr>
          <p:nvPr/>
        </p:nvSpPr>
        <p:spPr>
          <a:xfrm>
            <a:off x="952500" y="3000375"/>
            <a:ext cx="3048000" cy="2762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>
              <a:defRPr sz="1600" b="1">
                <a:solidFill>
                  <a:srgbClr val="1725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>
              <a:defRPr sz="1600" b="1">
                <a:solidFill>
                  <a:srgbClr val="1725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>
              <a:defRPr sz="1600" b="1">
                <a:solidFill>
                  <a:srgbClr val="1725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>
              <a:defRPr sz="1600" b="1">
                <a:solidFill>
                  <a:srgbClr val="1725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>
              <a:defRPr sz="1600" b="1">
                <a:solidFill>
                  <a:srgbClr val="1725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>
              <a:defRPr sz="1600" b="1">
                <a:solidFill>
                  <a:srgbClr val="1725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>
              <a:defRPr sz="1600" b="1">
                <a:solidFill>
                  <a:srgbClr val="1725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>
              <a:defRPr sz="1600" b="1">
                <a:solidFill>
                  <a:srgbClr val="1725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>
              <a:defRPr sz="1600" b="1">
                <a:solidFill>
                  <a:srgbClr val="1725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>
              <a:defRPr sz="1600" b="1">
                <a:solidFill>
                  <a:srgbClr val="1725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>
              <a:defRPr sz="1600" b="1">
                <a:solidFill>
                  <a:srgbClr val="1725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00" b="1">
                <a:solidFill>
                  <a:srgbClr val="1725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  比较增长速度</a:t>
            </a:r>
            <a:endParaRPr sz="1600" b="1">
              <a:solidFill>
                <a:srgbClr val="17255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note_c_1"/>
          <p:cNvSpPr>
            <a:spLocks noGrp="1"/>
          </p:cNvSpPr>
          <p:nvPr/>
        </p:nvSpPr>
        <p:spPr>
          <a:xfrm>
            <a:off x="952500" y="3305175"/>
            <a:ext cx="3086100" cy="5238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>
              <a:defRPr sz="1300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>
              <a:defRPr sz="1300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>
              <a:defRPr sz="1300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>
              <a:defRPr sz="1300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>
              <a:defRPr sz="1300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>
              <a:defRPr sz="1300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>
              <a:defRPr sz="1300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>
              <a:defRPr sz="1300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>
              <a:defRPr sz="1300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>
              <a:defRPr sz="1300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>
              <a:defRPr sz="1300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00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指数相差 1/2，符合情况 3 的增长条件。</a:t>
            </a:r>
            <a:endParaRPr sz="1300" b="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5" name="eq_c_1_0" descr="LaTeX: p=\log_2 8=3"/>
              <p:cNvSpPr>
                <a:spLocks noGrp="1"/>
              </p:cNvSpPr>
              <p:nvPr/>
            </p:nvSpPr>
            <p:spPr>
              <a:xfrm>
                <a:off x="4333875" y="2981325"/>
                <a:ext cx="6810375" cy="419100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lIns="0" tIns="0" rIns="0" bIns="0" anchor="t"/>
              <a:lstStyle>
                <a:defPPr>
                  <a:defRPr sz="1600" b="0">
                    <a:solidFill>
                      <a:srgbClr val="1E293B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defRPr>
                </a:defPPr>
                <a:lvl1pPr>
                  <a:defRPr sz="1600" b="0">
                    <a:solidFill>
                      <a:srgbClr val="1E293B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defRPr>
                </a:lvl1pPr>
                <a:lvl2pPr>
                  <a:defRPr sz="1600" b="0">
                    <a:solidFill>
                      <a:srgbClr val="1E293B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defRPr>
                </a:lvl2pPr>
                <a:lvl3pPr>
                  <a:defRPr sz="1600" b="0">
                    <a:solidFill>
                      <a:srgbClr val="1E293B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defRPr>
                </a:lvl3pPr>
                <a:lvl4pPr>
                  <a:defRPr sz="1600" b="0">
                    <a:solidFill>
                      <a:srgbClr val="1E293B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defRPr>
                </a:lvl4pPr>
                <a:lvl5pPr>
                  <a:defRPr sz="1600" b="0">
                    <a:solidFill>
                      <a:srgbClr val="1E293B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defRPr>
                </a:lvl5pPr>
                <a:lvl6pPr>
                  <a:defRPr sz="1600" b="0">
                    <a:solidFill>
                      <a:srgbClr val="1E293B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defRPr>
                </a:lvl6pPr>
                <a:lvl7pPr>
                  <a:defRPr sz="1600" b="0">
                    <a:solidFill>
                      <a:srgbClr val="1E293B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defRPr>
                </a:lvl7pPr>
                <a:lvl8pPr>
                  <a:defRPr sz="1600" b="0">
                    <a:solidFill>
                      <a:srgbClr val="1E293B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defRPr>
                </a:lvl8pPr>
                <a:lvl9pPr>
                  <a:defRPr sz="1600" b="0">
                    <a:solidFill>
                      <a:srgbClr val="1E293B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defRPr>
                </a:lvl9pPr>
              </a:lstStyle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sz="1600" b="0" i="1">
                          <a:solidFill>
                            <a:srgbClr val="1E293B"/>
                          </a:solidFill>
                          <a:latin typeface="Cambria Math" panose="02040503050406030204"/>
                          <a:ea typeface="Cambria Math" panose="02040503050406030204"/>
                        </a:rPr>
                        <m:t>𝑝</m:t>
                      </m:r>
                      <m:r>
                        <a:rPr sz="1600" b="0" i="0">
                          <a:solidFill>
                            <a:srgbClr val="1E293B"/>
                          </a:solidFill>
                          <a:latin typeface="Cambria Math" panose="02040503050406030204"/>
                          <a:ea typeface="Cambria Math" panose="02040503050406030204"/>
                        </a:rPr>
                        <m:t>=</m:t>
                      </m:r>
                      <m:sSub>
                        <m:sSubPr>
                          <m:ctrlPr>
                            <a:rPr sz="1600" b="0">
                              <a:solidFill>
                                <a:srgbClr val="1E293B"/>
                              </a:solidFill>
                              <a:latin typeface="Cambria Math" panose="02040503050406030204"/>
                              <a:ea typeface="微软雅黑" panose="020B0503020204020204" charset="-122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sz="1600" b="0" i="0">
                              <a:solidFill>
                                <a:srgbClr val="1E293B"/>
                              </a:solidFill>
                              <a:latin typeface="Cambria Math" panose="02040503050406030204"/>
                              <a:ea typeface="Cambria Math" panose="02040503050406030204"/>
                            </a:rPr>
                            <m:t>log</m:t>
                          </m:r>
                        </m:e>
                        <m:sub>
                          <m:r>
                            <a:rPr sz="1600" b="0" i="0">
                              <a:solidFill>
                                <a:srgbClr val="1E293B"/>
                              </a:solidFill>
                              <a:latin typeface="Cambria Math" panose="02040503050406030204"/>
                              <a:ea typeface="Cambria Math" panose="02040503050406030204"/>
                            </a:rPr>
                            <m:t>2</m:t>
                          </m:r>
                        </m:sub>
                      </m:sSub>
                      <m:r>
                        <a:rPr sz="1600" b="0" i="0">
                          <a:solidFill>
                            <a:srgbClr val="1E293B"/>
                          </a:solidFill>
                          <a:latin typeface="Cambria Math" panose="02040503050406030204"/>
                          <a:ea typeface="Cambria Math" panose="02040503050406030204"/>
                        </a:rPr>
                        <m:t>8</m:t>
                      </m:r>
                      <m:r>
                        <a:rPr sz="1600" b="0" i="0">
                          <a:solidFill>
                            <a:srgbClr val="1E293B"/>
                          </a:solidFill>
                          <a:latin typeface="Cambria Math" panose="02040503050406030204"/>
                          <a:ea typeface="Cambria Math" panose="02040503050406030204"/>
                        </a:rPr>
                        <m:t>=</m:t>
                      </m:r>
                      <m:r>
                        <a:rPr sz="1600" b="0" i="0">
                          <a:solidFill>
                            <a:srgbClr val="1E293B"/>
                          </a:solidFill>
                          <a:latin typeface="Cambria Math" panose="02040503050406030204"/>
                          <a:ea typeface="Cambria Math" panose="02040503050406030204"/>
                        </a:rPr>
                        <m:t>3</m:t>
                      </m:r>
                    </m:oMath>
                  </m:oMathPara>
                </a14:m>
                <a:endParaRPr sz="1600"/>
              </a:p>
            </p:txBody>
          </p:sp>
        </mc:Choice>
        <mc:Fallback>
          <p:sp>
            <p:nvSpPr>
              <p:cNvPr id="15" name="eq_c_1_0" descr="LaTeX: p=\log_2 8=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33875" y="2981325"/>
                <a:ext cx="6810375" cy="419100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  <a:ln w="0"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6" name="eq_c_1_1" descr="LaTeX: f(n)=n^{3+1/2}=\Omega(n^{p+1/2})"/>
              <p:cNvSpPr>
                <a:spLocks noGrp="1"/>
              </p:cNvSpPr>
              <p:nvPr/>
            </p:nvSpPr>
            <p:spPr>
              <a:xfrm>
                <a:off x="4333875" y="3400425"/>
                <a:ext cx="6810375" cy="419100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lIns="0" tIns="0" rIns="0" bIns="0" anchor="t"/>
              <a:lstStyle>
                <a:defPPr>
                  <a:defRPr sz="1600" b="0">
                    <a:solidFill>
                      <a:srgbClr val="1E293B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defRPr>
                </a:defPPr>
                <a:lvl1pPr>
                  <a:defRPr sz="1600" b="0">
                    <a:solidFill>
                      <a:srgbClr val="1E293B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defRPr>
                </a:lvl1pPr>
                <a:lvl2pPr>
                  <a:defRPr sz="1600" b="0">
                    <a:solidFill>
                      <a:srgbClr val="1E293B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defRPr>
                </a:lvl2pPr>
                <a:lvl3pPr>
                  <a:defRPr sz="1600" b="0">
                    <a:solidFill>
                      <a:srgbClr val="1E293B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defRPr>
                </a:lvl3pPr>
                <a:lvl4pPr>
                  <a:defRPr sz="1600" b="0">
                    <a:solidFill>
                      <a:srgbClr val="1E293B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defRPr>
                </a:lvl4pPr>
                <a:lvl5pPr>
                  <a:defRPr sz="1600" b="0">
                    <a:solidFill>
                      <a:srgbClr val="1E293B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defRPr>
                </a:lvl5pPr>
                <a:lvl6pPr>
                  <a:defRPr sz="1600" b="0">
                    <a:solidFill>
                      <a:srgbClr val="1E293B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defRPr>
                </a:lvl6pPr>
                <a:lvl7pPr>
                  <a:defRPr sz="1600" b="0">
                    <a:solidFill>
                      <a:srgbClr val="1E293B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defRPr>
                </a:lvl7pPr>
                <a:lvl8pPr>
                  <a:defRPr sz="1600" b="0">
                    <a:solidFill>
                      <a:srgbClr val="1E293B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defRPr>
                </a:lvl8pPr>
                <a:lvl9pPr>
                  <a:defRPr sz="1600" b="0">
                    <a:solidFill>
                      <a:srgbClr val="1E293B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defRPr>
                </a:lvl9pPr>
              </a:lstStyle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sz="1600" b="0" i="1">
                          <a:solidFill>
                            <a:srgbClr val="1E293B"/>
                          </a:solidFill>
                          <a:latin typeface="Cambria Math" panose="02040503050406030204"/>
                          <a:ea typeface="Cambria Math" panose="02040503050406030204"/>
                        </a:rPr>
                        <m:t>𝑓</m:t>
                      </m:r>
                      <m:d>
                        <m:dPr>
                          <m:ctrlPr>
                            <a:rPr sz="1600" b="0">
                              <a:solidFill>
                                <a:srgbClr val="1E293B"/>
                              </a:solidFill>
                              <a:latin typeface="Cambria Math" panose="02040503050406030204"/>
                              <a:ea typeface="微软雅黑" panose="020B0503020204020204" charset="-122"/>
                            </a:rPr>
                          </m:ctrlPr>
                        </m:dPr>
                        <m:e>
                          <m:r>
                            <a:rPr sz="1600" b="0" i="1">
                              <a:solidFill>
                                <a:srgbClr val="1E293B"/>
                              </a:solidFill>
                              <a:latin typeface="Cambria Math" panose="02040503050406030204"/>
                              <a:ea typeface="Cambria Math" panose="02040503050406030204"/>
                            </a:rPr>
                            <m:t>𝑛</m:t>
                          </m:r>
                        </m:e>
                      </m:d>
                      <m:r>
                        <a:rPr sz="1600" b="0" i="0">
                          <a:solidFill>
                            <a:srgbClr val="1E293B"/>
                          </a:solidFill>
                          <a:latin typeface="Cambria Math" panose="02040503050406030204"/>
                          <a:ea typeface="Cambria Math" panose="02040503050406030204"/>
                        </a:rPr>
                        <m:t>=</m:t>
                      </m:r>
                      <m:sSup>
                        <m:sSupPr>
                          <m:ctrlPr>
                            <a:rPr sz="1600" b="0">
                              <a:solidFill>
                                <a:srgbClr val="1E293B"/>
                              </a:solidFill>
                              <a:latin typeface="Cambria Math" panose="02040503050406030204"/>
                              <a:ea typeface="微软雅黑" panose="020B0503020204020204" charset="-122"/>
                            </a:rPr>
                          </m:ctrlPr>
                        </m:sSupPr>
                        <m:e>
                          <m:r>
                            <a:rPr sz="1600" b="0" i="1">
                              <a:solidFill>
                                <a:srgbClr val="1E293B"/>
                              </a:solidFill>
                              <a:latin typeface="Cambria Math" panose="02040503050406030204"/>
                              <a:ea typeface="Cambria Math" panose="02040503050406030204"/>
                            </a:rPr>
                            <m:t>𝑛</m:t>
                          </m:r>
                        </m:e>
                        <m:sup>
                          <m:r>
                            <a:rPr sz="1600" b="0" i="0">
                              <a:solidFill>
                                <a:srgbClr val="1E293B"/>
                              </a:solidFill>
                              <a:latin typeface="Cambria Math" panose="02040503050406030204"/>
                              <a:ea typeface="Cambria Math" panose="02040503050406030204"/>
                            </a:rPr>
                            <m:t>3</m:t>
                          </m:r>
                          <m:r>
                            <a:rPr sz="1600" b="0" i="0">
                              <a:solidFill>
                                <a:srgbClr val="1E293B"/>
                              </a:solidFill>
                              <a:latin typeface="Cambria Math" panose="02040503050406030204"/>
                              <a:ea typeface="Cambria Math" panose="02040503050406030204"/>
                            </a:rPr>
                            <m:t>+</m:t>
                          </m:r>
                          <m:r>
                            <a:rPr sz="1600" b="0" i="0">
                              <a:solidFill>
                                <a:srgbClr val="1E293B"/>
                              </a:solidFill>
                              <a:latin typeface="Cambria Math" panose="02040503050406030204"/>
                              <a:ea typeface="Cambria Math" panose="02040503050406030204"/>
                            </a:rPr>
                            <m:t>1</m:t>
                          </m:r>
                          <m:r>
                            <a:rPr sz="1600" b="0" i="0">
                              <a:solidFill>
                                <a:srgbClr val="1E293B"/>
                              </a:solidFill>
                              <a:latin typeface="Cambria Math" panose="02040503050406030204"/>
                              <a:ea typeface="Cambria Math" panose="02040503050406030204"/>
                            </a:rPr>
                            <m:t>/</m:t>
                          </m:r>
                          <m:r>
                            <a:rPr sz="1600" b="0" i="0">
                              <a:solidFill>
                                <a:srgbClr val="1E293B"/>
                              </a:solidFill>
                              <a:latin typeface="Cambria Math" panose="02040503050406030204"/>
                              <a:ea typeface="Cambria Math" panose="02040503050406030204"/>
                            </a:rPr>
                            <m:t>2</m:t>
                          </m:r>
                        </m:sup>
                      </m:sSup>
                      <m:r>
                        <a:rPr sz="1600" b="0" i="0">
                          <a:solidFill>
                            <a:srgbClr val="1E293B"/>
                          </a:solidFill>
                          <a:latin typeface="Cambria Math" panose="02040503050406030204"/>
                          <a:ea typeface="Cambria Math" panose="02040503050406030204"/>
                        </a:rPr>
                        <m:t>=</m:t>
                      </m:r>
                      <m:r>
                        <m:rPr>
                          <m:sty m:val="p"/>
                        </m:rPr>
                        <a:rPr sz="1600" b="0" i="0">
                          <a:solidFill>
                            <a:srgbClr val="1E293B"/>
                          </a:solidFill>
                          <a:latin typeface="Cambria Math" panose="02040503050406030204"/>
                          <a:ea typeface="Cambria Math" panose="02040503050406030204"/>
                        </a:rPr>
                        <m:t>Ω</m:t>
                      </m:r>
                      <m:d>
                        <m:dPr>
                          <m:ctrlPr>
                            <a:rPr sz="1600" b="0">
                              <a:solidFill>
                                <a:srgbClr val="1E293B"/>
                              </a:solidFill>
                              <a:latin typeface="Cambria Math" panose="02040503050406030204"/>
                              <a:ea typeface="微软雅黑" panose="020B0503020204020204" charset="-122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sz="1600" b="0">
                                  <a:solidFill>
                                    <a:srgbClr val="1E293B"/>
                                  </a:solidFill>
                                  <a:latin typeface="Cambria Math" panose="02040503050406030204"/>
                                  <a:ea typeface="微软雅黑" panose="020B0503020204020204" charset="-122"/>
                                </a:rPr>
                              </m:ctrlPr>
                            </m:sSupPr>
                            <m:e>
                              <m:r>
                                <a:rPr sz="1600" b="0" i="1">
                                  <a:solidFill>
                                    <a:srgbClr val="1E293B"/>
                                  </a:solidFill>
                                  <a:latin typeface="Cambria Math" panose="02040503050406030204"/>
                                  <a:ea typeface="Cambria Math" panose="02040503050406030204"/>
                                </a:rPr>
                                <m:t>𝑛</m:t>
                              </m:r>
                            </m:e>
                            <m:sup>
                              <m:r>
                                <a:rPr sz="1600" b="0" i="1">
                                  <a:solidFill>
                                    <a:srgbClr val="1E293B"/>
                                  </a:solidFill>
                                  <a:latin typeface="Cambria Math" panose="02040503050406030204"/>
                                  <a:ea typeface="Cambria Math" panose="02040503050406030204"/>
                                </a:rPr>
                                <m:t>𝑝</m:t>
                              </m:r>
                              <m:r>
                                <a:rPr sz="1600" b="0" i="0">
                                  <a:solidFill>
                                    <a:srgbClr val="1E293B"/>
                                  </a:solidFill>
                                  <a:latin typeface="Cambria Math" panose="02040503050406030204"/>
                                  <a:ea typeface="Cambria Math" panose="02040503050406030204"/>
                                </a:rPr>
                                <m:t>+</m:t>
                              </m:r>
                              <m:r>
                                <a:rPr sz="1600" b="0" i="0">
                                  <a:solidFill>
                                    <a:srgbClr val="1E293B"/>
                                  </a:solidFill>
                                  <a:latin typeface="Cambria Math" panose="02040503050406030204"/>
                                  <a:ea typeface="Cambria Math" panose="02040503050406030204"/>
                                </a:rPr>
                                <m:t>1</m:t>
                              </m:r>
                              <m:r>
                                <a:rPr sz="1600" b="0" i="0">
                                  <a:solidFill>
                                    <a:srgbClr val="1E293B"/>
                                  </a:solidFill>
                                  <a:latin typeface="Cambria Math" panose="02040503050406030204"/>
                                  <a:ea typeface="Cambria Math" panose="02040503050406030204"/>
                                </a:rPr>
                                <m:t>/</m:t>
                              </m:r>
                              <m:r>
                                <a:rPr sz="1600" b="0" i="0">
                                  <a:solidFill>
                                    <a:srgbClr val="1E293B"/>
                                  </a:solidFill>
                                  <a:latin typeface="Cambria Math" panose="02040503050406030204"/>
                                  <a:ea typeface="Cambria Math" panose="02040503050406030204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sz="1600"/>
              </a:p>
            </p:txBody>
          </p:sp>
        </mc:Choice>
        <mc:Fallback>
          <p:sp>
            <p:nvSpPr>
              <p:cNvPr id="16" name="eq_c_1_1" descr="LaTeX: f(n)=n^{3+1/2}=\Omega(n^{p+1/2})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33875" y="3400425"/>
                <a:ext cx="6810375" cy="419100"/>
              </a:xfrm>
              <a:prstGeom prst="rect">
                <a:avLst/>
              </a:prstGeom>
              <a:blipFill rotWithShape="1">
                <a:blip r:embed="rId4"/>
                <a:stretch>
                  <a:fillRect/>
                </a:stretch>
              </a:blipFill>
              <a:ln w="0"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step_c_2"/>
          <p:cNvSpPr>
            <a:spLocks noGrp="1"/>
          </p:cNvSpPr>
          <p:nvPr/>
        </p:nvSpPr>
        <p:spPr>
          <a:xfrm>
            <a:off x="952500" y="3857625"/>
            <a:ext cx="3048000" cy="2762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>
              <a:defRPr sz="1600" b="1">
                <a:solidFill>
                  <a:srgbClr val="1725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>
              <a:defRPr sz="1600" b="1">
                <a:solidFill>
                  <a:srgbClr val="1725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>
              <a:defRPr sz="1600" b="1">
                <a:solidFill>
                  <a:srgbClr val="1725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>
              <a:defRPr sz="1600" b="1">
                <a:solidFill>
                  <a:srgbClr val="1725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>
              <a:defRPr sz="1600" b="1">
                <a:solidFill>
                  <a:srgbClr val="1725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>
              <a:defRPr sz="1600" b="1">
                <a:solidFill>
                  <a:srgbClr val="1725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>
              <a:defRPr sz="1600" b="1">
                <a:solidFill>
                  <a:srgbClr val="1725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>
              <a:defRPr sz="1600" b="1">
                <a:solidFill>
                  <a:srgbClr val="1725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>
              <a:defRPr sz="1600" b="1">
                <a:solidFill>
                  <a:srgbClr val="1725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>
              <a:defRPr sz="1600" b="1">
                <a:solidFill>
                  <a:srgbClr val="1725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>
              <a:defRPr sz="1600" b="1">
                <a:solidFill>
                  <a:srgbClr val="1725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00" b="1">
                <a:solidFill>
                  <a:srgbClr val="1725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  验证正则条件</a:t>
            </a:r>
            <a:endParaRPr sz="1600" b="1">
              <a:solidFill>
                <a:srgbClr val="17255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note_c_2"/>
          <p:cNvSpPr>
            <a:spLocks noGrp="1"/>
          </p:cNvSpPr>
          <p:nvPr/>
        </p:nvSpPr>
        <p:spPr>
          <a:xfrm>
            <a:off x="952500" y="4162425"/>
            <a:ext cx="3086100" cy="5238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>
              <a:defRPr sz="1300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>
              <a:defRPr sz="1300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>
              <a:defRPr sz="1300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>
              <a:defRPr sz="1300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>
              <a:defRPr sz="1300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>
              <a:defRPr sz="1300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>
              <a:defRPr sz="1300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>
              <a:defRPr sz="1300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>
              <a:defRPr sz="1300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>
              <a:defRPr sz="1300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>
              <a:defRPr sz="1300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00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子问题额外工作总和是当前工作量的固定比例。</a:t>
            </a:r>
            <a:endParaRPr sz="1300" b="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9" name="eq_c_2_0" descr="LaTeX: 8f(\frac{n}{2})=8(\frac{n}{2})^{7/2}"/>
              <p:cNvSpPr>
                <a:spLocks noGrp="1"/>
              </p:cNvSpPr>
              <p:nvPr/>
            </p:nvSpPr>
            <p:spPr>
              <a:xfrm>
                <a:off x="4333875" y="3838575"/>
                <a:ext cx="6810375" cy="419100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lIns="0" tIns="0" rIns="0" bIns="0" anchor="t"/>
              <a:lstStyle>
                <a:defPPr>
                  <a:defRPr sz="1600" b="0">
                    <a:solidFill>
                      <a:srgbClr val="1E293B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defRPr>
                </a:defPPr>
                <a:lvl1pPr>
                  <a:defRPr sz="1600" b="0">
                    <a:solidFill>
                      <a:srgbClr val="1E293B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defRPr>
                </a:lvl1pPr>
                <a:lvl2pPr>
                  <a:defRPr sz="1600" b="0">
                    <a:solidFill>
                      <a:srgbClr val="1E293B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defRPr>
                </a:lvl2pPr>
                <a:lvl3pPr>
                  <a:defRPr sz="1600" b="0">
                    <a:solidFill>
                      <a:srgbClr val="1E293B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defRPr>
                </a:lvl3pPr>
                <a:lvl4pPr>
                  <a:defRPr sz="1600" b="0">
                    <a:solidFill>
                      <a:srgbClr val="1E293B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defRPr>
                </a:lvl4pPr>
                <a:lvl5pPr>
                  <a:defRPr sz="1600" b="0">
                    <a:solidFill>
                      <a:srgbClr val="1E293B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defRPr>
                </a:lvl5pPr>
                <a:lvl6pPr>
                  <a:defRPr sz="1600" b="0">
                    <a:solidFill>
                      <a:srgbClr val="1E293B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defRPr>
                </a:lvl6pPr>
                <a:lvl7pPr>
                  <a:defRPr sz="1600" b="0">
                    <a:solidFill>
                      <a:srgbClr val="1E293B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defRPr>
                </a:lvl7pPr>
                <a:lvl8pPr>
                  <a:defRPr sz="1600" b="0">
                    <a:solidFill>
                      <a:srgbClr val="1E293B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defRPr>
                </a:lvl8pPr>
                <a:lvl9pPr>
                  <a:defRPr sz="1600" b="0">
                    <a:solidFill>
                      <a:srgbClr val="1E293B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defRPr>
                </a:lvl9pPr>
              </a:lstStyle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sz="1600" b="0" i="0">
                          <a:solidFill>
                            <a:srgbClr val="1E293B"/>
                          </a:solidFill>
                          <a:latin typeface="Cambria Math" panose="02040503050406030204"/>
                          <a:ea typeface="Cambria Math" panose="02040503050406030204"/>
                        </a:rPr>
                        <m:t>8</m:t>
                      </m:r>
                      <m:r>
                        <a:rPr sz="1600" b="0" i="1">
                          <a:solidFill>
                            <a:srgbClr val="1E293B"/>
                          </a:solidFill>
                          <a:latin typeface="Cambria Math" panose="02040503050406030204"/>
                          <a:ea typeface="Cambria Math" panose="02040503050406030204"/>
                        </a:rPr>
                        <m:t>𝑓</m:t>
                      </m:r>
                      <m:d>
                        <m:dPr>
                          <m:ctrlPr>
                            <a:rPr sz="1600" b="0">
                              <a:solidFill>
                                <a:srgbClr val="1E293B"/>
                              </a:solidFill>
                              <a:latin typeface="Cambria Math" panose="02040503050406030204"/>
                              <a:ea typeface="微软雅黑" panose="020B0503020204020204" charset="-122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sz="1600" b="0">
                                  <a:solidFill>
                                    <a:srgbClr val="1E293B"/>
                                  </a:solidFill>
                                  <a:latin typeface="Cambria Math" panose="02040503050406030204"/>
                                  <a:ea typeface="微软雅黑" panose="020B0503020204020204" charset="-122"/>
                                </a:rPr>
                              </m:ctrlPr>
                            </m:fPr>
                            <m:num>
                              <m:r>
                                <a:rPr sz="1600" b="0" i="1">
                                  <a:solidFill>
                                    <a:srgbClr val="1E293B"/>
                                  </a:solidFill>
                                  <a:latin typeface="Cambria Math" panose="02040503050406030204"/>
                                  <a:ea typeface="Cambria Math" panose="02040503050406030204"/>
                                </a:rPr>
                                <m:t>𝑛</m:t>
                              </m:r>
                            </m:num>
                            <m:den>
                              <m:r>
                                <a:rPr sz="1600" b="0" i="0">
                                  <a:solidFill>
                                    <a:srgbClr val="1E293B"/>
                                  </a:solidFill>
                                  <a:latin typeface="Cambria Math" panose="02040503050406030204"/>
                                  <a:ea typeface="Cambria Math" panose="02040503050406030204"/>
                                </a:rPr>
                                <m:t>2</m:t>
                              </m:r>
                            </m:den>
                          </m:f>
                        </m:e>
                      </m:d>
                      <m:r>
                        <a:rPr sz="1600" b="0" i="0">
                          <a:solidFill>
                            <a:srgbClr val="1E293B"/>
                          </a:solidFill>
                          <a:latin typeface="Cambria Math" panose="02040503050406030204"/>
                          <a:ea typeface="Cambria Math" panose="02040503050406030204"/>
                        </a:rPr>
                        <m:t>=</m:t>
                      </m:r>
                      <m:r>
                        <a:rPr sz="1600" b="0" i="0">
                          <a:solidFill>
                            <a:srgbClr val="1E293B"/>
                          </a:solidFill>
                          <a:latin typeface="Cambria Math" panose="02040503050406030204"/>
                          <a:ea typeface="Cambria Math" panose="02040503050406030204"/>
                        </a:rPr>
                        <m:t>8</m:t>
                      </m:r>
                      <m:sSup>
                        <m:sSupPr>
                          <m:ctrlPr>
                            <a:rPr sz="1600" b="0">
                              <a:solidFill>
                                <a:srgbClr val="1E293B"/>
                              </a:solidFill>
                              <a:latin typeface="Cambria Math" panose="02040503050406030204"/>
                              <a:ea typeface="微软雅黑" panose="020B0503020204020204" charset="-122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sz="1600" b="0">
                                  <a:solidFill>
                                    <a:srgbClr val="1E293B"/>
                                  </a:solidFill>
                                  <a:latin typeface="Cambria Math" panose="02040503050406030204"/>
                                  <a:ea typeface="微软雅黑" panose="020B0503020204020204" charset="-122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sz="1600" b="0">
                                      <a:solidFill>
                                        <a:srgbClr val="1E293B"/>
                                      </a:solidFill>
                                      <a:latin typeface="Cambria Math" panose="02040503050406030204"/>
                                      <a:ea typeface="微软雅黑" panose="020B0503020204020204" charset="-122"/>
                                    </a:rPr>
                                  </m:ctrlPr>
                                </m:fPr>
                                <m:num>
                                  <m:r>
                                    <a:rPr sz="1600" b="0" i="1">
                                      <a:solidFill>
                                        <a:srgbClr val="1E293B"/>
                                      </a:solidFill>
                                      <a:latin typeface="Cambria Math" panose="02040503050406030204"/>
                                      <a:ea typeface="Cambria Math" panose="02040503050406030204"/>
                                    </a:rPr>
                                    <m:t>𝑛</m:t>
                                  </m:r>
                                </m:num>
                                <m:den>
                                  <m:r>
                                    <a:rPr sz="1600" b="0" i="0">
                                      <a:solidFill>
                                        <a:srgbClr val="1E293B"/>
                                      </a:solidFill>
                                      <a:latin typeface="Cambria Math" panose="02040503050406030204"/>
                                      <a:ea typeface="Cambria Math" panose="02040503050406030204"/>
                                    </a:rPr>
                                    <m:t>2</m:t>
                                  </m:r>
                                </m:den>
                              </m:f>
                            </m:e>
                          </m:d>
                        </m:e>
                        <m:sup>
                          <m:r>
                            <a:rPr sz="1600" b="0" i="0">
                              <a:solidFill>
                                <a:srgbClr val="1E293B"/>
                              </a:solidFill>
                              <a:latin typeface="Cambria Math" panose="02040503050406030204"/>
                              <a:ea typeface="Cambria Math" panose="02040503050406030204"/>
                            </a:rPr>
                            <m:t>7</m:t>
                          </m:r>
                          <m:r>
                            <a:rPr sz="1600" b="0" i="0">
                              <a:solidFill>
                                <a:srgbClr val="1E293B"/>
                              </a:solidFill>
                              <a:latin typeface="Cambria Math" panose="02040503050406030204"/>
                              <a:ea typeface="Cambria Math" panose="02040503050406030204"/>
                            </a:rPr>
                            <m:t>/</m:t>
                          </m:r>
                          <m:r>
                            <a:rPr sz="1600" b="0" i="0">
                              <a:solidFill>
                                <a:srgbClr val="1E293B"/>
                              </a:solidFill>
                              <a:latin typeface="Cambria Math" panose="02040503050406030204"/>
                              <a:ea typeface="Cambria Math" panose="02040503050406030204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sz="1600"/>
              </a:p>
            </p:txBody>
          </p:sp>
        </mc:Choice>
        <mc:Fallback>
          <p:sp>
            <p:nvSpPr>
              <p:cNvPr id="19" name="eq_c_2_0" descr="LaTeX: 8f(\frac{n}{2})=8(\frac{n}{2})^{7/2}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33875" y="3838575"/>
                <a:ext cx="6810375" cy="419100"/>
              </a:xfrm>
              <a:prstGeom prst="rect">
                <a:avLst/>
              </a:prstGeom>
              <a:blipFill rotWithShape="1">
                <a:blip r:embed="rId5"/>
                <a:stretch>
                  <a:fillRect b="-11667"/>
                </a:stretch>
              </a:blipFill>
              <a:ln w="0"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0" name="eq_c_2_1" descr="LaTeX: 8f(\frac{n}{2})=\frac{f(n)}{\sqrt2},\quad\frac{1}{\sqrt2}&lt;1"/>
              <p:cNvSpPr>
                <a:spLocks noGrp="1"/>
              </p:cNvSpPr>
              <p:nvPr/>
            </p:nvSpPr>
            <p:spPr>
              <a:xfrm>
                <a:off x="4333875" y="4257675"/>
                <a:ext cx="6810375" cy="419100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lIns="0" tIns="0" rIns="0" bIns="0" anchor="t"/>
              <a:lstStyle>
                <a:defPPr>
                  <a:defRPr sz="1600" b="0">
                    <a:solidFill>
                      <a:srgbClr val="1E293B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defRPr>
                </a:defPPr>
                <a:lvl1pPr>
                  <a:defRPr sz="1600" b="0">
                    <a:solidFill>
                      <a:srgbClr val="1E293B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defRPr>
                </a:lvl1pPr>
                <a:lvl2pPr>
                  <a:defRPr sz="1600" b="0">
                    <a:solidFill>
                      <a:srgbClr val="1E293B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defRPr>
                </a:lvl2pPr>
                <a:lvl3pPr>
                  <a:defRPr sz="1600" b="0">
                    <a:solidFill>
                      <a:srgbClr val="1E293B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defRPr>
                </a:lvl3pPr>
                <a:lvl4pPr>
                  <a:defRPr sz="1600" b="0">
                    <a:solidFill>
                      <a:srgbClr val="1E293B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defRPr>
                </a:lvl4pPr>
                <a:lvl5pPr>
                  <a:defRPr sz="1600" b="0">
                    <a:solidFill>
                      <a:srgbClr val="1E293B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defRPr>
                </a:lvl5pPr>
                <a:lvl6pPr>
                  <a:defRPr sz="1600" b="0">
                    <a:solidFill>
                      <a:srgbClr val="1E293B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defRPr>
                </a:lvl6pPr>
                <a:lvl7pPr>
                  <a:defRPr sz="1600" b="0">
                    <a:solidFill>
                      <a:srgbClr val="1E293B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defRPr>
                </a:lvl7pPr>
                <a:lvl8pPr>
                  <a:defRPr sz="1600" b="0">
                    <a:solidFill>
                      <a:srgbClr val="1E293B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defRPr>
                </a:lvl8pPr>
                <a:lvl9pPr>
                  <a:defRPr sz="1600" b="0">
                    <a:solidFill>
                      <a:srgbClr val="1E293B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defRPr>
                </a:lvl9pPr>
              </a:lstStyle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sz="1600" b="0" i="0">
                          <a:solidFill>
                            <a:srgbClr val="1E293B"/>
                          </a:solidFill>
                          <a:latin typeface="Cambria Math" panose="02040503050406030204"/>
                          <a:ea typeface="Cambria Math" panose="02040503050406030204"/>
                        </a:rPr>
                        <m:t>8</m:t>
                      </m:r>
                      <m:r>
                        <a:rPr sz="1600" b="0" i="1">
                          <a:solidFill>
                            <a:srgbClr val="1E293B"/>
                          </a:solidFill>
                          <a:latin typeface="Cambria Math" panose="02040503050406030204"/>
                          <a:ea typeface="Cambria Math" panose="02040503050406030204"/>
                        </a:rPr>
                        <m:t>𝑓</m:t>
                      </m:r>
                      <m:d>
                        <m:dPr>
                          <m:ctrlPr>
                            <a:rPr sz="1600" b="0">
                              <a:solidFill>
                                <a:srgbClr val="1E293B"/>
                              </a:solidFill>
                              <a:latin typeface="Cambria Math" panose="02040503050406030204"/>
                              <a:ea typeface="微软雅黑" panose="020B0503020204020204" charset="-122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sz="1600" b="0">
                                  <a:solidFill>
                                    <a:srgbClr val="1E293B"/>
                                  </a:solidFill>
                                  <a:latin typeface="Cambria Math" panose="02040503050406030204"/>
                                  <a:ea typeface="微软雅黑" panose="020B0503020204020204" charset="-122"/>
                                </a:rPr>
                              </m:ctrlPr>
                            </m:fPr>
                            <m:num>
                              <m:r>
                                <a:rPr sz="1600" b="0" i="1">
                                  <a:solidFill>
                                    <a:srgbClr val="1E293B"/>
                                  </a:solidFill>
                                  <a:latin typeface="Cambria Math" panose="02040503050406030204"/>
                                  <a:ea typeface="Cambria Math" panose="02040503050406030204"/>
                                </a:rPr>
                                <m:t>𝑛</m:t>
                              </m:r>
                            </m:num>
                            <m:den>
                              <m:r>
                                <a:rPr sz="1600" b="0" i="0">
                                  <a:solidFill>
                                    <a:srgbClr val="1E293B"/>
                                  </a:solidFill>
                                  <a:latin typeface="Cambria Math" panose="02040503050406030204"/>
                                  <a:ea typeface="Cambria Math" panose="02040503050406030204"/>
                                </a:rPr>
                                <m:t>2</m:t>
                              </m:r>
                            </m:den>
                          </m:f>
                        </m:e>
                      </m:d>
                      <m:r>
                        <a:rPr sz="1600" b="0" i="0">
                          <a:solidFill>
                            <a:srgbClr val="1E293B"/>
                          </a:solidFill>
                          <a:latin typeface="Cambria Math" panose="02040503050406030204"/>
                          <a:ea typeface="Cambria Math" panose="02040503050406030204"/>
                        </a:rPr>
                        <m:t>=</m:t>
                      </m:r>
                      <m:f>
                        <m:fPr>
                          <m:ctrlPr>
                            <a:rPr sz="1600" b="0">
                              <a:solidFill>
                                <a:srgbClr val="1E293B"/>
                              </a:solidFill>
                              <a:latin typeface="Cambria Math" panose="02040503050406030204"/>
                              <a:ea typeface="微软雅黑" panose="020B0503020204020204" charset="-122"/>
                            </a:rPr>
                          </m:ctrlPr>
                        </m:fPr>
                        <m:num>
                          <m:r>
                            <a:rPr sz="1600" b="0" i="1">
                              <a:solidFill>
                                <a:srgbClr val="1E293B"/>
                              </a:solidFill>
                              <a:latin typeface="Cambria Math" panose="02040503050406030204"/>
                              <a:ea typeface="Cambria Math" panose="02040503050406030204"/>
                            </a:rPr>
                            <m:t>𝑓</m:t>
                          </m:r>
                          <m:d>
                            <m:dPr>
                              <m:ctrlPr>
                                <a:rPr sz="1600" b="0">
                                  <a:solidFill>
                                    <a:srgbClr val="1E293B"/>
                                  </a:solidFill>
                                  <a:latin typeface="Cambria Math" panose="02040503050406030204"/>
                                  <a:ea typeface="微软雅黑" panose="020B0503020204020204" charset="-122"/>
                                </a:rPr>
                              </m:ctrlPr>
                            </m:dPr>
                            <m:e>
                              <m:r>
                                <a:rPr sz="1600" b="0" i="1">
                                  <a:solidFill>
                                    <a:srgbClr val="1E293B"/>
                                  </a:solidFill>
                                  <a:latin typeface="Cambria Math" panose="02040503050406030204"/>
                                  <a:ea typeface="Cambria Math" panose="02040503050406030204"/>
                                </a:rPr>
                                <m:t>𝑛</m:t>
                              </m:r>
                            </m:e>
                          </m:d>
                        </m:num>
                        <m:den>
                          <m:rad>
                            <m:radPr>
                              <m:degHide m:val="on"/>
                              <m:ctrlPr>
                                <a:rPr sz="1600" b="0">
                                  <a:solidFill>
                                    <a:srgbClr val="1E293B"/>
                                  </a:solidFill>
                                  <a:latin typeface="Cambria Math" panose="02040503050406030204"/>
                                  <a:ea typeface="微软雅黑" panose="020B0503020204020204" charset="-122"/>
                                </a:rPr>
                              </m:ctrlPr>
                            </m:radPr>
                            <m:deg/>
                            <m:e>
                              <m:r>
                                <a:rPr sz="1600" b="0" i="0">
                                  <a:solidFill>
                                    <a:srgbClr val="1E293B"/>
                                  </a:solidFill>
                                  <a:latin typeface="Cambria Math" panose="02040503050406030204"/>
                                  <a:ea typeface="Cambria Math" panose="02040503050406030204"/>
                                </a:rPr>
                                <m:t>2</m:t>
                              </m:r>
                            </m:e>
                          </m:rad>
                        </m:den>
                      </m:f>
                      <m:r>
                        <a:rPr sz="1600" b="0" i="0">
                          <a:solidFill>
                            <a:srgbClr val="1E293B"/>
                          </a:solidFill>
                          <a:latin typeface="Cambria Math" panose="02040503050406030204"/>
                          <a:ea typeface="Cambria Math" panose="02040503050406030204"/>
                        </a:rPr>
                        <m:t>,</m:t>
                      </m:r>
                      <m:r>
                        <a:rPr sz="1600" b="0" i="0">
                          <a:solidFill>
                            <a:srgbClr val="1E293B"/>
                          </a:solidFill>
                          <a:latin typeface="Cambria Math" panose="02040503050406030204"/>
                          <a:ea typeface="Cambria Math" panose="02040503050406030204"/>
                        </a:rPr>
                        <m:t> </m:t>
                      </m:r>
                      <m:f>
                        <m:fPr>
                          <m:ctrlPr>
                            <a:rPr sz="1600" b="0">
                              <a:solidFill>
                                <a:srgbClr val="1E293B"/>
                              </a:solidFill>
                              <a:latin typeface="Cambria Math" panose="02040503050406030204"/>
                              <a:ea typeface="微软雅黑" panose="020B0503020204020204" charset="-122"/>
                            </a:rPr>
                          </m:ctrlPr>
                        </m:fPr>
                        <m:num>
                          <m:r>
                            <a:rPr sz="1600" b="0" i="0">
                              <a:solidFill>
                                <a:srgbClr val="1E293B"/>
                              </a:solidFill>
                              <a:latin typeface="Cambria Math" panose="02040503050406030204"/>
                              <a:ea typeface="Cambria Math" panose="02040503050406030204"/>
                            </a:rPr>
                            <m:t>1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sz="1600" b="0">
                                  <a:solidFill>
                                    <a:srgbClr val="1E293B"/>
                                  </a:solidFill>
                                  <a:latin typeface="Cambria Math" panose="02040503050406030204"/>
                                  <a:ea typeface="微软雅黑" panose="020B0503020204020204" charset="-122"/>
                                </a:rPr>
                              </m:ctrlPr>
                            </m:radPr>
                            <m:deg/>
                            <m:e>
                              <m:r>
                                <a:rPr sz="1600" b="0" i="0">
                                  <a:solidFill>
                                    <a:srgbClr val="1E293B"/>
                                  </a:solidFill>
                                  <a:latin typeface="Cambria Math" panose="02040503050406030204"/>
                                  <a:ea typeface="Cambria Math" panose="02040503050406030204"/>
                                </a:rPr>
                                <m:t>2</m:t>
                              </m:r>
                            </m:e>
                          </m:rad>
                        </m:den>
                      </m:f>
                      <m:r>
                        <a:rPr sz="1600" b="0" i="0">
                          <a:solidFill>
                            <a:srgbClr val="1E293B"/>
                          </a:solidFill>
                          <a:latin typeface="Cambria Math" panose="02040503050406030204"/>
                          <a:ea typeface="Cambria Math" panose="02040503050406030204"/>
                        </a:rPr>
                        <m:t>&lt;</m:t>
                      </m:r>
                      <m:r>
                        <a:rPr sz="1600" b="0" i="0">
                          <a:solidFill>
                            <a:srgbClr val="1E293B"/>
                          </a:solidFill>
                          <a:latin typeface="Cambria Math" panose="02040503050406030204"/>
                          <a:ea typeface="Cambria Math" panose="02040503050406030204"/>
                        </a:rPr>
                        <m:t>1</m:t>
                      </m:r>
                    </m:oMath>
                  </m:oMathPara>
                </a14:m>
                <a:endParaRPr sz="1600"/>
              </a:p>
            </p:txBody>
          </p:sp>
        </mc:Choice>
        <mc:Fallback>
          <p:sp>
            <p:nvSpPr>
              <p:cNvPr id="20" name="eq_c_2_1" descr="LaTeX: 8f(\frac{n}{2})=\frac{f(n)}{\sqrt2},\quad\frac{1}{\sqrt2}&lt;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33875" y="4257675"/>
                <a:ext cx="6810375" cy="419100"/>
              </a:xfrm>
              <a:prstGeom prst="rect">
                <a:avLst/>
              </a:prstGeom>
              <a:blipFill rotWithShape="1">
                <a:blip r:embed="rId6"/>
                <a:stretch>
                  <a:fillRect b="-22576"/>
                </a:stretch>
              </a:blipFill>
              <a:ln w="0"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step_c_3"/>
          <p:cNvSpPr>
            <a:spLocks noGrp="1"/>
          </p:cNvSpPr>
          <p:nvPr/>
        </p:nvSpPr>
        <p:spPr>
          <a:xfrm>
            <a:off x="952500" y="4714875"/>
            <a:ext cx="3048000" cy="2762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>
              <a:defRPr sz="1600" b="1">
                <a:solidFill>
                  <a:srgbClr val="1725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>
              <a:defRPr sz="1600" b="1">
                <a:solidFill>
                  <a:srgbClr val="1725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>
              <a:defRPr sz="1600" b="1">
                <a:solidFill>
                  <a:srgbClr val="1725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>
              <a:defRPr sz="1600" b="1">
                <a:solidFill>
                  <a:srgbClr val="1725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>
              <a:defRPr sz="1600" b="1">
                <a:solidFill>
                  <a:srgbClr val="1725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>
              <a:defRPr sz="1600" b="1">
                <a:solidFill>
                  <a:srgbClr val="1725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>
              <a:defRPr sz="1600" b="1">
                <a:solidFill>
                  <a:srgbClr val="1725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>
              <a:defRPr sz="1600" b="1">
                <a:solidFill>
                  <a:srgbClr val="1725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>
              <a:defRPr sz="1600" b="1">
                <a:solidFill>
                  <a:srgbClr val="1725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>
              <a:defRPr sz="1600" b="1">
                <a:solidFill>
                  <a:srgbClr val="1725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>
              <a:defRPr sz="1600" b="1">
                <a:solidFill>
                  <a:srgbClr val="1725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00" b="1">
                <a:solidFill>
                  <a:srgbClr val="1725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  应用主定理</a:t>
            </a:r>
            <a:endParaRPr sz="1600" b="1">
              <a:solidFill>
                <a:srgbClr val="17255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note_c_3"/>
          <p:cNvSpPr>
            <a:spLocks noGrp="1"/>
          </p:cNvSpPr>
          <p:nvPr/>
        </p:nvSpPr>
        <p:spPr>
          <a:xfrm>
            <a:off x="952500" y="5019675"/>
            <a:ext cx="3086100" cy="5238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>
              <a:defRPr sz="1300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>
              <a:defRPr sz="1300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>
              <a:defRPr sz="1300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>
              <a:defRPr sz="1300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>
              <a:defRPr sz="1300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>
              <a:defRPr sz="1300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>
              <a:defRPr sz="1300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>
              <a:defRPr sz="1300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>
              <a:defRPr sz="1300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>
              <a:defRPr sz="1300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>
              <a:defRPr sz="1300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00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情况 3 的增长条件与正则条件均满足。</a:t>
            </a:r>
            <a:endParaRPr sz="1300" b="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3" name="eq_c_3_0" descr="LaTeX: T(n)=\Theta(f(n))"/>
              <p:cNvSpPr>
                <a:spLocks noGrp="1"/>
              </p:cNvSpPr>
              <p:nvPr/>
            </p:nvSpPr>
            <p:spPr>
              <a:xfrm>
                <a:off x="4333875" y="4991100"/>
                <a:ext cx="6810375" cy="123825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lIns="0" tIns="0" rIns="0" bIns="0" anchor="t"/>
              <a:lstStyle>
                <a:defPPr>
                  <a:defRPr sz="1600" b="0">
                    <a:solidFill>
                      <a:srgbClr val="1E293B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defRPr>
                </a:defPPr>
                <a:lvl1pPr>
                  <a:defRPr sz="1600" b="0">
                    <a:solidFill>
                      <a:srgbClr val="1E293B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defRPr>
                </a:lvl1pPr>
                <a:lvl2pPr>
                  <a:defRPr sz="1600" b="0">
                    <a:solidFill>
                      <a:srgbClr val="1E293B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defRPr>
                </a:lvl2pPr>
                <a:lvl3pPr>
                  <a:defRPr sz="1600" b="0">
                    <a:solidFill>
                      <a:srgbClr val="1E293B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defRPr>
                </a:lvl3pPr>
                <a:lvl4pPr>
                  <a:defRPr sz="1600" b="0">
                    <a:solidFill>
                      <a:srgbClr val="1E293B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defRPr>
                </a:lvl4pPr>
                <a:lvl5pPr>
                  <a:defRPr sz="1600" b="0">
                    <a:solidFill>
                      <a:srgbClr val="1E293B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defRPr>
                </a:lvl5pPr>
                <a:lvl6pPr>
                  <a:defRPr sz="1600" b="0">
                    <a:solidFill>
                      <a:srgbClr val="1E293B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defRPr>
                </a:lvl6pPr>
                <a:lvl7pPr>
                  <a:defRPr sz="1600" b="0">
                    <a:solidFill>
                      <a:srgbClr val="1E293B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defRPr>
                </a:lvl7pPr>
                <a:lvl8pPr>
                  <a:defRPr sz="1600" b="0">
                    <a:solidFill>
                      <a:srgbClr val="1E293B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defRPr>
                </a:lvl8pPr>
                <a:lvl9pPr>
                  <a:defRPr sz="1600" b="0">
                    <a:solidFill>
                      <a:srgbClr val="1E293B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defRPr>
                </a:lvl9pPr>
              </a:lstStyle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sz="1600" b="0" i="1">
                          <a:solidFill>
                            <a:srgbClr val="1E293B"/>
                          </a:solidFill>
                          <a:latin typeface="Cambria Math" panose="02040503050406030204"/>
                          <a:ea typeface="Cambria Math" panose="02040503050406030204"/>
                        </a:rPr>
                        <m:t>𝑇</m:t>
                      </m:r>
                      <m:d>
                        <m:dPr>
                          <m:ctrlPr>
                            <a:rPr sz="1600" b="0">
                              <a:solidFill>
                                <a:srgbClr val="1E293B"/>
                              </a:solidFill>
                              <a:latin typeface="Cambria Math" panose="02040503050406030204"/>
                              <a:ea typeface="微软雅黑" panose="020B0503020204020204" charset="-122"/>
                            </a:rPr>
                          </m:ctrlPr>
                        </m:dPr>
                        <m:e>
                          <m:r>
                            <a:rPr sz="1600" b="0" i="1">
                              <a:solidFill>
                                <a:srgbClr val="1E293B"/>
                              </a:solidFill>
                              <a:latin typeface="Cambria Math" panose="02040503050406030204"/>
                              <a:ea typeface="Cambria Math" panose="02040503050406030204"/>
                            </a:rPr>
                            <m:t>𝑛</m:t>
                          </m:r>
                        </m:e>
                      </m:d>
                      <m:r>
                        <a:rPr sz="1600" b="0" i="0">
                          <a:solidFill>
                            <a:srgbClr val="1E293B"/>
                          </a:solidFill>
                          <a:latin typeface="Cambria Math" panose="02040503050406030204"/>
                          <a:ea typeface="Cambria Math" panose="02040503050406030204"/>
                        </a:rPr>
                        <m:t>=</m:t>
                      </m:r>
                      <m:r>
                        <m:rPr>
                          <m:sty m:val="p"/>
                        </m:rPr>
                        <a:rPr sz="1600" b="0" i="0">
                          <a:solidFill>
                            <a:srgbClr val="1E293B"/>
                          </a:solidFill>
                          <a:latin typeface="Cambria Math" panose="02040503050406030204"/>
                          <a:ea typeface="Cambria Math" panose="02040503050406030204"/>
                        </a:rPr>
                        <m:t>Θ</m:t>
                      </m:r>
                      <m:d>
                        <m:dPr>
                          <m:ctrlPr>
                            <a:rPr sz="1600" b="0">
                              <a:solidFill>
                                <a:srgbClr val="1E293B"/>
                              </a:solidFill>
                              <a:latin typeface="Cambria Math" panose="02040503050406030204"/>
                              <a:ea typeface="微软雅黑" panose="020B0503020204020204" charset="-122"/>
                            </a:rPr>
                          </m:ctrlPr>
                        </m:dPr>
                        <m:e>
                          <m:r>
                            <a:rPr sz="1600" b="0" i="1">
                              <a:solidFill>
                                <a:srgbClr val="1E293B"/>
                              </a:solidFill>
                              <a:latin typeface="Cambria Math" panose="02040503050406030204"/>
                              <a:ea typeface="Cambria Math" panose="02040503050406030204"/>
                            </a:rPr>
                            <m:t>𝑓</m:t>
                          </m:r>
                          <m:d>
                            <m:dPr>
                              <m:ctrlPr>
                                <a:rPr sz="1600" b="0">
                                  <a:solidFill>
                                    <a:srgbClr val="1E293B"/>
                                  </a:solidFill>
                                  <a:latin typeface="Cambria Math" panose="02040503050406030204"/>
                                  <a:ea typeface="微软雅黑" panose="020B0503020204020204" charset="-122"/>
                                </a:rPr>
                              </m:ctrlPr>
                            </m:dPr>
                            <m:e>
                              <m:r>
                                <a:rPr sz="1600" b="0" i="1">
                                  <a:solidFill>
                                    <a:srgbClr val="1E293B"/>
                                  </a:solidFill>
                                  <a:latin typeface="Cambria Math" panose="02040503050406030204"/>
                                  <a:ea typeface="Cambria Math" panose="02040503050406030204"/>
                                </a:rPr>
                                <m:t>𝑛</m:t>
                              </m:r>
                            </m:e>
                          </m:d>
                        </m:e>
                      </m:d>
                    </m:oMath>
                  </m:oMathPara>
                </a14:m>
                <a:endParaRPr sz="1600"/>
              </a:p>
            </p:txBody>
          </p:sp>
        </mc:Choice>
        <mc:Fallback>
          <p:sp>
            <p:nvSpPr>
              <p:cNvPr id="23" name="eq_c_3_0" descr="LaTeX: T(n)=\Theta(f(n))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33875" y="4991100"/>
                <a:ext cx="6810375" cy="123825"/>
              </a:xfrm>
              <a:prstGeom prst="rect">
                <a:avLst/>
              </a:prstGeom>
              <a:blipFill rotWithShape="1">
                <a:blip r:embed="rId7"/>
                <a:stretch>
                  <a:fillRect b="-120000"/>
                </a:stretch>
              </a:blipFill>
              <a:ln w="0"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4" name="eq_c_result" descr="LaTeX: T(n)=\Theta(n^{7/2})"/>
              <p:cNvSpPr>
                <a:spLocks noGrp="1"/>
              </p:cNvSpPr>
              <p:nvPr/>
            </p:nvSpPr>
            <p:spPr>
              <a:xfrm>
                <a:off x="4333875" y="5743575"/>
                <a:ext cx="6810375" cy="409575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lIns="0" tIns="0" rIns="0" bIns="0" anchor="t"/>
              <a:lstStyle>
                <a:defPPr>
                  <a:defRPr sz="1700" b="1">
                    <a:solidFill>
                      <a:srgbClr val="2563EB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defRPr>
                </a:defPPr>
                <a:lvl1pPr>
                  <a:defRPr sz="1700" b="1">
                    <a:solidFill>
                      <a:srgbClr val="2563EB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defRPr>
                </a:lvl1pPr>
                <a:lvl2pPr>
                  <a:defRPr sz="1700" b="1">
                    <a:solidFill>
                      <a:srgbClr val="2563EB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defRPr>
                </a:lvl2pPr>
                <a:lvl3pPr>
                  <a:defRPr sz="1700" b="1">
                    <a:solidFill>
                      <a:srgbClr val="2563EB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defRPr>
                </a:lvl3pPr>
                <a:lvl4pPr>
                  <a:defRPr sz="1700" b="1">
                    <a:solidFill>
                      <a:srgbClr val="2563EB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defRPr>
                </a:lvl4pPr>
                <a:lvl5pPr>
                  <a:defRPr sz="1700" b="1">
                    <a:solidFill>
                      <a:srgbClr val="2563EB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defRPr>
                </a:lvl5pPr>
                <a:lvl6pPr>
                  <a:defRPr sz="1700" b="1">
                    <a:solidFill>
                      <a:srgbClr val="2563EB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defRPr>
                </a:lvl6pPr>
                <a:lvl7pPr>
                  <a:defRPr sz="1700" b="1">
                    <a:solidFill>
                      <a:srgbClr val="2563EB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defRPr>
                </a:lvl7pPr>
                <a:lvl8pPr>
                  <a:defRPr sz="1700" b="1">
                    <a:solidFill>
                      <a:srgbClr val="2563EB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defRPr>
                </a:lvl8pPr>
                <a:lvl9pPr>
                  <a:defRPr sz="1700" b="1">
                    <a:solidFill>
                      <a:srgbClr val="2563EB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defRPr>
                </a:lvl9pPr>
              </a:lstStyle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sz="1700" b="1" i="1">
                          <a:solidFill>
                            <a:srgbClr val="2563EB"/>
                          </a:solidFill>
                          <a:latin typeface="Cambria Math" panose="02040503050406030204"/>
                          <a:ea typeface="Cambria Math" panose="02040503050406030204"/>
                        </a:rPr>
                        <m:t>𝑇</m:t>
                      </m:r>
                      <m:d>
                        <m:dPr>
                          <m:ctrlPr>
                            <a:rPr sz="1700" b="1">
                              <a:solidFill>
                                <a:srgbClr val="2563EB"/>
                              </a:solidFill>
                              <a:latin typeface="Cambria Math" panose="02040503050406030204"/>
                              <a:ea typeface="微软雅黑" panose="020B0503020204020204" charset="-122"/>
                            </a:rPr>
                          </m:ctrlPr>
                        </m:dPr>
                        <m:e>
                          <m:r>
                            <a:rPr sz="1700" b="1" i="1">
                              <a:solidFill>
                                <a:srgbClr val="2563EB"/>
                              </a:solidFill>
                              <a:latin typeface="Cambria Math" panose="02040503050406030204"/>
                              <a:ea typeface="Cambria Math" panose="02040503050406030204"/>
                            </a:rPr>
                            <m:t>𝑛</m:t>
                          </m:r>
                        </m:e>
                      </m:d>
                      <m:r>
                        <a:rPr sz="1700" b="1" i="0">
                          <a:solidFill>
                            <a:srgbClr val="2563EB"/>
                          </a:solidFill>
                          <a:latin typeface="Cambria Math" panose="02040503050406030204"/>
                          <a:ea typeface="Cambria Math" panose="02040503050406030204"/>
                        </a:rPr>
                        <m:t>=</m:t>
                      </m:r>
                      <m:r>
                        <m:rPr>
                          <m:sty m:val="p"/>
                        </m:rPr>
                        <a:rPr sz="1700" b="1" i="0">
                          <a:solidFill>
                            <a:srgbClr val="2563EB"/>
                          </a:solidFill>
                          <a:latin typeface="Cambria Math" panose="02040503050406030204"/>
                          <a:ea typeface="Cambria Math" panose="02040503050406030204"/>
                        </a:rPr>
                        <m:t>Θ</m:t>
                      </m:r>
                      <m:d>
                        <m:dPr>
                          <m:ctrlPr>
                            <a:rPr sz="1700" b="1">
                              <a:solidFill>
                                <a:srgbClr val="2563EB"/>
                              </a:solidFill>
                              <a:latin typeface="Cambria Math" panose="02040503050406030204"/>
                              <a:ea typeface="微软雅黑" panose="020B0503020204020204" charset="-122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sz="1700" b="1">
                                  <a:solidFill>
                                    <a:srgbClr val="2563EB"/>
                                  </a:solidFill>
                                  <a:latin typeface="Cambria Math" panose="02040503050406030204"/>
                                  <a:ea typeface="微软雅黑" panose="020B0503020204020204" charset="-122"/>
                                </a:rPr>
                              </m:ctrlPr>
                            </m:sSupPr>
                            <m:e>
                              <m:r>
                                <a:rPr sz="1700" b="1" i="1">
                                  <a:solidFill>
                                    <a:srgbClr val="2563EB"/>
                                  </a:solidFill>
                                  <a:latin typeface="Cambria Math" panose="02040503050406030204"/>
                                  <a:ea typeface="Cambria Math" panose="02040503050406030204"/>
                                </a:rPr>
                                <m:t>𝑛</m:t>
                              </m:r>
                            </m:e>
                            <m:sup>
                              <m:r>
                                <a:rPr sz="1700" b="1" i="0">
                                  <a:solidFill>
                                    <a:srgbClr val="2563EB"/>
                                  </a:solidFill>
                                  <a:latin typeface="Cambria Math" panose="02040503050406030204"/>
                                  <a:ea typeface="Cambria Math" panose="02040503050406030204"/>
                                </a:rPr>
                                <m:t>7</m:t>
                              </m:r>
                              <m:r>
                                <a:rPr sz="1700" b="1" i="0">
                                  <a:solidFill>
                                    <a:srgbClr val="2563EB"/>
                                  </a:solidFill>
                                  <a:latin typeface="Cambria Math" panose="02040503050406030204"/>
                                  <a:ea typeface="Cambria Math" panose="02040503050406030204"/>
                                </a:rPr>
                                <m:t>/</m:t>
                              </m:r>
                              <m:r>
                                <a:rPr sz="1700" b="1" i="0">
                                  <a:solidFill>
                                    <a:srgbClr val="2563EB"/>
                                  </a:solidFill>
                                  <a:latin typeface="Cambria Math" panose="02040503050406030204"/>
                                  <a:ea typeface="Cambria Math" panose="02040503050406030204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sz="1700"/>
              </a:p>
            </p:txBody>
          </p:sp>
        </mc:Choice>
        <mc:Fallback>
          <p:sp>
            <p:nvSpPr>
              <p:cNvPr id="24" name="eq_c_result" descr="LaTeX: T(n)=\Theta(n^{7/2})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33875" y="5743575"/>
                <a:ext cx="6810375" cy="409575"/>
              </a:xfrm>
              <a:prstGeom prst="rect">
                <a:avLst/>
              </a:prstGeom>
              <a:blipFill rotWithShape="1">
                <a:blip r:embed="rId8"/>
                <a:stretch>
                  <a:fillRect/>
                </a:stretch>
              </a:blipFill>
              <a:ln w="0"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" name="result_label_c"/>
          <p:cNvSpPr>
            <a:spLocks noGrp="1"/>
          </p:cNvSpPr>
          <p:nvPr/>
        </p:nvSpPr>
        <p:spPr>
          <a:xfrm>
            <a:off x="952500" y="5781675"/>
            <a:ext cx="3048000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>
              <a:defRPr sz="1600" b="1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>
              <a:defRPr sz="1600" b="1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>
              <a:defRPr sz="1600" b="1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>
              <a:defRPr sz="1600" b="1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>
              <a:defRPr sz="1600" b="1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>
              <a:defRPr sz="1600" b="1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>
              <a:defRPr sz="1600" b="1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>
              <a:defRPr sz="1600" b="1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>
              <a:defRPr sz="1600" b="1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>
              <a:defRPr sz="1600" b="1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>
              <a:defRPr sz="1600" b="1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00" b="1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紧确渐近界</a:t>
            </a:r>
            <a:endParaRPr sz="1600" b="1">
              <a:solidFill>
                <a:srgbClr val="2563E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>
            <a:spLocks noGrp="1"/>
          </p:cNvSpPr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3" name="TextBox 2"/>
          <p:cNvSpPr>
            <a:spLocks noGrp="1"/>
          </p:cNvSpPr>
          <p:nvPr/>
        </p:nvSpPr>
        <p:spPr>
          <a:xfrm>
            <a:off x="502920" y="292608"/>
            <a:ext cx="10881360" cy="512064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>
            <a:defPPr>
              <a:defRPr sz="2400"/>
            </a:defPPr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algn="l">
              <a:spcAft>
                <a:spcPts val="500"/>
              </a:spcAft>
              <a:buNone/>
            </a:pPr>
            <a:r>
              <a:rPr sz="2400" b="1" i="0">
                <a:solidFill>
                  <a:srgbClr val="1725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题目解析（d）</a:t>
            </a:r>
            <a:endParaRPr sz="2400" b="1" i="0">
              <a:solidFill>
                <a:srgbClr val="17255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TextBox 3"/>
          <p:cNvSpPr>
            <a:spLocks noGrp="1"/>
          </p:cNvSpPr>
          <p:nvPr/>
        </p:nvSpPr>
        <p:spPr>
          <a:xfrm>
            <a:off x="530352" y="804672"/>
            <a:ext cx="10972800" cy="329184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>
            <a:defPPr>
              <a:defRPr sz="1200"/>
            </a:defPPr>
            <a:lvl1pPr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algn="l">
              <a:spcAft>
                <a:spcPts val="500"/>
              </a:spcAft>
              <a:buNone/>
            </a:pPr>
            <a:r>
              <a:rPr sz="1200" b="0" i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变量代换：先消除子问题规模中的常数偏移，再用主定理</a:t>
            </a:r>
            <a:endParaRPr sz="1200" b="0" i="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TextBox 4"/>
          <p:cNvSpPr>
            <a:spLocks noGrp="1"/>
          </p:cNvSpPr>
          <p:nvPr/>
        </p:nvSpPr>
        <p:spPr>
          <a:xfrm>
            <a:off x="9555480" y="6510528"/>
            <a:ext cx="2103120" cy="18288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r">
              <a:spcAft>
                <a:spcPts val="500"/>
              </a:spcAft>
              <a:buNone/>
            </a:pPr>
            <a:r>
              <a:rPr sz="900" b="0" i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递推式与渐近分析</a:t>
            </a:r>
            <a:endParaRPr sz="900" b="0" i="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extBox 5"/>
          <p:cNvSpPr>
            <a:spLocks noGrp="1"/>
          </p:cNvSpPr>
          <p:nvPr/>
        </p:nvSpPr>
        <p:spPr>
          <a:xfrm>
            <a:off x="502920" y="6510528"/>
            <a:ext cx="1371600" cy="283464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500"/>
              </a:spcAft>
              <a:buNone/>
            </a:pPr>
            <a:r>
              <a:rPr sz="900" b="0" i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算法设计 · 09</a:t>
            </a:r>
            <a:endParaRPr sz="900" b="0" i="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Rounded Rectangle 6"/>
          <p:cNvSpPr>
            <a:spLocks noGrp="1"/>
          </p:cNvSpPr>
          <p:nvPr/>
        </p:nvSpPr>
        <p:spPr>
          <a:xfrm>
            <a:off x="640080" y="1280160"/>
            <a:ext cx="10927080" cy="49149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8" name="Rectangle 7"/>
          <p:cNvSpPr>
            <a:spLocks noGrp="1"/>
          </p:cNvSpPr>
          <p:nvPr/>
        </p:nvSpPr>
        <p:spPr>
          <a:xfrm>
            <a:off x="640080" y="1280160"/>
            <a:ext cx="73152" cy="4914900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eq_d_recurrence" descr="LaTeX: T(n)=2T(\frac{n}{2}-2)+\frac{n}{2}"/>
              <p:cNvSpPr>
                <a:spLocks noGrp="1"/>
              </p:cNvSpPr>
              <p:nvPr/>
            </p:nvSpPr>
            <p:spPr>
              <a:xfrm>
                <a:off x="952500" y="1457325"/>
                <a:ext cx="10287000" cy="552450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lIns="0" tIns="0" rIns="0" bIns="0" anchor="t"/>
              <a:lstStyle>
                <a:defPPr>
                  <a:defRPr sz="1700" b="1">
                    <a:solidFill>
                      <a:srgbClr val="2563EB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defRPr>
                </a:defPPr>
                <a:lvl1pPr>
                  <a:defRPr sz="1700" b="1">
                    <a:solidFill>
                      <a:srgbClr val="2563EB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defRPr>
                </a:lvl1pPr>
                <a:lvl2pPr>
                  <a:defRPr sz="1700" b="1">
                    <a:solidFill>
                      <a:srgbClr val="2563EB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defRPr>
                </a:lvl2pPr>
                <a:lvl3pPr>
                  <a:defRPr sz="1700" b="1">
                    <a:solidFill>
                      <a:srgbClr val="2563EB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defRPr>
                </a:lvl3pPr>
                <a:lvl4pPr>
                  <a:defRPr sz="1700" b="1">
                    <a:solidFill>
                      <a:srgbClr val="2563EB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defRPr>
                </a:lvl4pPr>
                <a:lvl5pPr>
                  <a:defRPr sz="1700" b="1">
                    <a:solidFill>
                      <a:srgbClr val="2563EB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defRPr>
                </a:lvl5pPr>
                <a:lvl6pPr>
                  <a:defRPr sz="1700" b="1">
                    <a:solidFill>
                      <a:srgbClr val="2563EB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defRPr>
                </a:lvl6pPr>
                <a:lvl7pPr>
                  <a:defRPr sz="1700" b="1">
                    <a:solidFill>
                      <a:srgbClr val="2563EB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defRPr>
                </a:lvl7pPr>
                <a:lvl8pPr>
                  <a:defRPr sz="1700" b="1">
                    <a:solidFill>
                      <a:srgbClr val="2563EB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defRPr>
                </a:lvl8pPr>
                <a:lvl9pPr>
                  <a:defRPr sz="1700" b="1">
                    <a:solidFill>
                      <a:srgbClr val="2563EB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defRPr>
                </a:lvl9pPr>
              </a:lstStyle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sz="1700" b="1" i="1">
                          <a:solidFill>
                            <a:srgbClr val="2563EB"/>
                          </a:solidFill>
                          <a:latin typeface="Cambria Math" panose="02040503050406030204"/>
                          <a:ea typeface="Cambria Math" panose="02040503050406030204"/>
                        </a:rPr>
                        <m:t>𝑇</m:t>
                      </m:r>
                      <m:d>
                        <m:dPr>
                          <m:ctrlPr>
                            <a:rPr sz="1700" b="1">
                              <a:solidFill>
                                <a:srgbClr val="2563EB"/>
                              </a:solidFill>
                              <a:latin typeface="Cambria Math" panose="02040503050406030204"/>
                              <a:ea typeface="微软雅黑" panose="020B0503020204020204" charset="-122"/>
                            </a:rPr>
                          </m:ctrlPr>
                        </m:dPr>
                        <m:e>
                          <m:r>
                            <a:rPr sz="1700" b="1" i="1">
                              <a:solidFill>
                                <a:srgbClr val="2563EB"/>
                              </a:solidFill>
                              <a:latin typeface="Cambria Math" panose="02040503050406030204"/>
                              <a:ea typeface="Cambria Math" panose="02040503050406030204"/>
                            </a:rPr>
                            <m:t>𝑛</m:t>
                          </m:r>
                        </m:e>
                      </m:d>
                      <m:r>
                        <a:rPr sz="1700" b="1" i="0">
                          <a:solidFill>
                            <a:srgbClr val="2563EB"/>
                          </a:solidFill>
                          <a:latin typeface="Cambria Math" panose="02040503050406030204"/>
                          <a:ea typeface="Cambria Math" panose="02040503050406030204"/>
                        </a:rPr>
                        <m:t>=</m:t>
                      </m:r>
                      <m:r>
                        <a:rPr sz="1700" b="1" i="0">
                          <a:solidFill>
                            <a:srgbClr val="2563EB"/>
                          </a:solidFill>
                          <a:latin typeface="Cambria Math" panose="02040503050406030204"/>
                          <a:ea typeface="Cambria Math" panose="02040503050406030204"/>
                        </a:rPr>
                        <m:t>2</m:t>
                      </m:r>
                      <m:r>
                        <a:rPr sz="1700" b="1" i="1">
                          <a:solidFill>
                            <a:srgbClr val="2563EB"/>
                          </a:solidFill>
                          <a:latin typeface="Cambria Math" panose="02040503050406030204"/>
                          <a:ea typeface="Cambria Math" panose="02040503050406030204"/>
                        </a:rPr>
                        <m:t>𝑇</m:t>
                      </m:r>
                      <m:d>
                        <m:dPr>
                          <m:ctrlPr>
                            <a:rPr sz="1700" b="1">
                              <a:solidFill>
                                <a:srgbClr val="2563EB"/>
                              </a:solidFill>
                              <a:latin typeface="Cambria Math" panose="02040503050406030204"/>
                              <a:ea typeface="微软雅黑" panose="020B0503020204020204" charset="-122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sz="1700" b="1">
                                  <a:solidFill>
                                    <a:srgbClr val="2563EB"/>
                                  </a:solidFill>
                                  <a:latin typeface="Cambria Math" panose="02040503050406030204"/>
                                  <a:ea typeface="微软雅黑" panose="020B0503020204020204" charset="-122"/>
                                </a:rPr>
                              </m:ctrlPr>
                            </m:fPr>
                            <m:num>
                              <m:r>
                                <a:rPr sz="1700" b="1" i="1">
                                  <a:solidFill>
                                    <a:srgbClr val="2563EB"/>
                                  </a:solidFill>
                                  <a:latin typeface="Cambria Math" panose="02040503050406030204"/>
                                  <a:ea typeface="Cambria Math" panose="02040503050406030204"/>
                                </a:rPr>
                                <m:t>𝑛</m:t>
                              </m:r>
                            </m:num>
                            <m:den>
                              <m:r>
                                <a:rPr sz="1700" b="1" i="0">
                                  <a:solidFill>
                                    <a:srgbClr val="2563EB"/>
                                  </a:solidFill>
                                  <a:latin typeface="Cambria Math" panose="02040503050406030204"/>
                                  <a:ea typeface="Cambria Math" panose="02040503050406030204"/>
                                </a:rPr>
                                <m:t>2</m:t>
                              </m:r>
                            </m:den>
                          </m:f>
                          <m:r>
                            <a:rPr sz="1700" b="1" i="0">
                              <a:solidFill>
                                <a:srgbClr val="2563EB"/>
                              </a:solidFill>
                              <a:latin typeface="Cambria Math" panose="02040503050406030204"/>
                              <a:ea typeface="Cambria Math" panose="02040503050406030204"/>
                            </a:rPr>
                            <m:t>−</m:t>
                          </m:r>
                          <m:r>
                            <a:rPr sz="1700" b="1" i="0">
                              <a:solidFill>
                                <a:srgbClr val="2563EB"/>
                              </a:solidFill>
                              <a:latin typeface="Cambria Math" panose="02040503050406030204"/>
                              <a:ea typeface="Cambria Math" panose="02040503050406030204"/>
                            </a:rPr>
                            <m:t>2</m:t>
                          </m:r>
                        </m:e>
                      </m:d>
                      <m:r>
                        <a:rPr sz="1700" b="1" i="0">
                          <a:solidFill>
                            <a:srgbClr val="2563EB"/>
                          </a:solidFill>
                          <a:latin typeface="Cambria Math" panose="02040503050406030204"/>
                          <a:ea typeface="Cambria Math" panose="02040503050406030204"/>
                        </a:rPr>
                        <m:t>+</m:t>
                      </m:r>
                      <m:f>
                        <m:fPr>
                          <m:ctrlPr>
                            <a:rPr sz="1700" b="1">
                              <a:solidFill>
                                <a:srgbClr val="2563EB"/>
                              </a:solidFill>
                              <a:latin typeface="Cambria Math" panose="02040503050406030204"/>
                              <a:ea typeface="微软雅黑" panose="020B0503020204020204" charset="-122"/>
                            </a:rPr>
                          </m:ctrlPr>
                        </m:fPr>
                        <m:num>
                          <m:r>
                            <a:rPr sz="1700" b="1" i="1">
                              <a:solidFill>
                                <a:srgbClr val="2563EB"/>
                              </a:solidFill>
                              <a:latin typeface="Cambria Math" panose="02040503050406030204"/>
                              <a:ea typeface="Cambria Math" panose="02040503050406030204"/>
                            </a:rPr>
                            <m:t>𝑛</m:t>
                          </m:r>
                        </m:num>
                        <m:den>
                          <m:r>
                            <a:rPr sz="1700" b="1" i="0">
                              <a:solidFill>
                                <a:srgbClr val="2563EB"/>
                              </a:solidFill>
                              <a:latin typeface="Cambria Math" panose="02040503050406030204"/>
                              <a:ea typeface="Cambria Math" panose="02040503050406030204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sz="1700"/>
              </a:p>
            </p:txBody>
          </p:sp>
        </mc:Choice>
        <mc:Fallback>
          <p:sp>
            <p:nvSpPr>
              <p:cNvPr id="9" name="eq_d_recurrence" descr="LaTeX: T(n)=2T(\frac{n}{2}-2)+\frac{n}{2}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2500" y="1457325"/>
                <a:ext cx="10287000" cy="552450"/>
              </a:xfrm>
              <a:prstGeom prst="rect">
                <a:avLst/>
              </a:prstGeom>
              <a:blipFill rotWithShape="1">
                <a:blip r:embed="rId1"/>
                <a:stretch>
                  <a:fillRect/>
                </a:stretch>
              </a:blipFill>
              <a:ln w="0"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step_d_0"/>
          <p:cNvSpPr>
            <a:spLocks noGrp="1"/>
          </p:cNvSpPr>
          <p:nvPr/>
        </p:nvSpPr>
        <p:spPr>
          <a:xfrm>
            <a:off x="952500" y="2143125"/>
            <a:ext cx="3048000" cy="2762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>
              <a:defRPr sz="1600" b="1">
                <a:solidFill>
                  <a:srgbClr val="1725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>
              <a:defRPr sz="1600" b="1">
                <a:solidFill>
                  <a:srgbClr val="1725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>
              <a:defRPr sz="1600" b="1">
                <a:solidFill>
                  <a:srgbClr val="1725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>
              <a:defRPr sz="1600" b="1">
                <a:solidFill>
                  <a:srgbClr val="1725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>
              <a:defRPr sz="1600" b="1">
                <a:solidFill>
                  <a:srgbClr val="1725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>
              <a:defRPr sz="1600" b="1">
                <a:solidFill>
                  <a:srgbClr val="1725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>
              <a:defRPr sz="1600" b="1">
                <a:solidFill>
                  <a:srgbClr val="1725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>
              <a:defRPr sz="1600" b="1">
                <a:solidFill>
                  <a:srgbClr val="1725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>
              <a:defRPr sz="1600" b="1">
                <a:solidFill>
                  <a:srgbClr val="1725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>
              <a:defRPr sz="1600" b="1">
                <a:solidFill>
                  <a:srgbClr val="1725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>
              <a:defRPr sz="1600" b="1">
                <a:solidFill>
                  <a:srgbClr val="1725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00" b="1">
                <a:solidFill>
                  <a:srgbClr val="1725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  设置新变量</a:t>
            </a:r>
            <a:endParaRPr sz="1600" b="1">
              <a:solidFill>
                <a:srgbClr val="17255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note_d_0"/>
          <p:cNvSpPr>
            <a:spLocks noGrp="1"/>
          </p:cNvSpPr>
          <p:nvPr/>
        </p:nvSpPr>
        <p:spPr>
          <a:xfrm>
            <a:off x="952500" y="2447925"/>
            <a:ext cx="3086100" cy="5238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>
              <a:defRPr sz="1300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>
              <a:defRPr sz="1300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>
              <a:defRPr sz="1300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>
              <a:defRPr sz="1300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>
              <a:defRPr sz="1300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>
              <a:defRPr sz="1300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>
              <a:defRPr sz="1300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>
              <a:defRPr sz="1300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>
              <a:defRPr sz="1300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>
              <a:defRPr sz="1300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>
              <a:defRPr sz="1300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00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把原规模平移 4。</a:t>
            </a:r>
            <a:endParaRPr sz="1300" b="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2" name="eq_d_0_0" descr="LaTeX: m=n+4,\quad S(m)=T(m-4)"/>
              <p:cNvSpPr>
                <a:spLocks noGrp="1"/>
              </p:cNvSpPr>
              <p:nvPr/>
            </p:nvSpPr>
            <p:spPr>
              <a:xfrm>
                <a:off x="4333875" y="2124075"/>
                <a:ext cx="6810375" cy="419100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lIns="0" tIns="0" rIns="0" bIns="0" anchor="t"/>
              <a:lstStyle>
                <a:defPPr>
                  <a:defRPr sz="1600" b="0">
                    <a:solidFill>
                      <a:srgbClr val="1E293B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defRPr>
                </a:defPPr>
                <a:lvl1pPr>
                  <a:defRPr sz="1600" b="0">
                    <a:solidFill>
                      <a:srgbClr val="1E293B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defRPr>
                </a:lvl1pPr>
                <a:lvl2pPr>
                  <a:defRPr sz="1600" b="0">
                    <a:solidFill>
                      <a:srgbClr val="1E293B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defRPr>
                </a:lvl2pPr>
                <a:lvl3pPr>
                  <a:defRPr sz="1600" b="0">
                    <a:solidFill>
                      <a:srgbClr val="1E293B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defRPr>
                </a:lvl3pPr>
                <a:lvl4pPr>
                  <a:defRPr sz="1600" b="0">
                    <a:solidFill>
                      <a:srgbClr val="1E293B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defRPr>
                </a:lvl4pPr>
                <a:lvl5pPr>
                  <a:defRPr sz="1600" b="0">
                    <a:solidFill>
                      <a:srgbClr val="1E293B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defRPr>
                </a:lvl5pPr>
                <a:lvl6pPr>
                  <a:defRPr sz="1600" b="0">
                    <a:solidFill>
                      <a:srgbClr val="1E293B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defRPr>
                </a:lvl6pPr>
                <a:lvl7pPr>
                  <a:defRPr sz="1600" b="0">
                    <a:solidFill>
                      <a:srgbClr val="1E293B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defRPr>
                </a:lvl7pPr>
                <a:lvl8pPr>
                  <a:defRPr sz="1600" b="0">
                    <a:solidFill>
                      <a:srgbClr val="1E293B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defRPr>
                </a:lvl8pPr>
                <a:lvl9pPr>
                  <a:defRPr sz="1600" b="0">
                    <a:solidFill>
                      <a:srgbClr val="1E293B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defRPr>
                </a:lvl9pPr>
              </a:lstStyle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sz="1600" b="0" i="1">
                          <a:solidFill>
                            <a:srgbClr val="1E293B"/>
                          </a:solidFill>
                          <a:latin typeface="Cambria Math" panose="02040503050406030204"/>
                          <a:ea typeface="Cambria Math" panose="02040503050406030204"/>
                        </a:rPr>
                        <m:t>𝑚</m:t>
                      </m:r>
                      <m:r>
                        <a:rPr sz="1600" b="0" i="0">
                          <a:solidFill>
                            <a:srgbClr val="1E293B"/>
                          </a:solidFill>
                          <a:latin typeface="Cambria Math" panose="02040503050406030204"/>
                          <a:ea typeface="Cambria Math" panose="02040503050406030204"/>
                        </a:rPr>
                        <m:t>=</m:t>
                      </m:r>
                      <m:r>
                        <a:rPr sz="1600" b="0" i="1">
                          <a:solidFill>
                            <a:srgbClr val="1E293B"/>
                          </a:solidFill>
                          <a:latin typeface="Cambria Math" panose="02040503050406030204"/>
                          <a:ea typeface="Cambria Math" panose="02040503050406030204"/>
                        </a:rPr>
                        <m:t>𝑛</m:t>
                      </m:r>
                      <m:r>
                        <a:rPr sz="1600" b="0" i="0">
                          <a:solidFill>
                            <a:srgbClr val="1E293B"/>
                          </a:solidFill>
                          <a:latin typeface="Cambria Math" panose="02040503050406030204"/>
                          <a:ea typeface="Cambria Math" panose="02040503050406030204"/>
                        </a:rPr>
                        <m:t>+</m:t>
                      </m:r>
                      <m:r>
                        <a:rPr sz="1600" b="0" i="0">
                          <a:solidFill>
                            <a:srgbClr val="1E293B"/>
                          </a:solidFill>
                          <a:latin typeface="Cambria Math" panose="02040503050406030204"/>
                          <a:ea typeface="Cambria Math" panose="02040503050406030204"/>
                        </a:rPr>
                        <m:t>4</m:t>
                      </m:r>
                      <m:r>
                        <a:rPr sz="1600" b="0" i="0">
                          <a:solidFill>
                            <a:srgbClr val="1E293B"/>
                          </a:solidFill>
                          <a:latin typeface="Cambria Math" panose="02040503050406030204"/>
                          <a:ea typeface="Cambria Math" panose="02040503050406030204"/>
                        </a:rPr>
                        <m:t>,</m:t>
                      </m:r>
                      <m:r>
                        <a:rPr sz="1600" b="0" i="0">
                          <a:solidFill>
                            <a:srgbClr val="1E293B"/>
                          </a:solidFill>
                          <a:latin typeface="Cambria Math" panose="02040503050406030204"/>
                          <a:ea typeface="Cambria Math" panose="02040503050406030204"/>
                        </a:rPr>
                        <m:t> </m:t>
                      </m:r>
                      <m:r>
                        <a:rPr sz="1600" b="0" i="1">
                          <a:solidFill>
                            <a:srgbClr val="1E293B"/>
                          </a:solidFill>
                          <a:latin typeface="Cambria Math" panose="02040503050406030204"/>
                          <a:ea typeface="Cambria Math" panose="02040503050406030204"/>
                        </a:rPr>
                        <m:t>𝑆</m:t>
                      </m:r>
                      <m:d>
                        <m:dPr>
                          <m:ctrlPr>
                            <a:rPr sz="1600" b="0">
                              <a:solidFill>
                                <a:srgbClr val="1E293B"/>
                              </a:solidFill>
                              <a:latin typeface="Cambria Math" panose="02040503050406030204"/>
                              <a:ea typeface="微软雅黑" panose="020B0503020204020204" charset="-122"/>
                            </a:rPr>
                          </m:ctrlPr>
                        </m:dPr>
                        <m:e>
                          <m:r>
                            <a:rPr sz="1600" b="0" i="1">
                              <a:solidFill>
                                <a:srgbClr val="1E293B"/>
                              </a:solidFill>
                              <a:latin typeface="Cambria Math" panose="02040503050406030204"/>
                              <a:ea typeface="Cambria Math" panose="02040503050406030204"/>
                            </a:rPr>
                            <m:t>𝑚</m:t>
                          </m:r>
                        </m:e>
                      </m:d>
                      <m:r>
                        <a:rPr sz="1600" b="0" i="0">
                          <a:solidFill>
                            <a:srgbClr val="1E293B"/>
                          </a:solidFill>
                          <a:latin typeface="Cambria Math" panose="02040503050406030204"/>
                          <a:ea typeface="Cambria Math" panose="02040503050406030204"/>
                        </a:rPr>
                        <m:t>=</m:t>
                      </m:r>
                      <m:r>
                        <a:rPr sz="1600" b="0" i="1">
                          <a:solidFill>
                            <a:srgbClr val="1E293B"/>
                          </a:solidFill>
                          <a:latin typeface="Cambria Math" panose="02040503050406030204"/>
                          <a:ea typeface="Cambria Math" panose="02040503050406030204"/>
                        </a:rPr>
                        <m:t>𝑇</m:t>
                      </m:r>
                      <m:d>
                        <m:dPr>
                          <m:ctrlPr>
                            <a:rPr sz="1600" b="0">
                              <a:solidFill>
                                <a:srgbClr val="1E293B"/>
                              </a:solidFill>
                              <a:latin typeface="Cambria Math" panose="02040503050406030204"/>
                              <a:ea typeface="微软雅黑" panose="020B0503020204020204" charset="-122"/>
                            </a:rPr>
                          </m:ctrlPr>
                        </m:dPr>
                        <m:e>
                          <m:r>
                            <a:rPr sz="1600" b="0" i="1">
                              <a:solidFill>
                                <a:srgbClr val="1E293B"/>
                              </a:solidFill>
                              <a:latin typeface="Cambria Math" panose="02040503050406030204"/>
                              <a:ea typeface="Cambria Math" panose="02040503050406030204"/>
                            </a:rPr>
                            <m:t>𝑚</m:t>
                          </m:r>
                          <m:r>
                            <a:rPr sz="1600" b="0" i="0">
                              <a:solidFill>
                                <a:srgbClr val="1E293B"/>
                              </a:solidFill>
                              <a:latin typeface="Cambria Math" panose="02040503050406030204"/>
                              <a:ea typeface="Cambria Math" panose="02040503050406030204"/>
                            </a:rPr>
                            <m:t>−</m:t>
                          </m:r>
                          <m:r>
                            <a:rPr sz="1600" b="0" i="0">
                              <a:solidFill>
                                <a:srgbClr val="1E293B"/>
                              </a:solidFill>
                              <a:latin typeface="Cambria Math" panose="02040503050406030204"/>
                              <a:ea typeface="Cambria Math" panose="02040503050406030204"/>
                            </a:rPr>
                            <m:t>4</m:t>
                          </m:r>
                        </m:e>
                      </m:d>
                    </m:oMath>
                  </m:oMathPara>
                </a14:m>
                <a:endParaRPr sz="1600"/>
              </a:p>
            </p:txBody>
          </p:sp>
        </mc:Choice>
        <mc:Fallback>
          <p:sp>
            <p:nvSpPr>
              <p:cNvPr id="12" name="eq_d_0_0" descr="LaTeX: m=n+4,\quad S(m)=T(m-4)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33875" y="2124075"/>
                <a:ext cx="6810375" cy="419100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  <a:ln w="0"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step_d_1"/>
          <p:cNvSpPr>
            <a:spLocks noGrp="1"/>
          </p:cNvSpPr>
          <p:nvPr/>
        </p:nvSpPr>
        <p:spPr>
          <a:xfrm>
            <a:off x="952500" y="3000375"/>
            <a:ext cx="3048000" cy="2762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>
              <a:defRPr sz="1600" b="1">
                <a:solidFill>
                  <a:srgbClr val="1725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>
              <a:defRPr sz="1600" b="1">
                <a:solidFill>
                  <a:srgbClr val="1725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>
              <a:defRPr sz="1600" b="1">
                <a:solidFill>
                  <a:srgbClr val="1725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>
              <a:defRPr sz="1600" b="1">
                <a:solidFill>
                  <a:srgbClr val="1725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>
              <a:defRPr sz="1600" b="1">
                <a:solidFill>
                  <a:srgbClr val="1725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>
              <a:defRPr sz="1600" b="1">
                <a:solidFill>
                  <a:srgbClr val="1725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>
              <a:defRPr sz="1600" b="1">
                <a:solidFill>
                  <a:srgbClr val="1725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>
              <a:defRPr sz="1600" b="1">
                <a:solidFill>
                  <a:srgbClr val="1725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>
              <a:defRPr sz="1600" b="1">
                <a:solidFill>
                  <a:srgbClr val="1725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>
              <a:defRPr sz="1600" b="1">
                <a:solidFill>
                  <a:srgbClr val="1725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>
              <a:defRPr sz="1600" b="1">
                <a:solidFill>
                  <a:srgbClr val="1725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00" b="1">
                <a:solidFill>
                  <a:srgbClr val="1725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  改写子问题规模</a:t>
            </a:r>
            <a:endParaRPr sz="1600" b="1">
              <a:solidFill>
                <a:srgbClr val="17255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note_d_1"/>
          <p:cNvSpPr>
            <a:spLocks noGrp="1"/>
          </p:cNvSpPr>
          <p:nvPr/>
        </p:nvSpPr>
        <p:spPr>
          <a:xfrm>
            <a:off x="952500" y="3305175"/>
            <a:ext cx="3086100" cy="5238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>
              <a:defRPr sz="1300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>
              <a:defRPr sz="1300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>
              <a:defRPr sz="1300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>
              <a:defRPr sz="1300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>
              <a:defRPr sz="1300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>
              <a:defRPr sz="1300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>
              <a:defRPr sz="1300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>
              <a:defRPr sz="1300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>
              <a:defRPr sz="1300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>
              <a:defRPr sz="1300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>
              <a:defRPr sz="1300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00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新变量下，递归规模变为标准二分。</a:t>
            </a:r>
            <a:endParaRPr sz="1300" b="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5" name="eq_d_1_0" descr="LaTeX: \frac{n}{2}-2=\frac{m-4}{2}-2=\frac{m}{2}-4"/>
              <p:cNvSpPr>
                <a:spLocks noGrp="1"/>
              </p:cNvSpPr>
              <p:nvPr/>
            </p:nvSpPr>
            <p:spPr>
              <a:xfrm>
                <a:off x="4333875" y="2981325"/>
                <a:ext cx="6810375" cy="419100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lIns="0" tIns="0" rIns="0" bIns="0" anchor="t"/>
              <a:lstStyle>
                <a:defPPr>
                  <a:defRPr sz="1600" b="0">
                    <a:solidFill>
                      <a:srgbClr val="1E293B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defRPr>
                </a:defPPr>
                <a:lvl1pPr>
                  <a:defRPr sz="1600" b="0">
                    <a:solidFill>
                      <a:srgbClr val="1E293B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defRPr>
                </a:lvl1pPr>
                <a:lvl2pPr>
                  <a:defRPr sz="1600" b="0">
                    <a:solidFill>
                      <a:srgbClr val="1E293B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defRPr>
                </a:lvl2pPr>
                <a:lvl3pPr>
                  <a:defRPr sz="1600" b="0">
                    <a:solidFill>
                      <a:srgbClr val="1E293B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defRPr>
                </a:lvl3pPr>
                <a:lvl4pPr>
                  <a:defRPr sz="1600" b="0">
                    <a:solidFill>
                      <a:srgbClr val="1E293B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defRPr>
                </a:lvl4pPr>
                <a:lvl5pPr>
                  <a:defRPr sz="1600" b="0">
                    <a:solidFill>
                      <a:srgbClr val="1E293B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defRPr>
                </a:lvl5pPr>
                <a:lvl6pPr>
                  <a:defRPr sz="1600" b="0">
                    <a:solidFill>
                      <a:srgbClr val="1E293B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defRPr>
                </a:lvl6pPr>
                <a:lvl7pPr>
                  <a:defRPr sz="1600" b="0">
                    <a:solidFill>
                      <a:srgbClr val="1E293B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defRPr>
                </a:lvl7pPr>
                <a:lvl8pPr>
                  <a:defRPr sz="1600" b="0">
                    <a:solidFill>
                      <a:srgbClr val="1E293B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defRPr>
                </a:lvl8pPr>
                <a:lvl9pPr>
                  <a:defRPr sz="1600" b="0">
                    <a:solidFill>
                      <a:srgbClr val="1E293B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defRPr>
                </a:lvl9pPr>
              </a:lstStyle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sz="1600" b="0">
                              <a:solidFill>
                                <a:srgbClr val="1E293B"/>
                              </a:solidFill>
                              <a:latin typeface="Cambria Math" panose="02040503050406030204"/>
                              <a:ea typeface="微软雅黑" panose="020B0503020204020204" charset="-122"/>
                            </a:rPr>
                          </m:ctrlPr>
                        </m:fPr>
                        <m:num>
                          <m:r>
                            <a:rPr sz="1600" b="0" i="1">
                              <a:solidFill>
                                <a:srgbClr val="1E293B"/>
                              </a:solidFill>
                              <a:latin typeface="Cambria Math" panose="02040503050406030204"/>
                              <a:ea typeface="Cambria Math" panose="02040503050406030204"/>
                            </a:rPr>
                            <m:t>𝑛</m:t>
                          </m:r>
                        </m:num>
                        <m:den>
                          <m:r>
                            <a:rPr sz="1600" b="0" i="0">
                              <a:solidFill>
                                <a:srgbClr val="1E293B"/>
                              </a:solidFill>
                              <a:latin typeface="Cambria Math" panose="02040503050406030204"/>
                              <a:ea typeface="Cambria Math" panose="02040503050406030204"/>
                            </a:rPr>
                            <m:t>2</m:t>
                          </m:r>
                        </m:den>
                      </m:f>
                      <m:r>
                        <a:rPr sz="1600" b="0" i="0">
                          <a:solidFill>
                            <a:srgbClr val="1E293B"/>
                          </a:solidFill>
                          <a:latin typeface="Cambria Math" panose="02040503050406030204"/>
                          <a:ea typeface="Cambria Math" panose="02040503050406030204"/>
                        </a:rPr>
                        <m:t>−</m:t>
                      </m:r>
                      <m:r>
                        <a:rPr sz="1600" b="0" i="0">
                          <a:solidFill>
                            <a:srgbClr val="1E293B"/>
                          </a:solidFill>
                          <a:latin typeface="Cambria Math" panose="02040503050406030204"/>
                          <a:ea typeface="Cambria Math" panose="02040503050406030204"/>
                        </a:rPr>
                        <m:t>2</m:t>
                      </m:r>
                      <m:r>
                        <a:rPr sz="1600" b="0" i="0">
                          <a:solidFill>
                            <a:srgbClr val="1E293B"/>
                          </a:solidFill>
                          <a:latin typeface="Cambria Math" panose="02040503050406030204"/>
                          <a:ea typeface="Cambria Math" panose="02040503050406030204"/>
                        </a:rPr>
                        <m:t>=</m:t>
                      </m:r>
                      <m:f>
                        <m:fPr>
                          <m:ctrlPr>
                            <a:rPr sz="1600" b="0">
                              <a:solidFill>
                                <a:srgbClr val="1E293B"/>
                              </a:solidFill>
                              <a:latin typeface="Cambria Math" panose="02040503050406030204"/>
                              <a:ea typeface="微软雅黑" panose="020B0503020204020204" charset="-122"/>
                            </a:rPr>
                          </m:ctrlPr>
                        </m:fPr>
                        <m:num>
                          <m:r>
                            <a:rPr sz="1600" b="0" i="1">
                              <a:solidFill>
                                <a:srgbClr val="1E293B"/>
                              </a:solidFill>
                              <a:latin typeface="Cambria Math" panose="02040503050406030204"/>
                              <a:ea typeface="Cambria Math" panose="02040503050406030204"/>
                            </a:rPr>
                            <m:t>𝑚</m:t>
                          </m:r>
                          <m:r>
                            <a:rPr sz="1600" b="0" i="0">
                              <a:solidFill>
                                <a:srgbClr val="1E293B"/>
                              </a:solidFill>
                              <a:latin typeface="Cambria Math" panose="02040503050406030204"/>
                              <a:ea typeface="Cambria Math" panose="02040503050406030204"/>
                            </a:rPr>
                            <m:t>−</m:t>
                          </m:r>
                          <m:r>
                            <a:rPr sz="1600" b="0" i="0">
                              <a:solidFill>
                                <a:srgbClr val="1E293B"/>
                              </a:solidFill>
                              <a:latin typeface="Cambria Math" panose="02040503050406030204"/>
                              <a:ea typeface="Cambria Math" panose="02040503050406030204"/>
                            </a:rPr>
                            <m:t>4</m:t>
                          </m:r>
                        </m:num>
                        <m:den>
                          <m:r>
                            <a:rPr sz="1600" b="0" i="0">
                              <a:solidFill>
                                <a:srgbClr val="1E293B"/>
                              </a:solidFill>
                              <a:latin typeface="Cambria Math" panose="02040503050406030204"/>
                              <a:ea typeface="Cambria Math" panose="02040503050406030204"/>
                            </a:rPr>
                            <m:t>2</m:t>
                          </m:r>
                        </m:den>
                      </m:f>
                      <m:r>
                        <a:rPr sz="1600" b="0" i="0">
                          <a:solidFill>
                            <a:srgbClr val="1E293B"/>
                          </a:solidFill>
                          <a:latin typeface="Cambria Math" panose="02040503050406030204"/>
                          <a:ea typeface="Cambria Math" panose="02040503050406030204"/>
                        </a:rPr>
                        <m:t>−</m:t>
                      </m:r>
                      <m:r>
                        <a:rPr sz="1600" b="0" i="0">
                          <a:solidFill>
                            <a:srgbClr val="1E293B"/>
                          </a:solidFill>
                          <a:latin typeface="Cambria Math" panose="02040503050406030204"/>
                          <a:ea typeface="Cambria Math" panose="02040503050406030204"/>
                        </a:rPr>
                        <m:t>2</m:t>
                      </m:r>
                      <m:r>
                        <a:rPr sz="1600" b="0" i="0">
                          <a:solidFill>
                            <a:srgbClr val="1E293B"/>
                          </a:solidFill>
                          <a:latin typeface="Cambria Math" panose="02040503050406030204"/>
                          <a:ea typeface="Cambria Math" panose="02040503050406030204"/>
                        </a:rPr>
                        <m:t>=</m:t>
                      </m:r>
                      <m:f>
                        <m:fPr>
                          <m:ctrlPr>
                            <a:rPr sz="1600" b="0">
                              <a:solidFill>
                                <a:srgbClr val="1E293B"/>
                              </a:solidFill>
                              <a:latin typeface="Cambria Math" panose="02040503050406030204"/>
                              <a:ea typeface="微软雅黑" panose="020B0503020204020204" charset="-122"/>
                            </a:rPr>
                          </m:ctrlPr>
                        </m:fPr>
                        <m:num>
                          <m:r>
                            <a:rPr sz="1600" b="0" i="1">
                              <a:solidFill>
                                <a:srgbClr val="1E293B"/>
                              </a:solidFill>
                              <a:latin typeface="Cambria Math" panose="02040503050406030204"/>
                              <a:ea typeface="Cambria Math" panose="02040503050406030204"/>
                            </a:rPr>
                            <m:t>𝑚</m:t>
                          </m:r>
                        </m:num>
                        <m:den>
                          <m:r>
                            <a:rPr sz="1600" b="0" i="0">
                              <a:solidFill>
                                <a:srgbClr val="1E293B"/>
                              </a:solidFill>
                              <a:latin typeface="Cambria Math" panose="02040503050406030204"/>
                              <a:ea typeface="Cambria Math" panose="02040503050406030204"/>
                            </a:rPr>
                            <m:t>2</m:t>
                          </m:r>
                        </m:den>
                      </m:f>
                      <m:r>
                        <a:rPr sz="1600" b="0" i="0">
                          <a:solidFill>
                            <a:srgbClr val="1E293B"/>
                          </a:solidFill>
                          <a:latin typeface="Cambria Math" panose="02040503050406030204"/>
                          <a:ea typeface="Cambria Math" panose="02040503050406030204"/>
                        </a:rPr>
                        <m:t>−</m:t>
                      </m:r>
                      <m:r>
                        <a:rPr sz="1600" b="0" i="0">
                          <a:solidFill>
                            <a:srgbClr val="1E293B"/>
                          </a:solidFill>
                          <a:latin typeface="Cambria Math" panose="02040503050406030204"/>
                          <a:ea typeface="Cambria Math" panose="02040503050406030204"/>
                        </a:rPr>
                        <m:t>4</m:t>
                      </m:r>
                    </m:oMath>
                  </m:oMathPara>
                </a14:m>
                <a:endParaRPr sz="1600"/>
              </a:p>
            </p:txBody>
          </p:sp>
        </mc:Choice>
        <mc:Fallback>
          <p:sp>
            <p:nvSpPr>
              <p:cNvPr id="15" name="eq_d_1_0" descr="LaTeX: \frac{n}{2}-2=\frac{m-4}{2}-2=\frac{m}{2}-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33875" y="2981325"/>
                <a:ext cx="6810375" cy="419100"/>
              </a:xfrm>
              <a:prstGeom prst="rect">
                <a:avLst/>
              </a:prstGeom>
              <a:blipFill rotWithShape="1">
                <a:blip r:embed="rId3"/>
                <a:stretch>
                  <a:fillRect b="-7727"/>
                </a:stretch>
              </a:blipFill>
              <a:ln w="0"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6" name="eq_d_1_1" descr="LaTeX: T(\frac{n}{2}-2)=S(\frac{m}{2})"/>
              <p:cNvSpPr>
                <a:spLocks noGrp="1"/>
              </p:cNvSpPr>
              <p:nvPr/>
            </p:nvSpPr>
            <p:spPr>
              <a:xfrm>
                <a:off x="4333875" y="3400425"/>
                <a:ext cx="6810375" cy="419100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lIns="0" tIns="0" rIns="0" bIns="0" anchor="t"/>
              <a:lstStyle>
                <a:defPPr>
                  <a:defRPr sz="1600" b="0">
                    <a:solidFill>
                      <a:srgbClr val="1E293B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defRPr>
                </a:defPPr>
                <a:lvl1pPr>
                  <a:defRPr sz="1600" b="0">
                    <a:solidFill>
                      <a:srgbClr val="1E293B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defRPr>
                </a:lvl1pPr>
                <a:lvl2pPr>
                  <a:defRPr sz="1600" b="0">
                    <a:solidFill>
                      <a:srgbClr val="1E293B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defRPr>
                </a:lvl2pPr>
                <a:lvl3pPr>
                  <a:defRPr sz="1600" b="0">
                    <a:solidFill>
                      <a:srgbClr val="1E293B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defRPr>
                </a:lvl3pPr>
                <a:lvl4pPr>
                  <a:defRPr sz="1600" b="0">
                    <a:solidFill>
                      <a:srgbClr val="1E293B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defRPr>
                </a:lvl4pPr>
                <a:lvl5pPr>
                  <a:defRPr sz="1600" b="0">
                    <a:solidFill>
                      <a:srgbClr val="1E293B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defRPr>
                </a:lvl5pPr>
                <a:lvl6pPr>
                  <a:defRPr sz="1600" b="0">
                    <a:solidFill>
                      <a:srgbClr val="1E293B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defRPr>
                </a:lvl6pPr>
                <a:lvl7pPr>
                  <a:defRPr sz="1600" b="0">
                    <a:solidFill>
                      <a:srgbClr val="1E293B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defRPr>
                </a:lvl7pPr>
                <a:lvl8pPr>
                  <a:defRPr sz="1600" b="0">
                    <a:solidFill>
                      <a:srgbClr val="1E293B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defRPr>
                </a:lvl8pPr>
                <a:lvl9pPr>
                  <a:defRPr sz="1600" b="0">
                    <a:solidFill>
                      <a:srgbClr val="1E293B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defRPr>
                </a:lvl9pPr>
              </a:lstStyle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sz="1600" b="0" i="1">
                          <a:solidFill>
                            <a:srgbClr val="1E293B"/>
                          </a:solidFill>
                          <a:latin typeface="Cambria Math" panose="02040503050406030204"/>
                          <a:ea typeface="Cambria Math" panose="02040503050406030204"/>
                        </a:rPr>
                        <m:t>𝑇</m:t>
                      </m:r>
                      <m:d>
                        <m:dPr>
                          <m:ctrlPr>
                            <a:rPr sz="1600" b="0">
                              <a:solidFill>
                                <a:srgbClr val="1E293B"/>
                              </a:solidFill>
                              <a:latin typeface="Cambria Math" panose="02040503050406030204"/>
                              <a:ea typeface="微软雅黑" panose="020B0503020204020204" charset="-122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sz="1600" b="0">
                                  <a:solidFill>
                                    <a:srgbClr val="1E293B"/>
                                  </a:solidFill>
                                  <a:latin typeface="Cambria Math" panose="02040503050406030204"/>
                                  <a:ea typeface="微软雅黑" panose="020B0503020204020204" charset="-122"/>
                                </a:rPr>
                              </m:ctrlPr>
                            </m:fPr>
                            <m:num>
                              <m:r>
                                <a:rPr sz="1600" b="0" i="1">
                                  <a:solidFill>
                                    <a:srgbClr val="1E293B"/>
                                  </a:solidFill>
                                  <a:latin typeface="Cambria Math" panose="02040503050406030204"/>
                                  <a:ea typeface="Cambria Math" panose="02040503050406030204"/>
                                </a:rPr>
                                <m:t>𝑛</m:t>
                              </m:r>
                            </m:num>
                            <m:den>
                              <m:r>
                                <a:rPr sz="1600" b="0" i="0">
                                  <a:solidFill>
                                    <a:srgbClr val="1E293B"/>
                                  </a:solidFill>
                                  <a:latin typeface="Cambria Math" panose="02040503050406030204"/>
                                  <a:ea typeface="Cambria Math" panose="02040503050406030204"/>
                                </a:rPr>
                                <m:t>2</m:t>
                              </m:r>
                            </m:den>
                          </m:f>
                          <m:r>
                            <a:rPr sz="1600" b="0" i="0">
                              <a:solidFill>
                                <a:srgbClr val="1E293B"/>
                              </a:solidFill>
                              <a:latin typeface="Cambria Math" panose="02040503050406030204"/>
                              <a:ea typeface="Cambria Math" panose="02040503050406030204"/>
                            </a:rPr>
                            <m:t>−</m:t>
                          </m:r>
                          <m:r>
                            <a:rPr sz="1600" b="0" i="0">
                              <a:solidFill>
                                <a:srgbClr val="1E293B"/>
                              </a:solidFill>
                              <a:latin typeface="Cambria Math" panose="02040503050406030204"/>
                              <a:ea typeface="Cambria Math" panose="02040503050406030204"/>
                            </a:rPr>
                            <m:t>2</m:t>
                          </m:r>
                        </m:e>
                      </m:d>
                      <m:r>
                        <a:rPr sz="1600" b="0" i="0">
                          <a:solidFill>
                            <a:srgbClr val="1E293B"/>
                          </a:solidFill>
                          <a:latin typeface="Cambria Math" panose="02040503050406030204"/>
                          <a:ea typeface="Cambria Math" panose="02040503050406030204"/>
                        </a:rPr>
                        <m:t>=</m:t>
                      </m:r>
                      <m:r>
                        <a:rPr sz="1600" b="0" i="1">
                          <a:solidFill>
                            <a:srgbClr val="1E293B"/>
                          </a:solidFill>
                          <a:latin typeface="Cambria Math" panose="02040503050406030204"/>
                          <a:ea typeface="Cambria Math" panose="02040503050406030204"/>
                        </a:rPr>
                        <m:t>𝑆</m:t>
                      </m:r>
                      <m:d>
                        <m:dPr>
                          <m:ctrlPr>
                            <a:rPr sz="1600" b="0">
                              <a:solidFill>
                                <a:srgbClr val="1E293B"/>
                              </a:solidFill>
                              <a:latin typeface="Cambria Math" panose="02040503050406030204"/>
                              <a:ea typeface="微软雅黑" panose="020B0503020204020204" charset="-122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sz="1600" b="0">
                                  <a:solidFill>
                                    <a:srgbClr val="1E293B"/>
                                  </a:solidFill>
                                  <a:latin typeface="Cambria Math" panose="02040503050406030204"/>
                                  <a:ea typeface="微软雅黑" panose="020B0503020204020204" charset="-122"/>
                                </a:rPr>
                              </m:ctrlPr>
                            </m:fPr>
                            <m:num>
                              <m:r>
                                <a:rPr sz="1600" b="0" i="1">
                                  <a:solidFill>
                                    <a:srgbClr val="1E293B"/>
                                  </a:solidFill>
                                  <a:latin typeface="Cambria Math" panose="02040503050406030204"/>
                                  <a:ea typeface="Cambria Math" panose="02040503050406030204"/>
                                </a:rPr>
                                <m:t>𝑚</m:t>
                              </m:r>
                            </m:num>
                            <m:den>
                              <m:r>
                                <a:rPr sz="1600" b="0" i="0">
                                  <a:solidFill>
                                    <a:srgbClr val="1E293B"/>
                                  </a:solidFill>
                                  <a:latin typeface="Cambria Math" panose="02040503050406030204"/>
                                  <a:ea typeface="Cambria Math" panose="02040503050406030204"/>
                                </a:rPr>
                                <m:t>2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sz="1600"/>
              </a:p>
            </p:txBody>
          </p:sp>
        </mc:Choice>
        <mc:Fallback>
          <p:sp>
            <p:nvSpPr>
              <p:cNvPr id="16" name="eq_d_1_1" descr="LaTeX: T(\frac{n}{2}-2)=S(\frac{m}{2})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33875" y="3400425"/>
                <a:ext cx="6810375" cy="419100"/>
              </a:xfrm>
              <a:prstGeom prst="rect">
                <a:avLst/>
              </a:prstGeom>
              <a:blipFill rotWithShape="1">
                <a:blip r:embed="rId4"/>
                <a:stretch>
                  <a:fillRect/>
                </a:stretch>
              </a:blipFill>
              <a:ln w="0"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step_d_2"/>
          <p:cNvSpPr>
            <a:spLocks noGrp="1"/>
          </p:cNvSpPr>
          <p:nvPr/>
        </p:nvSpPr>
        <p:spPr>
          <a:xfrm>
            <a:off x="952500" y="3857625"/>
            <a:ext cx="3048000" cy="2762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>
              <a:defRPr sz="1600" b="1">
                <a:solidFill>
                  <a:srgbClr val="1725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>
              <a:defRPr sz="1600" b="1">
                <a:solidFill>
                  <a:srgbClr val="1725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>
              <a:defRPr sz="1600" b="1">
                <a:solidFill>
                  <a:srgbClr val="1725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>
              <a:defRPr sz="1600" b="1">
                <a:solidFill>
                  <a:srgbClr val="1725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>
              <a:defRPr sz="1600" b="1">
                <a:solidFill>
                  <a:srgbClr val="1725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>
              <a:defRPr sz="1600" b="1">
                <a:solidFill>
                  <a:srgbClr val="1725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>
              <a:defRPr sz="1600" b="1">
                <a:solidFill>
                  <a:srgbClr val="1725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>
              <a:defRPr sz="1600" b="1">
                <a:solidFill>
                  <a:srgbClr val="1725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>
              <a:defRPr sz="1600" b="1">
                <a:solidFill>
                  <a:srgbClr val="1725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>
              <a:defRPr sz="1600" b="1">
                <a:solidFill>
                  <a:srgbClr val="1725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>
              <a:defRPr sz="1600" b="1">
                <a:solidFill>
                  <a:srgbClr val="1725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00" b="1">
                <a:solidFill>
                  <a:srgbClr val="1725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  得到标准递推式</a:t>
            </a:r>
            <a:endParaRPr sz="1600" b="1">
              <a:solidFill>
                <a:srgbClr val="17255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note_d_2"/>
          <p:cNvSpPr>
            <a:spLocks noGrp="1"/>
          </p:cNvSpPr>
          <p:nvPr/>
        </p:nvSpPr>
        <p:spPr>
          <a:xfrm>
            <a:off x="952500" y="4162425"/>
            <a:ext cx="3086100" cy="5238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>
              <a:defRPr sz="1300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>
              <a:defRPr sz="1300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>
              <a:defRPr sz="1300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>
              <a:defRPr sz="1300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>
              <a:defRPr sz="1300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>
              <a:defRPr sz="1300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>
              <a:defRPr sz="1300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>
              <a:defRPr sz="1300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>
              <a:defRPr sz="1300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>
              <a:defRPr sz="1300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>
              <a:defRPr sz="1300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00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额外工作为 Θ(m)，与比较基准同阶。</a:t>
            </a:r>
            <a:endParaRPr sz="1300" b="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9" name="eq_d_2_0" descr="LaTeX: S(m)=2S(\frac{m}{2})+\frac{m-4}{2}"/>
              <p:cNvSpPr>
                <a:spLocks noGrp="1"/>
              </p:cNvSpPr>
              <p:nvPr/>
            </p:nvSpPr>
            <p:spPr>
              <a:xfrm>
                <a:off x="4333875" y="3838575"/>
                <a:ext cx="6810375" cy="419100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lIns="0" tIns="0" rIns="0" bIns="0" anchor="t"/>
              <a:lstStyle>
                <a:defPPr>
                  <a:defRPr sz="1600" b="0">
                    <a:solidFill>
                      <a:srgbClr val="1E293B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defRPr>
                </a:defPPr>
                <a:lvl1pPr>
                  <a:defRPr sz="1600" b="0">
                    <a:solidFill>
                      <a:srgbClr val="1E293B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defRPr>
                </a:lvl1pPr>
                <a:lvl2pPr>
                  <a:defRPr sz="1600" b="0">
                    <a:solidFill>
                      <a:srgbClr val="1E293B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defRPr>
                </a:lvl2pPr>
                <a:lvl3pPr>
                  <a:defRPr sz="1600" b="0">
                    <a:solidFill>
                      <a:srgbClr val="1E293B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defRPr>
                </a:lvl3pPr>
                <a:lvl4pPr>
                  <a:defRPr sz="1600" b="0">
                    <a:solidFill>
                      <a:srgbClr val="1E293B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defRPr>
                </a:lvl4pPr>
                <a:lvl5pPr>
                  <a:defRPr sz="1600" b="0">
                    <a:solidFill>
                      <a:srgbClr val="1E293B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defRPr>
                </a:lvl5pPr>
                <a:lvl6pPr>
                  <a:defRPr sz="1600" b="0">
                    <a:solidFill>
                      <a:srgbClr val="1E293B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defRPr>
                </a:lvl6pPr>
                <a:lvl7pPr>
                  <a:defRPr sz="1600" b="0">
                    <a:solidFill>
                      <a:srgbClr val="1E293B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defRPr>
                </a:lvl7pPr>
                <a:lvl8pPr>
                  <a:defRPr sz="1600" b="0">
                    <a:solidFill>
                      <a:srgbClr val="1E293B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defRPr>
                </a:lvl8pPr>
                <a:lvl9pPr>
                  <a:defRPr sz="1600" b="0">
                    <a:solidFill>
                      <a:srgbClr val="1E293B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defRPr>
                </a:lvl9pPr>
              </a:lstStyle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sz="1600" b="0" i="1">
                          <a:solidFill>
                            <a:srgbClr val="1E293B"/>
                          </a:solidFill>
                          <a:latin typeface="Cambria Math" panose="02040503050406030204"/>
                          <a:ea typeface="Cambria Math" panose="02040503050406030204"/>
                        </a:rPr>
                        <m:t>𝑆</m:t>
                      </m:r>
                      <m:d>
                        <m:dPr>
                          <m:ctrlPr>
                            <a:rPr sz="1600" b="0">
                              <a:solidFill>
                                <a:srgbClr val="1E293B"/>
                              </a:solidFill>
                              <a:latin typeface="Cambria Math" panose="02040503050406030204"/>
                              <a:ea typeface="微软雅黑" panose="020B0503020204020204" charset="-122"/>
                            </a:rPr>
                          </m:ctrlPr>
                        </m:dPr>
                        <m:e>
                          <m:r>
                            <a:rPr sz="1600" b="0" i="1">
                              <a:solidFill>
                                <a:srgbClr val="1E293B"/>
                              </a:solidFill>
                              <a:latin typeface="Cambria Math" panose="02040503050406030204"/>
                              <a:ea typeface="Cambria Math" panose="02040503050406030204"/>
                            </a:rPr>
                            <m:t>𝑚</m:t>
                          </m:r>
                        </m:e>
                      </m:d>
                      <m:r>
                        <a:rPr sz="1600" b="0" i="0">
                          <a:solidFill>
                            <a:srgbClr val="1E293B"/>
                          </a:solidFill>
                          <a:latin typeface="Cambria Math" panose="02040503050406030204"/>
                          <a:ea typeface="Cambria Math" panose="02040503050406030204"/>
                        </a:rPr>
                        <m:t>=</m:t>
                      </m:r>
                      <m:r>
                        <a:rPr sz="1600" b="0" i="0">
                          <a:solidFill>
                            <a:srgbClr val="1E293B"/>
                          </a:solidFill>
                          <a:latin typeface="Cambria Math" panose="02040503050406030204"/>
                          <a:ea typeface="Cambria Math" panose="02040503050406030204"/>
                        </a:rPr>
                        <m:t>2</m:t>
                      </m:r>
                      <m:r>
                        <a:rPr sz="1600" b="0" i="1">
                          <a:solidFill>
                            <a:srgbClr val="1E293B"/>
                          </a:solidFill>
                          <a:latin typeface="Cambria Math" panose="02040503050406030204"/>
                          <a:ea typeface="Cambria Math" panose="02040503050406030204"/>
                        </a:rPr>
                        <m:t>𝑆</m:t>
                      </m:r>
                      <m:d>
                        <m:dPr>
                          <m:ctrlPr>
                            <a:rPr sz="1600" b="0">
                              <a:solidFill>
                                <a:srgbClr val="1E293B"/>
                              </a:solidFill>
                              <a:latin typeface="Cambria Math" panose="02040503050406030204"/>
                              <a:ea typeface="微软雅黑" panose="020B0503020204020204" charset="-122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sz="1600" b="0">
                                  <a:solidFill>
                                    <a:srgbClr val="1E293B"/>
                                  </a:solidFill>
                                  <a:latin typeface="Cambria Math" panose="02040503050406030204"/>
                                  <a:ea typeface="微软雅黑" panose="020B0503020204020204" charset="-122"/>
                                </a:rPr>
                              </m:ctrlPr>
                            </m:fPr>
                            <m:num>
                              <m:r>
                                <a:rPr sz="1600" b="0" i="1">
                                  <a:solidFill>
                                    <a:srgbClr val="1E293B"/>
                                  </a:solidFill>
                                  <a:latin typeface="Cambria Math" panose="02040503050406030204"/>
                                  <a:ea typeface="Cambria Math" panose="02040503050406030204"/>
                                </a:rPr>
                                <m:t>𝑚</m:t>
                              </m:r>
                            </m:num>
                            <m:den>
                              <m:r>
                                <a:rPr sz="1600" b="0" i="0">
                                  <a:solidFill>
                                    <a:srgbClr val="1E293B"/>
                                  </a:solidFill>
                                  <a:latin typeface="Cambria Math" panose="02040503050406030204"/>
                                  <a:ea typeface="Cambria Math" panose="02040503050406030204"/>
                                </a:rPr>
                                <m:t>2</m:t>
                              </m:r>
                            </m:den>
                          </m:f>
                        </m:e>
                      </m:d>
                      <m:r>
                        <a:rPr sz="1600" b="0" i="0">
                          <a:solidFill>
                            <a:srgbClr val="1E293B"/>
                          </a:solidFill>
                          <a:latin typeface="Cambria Math" panose="02040503050406030204"/>
                          <a:ea typeface="Cambria Math" panose="02040503050406030204"/>
                        </a:rPr>
                        <m:t>+</m:t>
                      </m:r>
                      <m:f>
                        <m:fPr>
                          <m:ctrlPr>
                            <a:rPr sz="1600" b="0">
                              <a:solidFill>
                                <a:srgbClr val="1E293B"/>
                              </a:solidFill>
                              <a:latin typeface="Cambria Math" panose="02040503050406030204"/>
                              <a:ea typeface="微软雅黑" panose="020B0503020204020204" charset="-122"/>
                            </a:rPr>
                          </m:ctrlPr>
                        </m:fPr>
                        <m:num>
                          <m:r>
                            <a:rPr sz="1600" b="0" i="1">
                              <a:solidFill>
                                <a:srgbClr val="1E293B"/>
                              </a:solidFill>
                              <a:latin typeface="Cambria Math" panose="02040503050406030204"/>
                              <a:ea typeface="Cambria Math" panose="02040503050406030204"/>
                            </a:rPr>
                            <m:t>𝑚</m:t>
                          </m:r>
                          <m:r>
                            <a:rPr sz="1600" b="0" i="0">
                              <a:solidFill>
                                <a:srgbClr val="1E293B"/>
                              </a:solidFill>
                              <a:latin typeface="Cambria Math" panose="02040503050406030204"/>
                              <a:ea typeface="Cambria Math" panose="02040503050406030204"/>
                            </a:rPr>
                            <m:t>−</m:t>
                          </m:r>
                          <m:r>
                            <a:rPr sz="1600" b="0" i="0">
                              <a:solidFill>
                                <a:srgbClr val="1E293B"/>
                              </a:solidFill>
                              <a:latin typeface="Cambria Math" panose="02040503050406030204"/>
                              <a:ea typeface="Cambria Math" panose="02040503050406030204"/>
                            </a:rPr>
                            <m:t>4</m:t>
                          </m:r>
                        </m:num>
                        <m:den>
                          <m:r>
                            <a:rPr sz="1600" b="0" i="0">
                              <a:solidFill>
                                <a:srgbClr val="1E293B"/>
                              </a:solidFill>
                              <a:latin typeface="Cambria Math" panose="02040503050406030204"/>
                              <a:ea typeface="Cambria Math" panose="02040503050406030204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sz="1600"/>
              </a:p>
            </p:txBody>
          </p:sp>
        </mc:Choice>
        <mc:Fallback>
          <p:sp>
            <p:nvSpPr>
              <p:cNvPr id="19" name="eq_d_2_0" descr="LaTeX: S(m)=2S(\frac{m}{2})+\frac{m-4}{2}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33875" y="3838575"/>
                <a:ext cx="6810375" cy="419100"/>
              </a:xfrm>
              <a:prstGeom prst="rect">
                <a:avLst/>
              </a:prstGeom>
              <a:blipFill rotWithShape="1">
                <a:blip r:embed="rId5"/>
                <a:stretch>
                  <a:fillRect b="-7727"/>
                </a:stretch>
              </a:blipFill>
              <a:ln w="0"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0" name="eq_d_2_1" descr="LaTeX: m^{\log_2 2}=m,\quad\frac{m-4}{2}=\Theta(m)"/>
              <p:cNvSpPr>
                <a:spLocks noGrp="1"/>
              </p:cNvSpPr>
              <p:nvPr/>
            </p:nvSpPr>
            <p:spPr>
              <a:xfrm>
                <a:off x="4333875" y="4257675"/>
                <a:ext cx="6810375" cy="419100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lIns="0" tIns="0" rIns="0" bIns="0" anchor="t"/>
              <a:lstStyle>
                <a:defPPr>
                  <a:defRPr sz="1600" b="0">
                    <a:solidFill>
                      <a:srgbClr val="1E293B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defRPr>
                </a:defPPr>
                <a:lvl1pPr>
                  <a:defRPr sz="1600" b="0">
                    <a:solidFill>
                      <a:srgbClr val="1E293B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defRPr>
                </a:lvl1pPr>
                <a:lvl2pPr>
                  <a:defRPr sz="1600" b="0">
                    <a:solidFill>
                      <a:srgbClr val="1E293B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defRPr>
                </a:lvl2pPr>
                <a:lvl3pPr>
                  <a:defRPr sz="1600" b="0">
                    <a:solidFill>
                      <a:srgbClr val="1E293B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defRPr>
                </a:lvl3pPr>
                <a:lvl4pPr>
                  <a:defRPr sz="1600" b="0">
                    <a:solidFill>
                      <a:srgbClr val="1E293B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defRPr>
                </a:lvl4pPr>
                <a:lvl5pPr>
                  <a:defRPr sz="1600" b="0">
                    <a:solidFill>
                      <a:srgbClr val="1E293B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defRPr>
                </a:lvl5pPr>
                <a:lvl6pPr>
                  <a:defRPr sz="1600" b="0">
                    <a:solidFill>
                      <a:srgbClr val="1E293B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defRPr>
                </a:lvl6pPr>
                <a:lvl7pPr>
                  <a:defRPr sz="1600" b="0">
                    <a:solidFill>
                      <a:srgbClr val="1E293B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defRPr>
                </a:lvl7pPr>
                <a:lvl8pPr>
                  <a:defRPr sz="1600" b="0">
                    <a:solidFill>
                      <a:srgbClr val="1E293B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defRPr>
                </a:lvl8pPr>
                <a:lvl9pPr>
                  <a:defRPr sz="1600" b="0">
                    <a:solidFill>
                      <a:srgbClr val="1E293B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defRPr>
                </a:lvl9pPr>
              </a:lstStyle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sz="1600" b="0">
                              <a:solidFill>
                                <a:srgbClr val="1E293B"/>
                              </a:solidFill>
                              <a:latin typeface="Cambria Math" panose="02040503050406030204"/>
                              <a:ea typeface="微软雅黑" panose="020B0503020204020204" charset="-122"/>
                            </a:rPr>
                          </m:ctrlPr>
                        </m:sSupPr>
                        <m:e>
                          <m:r>
                            <a:rPr sz="1600" b="0" i="1">
                              <a:solidFill>
                                <a:srgbClr val="1E293B"/>
                              </a:solidFill>
                              <a:latin typeface="Cambria Math" panose="02040503050406030204"/>
                              <a:ea typeface="Cambria Math" panose="02040503050406030204"/>
                            </a:rPr>
                            <m:t>𝑚</m:t>
                          </m:r>
                        </m:e>
                        <m:sup>
                          <m:sSub>
                            <m:sSubPr>
                              <m:ctrlPr>
                                <a:rPr sz="1600" b="0">
                                  <a:solidFill>
                                    <a:srgbClr val="1E293B"/>
                                  </a:solidFill>
                                  <a:latin typeface="Cambria Math" panose="02040503050406030204"/>
                                  <a:ea typeface="微软雅黑" panose="020B0503020204020204" charset="-122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sz="1600" b="0" i="0">
                                  <a:solidFill>
                                    <a:srgbClr val="1E293B"/>
                                  </a:solidFill>
                                  <a:latin typeface="Cambria Math" panose="02040503050406030204"/>
                                  <a:ea typeface="Cambria Math" panose="02040503050406030204"/>
                                </a:rPr>
                                <m:t>log</m:t>
                              </m:r>
                            </m:e>
                            <m:sub>
                              <m:r>
                                <a:rPr sz="1600" b="0" i="0">
                                  <a:solidFill>
                                    <a:srgbClr val="1E293B"/>
                                  </a:solidFill>
                                  <a:latin typeface="Cambria Math" panose="02040503050406030204"/>
                                  <a:ea typeface="Cambria Math" panose="02040503050406030204"/>
                                </a:rPr>
                                <m:t>2</m:t>
                              </m:r>
                            </m:sub>
                          </m:sSub>
                          <m:r>
                            <a:rPr sz="1600" b="0" i="0">
                              <a:solidFill>
                                <a:srgbClr val="1E293B"/>
                              </a:solidFill>
                              <a:latin typeface="Cambria Math" panose="02040503050406030204"/>
                              <a:ea typeface="Cambria Math" panose="02040503050406030204"/>
                            </a:rPr>
                            <m:t>2</m:t>
                          </m:r>
                        </m:sup>
                      </m:sSup>
                      <m:r>
                        <a:rPr sz="1600" b="0" i="0">
                          <a:solidFill>
                            <a:srgbClr val="1E293B"/>
                          </a:solidFill>
                          <a:latin typeface="Cambria Math" panose="02040503050406030204"/>
                          <a:ea typeface="Cambria Math" panose="02040503050406030204"/>
                        </a:rPr>
                        <m:t>=</m:t>
                      </m:r>
                      <m:r>
                        <a:rPr sz="1600" b="0" i="1">
                          <a:solidFill>
                            <a:srgbClr val="1E293B"/>
                          </a:solidFill>
                          <a:latin typeface="Cambria Math" panose="02040503050406030204"/>
                          <a:ea typeface="Cambria Math" panose="02040503050406030204"/>
                        </a:rPr>
                        <m:t>𝑚</m:t>
                      </m:r>
                      <m:r>
                        <a:rPr sz="1600" b="0" i="0">
                          <a:solidFill>
                            <a:srgbClr val="1E293B"/>
                          </a:solidFill>
                          <a:latin typeface="Cambria Math" panose="02040503050406030204"/>
                          <a:ea typeface="Cambria Math" panose="02040503050406030204"/>
                        </a:rPr>
                        <m:t>,</m:t>
                      </m:r>
                      <m:r>
                        <a:rPr sz="1600" b="0" i="0">
                          <a:solidFill>
                            <a:srgbClr val="1E293B"/>
                          </a:solidFill>
                          <a:latin typeface="Cambria Math" panose="02040503050406030204"/>
                          <a:ea typeface="Cambria Math" panose="02040503050406030204"/>
                        </a:rPr>
                        <m:t> </m:t>
                      </m:r>
                      <m:f>
                        <m:fPr>
                          <m:ctrlPr>
                            <a:rPr sz="1600" b="0">
                              <a:solidFill>
                                <a:srgbClr val="1E293B"/>
                              </a:solidFill>
                              <a:latin typeface="Cambria Math" panose="02040503050406030204"/>
                              <a:ea typeface="微软雅黑" panose="020B0503020204020204" charset="-122"/>
                            </a:rPr>
                          </m:ctrlPr>
                        </m:fPr>
                        <m:num>
                          <m:r>
                            <a:rPr sz="1600" b="0" i="1">
                              <a:solidFill>
                                <a:srgbClr val="1E293B"/>
                              </a:solidFill>
                              <a:latin typeface="Cambria Math" panose="02040503050406030204"/>
                              <a:ea typeface="Cambria Math" panose="02040503050406030204"/>
                            </a:rPr>
                            <m:t>𝑚</m:t>
                          </m:r>
                          <m:r>
                            <a:rPr sz="1600" b="0" i="0">
                              <a:solidFill>
                                <a:srgbClr val="1E293B"/>
                              </a:solidFill>
                              <a:latin typeface="Cambria Math" panose="02040503050406030204"/>
                              <a:ea typeface="Cambria Math" panose="02040503050406030204"/>
                            </a:rPr>
                            <m:t>−</m:t>
                          </m:r>
                          <m:r>
                            <a:rPr sz="1600" b="0" i="0">
                              <a:solidFill>
                                <a:srgbClr val="1E293B"/>
                              </a:solidFill>
                              <a:latin typeface="Cambria Math" panose="02040503050406030204"/>
                              <a:ea typeface="Cambria Math" panose="02040503050406030204"/>
                            </a:rPr>
                            <m:t>4</m:t>
                          </m:r>
                        </m:num>
                        <m:den>
                          <m:r>
                            <a:rPr sz="1600" b="0" i="0">
                              <a:solidFill>
                                <a:srgbClr val="1E293B"/>
                              </a:solidFill>
                              <a:latin typeface="Cambria Math" panose="02040503050406030204"/>
                              <a:ea typeface="Cambria Math" panose="02040503050406030204"/>
                            </a:rPr>
                            <m:t>2</m:t>
                          </m:r>
                        </m:den>
                      </m:f>
                      <m:r>
                        <a:rPr sz="1600" b="0" i="0">
                          <a:solidFill>
                            <a:srgbClr val="1E293B"/>
                          </a:solidFill>
                          <a:latin typeface="Cambria Math" panose="02040503050406030204"/>
                          <a:ea typeface="Cambria Math" panose="02040503050406030204"/>
                        </a:rPr>
                        <m:t>=</m:t>
                      </m:r>
                      <m:r>
                        <m:rPr>
                          <m:sty m:val="p"/>
                        </m:rPr>
                        <a:rPr sz="1600" b="0" i="0">
                          <a:solidFill>
                            <a:srgbClr val="1E293B"/>
                          </a:solidFill>
                          <a:latin typeface="Cambria Math" panose="02040503050406030204"/>
                          <a:ea typeface="Cambria Math" panose="02040503050406030204"/>
                        </a:rPr>
                        <m:t>Θ</m:t>
                      </m:r>
                      <m:d>
                        <m:dPr>
                          <m:ctrlPr>
                            <a:rPr sz="1600" b="0">
                              <a:solidFill>
                                <a:srgbClr val="1E293B"/>
                              </a:solidFill>
                              <a:latin typeface="Cambria Math" panose="02040503050406030204"/>
                              <a:ea typeface="微软雅黑" panose="020B0503020204020204" charset="-122"/>
                            </a:rPr>
                          </m:ctrlPr>
                        </m:dPr>
                        <m:e>
                          <m:r>
                            <a:rPr sz="1600" b="0" i="1">
                              <a:solidFill>
                                <a:srgbClr val="1E293B"/>
                              </a:solidFill>
                              <a:latin typeface="Cambria Math" panose="02040503050406030204"/>
                              <a:ea typeface="Cambria Math" panose="02040503050406030204"/>
                            </a:rPr>
                            <m:t>𝑚</m:t>
                          </m:r>
                        </m:e>
                      </m:d>
                    </m:oMath>
                  </m:oMathPara>
                </a14:m>
                <a:endParaRPr sz="1600"/>
              </a:p>
            </p:txBody>
          </p:sp>
        </mc:Choice>
        <mc:Fallback>
          <p:sp>
            <p:nvSpPr>
              <p:cNvPr id="20" name="eq_d_2_1" descr="LaTeX: m^{\log_2 2}=m,\quad\frac{m-4}{2}=\Theta(m)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33875" y="4257675"/>
                <a:ext cx="6810375" cy="419100"/>
              </a:xfrm>
              <a:prstGeom prst="rect">
                <a:avLst/>
              </a:prstGeom>
              <a:blipFill rotWithShape="1">
                <a:blip r:embed="rId6"/>
                <a:stretch>
                  <a:fillRect b="-7727"/>
                </a:stretch>
              </a:blipFill>
              <a:ln w="0"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step_d_3"/>
          <p:cNvSpPr>
            <a:spLocks noGrp="1"/>
          </p:cNvSpPr>
          <p:nvPr/>
        </p:nvSpPr>
        <p:spPr>
          <a:xfrm>
            <a:off x="952500" y="4714875"/>
            <a:ext cx="3048000" cy="2762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>
              <a:defRPr sz="1600" b="1">
                <a:solidFill>
                  <a:srgbClr val="1725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>
              <a:defRPr sz="1600" b="1">
                <a:solidFill>
                  <a:srgbClr val="1725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>
              <a:defRPr sz="1600" b="1">
                <a:solidFill>
                  <a:srgbClr val="1725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>
              <a:defRPr sz="1600" b="1">
                <a:solidFill>
                  <a:srgbClr val="1725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>
              <a:defRPr sz="1600" b="1">
                <a:solidFill>
                  <a:srgbClr val="1725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>
              <a:defRPr sz="1600" b="1">
                <a:solidFill>
                  <a:srgbClr val="1725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>
              <a:defRPr sz="1600" b="1">
                <a:solidFill>
                  <a:srgbClr val="1725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>
              <a:defRPr sz="1600" b="1">
                <a:solidFill>
                  <a:srgbClr val="1725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>
              <a:defRPr sz="1600" b="1">
                <a:solidFill>
                  <a:srgbClr val="1725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>
              <a:defRPr sz="1600" b="1">
                <a:solidFill>
                  <a:srgbClr val="1725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>
              <a:defRPr sz="1600" b="1">
                <a:solidFill>
                  <a:srgbClr val="1725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00" b="1">
                <a:solidFill>
                  <a:srgbClr val="1725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  求解并换回 n</a:t>
            </a:r>
            <a:endParaRPr sz="1600" b="1">
              <a:solidFill>
                <a:srgbClr val="17255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note_d_3"/>
          <p:cNvSpPr>
            <a:spLocks noGrp="1"/>
          </p:cNvSpPr>
          <p:nvPr/>
        </p:nvSpPr>
        <p:spPr>
          <a:xfrm>
            <a:off x="952500" y="5019675"/>
            <a:ext cx="3086100" cy="5238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>
              <a:defRPr sz="1300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>
              <a:defRPr sz="1300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>
              <a:defRPr sz="1300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>
              <a:defRPr sz="1300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>
              <a:defRPr sz="1300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>
              <a:defRPr sz="1300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>
              <a:defRPr sz="1300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>
              <a:defRPr sz="1300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>
              <a:defRPr sz="1300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>
              <a:defRPr sz="1300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>
              <a:defRPr sz="1300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00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主定理情况 2，且 m=n+4 与 n 同阶。</a:t>
            </a:r>
            <a:endParaRPr sz="1300" b="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3" name="eq_d_3_0" descr="LaTeX: S(m)=\Theta(m\lg m)"/>
              <p:cNvSpPr>
                <a:spLocks noGrp="1"/>
              </p:cNvSpPr>
              <p:nvPr/>
            </p:nvSpPr>
            <p:spPr>
              <a:xfrm>
                <a:off x="4333875" y="4695825"/>
                <a:ext cx="6810375" cy="419100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lIns="0" tIns="0" rIns="0" bIns="0" anchor="t"/>
              <a:lstStyle>
                <a:defPPr>
                  <a:defRPr sz="1600" b="0">
                    <a:solidFill>
                      <a:srgbClr val="1E293B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defRPr>
                </a:defPPr>
                <a:lvl1pPr>
                  <a:defRPr sz="1600" b="0">
                    <a:solidFill>
                      <a:srgbClr val="1E293B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defRPr>
                </a:lvl1pPr>
                <a:lvl2pPr>
                  <a:defRPr sz="1600" b="0">
                    <a:solidFill>
                      <a:srgbClr val="1E293B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defRPr>
                </a:lvl2pPr>
                <a:lvl3pPr>
                  <a:defRPr sz="1600" b="0">
                    <a:solidFill>
                      <a:srgbClr val="1E293B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defRPr>
                </a:lvl3pPr>
                <a:lvl4pPr>
                  <a:defRPr sz="1600" b="0">
                    <a:solidFill>
                      <a:srgbClr val="1E293B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defRPr>
                </a:lvl4pPr>
                <a:lvl5pPr>
                  <a:defRPr sz="1600" b="0">
                    <a:solidFill>
                      <a:srgbClr val="1E293B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defRPr>
                </a:lvl5pPr>
                <a:lvl6pPr>
                  <a:defRPr sz="1600" b="0">
                    <a:solidFill>
                      <a:srgbClr val="1E293B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defRPr>
                </a:lvl6pPr>
                <a:lvl7pPr>
                  <a:defRPr sz="1600" b="0">
                    <a:solidFill>
                      <a:srgbClr val="1E293B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defRPr>
                </a:lvl7pPr>
                <a:lvl8pPr>
                  <a:defRPr sz="1600" b="0">
                    <a:solidFill>
                      <a:srgbClr val="1E293B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defRPr>
                </a:lvl8pPr>
                <a:lvl9pPr>
                  <a:defRPr sz="1600" b="0">
                    <a:solidFill>
                      <a:srgbClr val="1E293B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defRPr>
                </a:lvl9pPr>
              </a:lstStyle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sz="1600" b="0" i="1">
                          <a:solidFill>
                            <a:srgbClr val="1E293B"/>
                          </a:solidFill>
                          <a:latin typeface="Cambria Math" panose="02040503050406030204"/>
                          <a:ea typeface="Cambria Math" panose="02040503050406030204"/>
                        </a:rPr>
                        <m:t>𝑆</m:t>
                      </m:r>
                      <m:d>
                        <m:dPr>
                          <m:ctrlPr>
                            <a:rPr sz="1600" b="0">
                              <a:solidFill>
                                <a:srgbClr val="1E293B"/>
                              </a:solidFill>
                              <a:latin typeface="Cambria Math" panose="02040503050406030204"/>
                              <a:ea typeface="微软雅黑" panose="020B0503020204020204" charset="-122"/>
                            </a:rPr>
                          </m:ctrlPr>
                        </m:dPr>
                        <m:e>
                          <m:r>
                            <a:rPr sz="1600" b="0" i="1">
                              <a:solidFill>
                                <a:srgbClr val="1E293B"/>
                              </a:solidFill>
                              <a:latin typeface="Cambria Math" panose="02040503050406030204"/>
                              <a:ea typeface="Cambria Math" panose="02040503050406030204"/>
                            </a:rPr>
                            <m:t>𝑚</m:t>
                          </m:r>
                        </m:e>
                      </m:d>
                      <m:r>
                        <a:rPr sz="1600" b="0" i="0">
                          <a:solidFill>
                            <a:srgbClr val="1E293B"/>
                          </a:solidFill>
                          <a:latin typeface="Cambria Math" panose="02040503050406030204"/>
                          <a:ea typeface="Cambria Math" panose="02040503050406030204"/>
                        </a:rPr>
                        <m:t>=</m:t>
                      </m:r>
                      <m:r>
                        <m:rPr>
                          <m:sty m:val="p"/>
                        </m:rPr>
                        <a:rPr sz="1600" b="0" i="0">
                          <a:solidFill>
                            <a:srgbClr val="1E293B"/>
                          </a:solidFill>
                          <a:latin typeface="Cambria Math" panose="02040503050406030204"/>
                          <a:ea typeface="Cambria Math" panose="02040503050406030204"/>
                        </a:rPr>
                        <m:t>Θ</m:t>
                      </m:r>
                      <m:d>
                        <m:dPr>
                          <m:ctrlPr>
                            <a:rPr sz="1600" b="0">
                              <a:solidFill>
                                <a:srgbClr val="1E293B"/>
                              </a:solidFill>
                              <a:latin typeface="Cambria Math" panose="02040503050406030204"/>
                              <a:ea typeface="微软雅黑" panose="020B0503020204020204" charset="-122"/>
                            </a:rPr>
                          </m:ctrlPr>
                        </m:dPr>
                        <m:e>
                          <m:r>
                            <a:rPr sz="1600" b="0" i="1">
                              <a:solidFill>
                                <a:srgbClr val="1E293B"/>
                              </a:solidFill>
                              <a:latin typeface="Cambria Math" panose="02040503050406030204"/>
                              <a:ea typeface="Cambria Math" panose="02040503050406030204"/>
                            </a:rPr>
                            <m:t>𝑚</m:t>
                          </m:r>
                          <m:r>
                            <m:rPr>
                              <m:sty m:val="p"/>
                            </m:rPr>
                            <a:rPr sz="1600" b="0" i="0">
                              <a:solidFill>
                                <a:srgbClr val="1E293B"/>
                              </a:solidFill>
                              <a:latin typeface="Cambria Math" panose="02040503050406030204"/>
                              <a:ea typeface="Cambria Math" panose="02040503050406030204"/>
                            </a:rPr>
                            <m:t>lg</m:t>
                          </m:r>
                          <m:r>
                            <a:rPr sz="1600" b="0" i="1">
                              <a:solidFill>
                                <a:srgbClr val="1E293B"/>
                              </a:solidFill>
                              <a:latin typeface="Cambria Math" panose="02040503050406030204"/>
                              <a:ea typeface="Cambria Math" panose="02040503050406030204"/>
                            </a:rPr>
                            <m:t>𝑚</m:t>
                          </m:r>
                        </m:e>
                      </m:d>
                    </m:oMath>
                  </m:oMathPara>
                </a14:m>
                <a:endParaRPr sz="1600"/>
              </a:p>
            </p:txBody>
          </p:sp>
        </mc:Choice>
        <mc:Fallback>
          <p:sp>
            <p:nvSpPr>
              <p:cNvPr id="23" name="eq_d_3_0" descr="LaTeX: S(m)=\Theta(m\lg m)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33875" y="4695825"/>
                <a:ext cx="6810375" cy="419100"/>
              </a:xfrm>
              <a:prstGeom prst="rect">
                <a:avLst/>
              </a:prstGeom>
              <a:blipFill rotWithShape="1">
                <a:blip r:embed="rId7"/>
                <a:stretch>
                  <a:fillRect/>
                </a:stretch>
              </a:blipFill>
              <a:ln w="0"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4" name="eq_d_3_1" descr="LaTeX: T(n)=\Theta((n+4)\lg(n+4))"/>
              <p:cNvSpPr>
                <a:spLocks noGrp="1"/>
              </p:cNvSpPr>
              <p:nvPr/>
            </p:nvSpPr>
            <p:spPr>
              <a:xfrm>
                <a:off x="4333875" y="5114925"/>
                <a:ext cx="6810375" cy="419100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lIns="0" tIns="0" rIns="0" bIns="0" anchor="t"/>
              <a:lstStyle>
                <a:defPPr>
                  <a:defRPr sz="1600" b="0">
                    <a:solidFill>
                      <a:srgbClr val="1E293B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defRPr>
                </a:defPPr>
                <a:lvl1pPr>
                  <a:defRPr sz="1600" b="0">
                    <a:solidFill>
                      <a:srgbClr val="1E293B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defRPr>
                </a:lvl1pPr>
                <a:lvl2pPr>
                  <a:defRPr sz="1600" b="0">
                    <a:solidFill>
                      <a:srgbClr val="1E293B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defRPr>
                </a:lvl2pPr>
                <a:lvl3pPr>
                  <a:defRPr sz="1600" b="0">
                    <a:solidFill>
                      <a:srgbClr val="1E293B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defRPr>
                </a:lvl3pPr>
                <a:lvl4pPr>
                  <a:defRPr sz="1600" b="0">
                    <a:solidFill>
                      <a:srgbClr val="1E293B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defRPr>
                </a:lvl4pPr>
                <a:lvl5pPr>
                  <a:defRPr sz="1600" b="0">
                    <a:solidFill>
                      <a:srgbClr val="1E293B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defRPr>
                </a:lvl5pPr>
                <a:lvl6pPr>
                  <a:defRPr sz="1600" b="0">
                    <a:solidFill>
                      <a:srgbClr val="1E293B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defRPr>
                </a:lvl6pPr>
                <a:lvl7pPr>
                  <a:defRPr sz="1600" b="0">
                    <a:solidFill>
                      <a:srgbClr val="1E293B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defRPr>
                </a:lvl7pPr>
                <a:lvl8pPr>
                  <a:defRPr sz="1600" b="0">
                    <a:solidFill>
                      <a:srgbClr val="1E293B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defRPr>
                </a:lvl8pPr>
                <a:lvl9pPr>
                  <a:defRPr sz="1600" b="0">
                    <a:solidFill>
                      <a:srgbClr val="1E293B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defRPr>
                </a:lvl9pPr>
              </a:lstStyle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sz="1600" b="0" i="1">
                          <a:solidFill>
                            <a:srgbClr val="1E293B"/>
                          </a:solidFill>
                          <a:latin typeface="Cambria Math" panose="02040503050406030204"/>
                          <a:ea typeface="Cambria Math" panose="02040503050406030204"/>
                        </a:rPr>
                        <m:t>𝑇</m:t>
                      </m:r>
                      <m:d>
                        <m:dPr>
                          <m:ctrlPr>
                            <a:rPr sz="1600" b="0">
                              <a:solidFill>
                                <a:srgbClr val="1E293B"/>
                              </a:solidFill>
                              <a:latin typeface="Cambria Math" panose="02040503050406030204"/>
                              <a:ea typeface="微软雅黑" panose="020B0503020204020204" charset="-122"/>
                            </a:rPr>
                          </m:ctrlPr>
                        </m:dPr>
                        <m:e>
                          <m:r>
                            <a:rPr sz="1600" b="0" i="1">
                              <a:solidFill>
                                <a:srgbClr val="1E293B"/>
                              </a:solidFill>
                              <a:latin typeface="Cambria Math" panose="02040503050406030204"/>
                              <a:ea typeface="Cambria Math" panose="02040503050406030204"/>
                            </a:rPr>
                            <m:t>𝑛</m:t>
                          </m:r>
                        </m:e>
                      </m:d>
                      <m:r>
                        <a:rPr sz="1600" b="0" i="0">
                          <a:solidFill>
                            <a:srgbClr val="1E293B"/>
                          </a:solidFill>
                          <a:latin typeface="Cambria Math" panose="02040503050406030204"/>
                          <a:ea typeface="Cambria Math" panose="02040503050406030204"/>
                        </a:rPr>
                        <m:t>=</m:t>
                      </m:r>
                      <m:r>
                        <m:rPr>
                          <m:sty m:val="p"/>
                        </m:rPr>
                        <a:rPr sz="1600" b="0" i="0">
                          <a:solidFill>
                            <a:srgbClr val="1E293B"/>
                          </a:solidFill>
                          <a:latin typeface="Cambria Math" panose="02040503050406030204"/>
                          <a:ea typeface="Cambria Math" panose="02040503050406030204"/>
                        </a:rPr>
                        <m:t>Θ</m:t>
                      </m:r>
                      <m:d>
                        <m:dPr>
                          <m:ctrlPr>
                            <a:rPr sz="1600" b="0">
                              <a:solidFill>
                                <a:srgbClr val="1E293B"/>
                              </a:solidFill>
                              <a:latin typeface="Cambria Math" panose="02040503050406030204"/>
                              <a:ea typeface="微软雅黑" panose="020B0503020204020204" charset="-122"/>
                            </a:rPr>
                          </m:ctrlPr>
                        </m:dPr>
                        <m:e>
                          <m:d>
                            <m:dPr>
                              <m:ctrlPr>
                                <a:rPr sz="1600" b="0">
                                  <a:solidFill>
                                    <a:srgbClr val="1E293B"/>
                                  </a:solidFill>
                                  <a:latin typeface="Cambria Math" panose="02040503050406030204"/>
                                  <a:ea typeface="微软雅黑" panose="020B0503020204020204" charset="-122"/>
                                </a:rPr>
                              </m:ctrlPr>
                            </m:dPr>
                            <m:e>
                              <m:r>
                                <a:rPr sz="1600" b="0" i="1">
                                  <a:solidFill>
                                    <a:srgbClr val="1E293B"/>
                                  </a:solidFill>
                                  <a:latin typeface="Cambria Math" panose="02040503050406030204"/>
                                  <a:ea typeface="Cambria Math" panose="02040503050406030204"/>
                                </a:rPr>
                                <m:t>𝑛</m:t>
                              </m:r>
                              <m:r>
                                <a:rPr sz="1600" b="0" i="0">
                                  <a:solidFill>
                                    <a:srgbClr val="1E293B"/>
                                  </a:solidFill>
                                  <a:latin typeface="Cambria Math" panose="02040503050406030204"/>
                                  <a:ea typeface="Cambria Math" panose="02040503050406030204"/>
                                </a:rPr>
                                <m:t>+</m:t>
                              </m:r>
                              <m:r>
                                <a:rPr sz="1600" b="0" i="0">
                                  <a:solidFill>
                                    <a:srgbClr val="1E293B"/>
                                  </a:solidFill>
                                  <a:latin typeface="Cambria Math" panose="02040503050406030204"/>
                                  <a:ea typeface="Cambria Math" panose="02040503050406030204"/>
                                </a:rPr>
                                <m:t>4</m:t>
                              </m:r>
                            </m:e>
                          </m:d>
                          <m:r>
                            <m:rPr>
                              <m:sty m:val="p"/>
                            </m:rPr>
                            <a:rPr sz="1600" b="0" i="0">
                              <a:solidFill>
                                <a:srgbClr val="1E293B"/>
                              </a:solidFill>
                              <a:latin typeface="Cambria Math" panose="02040503050406030204"/>
                              <a:ea typeface="Cambria Math" panose="02040503050406030204"/>
                            </a:rPr>
                            <m:t>lg</m:t>
                          </m:r>
                          <m:d>
                            <m:dPr>
                              <m:ctrlPr>
                                <a:rPr sz="1600" b="0">
                                  <a:solidFill>
                                    <a:srgbClr val="1E293B"/>
                                  </a:solidFill>
                                  <a:latin typeface="Cambria Math" panose="02040503050406030204"/>
                                  <a:ea typeface="微软雅黑" panose="020B0503020204020204" charset="-122"/>
                                </a:rPr>
                              </m:ctrlPr>
                            </m:dPr>
                            <m:e>
                              <m:r>
                                <a:rPr sz="1600" b="0" i="1">
                                  <a:solidFill>
                                    <a:srgbClr val="1E293B"/>
                                  </a:solidFill>
                                  <a:latin typeface="Cambria Math" panose="02040503050406030204"/>
                                  <a:ea typeface="Cambria Math" panose="02040503050406030204"/>
                                </a:rPr>
                                <m:t>𝑛</m:t>
                              </m:r>
                              <m:r>
                                <a:rPr sz="1600" b="0" i="0">
                                  <a:solidFill>
                                    <a:srgbClr val="1E293B"/>
                                  </a:solidFill>
                                  <a:latin typeface="Cambria Math" panose="02040503050406030204"/>
                                  <a:ea typeface="Cambria Math" panose="02040503050406030204"/>
                                </a:rPr>
                                <m:t>+</m:t>
                              </m:r>
                              <m:r>
                                <a:rPr sz="1600" b="0" i="0">
                                  <a:solidFill>
                                    <a:srgbClr val="1E293B"/>
                                  </a:solidFill>
                                  <a:latin typeface="Cambria Math" panose="02040503050406030204"/>
                                  <a:ea typeface="Cambria Math" panose="02040503050406030204"/>
                                </a:rPr>
                                <m:t>4</m:t>
                              </m:r>
                            </m:e>
                          </m:d>
                        </m:e>
                      </m:d>
                    </m:oMath>
                  </m:oMathPara>
                </a14:m>
                <a:endParaRPr sz="1600"/>
              </a:p>
            </p:txBody>
          </p:sp>
        </mc:Choice>
        <mc:Fallback>
          <p:sp>
            <p:nvSpPr>
              <p:cNvPr id="24" name="eq_d_3_1" descr="LaTeX: T(n)=\Theta((n+4)\lg(n+4))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33875" y="5114925"/>
                <a:ext cx="6810375" cy="419100"/>
              </a:xfrm>
              <a:prstGeom prst="rect">
                <a:avLst/>
              </a:prstGeom>
              <a:blipFill rotWithShape="1">
                <a:blip r:embed="rId8"/>
                <a:stretch>
                  <a:fillRect/>
                </a:stretch>
              </a:blipFill>
              <a:ln w="0"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5" name="eq_d_result" descr="LaTeX: T(n)=\Theta(n\lg n)"/>
              <p:cNvSpPr>
                <a:spLocks noGrp="1"/>
              </p:cNvSpPr>
              <p:nvPr/>
            </p:nvSpPr>
            <p:spPr>
              <a:xfrm>
                <a:off x="4333875" y="5743575"/>
                <a:ext cx="6810375" cy="409575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lIns="0" tIns="0" rIns="0" bIns="0" anchor="t"/>
              <a:lstStyle>
                <a:defPPr>
                  <a:defRPr sz="1700" b="1">
                    <a:solidFill>
                      <a:srgbClr val="2563EB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defRPr>
                </a:defPPr>
                <a:lvl1pPr>
                  <a:defRPr sz="1700" b="1">
                    <a:solidFill>
                      <a:srgbClr val="2563EB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defRPr>
                </a:lvl1pPr>
                <a:lvl2pPr>
                  <a:defRPr sz="1700" b="1">
                    <a:solidFill>
                      <a:srgbClr val="2563EB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defRPr>
                </a:lvl2pPr>
                <a:lvl3pPr>
                  <a:defRPr sz="1700" b="1">
                    <a:solidFill>
                      <a:srgbClr val="2563EB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defRPr>
                </a:lvl3pPr>
                <a:lvl4pPr>
                  <a:defRPr sz="1700" b="1">
                    <a:solidFill>
                      <a:srgbClr val="2563EB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defRPr>
                </a:lvl4pPr>
                <a:lvl5pPr>
                  <a:defRPr sz="1700" b="1">
                    <a:solidFill>
                      <a:srgbClr val="2563EB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defRPr>
                </a:lvl5pPr>
                <a:lvl6pPr>
                  <a:defRPr sz="1700" b="1">
                    <a:solidFill>
                      <a:srgbClr val="2563EB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defRPr>
                </a:lvl6pPr>
                <a:lvl7pPr>
                  <a:defRPr sz="1700" b="1">
                    <a:solidFill>
                      <a:srgbClr val="2563EB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defRPr>
                </a:lvl7pPr>
                <a:lvl8pPr>
                  <a:defRPr sz="1700" b="1">
                    <a:solidFill>
                      <a:srgbClr val="2563EB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defRPr>
                </a:lvl8pPr>
                <a:lvl9pPr>
                  <a:defRPr sz="1700" b="1">
                    <a:solidFill>
                      <a:srgbClr val="2563EB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defRPr>
                </a:lvl9pPr>
              </a:lstStyle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sz="1700" b="1" i="1">
                          <a:solidFill>
                            <a:srgbClr val="2563EB"/>
                          </a:solidFill>
                          <a:latin typeface="Cambria Math" panose="02040503050406030204"/>
                          <a:ea typeface="Cambria Math" panose="02040503050406030204"/>
                        </a:rPr>
                        <m:t>𝑇</m:t>
                      </m:r>
                      <m:d>
                        <m:dPr>
                          <m:ctrlPr>
                            <a:rPr sz="1700" b="1">
                              <a:solidFill>
                                <a:srgbClr val="2563EB"/>
                              </a:solidFill>
                              <a:latin typeface="Cambria Math" panose="02040503050406030204"/>
                              <a:ea typeface="微软雅黑" panose="020B0503020204020204" charset="-122"/>
                            </a:rPr>
                          </m:ctrlPr>
                        </m:dPr>
                        <m:e>
                          <m:r>
                            <a:rPr sz="1700" b="1" i="1">
                              <a:solidFill>
                                <a:srgbClr val="2563EB"/>
                              </a:solidFill>
                              <a:latin typeface="Cambria Math" panose="02040503050406030204"/>
                              <a:ea typeface="Cambria Math" panose="02040503050406030204"/>
                            </a:rPr>
                            <m:t>𝑛</m:t>
                          </m:r>
                        </m:e>
                      </m:d>
                      <m:r>
                        <a:rPr sz="1700" b="1" i="0">
                          <a:solidFill>
                            <a:srgbClr val="2563EB"/>
                          </a:solidFill>
                          <a:latin typeface="Cambria Math" panose="02040503050406030204"/>
                          <a:ea typeface="Cambria Math" panose="02040503050406030204"/>
                        </a:rPr>
                        <m:t>=</m:t>
                      </m:r>
                      <m:r>
                        <m:rPr>
                          <m:sty m:val="p"/>
                        </m:rPr>
                        <a:rPr sz="1700" b="1" i="0">
                          <a:solidFill>
                            <a:srgbClr val="2563EB"/>
                          </a:solidFill>
                          <a:latin typeface="Cambria Math" panose="02040503050406030204"/>
                          <a:ea typeface="Cambria Math" panose="02040503050406030204"/>
                        </a:rPr>
                        <m:t>Θ</m:t>
                      </m:r>
                      <m:d>
                        <m:dPr>
                          <m:ctrlPr>
                            <a:rPr sz="1700" b="1">
                              <a:solidFill>
                                <a:srgbClr val="2563EB"/>
                              </a:solidFill>
                              <a:latin typeface="Cambria Math" panose="02040503050406030204"/>
                              <a:ea typeface="微软雅黑" panose="020B0503020204020204" charset="-122"/>
                            </a:rPr>
                          </m:ctrlPr>
                        </m:dPr>
                        <m:e>
                          <m:r>
                            <a:rPr sz="1700" b="1" i="1">
                              <a:solidFill>
                                <a:srgbClr val="2563EB"/>
                              </a:solidFill>
                              <a:latin typeface="Cambria Math" panose="02040503050406030204"/>
                              <a:ea typeface="Cambria Math" panose="02040503050406030204"/>
                            </a:rPr>
                            <m:t>𝑛</m:t>
                          </m:r>
                          <m:r>
                            <m:rPr>
                              <m:sty m:val="p"/>
                            </m:rPr>
                            <a:rPr sz="1700" b="1" i="0">
                              <a:solidFill>
                                <a:srgbClr val="2563EB"/>
                              </a:solidFill>
                              <a:latin typeface="Cambria Math" panose="02040503050406030204"/>
                              <a:ea typeface="Cambria Math" panose="02040503050406030204"/>
                            </a:rPr>
                            <m:t>lg</m:t>
                          </m:r>
                          <m:r>
                            <a:rPr sz="1700" b="1" i="1">
                              <a:solidFill>
                                <a:srgbClr val="2563EB"/>
                              </a:solidFill>
                              <a:latin typeface="Cambria Math" panose="02040503050406030204"/>
                              <a:ea typeface="Cambria Math" panose="02040503050406030204"/>
                            </a:rPr>
                            <m:t>𝑛</m:t>
                          </m:r>
                        </m:e>
                      </m:d>
                    </m:oMath>
                  </m:oMathPara>
                </a14:m>
                <a:endParaRPr sz="1700"/>
              </a:p>
            </p:txBody>
          </p:sp>
        </mc:Choice>
        <mc:Fallback>
          <p:sp>
            <p:nvSpPr>
              <p:cNvPr id="25" name="eq_d_result" descr="LaTeX: T(n)=\Theta(n\lg n)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33875" y="5743575"/>
                <a:ext cx="6810375" cy="409575"/>
              </a:xfrm>
              <a:prstGeom prst="rect">
                <a:avLst/>
              </a:prstGeom>
              <a:blipFill rotWithShape="1">
                <a:blip r:embed="rId9"/>
                <a:stretch>
                  <a:fillRect/>
                </a:stretch>
              </a:blipFill>
              <a:ln w="0"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6" name="result_label_d"/>
          <p:cNvSpPr>
            <a:spLocks noGrp="1"/>
          </p:cNvSpPr>
          <p:nvPr/>
        </p:nvSpPr>
        <p:spPr>
          <a:xfrm>
            <a:off x="952500" y="5781675"/>
            <a:ext cx="3048000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>
              <a:defRPr sz="1600" b="1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>
              <a:defRPr sz="1600" b="1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>
              <a:defRPr sz="1600" b="1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>
              <a:defRPr sz="1600" b="1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>
              <a:defRPr sz="1600" b="1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>
              <a:defRPr sz="1600" b="1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>
              <a:defRPr sz="1600" b="1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>
              <a:defRPr sz="1600" b="1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>
              <a:defRPr sz="1600" b="1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>
              <a:defRPr sz="1600" b="1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>
              <a:defRPr sz="1600" b="1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00" b="1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紧确渐近界</a:t>
            </a:r>
            <a:endParaRPr sz="1600" b="1">
              <a:solidFill>
                <a:srgbClr val="2563E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>
            <a:spLocks noGrp="1"/>
          </p:cNvSpPr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3" name="TextBox 2"/>
          <p:cNvSpPr>
            <a:spLocks noGrp="1"/>
          </p:cNvSpPr>
          <p:nvPr/>
        </p:nvSpPr>
        <p:spPr>
          <a:xfrm>
            <a:off x="502920" y="292608"/>
            <a:ext cx="10881360" cy="512064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>
            <a:defPPr>
              <a:defRPr sz="2400"/>
            </a:defPPr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algn="l">
              <a:spcAft>
                <a:spcPts val="500"/>
              </a:spcAft>
              <a:buNone/>
            </a:pPr>
            <a:r>
              <a:rPr sz="2400" b="1" i="0">
                <a:solidFill>
                  <a:srgbClr val="1725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题目解析（e）</a:t>
            </a:r>
            <a:endParaRPr sz="2400" b="1" i="0">
              <a:solidFill>
                <a:srgbClr val="17255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TextBox 3"/>
          <p:cNvSpPr>
            <a:spLocks noGrp="1"/>
          </p:cNvSpPr>
          <p:nvPr/>
        </p:nvSpPr>
        <p:spPr>
          <a:xfrm>
            <a:off x="530352" y="804672"/>
            <a:ext cx="10972800" cy="329184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>
            <a:defPPr>
              <a:defRPr sz="1200"/>
            </a:defPPr>
            <a:lvl1pPr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algn="l">
              <a:spcAft>
                <a:spcPts val="500"/>
              </a:spcAft>
              <a:buNone/>
            </a:pPr>
            <a:r>
              <a:rPr sz="1200" b="0" i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递归树与调和级数：与（b）同类，分支数和缩小倍数均为 2</a:t>
            </a:r>
            <a:endParaRPr sz="1200" b="0" i="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TextBox 4"/>
          <p:cNvSpPr>
            <a:spLocks noGrp="1"/>
          </p:cNvSpPr>
          <p:nvPr/>
        </p:nvSpPr>
        <p:spPr>
          <a:xfrm>
            <a:off x="9555480" y="6510528"/>
            <a:ext cx="2103120" cy="18288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r">
              <a:spcAft>
                <a:spcPts val="500"/>
              </a:spcAft>
              <a:buNone/>
            </a:pPr>
            <a:r>
              <a:rPr sz="900" b="0" i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递推式与渐近分析</a:t>
            </a:r>
            <a:endParaRPr sz="900" b="0" i="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extBox 5"/>
          <p:cNvSpPr>
            <a:spLocks noGrp="1"/>
          </p:cNvSpPr>
          <p:nvPr/>
        </p:nvSpPr>
        <p:spPr>
          <a:xfrm>
            <a:off x="502920" y="6510528"/>
            <a:ext cx="1371600" cy="283464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500"/>
              </a:spcAft>
              <a:buNone/>
            </a:pPr>
            <a:r>
              <a:rPr sz="900" b="0" i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算法设计 · 10</a:t>
            </a:r>
            <a:endParaRPr sz="900" b="0" i="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Rounded Rectangle 6"/>
          <p:cNvSpPr>
            <a:spLocks noGrp="1"/>
          </p:cNvSpPr>
          <p:nvPr/>
        </p:nvSpPr>
        <p:spPr>
          <a:xfrm>
            <a:off x="640080" y="1280160"/>
            <a:ext cx="10927080" cy="49149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8" name="Rectangle 7"/>
          <p:cNvSpPr>
            <a:spLocks noGrp="1"/>
          </p:cNvSpPr>
          <p:nvPr/>
        </p:nvSpPr>
        <p:spPr>
          <a:xfrm>
            <a:off x="640080" y="1280160"/>
            <a:ext cx="73152" cy="4914900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eq_e_recurrence" descr="LaTeX: T(n)=2T(\frac{n}{2})+\frac{n}{\lg n}"/>
              <p:cNvSpPr>
                <a:spLocks noGrp="1"/>
              </p:cNvSpPr>
              <p:nvPr/>
            </p:nvSpPr>
            <p:spPr>
              <a:xfrm>
                <a:off x="952500" y="1457325"/>
                <a:ext cx="10287000" cy="552450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lIns="0" tIns="0" rIns="0" bIns="0" anchor="t"/>
              <a:lstStyle>
                <a:defPPr>
                  <a:defRPr sz="1700" b="1">
                    <a:solidFill>
                      <a:srgbClr val="2563EB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defRPr>
                </a:defPPr>
                <a:lvl1pPr>
                  <a:defRPr sz="1700" b="1">
                    <a:solidFill>
                      <a:srgbClr val="2563EB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defRPr>
                </a:lvl1pPr>
                <a:lvl2pPr>
                  <a:defRPr sz="1700" b="1">
                    <a:solidFill>
                      <a:srgbClr val="2563EB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defRPr>
                </a:lvl2pPr>
                <a:lvl3pPr>
                  <a:defRPr sz="1700" b="1">
                    <a:solidFill>
                      <a:srgbClr val="2563EB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defRPr>
                </a:lvl3pPr>
                <a:lvl4pPr>
                  <a:defRPr sz="1700" b="1">
                    <a:solidFill>
                      <a:srgbClr val="2563EB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defRPr>
                </a:lvl4pPr>
                <a:lvl5pPr>
                  <a:defRPr sz="1700" b="1">
                    <a:solidFill>
                      <a:srgbClr val="2563EB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defRPr>
                </a:lvl5pPr>
                <a:lvl6pPr>
                  <a:defRPr sz="1700" b="1">
                    <a:solidFill>
                      <a:srgbClr val="2563EB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defRPr>
                </a:lvl6pPr>
                <a:lvl7pPr>
                  <a:defRPr sz="1700" b="1">
                    <a:solidFill>
                      <a:srgbClr val="2563EB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defRPr>
                </a:lvl7pPr>
                <a:lvl8pPr>
                  <a:defRPr sz="1700" b="1">
                    <a:solidFill>
                      <a:srgbClr val="2563EB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defRPr>
                </a:lvl8pPr>
                <a:lvl9pPr>
                  <a:defRPr sz="1700" b="1">
                    <a:solidFill>
                      <a:srgbClr val="2563EB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defRPr>
                </a:lvl9pPr>
              </a:lstStyle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sz="1700" b="1" i="1">
                          <a:solidFill>
                            <a:srgbClr val="2563EB"/>
                          </a:solidFill>
                          <a:latin typeface="Cambria Math" panose="02040503050406030204"/>
                          <a:ea typeface="Cambria Math" panose="02040503050406030204"/>
                        </a:rPr>
                        <m:t>𝑇</m:t>
                      </m:r>
                      <m:d>
                        <m:dPr>
                          <m:ctrlPr>
                            <a:rPr sz="1700" b="1">
                              <a:solidFill>
                                <a:srgbClr val="2563EB"/>
                              </a:solidFill>
                              <a:latin typeface="Cambria Math" panose="02040503050406030204"/>
                              <a:ea typeface="微软雅黑" panose="020B0503020204020204" charset="-122"/>
                            </a:rPr>
                          </m:ctrlPr>
                        </m:dPr>
                        <m:e>
                          <m:r>
                            <a:rPr sz="1700" b="1" i="1">
                              <a:solidFill>
                                <a:srgbClr val="2563EB"/>
                              </a:solidFill>
                              <a:latin typeface="Cambria Math" panose="02040503050406030204"/>
                              <a:ea typeface="Cambria Math" panose="02040503050406030204"/>
                            </a:rPr>
                            <m:t>𝑛</m:t>
                          </m:r>
                        </m:e>
                      </m:d>
                      <m:r>
                        <a:rPr sz="1700" b="1" i="0">
                          <a:solidFill>
                            <a:srgbClr val="2563EB"/>
                          </a:solidFill>
                          <a:latin typeface="Cambria Math" panose="02040503050406030204"/>
                          <a:ea typeface="Cambria Math" panose="02040503050406030204"/>
                        </a:rPr>
                        <m:t>=</m:t>
                      </m:r>
                      <m:r>
                        <a:rPr sz="1700" b="1" i="0">
                          <a:solidFill>
                            <a:srgbClr val="2563EB"/>
                          </a:solidFill>
                          <a:latin typeface="Cambria Math" panose="02040503050406030204"/>
                          <a:ea typeface="Cambria Math" panose="02040503050406030204"/>
                        </a:rPr>
                        <m:t>2</m:t>
                      </m:r>
                      <m:r>
                        <a:rPr sz="1700" b="1" i="1">
                          <a:solidFill>
                            <a:srgbClr val="2563EB"/>
                          </a:solidFill>
                          <a:latin typeface="Cambria Math" panose="02040503050406030204"/>
                          <a:ea typeface="Cambria Math" panose="02040503050406030204"/>
                        </a:rPr>
                        <m:t>𝑇</m:t>
                      </m:r>
                      <m:d>
                        <m:dPr>
                          <m:ctrlPr>
                            <a:rPr sz="1700" b="1">
                              <a:solidFill>
                                <a:srgbClr val="2563EB"/>
                              </a:solidFill>
                              <a:latin typeface="Cambria Math" panose="02040503050406030204"/>
                              <a:ea typeface="微软雅黑" panose="020B0503020204020204" charset="-122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sz="1700" b="1">
                                  <a:solidFill>
                                    <a:srgbClr val="2563EB"/>
                                  </a:solidFill>
                                  <a:latin typeface="Cambria Math" panose="02040503050406030204"/>
                                  <a:ea typeface="微软雅黑" panose="020B0503020204020204" charset="-122"/>
                                </a:rPr>
                              </m:ctrlPr>
                            </m:fPr>
                            <m:num>
                              <m:r>
                                <a:rPr sz="1700" b="1" i="1">
                                  <a:solidFill>
                                    <a:srgbClr val="2563EB"/>
                                  </a:solidFill>
                                  <a:latin typeface="Cambria Math" panose="02040503050406030204"/>
                                  <a:ea typeface="Cambria Math" panose="02040503050406030204"/>
                                </a:rPr>
                                <m:t>𝑛</m:t>
                              </m:r>
                            </m:num>
                            <m:den>
                              <m:r>
                                <a:rPr sz="1700" b="1" i="0">
                                  <a:solidFill>
                                    <a:srgbClr val="2563EB"/>
                                  </a:solidFill>
                                  <a:latin typeface="Cambria Math" panose="02040503050406030204"/>
                                  <a:ea typeface="Cambria Math" panose="02040503050406030204"/>
                                </a:rPr>
                                <m:t>2</m:t>
                              </m:r>
                            </m:den>
                          </m:f>
                        </m:e>
                      </m:d>
                      <m:r>
                        <a:rPr sz="1700" b="1" i="0">
                          <a:solidFill>
                            <a:srgbClr val="2563EB"/>
                          </a:solidFill>
                          <a:latin typeface="Cambria Math" panose="02040503050406030204"/>
                          <a:ea typeface="Cambria Math" panose="02040503050406030204"/>
                        </a:rPr>
                        <m:t>+</m:t>
                      </m:r>
                      <m:f>
                        <m:fPr>
                          <m:ctrlPr>
                            <a:rPr sz="1700" b="1">
                              <a:solidFill>
                                <a:srgbClr val="2563EB"/>
                              </a:solidFill>
                              <a:latin typeface="Cambria Math" panose="02040503050406030204"/>
                              <a:ea typeface="微软雅黑" panose="020B0503020204020204" charset="-122"/>
                            </a:rPr>
                          </m:ctrlPr>
                        </m:fPr>
                        <m:num>
                          <m:r>
                            <a:rPr sz="1700" b="1" i="1">
                              <a:solidFill>
                                <a:srgbClr val="2563EB"/>
                              </a:solidFill>
                              <a:latin typeface="Cambria Math" panose="02040503050406030204"/>
                              <a:ea typeface="Cambria Math" panose="02040503050406030204"/>
                            </a:rPr>
                            <m:t>𝑛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sz="1700" b="1" i="0">
                              <a:solidFill>
                                <a:srgbClr val="2563EB"/>
                              </a:solidFill>
                              <a:latin typeface="Cambria Math" panose="02040503050406030204"/>
                              <a:ea typeface="Cambria Math" panose="02040503050406030204"/>
                            </a:rPr>
                            <m:t>lg</m:t>
                          </m:r>
                          <m:r>
                            <a:rPr sz="1700" b="1" i="1">
                              <a:solidFill>
                                <a:srgbClr val="2563EB"/>
                              </a:solidFill>
                              <a:latin typeface="Cambria Math" panose="02040503050406030204"/>
                              <a:ea typeface="Cambria Math" panose="02040503050406030204"/>
                            </a:rPr>
                            <m:t>𝑛</m:t>
                          </m:r>
                        </m:den>
                      </m:f>
                    </m:oMath>
                  </m:oMathPara>
                </a14:m>
                <a:endParaRPr sz="1700"/>
              </a:p>
            </p:txBody>
          </p:sp>
        </mc:Choice>
        <mc:Fallback>
          <p:sp>
            <p:nvSpPr>
              <p:cNvPr id="9" name="eq_e_recurrence" descr="LaTeX: T(n)=2T(\frac{n}{2})+\frac{n}{\lg n}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2500" y="1457325"/>
                <a:ext cx="10287000" cy="552450"/>
              </a:xfrm>
              <a:prstGeom prst="rect">
                <a:avLst/>
              </a:prstGeom>
              <a:blipFill rotWithShape="1">
                <a:blip r:embed="rId1"/>
                <a:stretch>
                  <a:fillRect/>
                </a:stretch>
              </a:blipFill>
              <a:ln w="0"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step_e_0"/>
          <p:cNvSpPr>
            <a:spLocks noGrp="1"/>
          </p:cNvSpPr>
          <p:nvPr/>
        </p:nvSpPr>
        <p:spPr>
          <a:xfrm>
            <a:off x="952500" y="2143125"/>
            <a:ext cx="3048000" cy="2762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>
              <a:defRPr sz="1600" b="1">
                <a:solidFill>
                  <a:srgbClr val="1725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>
              <a:defRPr sz="1600" b="1">
                <a:solidFill>
                  <a:srgbClr val="1725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>
              <a:defRPr sz="1600" b="1">
                <a:solidFill>
                  <a:srgbClr val="1725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>
              <a:defRPr sz="1600" b="1">
                <a:solidFill>
                  <a:srgbClr val="1725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>
              <a:defRPr sz="1600" b="1">
                <a:solidFill>
                  <a:srgbClr val="1725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>
              <a:defRPr sz="1600" b="1">
                <a:solidFill>
                  <a:srgbClr val="1725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>
              <a:defRPr sz="1600" b="1">
                <a:solidFill>
                  <a:srgbClr val="1725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>
              <a:defRPr sz="1600" b="1">
                <a:solidFill>
                  <a:srgbClr val="1725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>
              <a:defRPr sz="1600" b="1">
                <a:solidFill>
                  <a:srgbClr val="1725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>
              <a:defRPr sz="1600" b="1">
                <a:solidFill>
                  <a:srgbClr val="1725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>
              <a:defRPr sz="1600" b="1">
                <a:solidFill>
                  <a:srgbClr val="1725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00" b="1">
                <a:solidFill>
                  <a:srgbClr val="1725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  确定树高与叶子成本</a:t>
            </a:r>
            <a:endParaRPr sz="1600" b="1">
              <a:solidFill>
                <a:srgbClr val="17255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note_e_0"/>
          <p:cNvSpPr>
            <a:spLocks noGrp="1"/>
          </p:cNvSpPr>
          <p:nvPr/>
        </p:nvSpPr>
        <p:spPr>
          <a:xfrm>
            <a:off x="952500" y="2447925"/>
            <a:ext cx="3086100" cy="5238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>
              <a:defRPr sz="1300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>
              <a:defRPr sz="1300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>
              <a:defRPr sz="1300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>
              <a:defRPr sz="1300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>
              <a:defRPr sz="1300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>
              <a:defRPr sz="1300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>
              <a:defRPr sz="1300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>
              <a:defRPr sz="1300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>
              <a:defRPr sz="1300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>
              <a:defRPr sz="1300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>
              <a:defRPr sz="1300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00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先按 n 为 2 的整数次幂分析。</a:t>
            </a:r>
            <a:endParaRPr sz="1300" b="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defRPr sz="1300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00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取常数基例 T(1)=Θ(1)。</a:t>
            </a:r>
            <a:endParaRPr sz="1300" b="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2" name="eq_e_0_0" descr="LaTeX: L=\lg n,\quad n=2^L"/>
              <p:cNvSpPr>
                <a:spLocks noGrp="1"/>
              </p:cNvSpPr>
              <p:nvPr/>
            </p:nvSpPr>
            <p:spPr>
              <a:xfrm>
                <a:off x="4333875" y="2124075"/>
                <a:ext cx="6810375" cy="419100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lIns="0" tIns="0" rIns="0" bIns="0" anchor="t"/>
              <a:lstStyle>
                <a:defPPr>
                  <a:defRPr sz="1600" b="0">
                    <a:solidFill>
                      <a:srgbClr val="1E293B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defRPr>
                </a:defPPr>
                <a:lvl1pPr>
                  <a:defRPr sz="1600" b="0">
                    <a:solidFill>
                      <a:srgbClr val="1E293B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defRPr>
                </a:lvl1pPr>
                <a:lvl2pPr>
                  <a:defRPr sz="1600" b="0">
                    <a:solidFill>
                      <a:srgbClr val="1E293B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defRPr>
                </a:lvl2pPr>
                <a:lvl3pPr>
                  <a:defRPr sz="1600" b="0">
                    <a:solidFill>
                      <a:srgbClr val="1E293B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defRPr>
                </a:lvl3pPr>
                <a:lvl4pPr>
                  <a:defRPr sz="1600" b="0">
                    <a:solidFill>
                      <a:srgbClr val="1E293B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defRPr>
                </a:lvl4pPr>
                <a:lvl5pPr>
                  <a:defRPr sz="1600" b="0">
                    <a:solidFill>
                      <a:srgbClr val="1E293B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defRPr>
                </a:lvl5pPr>
                <a:lvl6pPr>
                  <a:defRPr sz="1600" b="0">
                    <a:solidFill>
                      <a:srgbClr val="1E293B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defRPr>
                </a:lvl6pPr>
                <a:lvl7pPr>
                  <a:defRPr sz="1600" b="0">
                    <a:solidFill>
                      <a:srgbClr val="1E293B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defRPr>
                </a:lvl7pPr>
                <a:lvl8pPr>
                  <a:defRPr sz="1600" b="0">
                    <a:solidFill>
                      <a:srgbClr val="1E293B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defRPr>
                </a:lvl8pPr>
                <a:lvl9pPr>
                  <a:defRPr sz="1600" b="0">
                    <a:solidFill>
                      <a:srgbClr val="1E293B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defRPr>
                </a:lvl9pPr>
              </a:lstStyle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sz="1600" b="0" i="1">
                          <a:solidFill>
                            <a:srgbClr val="1E293B"/>
                          </a:solidFill>
                          <a:latin typeface="Cambria Math" panose="02040503050406030204"/>
                          <a:ea typeface="Cambria Math" panose="02040503050406030204"/>
                        </a:rPr>
                        <m:t>𝐿</m:t>
                      </m:r>
                      <m:r>
                        <a:rPr sz="1600" b="0" i="0">
                          <a:solidFill>
                            <a:srgbClr val="1E293B"/>
                          </a:solidFill>
                          <a:latin typeface="Cambria Math" panose="02040503050406030204"/>
                          <a:ea typeface="Cambria Math" panose="02040503050406030204"/>
                        </a:rPr>
                        <m:t>=</m:t>
                      </m:r>
                      <m:r>
                        <m:rPr>
                          <m:sty m:val="p"/>
                        </m:rPr>
                        <a:rPr sz="1600" b="0" i="0">
                          <a:solidFill>
                            <a:srgbClr val="1E293B"/>
                          </a:solidFill>
                          <a:latin typeface="Cambria Math" panose="02040503050406030204"/>
                          <a:ea typeface="Cambria Math" panose="02040503050406030204"/>
                        </a:rPr>
                        <m:t>lg</m:t>
                      </m:r>
                      <m:r>
                        <a:rPr sz="1600" b="0" i="1">
                          <a:solidFill>
                            <a:srgbClr val="1E293B"/>
                          </a:solidFill>
                          <a:latin typeface="Cambria Math" panose="02040503050406030204"/>
                          <a:ea typeface="Cambria Math" panose="02040503050406030204"/>
                        </a:rPr>
                        <m:t>𝑛</m:t>
                      </m:r>
                      <m:r>
                        <a:rPr sz="1600" b="0" i="0">
                          <a:solidFill>
                            <a:srgbClr val="1E293B"/>
                          </a:solidFill>
                          <a:latin typeface="Cambria Math" panose="02040503050406030204"/>
                          <a:ea typeface="Cambria Math" panose="02040503050406030204"/>
                        </a:rPr>
                        <m:t>,</m:t>
                      </m:r>
                      <m:r>
                        <a:rPr sz="1600" b="0" i="0">
                          <a:solidFill>
                            <a:srgbClr val="1E293B"/>
                          </a:solidFill>
                          <a:latin typeface="Cambria Math" panose="02040503050406030204"/>
                          <a:ea typeface="Cambria Math" panose="02040503050406030204"/>
                        </a:rPr>
                        <m:t> </m:t>
                      </m:r>
                      <m:r>
                        <a:rPr sz="1600" b="0" i="1">
                          <a:solidFill>
                            <a:srgbClr val="1E293B"/>
                          </a:solidFill>
                          <a:latin typeface="Cambria Math" panose="02040503050406030204"/>
                          <a:ea typeface="Cambria Math" panose="02040503050406030204"/>
                        </a:rPr>
                        <m:t>𝑛</m:t>
                      </m:r>
                      <m:r>
                        <a:rPr sz="1600" b="0" i="0">
                          <a:solidFill>
                            <a:srgbClr val="1E293B"/>
                          </a:solidFill>
                          <a:latin typeface="Cambria Math" panose="02040503050406030204"/>
                          <a:ea typeface="Cambria Math" panose="02040503050406030204"/>
                        </a:rPr>
                        <m:t>=</m:t>
                      </m:r>
                      <m:sSup>
                        <m:sSupPr>
                          <m:ctrlPr>
                            <a:rPr sz="1600" b="0">
                              <a:solidFill>
                                <a:srgbClr val="1E293B"/>
                              </a:solidFill>
                              <a:latin typeface="Cambria Math" panose="02040503050406030204"/>
                              <a:ea typeface="微软雅黑" panose="020B0503020204020204" charset="-122"/>
                            </a:rPr>
                          </m:ctrlPr>
                        </m:sSupPr>
                        <m:e>
                          <m:r>
                            <a:rPr sz="1600" b="0" i="0">
                              <a:solidFill>
                                <a:srgbClr val="1E293B"/>
                              </a:solidFill>
                              <a:latin typeface="Cambria Math" panose="02040503050406030204"/>
                              <a:ea typeface="Cambria Math" panose="02040503050406030204"/>
                            </a:rPr>
                            <m:t>2</m:t>
                          </m:r>
                        </m:e>
                        <m:sup>
                          <m:r>
                            <a:rPr sz="1600" b="0" i="1">
                              <a:solidFill>
                                <a:srgbClr val="1E293B"/>
                              </a:solidFill>
                              <a:latin typeface="Cambria Math" panose="02040503050406030204"/>
                              <a:ea typeface="Cambria Math" panose="02040503050406030204"/>
                            </a:rPr>
                            <m:t>𝐿</m:t>
                          </m:r>
                        </m:sup>
                      </m:sSup>
                    </m:oMath>
                  </m:oMathPara>
                </a14:m>
                <a:endParaRPr sz="1600"/>
              </a:p>
            </p:txBody>
          </p:sp>
        </mc:Choice>
        <mc:Fallback>
          <p:sp>
            <p:nvSpPr>
              <p:cNvPr id="12" name="eq_e_0_0" descr="LaTeX: L=\lg n,\quad n=2^L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33875" y="2124075"/>
                <a:ext cx="6810375" cy="419100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  <a:ln w="0"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3" name="eq_e_0_1" descr="LaTeX: 2^L=n,\quad\Theta(2^L)=\Theta(n)"/>
              <p:cNvSpPr>
                <a:spLocks noGrp="1"/>
              </p:cNvSpPr>
              <p:nvPr/>
            </p:nvSpPr>
            <p:spPr>
              <a:xfrm>
                <a:off x="4333875" y="2543175"/>
                <a:ext cx="6810375" cy="419100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lIns="0" tIns="0" rIns="0" bIns="0" anchor="t"/>
              <a:lstStyle>
                <a:defPPr>
                  <a:defRPr sz="1600" b="0">
                    <a:solidFill>
                      <a:srgbClr val="1E293B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defRPr>
                </a:defPPr>
                <a:lvl1pPr>
                  <a:defRPr sz="1600" b="0">
                    <a:solidFill>
                      <a:srgbClr val="1E293B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defRPr>
                </a:lvl1pPr>
                <a:lvl2pPr>
                  <a:defRPr sz="1600" b="0">
                    <a:solidFill>
                      <a:srgbClr val="1E293B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defRPr>
                </a:lvl2pPr>
                <a:lvl3pPr>
                  <a:defRPr sz="1600" b="0">
                    <a:solidFill>
                      <a:srgbClr val="1E293B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defRPr>
                </a:lvl3pPr>
                <a:lvl4pPr>
                  <a:defRPr sz="1600" b="0">
                    <a:solidFill>
                      <a:srgbClr val="1E293B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defRPr>
                </a:lvl4pPr>
                <a:lvl5pPr>
                  <a:defRPr sz="1600" b="0">
                    <a:solidFill>
                      <a:srgbClr val="1E293B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defRPr>
                </a:lvl5pPr>
                <a:lvl6pPr>
                  <a:defRPr sz="1600" b="0">
                    <a:solidFill>
                      <a:srgbClr val="1E293B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defRPr>
                </a:lvl6pPr>
                <a:lvl7pPr>
                  <a:defRPr sz="1600" b="0">
                    <a:solidFill>
                      <a:srgbClr val="1E293B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defRPr>
                </a:lvl7pPr>
                <a:lvl8pPr>
                  <a:defRPr sz="1600" b="0">
                    <a:solidFill>
                      <a:srgbClr val="1E293B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defRPr>
                </a:lvl8pPr>
                <a:lvl9pPr>
                  <a:defRPr sz="1600" b="0">
                    <a:solidFill>
                      <a:srgbClr val="1E293B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defRPr>
                </a:lvl9pPr>
              </a:lstStyle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sz="1600" b="0">
                              <a:solidFill>
                                <a:srgbClr val="1E293B"/>
                              </a:solidFill>
                              <a:latin typeface="Cambria Math" panose="02040503050406030204"/>
                              <a:ea typeface="微软雅黑" panose="020B0503020204020204" charset="-122"/>
                            </a:rPr>
                          </m:ctrlPr>
                        </m:sSupPr>
                        <m:e>
                          <m:r>
                            <a:rPr sz="1600" b="0" i="0">
                              <a:solidFill>
                                <a:srgbClr val="1E293B"/>
                              </a:solidFill>
                              <a:latin typeface="Cambria Math" panose="02040503050406030204"/>
                              <a:ea typeface="Cambria Math" panose="02040503050406030204"/>
                            </a:rPr>
                            <m:t>2</m:t>
                          </m:r>
                        </m:e>
                        <m:sup>
                          <m:r>
                            <a:rPr sz="1600" b="0" i="1">
                              <a:solidFill>
                                <a:srgbClr val="1E293B"/>
                              </a:solidFill>
                              <a:latin typeface="Cambria Math" panose="02040503050406030204"/>
                              <a:ea typeface="Cambria Math" panose="02040503050406030204"/>
                            </a:rPr>
                            <m:t>𝐿</m:t>
                          </m:r>
                        </m:sup>
                      </m:sSup>
                      <m:r>
                        <a:rPr sz="1600" b="0" i="0">
                          <a:solidFill>
                            <a:srgbClr val="1E293B"/>
                          </a:solidFill>
                          <a:latin typeface="Cambria Math" panose="02040503050406030204"/>
                          <a:ea typeface="Cambria Math" panose="02040503050406030204"/>
                        </a:rPr>
                        <m:t>=</m:t>
                      </m:r>
                      <m:r>
                        <a:rPr sz="1600" b="0" i="1">
                          <a:solidFill>
                            <a:srgbClr val="1E293B"/>
                          </a:solidFill>
                          <a:latin typeface="Cambria Math" panose="02040503050406030204"/>
                          <a:ea typeface="Cambria Math" panose="02040503050406030204"/>
                        </a:rPr>
                        <m:t>𝑛</m:t>
                      </m:r>
                      <m:r>
                        <a:rPr sz="1600" b="0" i="0">
                          <a:solidFill>
                            <a:srgbClr val="1E293B"/>
                          </a:solidFill>
                          <a:latin typeface="Cambria Math" panose="02040503050406030204"/>
                          <a:ea typeface="Cambria Math" panose="02040503050406030204"/>
                        </a:rPr>
                        <m:t>,</m:t>
                      </m:r>
                      <m:r>
                        <a:rPr sz="1600" b="0" i="0">
                          <a:solidFill>
                            <a:srgbClr val="1E293B"/>
                          </a:solidFill>
                          <a:latin typeface="Cambria Math" panose="02040503050406030204"/>
                          <a:ea typeface="Cambria Math" panose="02040503050406030204"/>
                        </a:rPr>
                        <m:t> </m:t>
                      </m:r>
                      <m:r>
                        <m:rPr>
                          <m:sty m:val="p"/>
                        </m:rPr>
                        <a:rPr sz="1600" b="0" i="0">
                          <a:solidFill>
                            <a:srgbClr val="1E293B"/>
                          </a:solidFill>
                          <a:latin typeface="Cambria Math" panose="02040503050406030204"/>
                          <a:ea typeface="Cambria Math" panose="02040503050406030204"/>
                        </a:rPr>
                        <m:t>Θ</m:t>
                      </m:r>
                      <m:d>
                        <m:dPr>
                          <m:ctrlPr>
                            <a:rPr sz="1600" b="0">
                              <a:solidFill>
                                <a:srgbClr val="1E293B"/>
                              </a:solidFill>
                              <a:latin typeface="Cambria Math" panose="02040503050406030204"/>
                              <a:ea typeface="微软雅黑" panose="020B0503020204020204" charset="-122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sz="1600" b="0">
                                  <a:solidFill>
                                    <a:srgbClr val="1E293B"/>
                                  </a:solidFill>
                                  <a:latin typeface="Cambria Math" panose="02040503050406030204"/>
                                  <a:ea typeface="微软雅黑" panose="020B0503020204020204" charset="-122"/>
                                </a:rPr>
                              </m:ctrlPr>
                            </m:sSupPr>
                            <m:e>
                              <m:r>
                                <a:rPr sz="1600" b="0" i="0">
                                  <a:solidFill>
                                    <a:srgbClr val="1E293B"/>
                                  </a:solidFill>
                                  <a:latin typeface="Cambria Math" panose="02040503050406030204"/>
                                  <a:ea typeface="Cambria Math" panose="02040503050406030204"/>
                                </a:rPr>
                                <m:t>2</m:t>
                              </m:r>
                            </m:e>
                            <m:sup>
                              <m:r>
                                <a:rPr sz="1600" b="0" i="1">
                                  <a:solidFill>
                                    <a:srgbClr val="1E293B"/>
                                  </a:solidFill>
                                  <a:latin typeface="Cambria Math" panose="02040503050406030204"/>
                                  <a:ea typeface="Cambria Math" panose="02040503050406030204"/>
                                </a:rPr>
                                <m:t>𝐿</m:t>
                              </m:r>
                            </m:sup>
                          </m:sSup>
                        </m:e>
                      </m:d>
                      <m:r>
                        <a:rPr sz="1600" b="0" i="0">
                          <a:solidFill>
                            <a:srgbClr val="1E293B"/>
                          </a:solidFill>
                          <a:latin typeface="Cambria Math" panose="02040503050406030204"/>
                          <a:ea typeface="Cambria Math" panose="02040503050406030204"/>
                        </a:rPr>
                        <m:t>=</m:t>
                      </m:r>
                      <m:r>
                        <m:rPr>
                          <m:sty m:val="p"/>
                        </m:rPr>
                        <a:rPr sz="1600" b="0" i="0">
                          <a:solidFill>
                            <a:srgbClr val="1E293B"/>
                          </a:solidFill>
                          <a:latin typeface="Cambria Math" panose="02040503050406030204"/>
                          <a:ea typeface="Cambria Math" panose="02040503050406030204"/>
                        </a:rPr>
                        <m:t>Θ</m:t>
                      </m:r>
                      <m:d>
                        <m:dPr>
                          <m:ctrlPr>
                            <a:rPr sz="1600" b="0">
                              <a:solidFill>
                                <a:srgbClr val="1E293B"/>
                              </a:solidFill>
                              <a:latin typeface="Cambria Math" panose="02040503050406030204"/>
                              <a:ea typeface="微软雅黑" panose="020B0503020204020204" charset="-122"/>
                            </a:rPr>
                          </m:ctrlPr>
                        </m:dPr>
                        <m:e>
                          <m:r>
                            <a:rPr sz="1600" b="0" i="1">
                              <a:solidFill>
                                <a:srgbClr val="1E293B"/>
                              </a:solidFill>
                              <a:latin typeface="Cambria Math" panose="02040503050406030204"/>
                              <a:ea typeface="Cambria Math" panose="02040503050406030204"/>
                            </a:rPr>
                            <m:t>𝑛</m:t>
                          </m:r>
                        </m:e>
                      </m:d>
                    </m:oMath>
                  </m:oMathPara>
                </a14:m>
                <a:endParaRPr sz="1600"/>
              </a:p>
            </p:txBody>
          </p:sp>
        </mc:Choice>
        <mc:Fallback>
          <p:sp>
            <p:nvSpPr>
              <p:cNvPr id="13" name="eq_e_0_1" descr="LaTeX: 2^L=n,\quad\Theta(2^L)=\Theta(n)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33875" y="2543175"/>
                <a:ext cx="6810375" cy="419100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  <a:ln w="0"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step_e_1"/>
          <p:cNvSpPr>
            <a:spLocks noGrp="1"/>
          </p:cNvSpPr>
          <p:nvPr/>
        </p:nvSpPr>
        <p:spPr>
          <a:xfrm>
            <a:off x="952500" y="3000375"/>
            <a:ext cx="3048000" cy="2762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>
              <a:defRPr sz="1600" b="1">
                <a:solidFill>
                  <a:srgbClr val="1725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>
              <a:defRPr sz="1600" b="1">
                <a:solidFill>
                  <a:srgbClr val="1725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>
              <a:defRPr sz="1600" b="1">
                <a:solidFill>
                  <a:srgbClr val="1725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>
              <a:defRPr sz="1600" b="1">
                <a:solidFill>
                  <a:srgbClr val="1725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>
              <a:defRPr sz="1600" b="1">
                <a:solidFill>
                  <a:srgbClr val="1725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>
              <a:defRPr sz="1600" b="1">
                <a:solidFill>
                  <a:srgbClr val="1725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>
              <a:defRPr sz="1600" b="1">
                <a:solidFill>
                  <a:srgbClr val="1725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>
              <a:defRPr sz="1600" b="1">
                <a:solidFill>
                  <a:srgbClr val="1725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>
              <a:defRPr sz="1600" b="1">
                <a:solidFill>
                  <a:srgbClr val="1725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>
              <a:defRPr sz="1600" b="1">
                <a:solidFill>
                  <a:srgbClr val="1725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>
              <a:defRPr sz="1600" b="1">
                <a:solidFill>
                  <a:srgbClr val="1725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00" b="1">
                <a:solidFill>
                  <a:srgbClr val="1725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  计算第 i 层工作量</a:t>
            </a:r>
            <a:endParaRPr sz="1600" b="1">
              <a:solidFill>
                <a:srgbClr val="17255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note_e_1"/>
          <p:cNvSpPr>
            <a:spLocks noGrp="1"/>
          </p:cNvSpPr>
          <p:nvPr/>
        </p:nvSpPr>
        <p:spPr>
          <a:xfrm>
            <a:off x="952500" y="3305175"/>
            <a:ext cx="3086100" cy="5238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>
              <a:defRPr sz="1300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>
              <a:defRPr sz="1300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>
              <a:defRPr sz="1300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>
              <a:defRPr sz="1300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>
              <a:defRPr sz="1300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>
              <a:defRPr sz="1300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>
              <a:defRPr sz="1300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>
              <a:defRPr sz="1300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>
              <a:defRPr sz="1300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>
              <a:defRPr sz="1300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>
              <a:defRPr sz="1300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00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有 2ⁱ 个节点，每个规模 n/2ⁱ。</a:t>
            </a:r>
            <a:endParaRPr sz="1300" b="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defRPr sz="1300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00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i 从 0 到 L−1。</a:t>
            </a:r>
            <a:endParaRPr sz="1300" b="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6" name="eq_e_1_0" descr="LaTeX: W_i=2^i\frac{n/2^i}{\lg(n/2^i)}"/>
              <p:cNvSpPr>
                <a:spLocks noGrp="1"/>
              </p:cNvSpPr>
              <p:nvPr/>
            </p:nvSpPr>
            <p:spPr>
              <a:xfrm>
                <a:off x="4333875" y="2802890"/>
                <a:ext cx="6810375" cy="419100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lIns="0" tIns="0" rIns="0" bIns="0" anchor="t"/>
              <a:lstStyle>
                <a:defPPr>
                  <a:defRPr sz="1600" b="0">
                    <a:solidFill>
                      <a:srgbClr val="1E293B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defRPr>
                </a:defPPr>
                <a:lvl1pPr>
                  <a:defRPr sz="1600" b="0">
                    <a:solidFill>
                      <a:srgbClr val="1E293B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defRPr>
                </a:lvl1pPr>
                <a:lvl2pPr>
                  <a:defRPr sz="1600" b="0">
                    <a:solidFill>
                      <a:srgbClr val="1E293B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defRPr>
                </a:lvl2pPr>
                <a:lvl3pPr>
                  <a:defRPr sz="1600" b="0">
                    <a:solidFill>
                      <a:srgbClr val="1E293B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defRPr>
                </a:lvl3pPr>
                <a:lvl4pPr>
                  <a:defRPr sz="1600" b="0">
                    <a:solidFill>
                      <a:srgbClr val="1E293B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defRPr>
                </a:lvl4pPr>
                <a:lvl5pPr>
                  <a:defRPr sz="1600" b="0">
                    <a:solidFill>
                      <a:srgbClr val="1E293B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defRPr>
                </a:lvl5pPr>
                <a:lvl6pPr>
                  <a:defRPr sz="1600" b="0">
                    <a:solidFill>
                      <a:srgbClr val="1E293B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defRPr>
                </a:lvl6pPr>
                <a:lvl7pPr>
                  <a:defRPr sz="1600" b="0">
                    <a:solidFill>
                      <a:srgbClr val="1E293B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defRPr>
                </a:lvl7pPr>
                <a:lvl8pPr>
                  <a:defRPr sz="1600" b="0">
                    <a:solidFill>
                      <a:srgbClr val="1E293B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defRPr>
                </a:lvl8pPr>
                <a:lvl9pPr>
                  <a:defRPr sz="1600" b="0">
                    <a:solidFill>
                      <a:srgbClr val="1E293B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defRPr>
                </a:lvl9pPr>
              </a:lstStyle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sz="1600" b="0">
                              <a:solidFill>
                                <a:srgbClr val="1E293B"/>
                              </a:solidFill>
                              <a:latin typeface="Cambria Math" panose="02040503050406030204"/>
                              <a:ea typeface="微软雅黑" panose="020B0503020204020204" charset="-122"/>
                            </a:rPr>
                          </m:ctrlPr>
                        </m:sSubPr>
                        <m:e>
                          <m:r>
                            <a:rPr sz="1600" b="0" i="1">
                              <a:solidFill>
                                <a:srgbClr val="1E293B"/>
                              </a:solidFill>
                              <a:latin typeface="Cambria Math" panose="02040503050406030204"/>
                              <a:ea typeface="Cambria Math" panose="02040503050406030204"/>
                            </a:rPr>
                            <m:t>𝑊</m:t>
                          </m:r>
                        </m:e>
                        <m:sub>
                          <m:r>
                            <a:rPr sz="1600" b="0" i="1">
                              <a:solidFill>
                                <a:srgbClr val="1E293B"/>
                              </a:solidFill>
                              <a:latin typeface="Cambria Math" panose="02040503050406030204"/>
                              <a:ea typeface="Cambria Math" panose="02040503050406030204"/>
                            </a:rPr>
                            <m:t>𝑖</m:t>
                          </m:r>
                        </m:sub>
                      </m:sSub>
                      <m:r>
                        <a:rPr sz="1600" b="0" i="0">
                          <a:solidFill>
                            <a:srgbClr val="1E293B"/>
                          </a:solidFill>
                          <a:latin typeface="Cambria Math" panose="02040503050406030204"/>
                          <a:ea typeface="Cambria Math" panose="02040503050406030204"/>
                        </a:rPr>
                        <m:t>=</m:t>
                      </m:r>
                      <m:sSup>
                        <m:sSupPr>
                          <m:ctrlPr>
                            <a:rPr sz="1600" b="0">
                              <a:solidFill>
                                <a:srgbClr val="1E293B"/>
                              </a:solidFill>
                              <a:latin typeface="Cambria Math" panose="02040503050406030204"/>
                              <a:ea typeface="微软雅黑" panose="020B0503020204020204" charset="-122"/>
                            </a:rPr>
                          </m:ctrlPr>
                        </m:sSupPr>
                        <m:e>
                          <m:r>
                            <a:rPr sz="1600" b="0" i="0">
                              <a:solidFill>
                                <a:srgbClr val="1E293B"/>
                              </a:solidFill>
                              <a:latin typeface="Cambria Math" panose="02040503050406030204"/>
                              <a:ea typeface="Cambria Math" panose="02040503050406030204"/>
                            </a:rPr>
                            <m:t>2</m:t>
                          </m:r>
                        </m:e>
                        <m:sup>
                          <m:r>
                            <a:rPr sz="1600" b="0" i="1">
                              <a:solidFill>
                                <a:srgbClr val="1E293B"/>
                              </a:solidFill>
                              <a:latin typeface="Cambria Math" panose="02040503050406030204"/>
                              <a:ea typeface="Cambria Math" panose="02040503050406030204"/>
                            </a:rPr>
                            <m:t>𝑖</m:t>
                          </m:r>
                        </m:sup>
                      </m:sSup>
                      <m:f>
                        <m:fPr>
                          <m:ctrlPr>
                            <a:rPr sz="1600" b="0">
                              <a:solidFill>
                                <a:srgbClr val="1E293B"/>
                              </a:solidFill>
                              <a:latin typeface="Cambria Math" panose="02040503050406030204"/>
                              <a:ea typeface="微软雅黑" panose="020B0503020204020204" charset="-122"/>
                            </a:rPr>
                          </m:ctrlPr>
                        </m:fPr>
                        <m:num>
                          <m:r>
                            <a:rPr sz="1600" b="0" i="1">
                              <a:solidFill>
                                <a:srgbClr val="1E293B"/>
                              </a:solidFill>
                              <a:latin typeface="Cambria Math" panose="02040503050406030204"/>
                              <a:ea typeface="Cambria Math" panose="02040503050406030204"/>
                            </a:rPr>
                            <m:t>𝑛</m:t>
                          </m:r>
                          <m:r>
                            <a:rPr sz="1600" b="0" i="0">
                              <a:solidFill>
                                <a:srgbClr val="1E293B"/>
                              </a:solidFill>
                              <a:latin typeface="Cambria Math" panose="02040503050406030204"/>
                              <a:ea typeface="Cambria Math" panose="02040503050406030204"/>
                            </a:rPr>
                            <m:t>/</m:t>
                          </m:r>
                          <m:sSup>
                            <m:sSupPr>
                              <m:ctrlPr>
                                <a:rPr sz="1600" b="0">
                                  <a:solidFill>
                                    <a:srgbClr val="1E293B"/>
                                  </a:solidFill>
                                  <a:latin typeface="Cambria Math" panose="02040503050406030204"/>
                                  <a:ea typeface="微软雅黑" panose="020B0503020204020204" charset="-122"/>
                                </a:rPr>
                              </m:ctrlPr>
                            </m:sSupPr>
                            <m:e>
                              <m:r>
                                <a:rPr sz="1600" b="0" i="0">
                                  <a:solidFill>
                                    <a:srgbClr val="1E293B"/>
                                  </a:solidFill>
                                  <a:latin typeface="Cambria Math" panose="02040503050406030204"/>
                                  <a:ea typeface="Cambria Math" panose="02040503050406030204"/>
                                </a:rPr>
                                <m:t>2</m:t>
                              </m:r>
                            </m:e>
                            <m:sup>
                              <m:r>
                                <a:rPr sz="1600" b="0" i="1">
                                  <a:solidFill>
                                    <a:srgbClr val="1E293B"/>
                                  </a:solidFill>
                                  <a:latin typeface="Cambria Math" panose="02040503050406030204"/>
                                  <a:ea typeface="Cambria Math" panose="02040503050406030204"/>
                                </a:rPr>
                                <m:t>𝑖</m:t>
                              </m:r>
                            </m:sup>
                          </m:sSup>
                        </m:num>
                        <m:den>
                          <m:r>
                            <m:rPr>
                              <m:sty m:val="p"/>
                            </m:rPr>
                            <a:rPr sz="1600" b="0" i="0">
                              <a:solidFill>
                                <a:srgbClr val="1E293B"/>
                              </a:solidFill>
                              <a:latin typeface="Cambria Math" panose="02040503050406030204"/>
                              <a:ea typeface="Cambria Math" panose="02040503050406030204"/>
                            </a:rPr>
                            <m:t>lg</m:t>
                          </m:r>
                          <m:d>
                            <m:dPr>
                              <m:ctrlPr>
                                <a:rPr sz="1600" b="0">
                                  <a:solidFill>
                                    <a:srgbClr val="1E293B"/>
                                  </a:solidFill>
                                  <a:latin typeface="Cambria Math" panose="02040503050406030204"/>
                                  <a:ea typeface="微软雅黑" panose="020B0503020204020204" charset="-122"/>
                                </a:rPr>
                              </m:ctrlPr>
                            </m:dPr>
                            <m:e>
                              <m:r>
                                <a:rPr sz="1600" b="0" i="1">
                                  <a:solidFill>
                                    <a:srgbClr val="1E293B"/>
                                  </a:solidFill>
                                  <a:latin typeface="Cambria Math" panose="02040503050406030204"/>
                                  <a:ea typeface="Cambria Math" panose="02040503050406030204"/>
                                </a:rPr>
                                <m:t>𝑛</m:t>
                              </m:r>
                              <m:r>
                                <a:rPr sz="1600" b="0" i="0">
                                  <a:solidFill>
                                    <a:srgbClr val="1E293B"/>
                                  </a:solidFill>
                                  <a:latin typeface="Cambria Math" panose="02040503050406030204"/>
                                  <a:ea typeface="Cambria Math" panose="02040503050406030204"/>
                                </a:rPr>
                                <m:t>/</m:t>
                              </m:r>
                              <m:sSup>
                                <m:sSupPr>
                                  <m:ctrlPr>
                                    <a:rPr sz="1600" b="0">
                                      <a:solidFill>
                                        <a:srgbClr val="1E293B"/>
                                      </a:solidFill>
                                      <a:latin typeface="Cambria Math" panose="02040503050406030204"/>
                                      <a:ea typeface="微软雅黑" panose="020B0503020204020204" charset="-122"/>
                                    </a:rPr>
                                  </m:ctrlPr>
                                </m:sSupPr>
                                <m:e>
                                  <m:r>
                                    <a:rPr sz="1600" b="0" i="0">
                                      <a:solidFill>
                                        <a:srgbClr val="1E293B"/>
                                      </a:solidFill>
                                      <a:latin typeface="Cambria Math" panose="02040503050406030204"/>
                                      <a:ea typeface="Cambria Math" panose="02040503050406030204"/>
                                    </a:rPr>
                                    <m:t>2</m:t>
                                  </m:r>
                                </m:e>
                                <m:sup>
                                  <m:r>
                                    <a:rPr sz="1600" b="0" i="1">
                                      <a:solidFill>
                                        <a:srgbClr val="1E293B"/>
                                      </a:solidFill>
                                      <a:latin typeface="Cambria Math" panose="02040503050406030204"/>
                                      <a:ea typeface="Cambria Math" panose="02040503050406030204"/>
                                    </a:rPr>
                                    <m:t>𝑖</m:t>
                                  </m:r>
                                </m:sup>
                              </m:sSup>
                            </m:e>
                          </m:d>
                        </m:den>
                      </m:f>
                    </m:oMath>
                  </m:oMathPara>
                </a14:m>
                <a:endParaRPr sz="1600"/>
              </a:p>
            </p:txBody>
          </p:sp>
        </mc:Choice>
        <mc:Fallback>
          <p:sp>
            <p:nvSpPr>
              <p:cNvPr id="16" name="eq_e_1_0" descr="LaTeX: W_i=2^i\frac{n/2^i}{\lg(n/2^i)}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33875" y="2802890"/>
                <a:ext cx="6810375" cy="419100"/>
              </a:xfrm>
              <a:prstGeom prst="rect">
                <a:avLst/>
              </a:prstGeom>
              <a:blipFill rotWithShape="1">
                <a:blip r:embed="rId4"/>
                <a:stretch>
                  <a:fillRect b="-36818"/>
                </a:stretch>
              </a:blipFill>
              <a:ln w="0"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7" name="eq_e_1_1" descr="LaTeX: W_i=\frac{n}{\lg n-i}=\frac{n}{L-i}"/>
              <p:cNvSpPr>
                <a:spLocks noGrp="1"/>
              </p:cNvSpPr>
              <p:nvPr/>
            </p:nvSpPr>
            <p:spPr>
              <a:xfrm>
                <a:off x="4333875" y="3400425"/>
                <a:ext cx="6810375" cy="419100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lIns="0" tIns="0" rIns="0" bIns="0" anchor="t"/>
              <a:lstStyle>
                <a:defPPr>
                  <a:defRPr sz="1600" b="0">
                    <a:solidFill>
                      <a:srgbClr val="1E293B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defRPr>
                </a:defPPr>
                <a:lvl1pPr>
                  <a:defRPr sz="1600" b="0">
                    <a:solidFill>
                      <a:srgbClr val="1E293B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defRPr>
                </a:lvl1pPr>
                <a:lvl2pPr>
                  <a:defRPr sz="1600" b="0">
                    <a:solidFill>
                      <a:srgbClr val="1E293B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defRPr>
                </a:lvl2pPr>
                <a:lvl3pPr>
                  <a:defRPr sz="1600" b="0">
                    <a:solidFill>
                      <a:srgbClr val="1E293B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defRPr>
                </a:lvl3pPr>
                <a:lvl4pPr>
                  <a:defRPr sz="1600" b="0">
                    <a:solidFill>
                      <a:srgbClr val="1E293B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defRPr>
                </a:lvl4pPr>
                <a:lvl5pPr>
                  <a:defRPr sz="1600" b="0">
                    <a:solidFill>
                      <a:srgbClr val="1E293B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defRPr>
                </a:lvl5pPr>
                <a:lvl6pPr>
                  <a:defRPr sz="1600" b="0">
                    <a:solidFill>
                      <a:srgbClr val="1E293B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defRPr>
                </a:lvl6pPr>
                <a:lvl7pPr>
                  <a:defRPr sz="1600" b="0">
                    <a:solidFill>
                      <a:srgbClr val="1E293B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defRPr>
                </a:lvl7pPr>
                <a:lvl8pPr>
                  <a:defRPr sz="1600" b="0">
                    <a:solidFill>
                      <a:srgbClr val="1E293B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defRPr>
                </a:lvl8pPr>
                <a:lvl9pPr>
                  <a:defRPr sz="1600" b="0">
                    <a:solidFill>
                      <a:srgbClr val="1E293B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defRPr>
                </a:lvl9pPr>
              </a:lstStyle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sz="1600" b="0">
                              <a:solidFill>
                                <a:srgbClr val="1E293B"/>
                              </a:solidFill>
                              <a:latin typeface="Cambria Math" panose="02040503050406030204"/>
                              <a:ea typeface="微软雅黑" panose="020B0503020204020204" charset="-122"/>
                            </a:rPr>
                          </m:ctrlPr>
                        </m:sSubPr>
                        <m:e>
                          <m:r>
                            <a:rPr sz="1600" b="0" i="1">
                              <a:solidFill>
                                <a:srgbClr val="1E293B"/>
                              </a:solidFill>
                              <a:latin typeface="Cambria Math" panose="02040503050406030204"/>
                              <a:ea typeface="Cambria Math" panose="02040503050406030204"/>
                            </a:rPr>
                            <m:t>𝑊</m:t>
                          </m:r>
                        </m:e>
                        <m:sub>
                          <m:r>
                            <a:rPr sz="1600" b="0" i="1">
                              <a:solidFill>
                                <a:srgbClr val="1E293B"/>
                              </a:solidFill>
                              <a:latin typeface="Cambria Math" panose="02040503050406030204"/>
                              <a:ea typeface="Cambria Math" panose="02040503050406030204"/>
                            </a:rPr>
                            <m:t>𝑖</m:t>
                          </m:r>
                        </m:sub>
                      </m:sSub>
                      <m:r>
                        <a:rPr sz="1600" b="0" i="0">
                          <a:solidFill>
                            <a:srgbClr val="1E293B"/>
                          </a:solidFill>
                          <a:latin typeface="Cambria Math" panose="02040503050406030204"/>
                          <a:ea typeface="Cambria Math" panose="02040503050406030204"/>
                        </a:rPr>
                        <m:t>=</m:t>
                      </m:r>
                      <m:f>
                        <m:fPr>
                          <m:ctrlPr>
                            <a:rPr sz="1600" b="0">
                              <a:solidFill>
                                <a:srgbClr val="1E293B"/>
                              </a:solidFill>
                              <a:latin typeface="Cambria Math" panose="02040503050406030204"/>
                              <a:ea typeface="微软雅黑" panose="020B0503020204020204" charset="-122"/>
                            </a:rPr>
                          </m:ctrlPr>
                        </m:fPr>
                        <m:num>
                          <m:r>
                            <a:rPr sz="1600" b="0" i="1">
                              <a:solidFill>
                                <a:srgbClr val="1E293B"/>
                              </a:solidFill>
                              <a:latin typeface="Cambria Math" panose="02040503050406030204"/>
                              <a:ea typeface="Cambria Math" panose="02040503050406030204"/>
                            </a:rPr>
                            <m:t>𝑛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sz="1600" b="0" i="0">
                              <a:solidFill>
                                <a:srgbClr val="1E293B"/>
                              </a:solidFill>
                              <a:latin typeface="Cambria Math" panose="02040503050406030204"/>
                              <a:ea typeface="Cambria Math" panose="02040503050406030204"/>
                            </a:rPr>
                            <m:t>lg</m:t>
                          </m:r>
                          <m:r>
                            <a:rPr sz="1600" b="0" i="1">
                              <a:solidFill>
                                <a:srgbClr val="1E293B"/>
                              </a:solidFill>
                              <a:latin typeface="Cambria Math" panose="02040503050406030204"/>
                              <a:ea typeface="Cambria Math" panose="02040503050406030204"/>
                            </a:rPr>
                            <m:t>𝑛</m:t>
                          </m:r>
                          <m:r>
                            <a:rPr sz="1600" b="0" i="0">
                              <a:solidFill>
                                <a:srgbClr val="1E293B"/>
                              </a:solidFill>
                              <a:latin typeface="Cambria Math" panose="02040503050406030204"/>
                              <a:ea typeface="Cambria Math" panose="02040503050406030204"/>
                            </a:rPr>
                            <m:t>−</m:t>
                          </m:r>
                          <m:r>
                            <a:rPr sz="1600" b="0" i="1">
                              <a:solidFill>
                                <a:srgbClr val="1E293B"/>
                              </a:solidFill>
                              <a:latin typeface="Cambria Math" panose="02040503050406030204"/>
                              <a:ea typeface="Cambria Math" panose="02040503050406030204"/>
                            </a:rPr>
                            <m:t>𝑖</m:t>
                          </m:r>
                        </m:den>
                      </m:f>
                      <m:r>
                        <a:rPr sz="1600" b="0" i="0">
                          <a:solidFill>
                            <a:srgbClr val="1E293B"/>
                          </a:solidFill>
                          <a:latin typeface="Cambria Math" panose="02040503050406030204"/>
                          <a:ea typeface="Cambria Math" panose="02040503050406030204"/>
                        </a:rPr>
                        <m:t>=</m:t>
                      </m:r>
                      <m:f>
                        <m:fPr>
                          <m:ctrlPr>
                            <a:rPr sz="1600" b="0">
                              <a:solidFill>
                                <a:srgbClr val="1E293B"/>
                              </a:solidFill>
                              <a:latin typeface="Cambria Math" panose="02040503050406030204"/>
                              <a:ea typeface="微软雅黑" panose="020B0503020204020204" charset="-122"/>
                            </a:rPr>
                          </m:ctrlPr>
                        </m:fPr>
                        <m:num>
                          <m:r>
                            <a:rPr sz="1600" b="0" i="1">
                              <a:solidFill>
                                <a:srgbClr val="1E293B"/>
                              </a:solidFill>
                              <a:latin typeface="Cambria Math" panose="02040503050406030204"/>
                              <a:ea typeface="Cambria Math" panose="02040503050406030204"/>
                            </a:rPr>
                            <m:t>𝑛</m:t>
                          </m:r>
                        </m:num>
                        <m:den>
                          <m:r>
                            <a:rPr sz="1600" b="0" i="1">
                              <a:solidFill>
                                <a:srgbClr val="1E293B"/>
                              </a:solidFill>
                              <a:latin typeface="Cambria Math" panose="02040503050406030204"/>
                              <a:ea typeface="Cambria Math" panose="02040503050406030204"/>
                            </a:rPr>
                            <m:t>𝐿</m:t>
                          </m:r>
                          <m:r>
                            <a:rPr sz="1600" b="0" i="0">
                              <a:solidFill>
                                <a:srgbClr val="1E293B"/>
                              </a:solidFill>
                              <a:latin typeface="Cambria Math" panose="02040503050406030204"/>
                              <a:ea typeface="Cambria Math" panose="02040503050406030204"/>
                            </a:rPr>
                            <m:t>−</m:t>
                          </m:r>
                          <m:r>
                            <a:rPr sz="1600" b="0" i="1">
                              <a:solidFill>
                                <a:srgbClr val="1E293B"/>
                              </a:solidFill>
                              <a:latin typeface="Cambria Math" panose="02040503050406030204"/>
                              <a:ea typeface="Cambria Math" panose="02040503050406030204"/>
                            </a:rPr>
                            <m:t>𝑖</m:t>
                          </m:r>
                        </m:den>
                      </m:f>
                    </m:oMath>
                  </m:oMathPara>
                </a14:m>
                <a:endParaRPr sz="1600"/>
              </a:p>
            </p:txBody>
          </p:sp>
        </mc:Choice>
        <mc:Fallback>
          <p:sp>
            <p:nvSpPr>
              <p:cNvPr id="17" name="eq_e_1_1" descr="LaTeX: W_i=\frac{n}{\lg n-i}=\frac{n}{L-i}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33875" y="3400425"/>
                <a:ext cx="6810375" cy="419100"/>
              </a:xfrm>
              <a:prstGeom prst="rect">
                <a:avLst/>
              </a:prstGeom>
              <a:blipFill rotWithShape="1">
                <a:blip r:embed="rId5"/>
                <a:stretch>
                  <a:fillRect b="-8788"/>
                </a:stretch>
              </a:blipFill>
              <a:ln w="0"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step_e_2"/>
          <p:cNvSpPr>
            <a:spLocks noGrp="1"/>
          </p:cNvSpPr>
          <p:nvPr/>
        </p:nvSpPr>
        <p:spPr>
          <a:xfrm>
            <a:off x="952500" y="3857625"/>
            <a:ext cx="3048000" cy="2762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>
              <a:defRPr sz="1600" b="1">
                <a:solidFill>
                  <a:srgbClr val="1725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>
              <a:defRPr sz="1600" b="1">
                <a:solidFill>
                  <a:srgbClr val="1725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>
              <a:defRPr sz="1600" b="1">
                <a:solidFill>
                  <a:srgbClr val="1725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>
              <a:defRPr sz="1600" b="1">
                <a:solidFill>
                  <a:srgbClr val="1725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>
              <a:defRPr sz="1600" b="1">
                <a:solidFill>
                  <a:srgbClr val="1725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>
              <a:defRPr sz="1600" b="1">
                <a:solidFill>
                  <a:srgbClr val="1725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>
              <a:defRPr sz="1600" b="1">
                <a:solidFill>
                  <a:srgbClr val="1725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>
              <a:defRPr sz="1600" b="1">
                <a:solidFill>
                  <a:srgbClr val="1725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>
              <a:defRPr sz="1600" b="1">
                <a:solidFill>
                  <a:srgbClr val="1725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>
              <a:defRPr sz="1600" b="1">
                <a:solidFill>
                  <a:srgbClr val="1725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>
              <a:defRPr sz="1600" b="1">
                <a:solidFill>
                  <a:srgbClr val="1725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00" b="1">
                <a:solidFill>
                  <a:srgbClr val="1725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  换元后逐层求和</a:t>
            </a:r>
            <a:endParaRPr sz="1600" b="1">
              <a:solidFill>
                <a:srgbClr val="17255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note_e_2"/>
          <p:cNvSpPr>
            <a:spLocks noGrp="1"/>
          </p:cNvSpPr>
          <p:nvPr/>
        </p:nvSpPr>
        <p:spPr>
          <a:xfrm>
            <a:off x="952500" y="4162425"/>
            <a:ext cx="3086100" cy="5238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>
              <a:defRPr sz="1300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>
              <a:defRPr sz="1300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>
              <a:defRPr sz="1300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>
              <a:defRPr sz="1300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>
              <a:defRPr sz="1300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>
              <a:defRPr sz="1300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>
              <a:defRPr sz="1300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>
              <a:defRPr sz="1300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>
              <a:defRPr sz="1300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>
              <a:defRPr sz="1300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>
              <a:defRPr sz="1300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00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令 j=L−i，累加各层并加上叶子成本。</a:t>
            </a:r>
            <a:endParaRPr sz="1300" b="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0" name="eq_e_2_0" descr="LaTeX: T(n)=n\sum_{j=1}^{L}\frac{1}{j}+\Theta(n)"/>
              <p:cNvSpPr>
                <a:spLocks noGrp="1"/>
              </p:cNvSpPr>
              <p:nvPr/>
            </p:nvSpPr>
            <p:spPr>
              <a:xfrm>
                <a:off x="4333875" y="3838575"/>
                <a:ext cx="6810375" cy="419100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lIns="0" tIns="0" rIns="0" bIns="0" anchor="t"/>
              <a:lstStyle>
                <a:defPPr>
                  <a:defRPr sz="1600" b="0">
                    <a:solidFill>
                      <a:srgbClr val="1E293B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defRPr>
                </a:defPPr>
                <a:lvl1pPr>
                  <a:defRPr sz="1600" b="0">
                    <a:solidFill>
                      <a:srgbClr val="1E293B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defRPr>
                </a:lvl1pPr>
                <a:lvl2pPr>
                  <a:defRPr sz="1600" b="0">
                    <a:solidFill>
                      <a:srgbClr val="1E293B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defRPr>
                </a:lvl2pPr>
                <a:lvl3pPr>
                  <a:defRPr sz="1600" b="0">
                    <a:solidFill>
                      <a:srgbClr val="1E293B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defRPr>
                </a:lvl3pPr>
                <a:lvl4pPr>
                  <a:defRPr sz="1600" b="0">
                    <a:solidFill>
                      <a:srgbClr val="1E293B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defRPr>
                </a:lvl4pPr>
                <a:lvl5pPr>
                  <a:defRPr sz="1600" b="0">
                    <a:solidFill>
                      <a:srgbClr val="1E293B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defRPr>
                </a:lvl5pPr>
                <a:lvl6pPr>
                  <a:defRPr sz="1600" b="0">
                    <a:solidFill>
                      <a:srgbClr val="1E293B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defRPr>
                </a:lvl6pPr>
                <a:lvl7pPr>
                  <a:defRPr sz="1600" b="0">
                    <a:solidFill>
                      <a:srgbClr val="1E293B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defRPr>
                </a:lvl7pPr>
                <a:lvl8pPr>
                  <a:defRPr sz="1600" b="0">
                    <a:solidFill>
                      <a:srgbClr val="1E293B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defRPr>
                </a:lvl8pPr>
                <a:lvl9pPr>
                  <a:defRPr sz="1600" b="0">
                    <a:solidFill>
                      <a:srgbClr val="1E293B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defRPr>
                </a:lvl9pPr>
              </a:lstStyle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sz="1600" b="0" i="1">
                          <a:solidFill>
                            <a:srgbClr val="1E293B"/>
                          </a:solidFill>
                          <a:latin typeface="Cambria Math" panose="02040503050406030204"/>
                          <a:ea typeface="Cambria Math" panose="02040503050406030204"/>
                        </a:rPr>
                        <m:t>𝑇</m:t>
                      </m:r>
                      <m:d>
                        <m:dPr>
                          <m:ctrlPr>
                            <a:rPr sz="1600" b="0">
                              <a:solidFill>
                                <a:srgbClr val="1E293B"/>
                              </a:solidFill>
                              <a:latin typeface="Cambria Math" panose="02040503050406030204"/>
                              <a:ea typeface="微软雅黑" panose="020B0503020204020204" charset="-122"/>
                            </a:rPr>
                          </m:ctrlPr>
                        </m:dPr>
                        <m:e>
                          <m:r>
                            <a:rPr sz="1600" b="0" i="1">
                              <a:solidFill>
                                <a:srgbClr val="1E293B"/>
                              </a:solidFill>
                              <a:latin typeface="Cambria Math" panose="02040503050406030204"/>
                              <a:ea typeface="Cambria Math" panose="02040503050406030204"/>
                            </a:rPr>
                            <m:t>𝑛</m:t>
                          </m:r>
                        </m:e>
                      </m:d>
                      <m:r>
                        <a:rPr sz="1600" b="0" i="0">
                          <a:solidFill>
                            <a:srgbClr val="1E293B"/>
                          </a:solidFill>
                          <a:latin typeface="Cambria Math" panose="02040503050406030204"/>
                          <a:ea typeface="Cambria Math" panose="02040503050406030204"/>
                        </a:rPr>
                        <m:t>=</m:t>
                      </m:r>
                      <m:r>
                        <a:rPr sz="1600" b="0" i="1">
                          <a:solidFill>
                            <a:srgbClr val="1E293B"/>
                          </a:solidFill>
                          <a:latin typeface="Cambria Math" panose="02040503050406030204"/>
                          <a:ea typeface="Cambria Math" panose="02040503050406030204"/>
                        </a:rPr>
                        <m:t>𝑛</m:t>
                      </m:r>
                      <m:nary>
                        <m:naryPr>
                          <m:chr m:val="∑"/>
                          <m:grow m:val="on"/>
                          <m:limLoc m:val="subSup"/>
                          <m:ctrlPr>
                            <a:rPr sz="1600" b="0">
                              <a:solidFill>
                                <a:srgbClr val="1E293B"/>
                              </a:solidFill>
                              <a:latin typeface="Cambria Math" panose="02040503050406030204"/>
                              <a:ea typeface="微软雅黑" panose="020B0503020204020204" charset="-122"/>
                            </a:rPr>
                          </m:ctrlPr>
                        </m:naryPr>
                        <m:sub>
                          <m:r>
                            <a:rPr sz="1600" b="0" i="1">
                              <a:solidFill>
                                <a:srgbClr val="1E293B"/>
                              </a:solidFill>
                              <a:latin typeface="Cambria Math" panose="02040503050406030204"/>
                              <a:ea typeface="Cambria Math" panose="02040503050406030204"/>
                            </a:rPr>
                            <m:t>𝑗</m:t>
                          </m:r>
                          <m:r>
                            <a:rPr sz="1600" b="0" i="0">
                              <a:solidFill>
                                <a:srgbClr val="1E293B"/>
                              </a:solidFill>
                              <a:latin typeface="Cambria Math" panose="02040503050406030204"/>
                              <a:ea typeface="Cambria Math" panose="02040503050406030204"/>
                            </a:rPr>
                            <m:t>=</m:t>
                          </m:r>
                          <m:r>
                            <a:rPr sz="1600" b="0" i="0">
                              <a:solidFill>
                                <a:srgbClr val="1E293B"/>
                              </a:solidFill>
                              <a:latin typeface="Cambria Math" panose="02040503050406030204"/>
                              <a:ea typeface="Cambria Math" panose="02040503050406030204"/>
                            </a:rPr>
                            <m:t>1</m:t>
                          </m:r>
                        </m:sub>
                        <m:sup>
                          <m:r>
                            <a:rPr sz="1600" b="0" i="1">
                              <a:solidFill>
                                <a:srgbClr val="1E293B"/>
                              </a:solidFill>
                              <a:latin typeface="Cambria Math" panose="02040503050406030204"/>
                              <a:ea typeface="Cambria Math" panose="02040503050406030204"/>
                            </a:rPr>
                            <m:t>𝐿</m:t>
                          </m:r>
                        </m:sup>
                        <m:e>
                          <m:f>
                            <m:fPr>
                              <m:ctrlPr>
                                <a:rPr sz="1600" b="0">
                                  <a:solidFill>
                                    <a:srgbClr val="1E293B"/>
                                  </a:solidFill>
                                  <a:latin typeface="Cambria Math" panose="02040503050406030204"/>
                                  <a:ea typeface="微软雅黑" panose="020B0503020204020204" charset="-122"/>
                                </a:rPr>
                              </m:ctrlPr>
                            </m:fPr>
                            <m:num>
                              <m:r>
                                <a:rPr sz="1600" b="0" i="0">
                                  <a:solidFill>
                                    <a:srgbClr val="1E293B"/>
                                  </a:solidFill>
                                  <a:latin typeface="Cambria Math" panose="02040503050406030204"/>
                                  <a:ea typeface="Cambria Math" panose="02040503050406030204"/>
                                </a:rPr>
                                <m:t>1</m:t>
                              </m:r>
                            </m:num>
                            <m:den>
                              <m:r>
                                <a:rPr sz="1600" b="0" i="1">
                                  <a:solidFill>
                                    <a:srgbClr val="1E293B"/>
                                  </a:solidFill>
                                  <a:latin typeface="Cambria Math" panose="02040503050406030204"/>
                                  <a:ea typeface="Cambria Math" panose="02040503050406030204"/>
                                </a:rPr>
                                <m:t>𝑗</m:t>
                              </m:r>
                            </m:den>
                          </m:f>
                        </m:e>
                      </m:nary>
                      <m:r>
                        <a:rPr sz="1600" b="0" i="0">
                          <a:solidFill>
                            <a:srgbClr val="1E293B"/>
                          </a:solidFill>
                          <a:latin typeface="Cambria Math" panose="02040503050406030204"/>
                          <a:ea typeface="Cambria Math" panose="02040503050406030204"/>
                        </a:rPr>
                        <m:t>+</m:t>
                      </m:r>
                      <m:r>
                        <m:rPr>
                          <m:sty m:val="p"/>
                        </m:rPr>
                        <a:rPr sz="1600" b="0" i="0">
                          <a:solidFill>
                            <a:srgbClr val="1E293B"/>
                          </a:solidFill>
                          <a:latin typeface="Cambria Math" panose="02040503050406030204"/>
                          <a:ea typeface="Cambria Math" panose="02040503050406030204"/>
                        </a:rPr>
                        <m:t>Θ</m:t>
                      </m:r>
                      <m:d>
                        <m:dPr>
                          <m:ctrlPr>
                            <a:rPr sz="1600" b="0">
                              <a:solidFill>
                                <a:srgbClr val="1E293B"/>
                              </a:solidFill>
                              <a:latin typeface="Cambria Math" panose="02040503050406030204"/>
                              <a:ea typeface="微软雅黑" panose="020B0503020204020204" charset="-122"/>
                            </a:rPr>
                          </m:ctrlPr>
                        </m:dPr>
                        <m:e>
                          <m:r>
                            <a:rPr sz="1600" b="0" i="1">
                              <a:solidFill>
                                <a:srgbClr val="1E293B"/>
                              </a:solidFill>
                              <a:latin typeface="Cambria Math" panose="02040503050406030204"/>
                              <a:ea typeface="Cambria Math" panose="02040503050406030204"/>
                            </a:rPr>
                            <m:t>𝑛</m:t>
                          </m:r>
                        </m:e>
                      </m:d>
                    </m:oMath>
                  </m:oMathPara>
                </a14:m>
                <a:endParaRPr sz="1600"/>
              </a:p>
            </p:txBody>
          </p:sp>
        </mc:Choice>
        <mc:Fallback>
          <p:sp>
            <p:nvSpPr>
              <p:cNvPr id="20" name="eq_e_2_0" descr="LaTeX: T(n)=n\sum_{j=1}^{L}\frac{1}{j}+\Theta(n)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33875" y="3838575"/>
                <a:ext cx="6810375" cy="419100"/>
              </a:xfrm>
              <a:prstGeom prst="rect">
                <a:avLst/>
              </a:prstGeom>
              <a:blipFill rotWithShape="1">
                <a:blip r:embed="rId6"/>
                <a:stretch>
                  <a:fillRect b="-73636"/>
                </a:stretch>
              </a:blipFill>
              <a:ln w="0"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step_e_3"/>
          <p:cNvSpPr>
            <a:spLocks noGrp="1"/>
          </p:cNvSpPr>
          <p:nvPr/>
        </p:nvSpPr>
        <p:spPr>
          <a:xfrm>
            <a:off x="952500" y="4714875"/>
            <a:ext cx="3048000" cy="2762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>
              <a:defRPr sz="1600" b="1">
                <a:solidFill>
                  <a:srgbClr val="1725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>
              <a:defRPr sz="1600" b="1">
                <a:solidFill>
                  <a:srgbClr val="1725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>
              <a:defRPr sz="1600" b="1">
                <a:solidFill>
                  <a:srgbClr val="1725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>
              <a:defRPr sz="1600" b="1">
                <a:solidFill>
                  <a:srgbClr val="1725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>
              <a:defRPr sz="1600" b="1">
                <a:solidFill>
                  <a:srgbClr val="1725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>
              <a:defRPr sz="1600" b="1">
                <a:solidFill>
                  <a:srgbClr val="1725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>
              <a:defRPr sz="1600" b="1">
                <a:solidFill>
                  <a:srgbClr val="1725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>
              <a:defRPr sz="1600" b="1">
                <a:solidFill>
                  <a:srgbClr val="1725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>
              <a:defRPr sz="1600" b="1">
                <a:solidFill>
                  <a:srgbClr val="1725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>
              <a:defRPr sz="1600" b="1">
                <a:solidFill>
                  <a:srgbClr val="1725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>
              <a:defRPr sz="1600" b="1">
                <a:solidFill>
                  <a:srgbClr val="1725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00" b="1">
                <a:solidFill>
                  <a:srgbClr val="1725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  代入调和级数估计</a:t>
            </a:r>
            <a:endParaRPr sz="1600" b="1">
              <a:solidFill>
                <a:srgbClr val="17255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note_e_3"/>
          <p:cNvSpPr>
            <a:spLocks noGrp="1"/>
          </p:cNvSpPr>
          <p:nvPr/>
        </p:nvSpPr>
        <p:spPr>
          <a:xfrm>
            <a:off x="952500" y="5019675"/>
            <a:ext cx="3086100" cy="5238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>
              <a:defRPr sz="1300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>
              <a:defRPr sz="1300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>
              <a:defRPr sz="1300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>
              <a:defRPr sz="1300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>
              <a:defRPr sz="1300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>
              <a:defRPr sz="1300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>
              <a:defRPr sz="1300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>
              <a:defRPr sz="1300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>
              <a:defRPr sz="1300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>
              <a:defRPr sz="1300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>
              <a:defRPr sz="1300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00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Hᴸ 的量级为 lg L，而 L=lg n。</a:t>
            </a:r>
            <a:endParaRPr sz="1300" b="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3" name="eq_e_3_0" descr="LaTeX: \sum_{j=1}^{L}\frac{1}{j}=\Theta(\lg L)"/>
              <p:cNvSpPr>
                <a:spLocks noGrp="1"/>
              </p:cNvSpPr>
              <p:nvPr/>
            </p:nvSpPr>
            <p:spPr>
              <a:xfrm>
                <a:off x="4333875" y="4572000"/>
                <a:ext cx="6810375" cy="419100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lIns="0" tIns="0" rIns="0" bIns="0" anchor="t"/>
              <a:lstStyle>
                <a:defPPr>
                  <a:defRPr sz="1600" b="0">
                    <a:solidFill>
                      <a:srgbClr val="1E293B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defRPr>
                </a:defPPr>
                <a:lvl1pPr>
                  <a:defRPr sz="1600" b="0">
                    <a:solidFill>
                      <a:srgbClr val="1E293B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defRPr>
                </a:lvl1pPr>
                <a:lvl2pPr>
                  <a:defRPr sz="1600" b="0">
                    <a:solidFill>
                      <a:srgbClr val="1E293B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defRPr>
                </a:lvl2pPr>
                <a:lvl3pPr>
                  <a:defRPr sz="1600" b="0">
                    <a:solidFill>
                      <a:srgbClr val="1E293B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defRPr>
                </a:lvl3pPr>
                <a:lvl4pPr>
                  <a:defRPr sz="1600" b="0">
                    <a:solidFill>
                      <a:srgbClr val="1E293B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defRPr>
                </a:lvl4pPr>
                <a:lvl5pPr>
                  <a:defRPr sz="1600" b="0">
                    <a:solidFill>
                      <a:srgbClr val="1E293B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defRPr>
                </a:lvl5pPr>
                <a:lvl6pPr>
                  <a:defRPr sz="1600" b="0">
                    <a:solidFill>
                      <a:srgbClr val="1E293B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defRPr>
                </a:lvl6pPr>
                <a:lvl7pPr>
                  <a:defRPr sz="1600" b="0">
                    <a:solidFill>
                      <a:srgbClr val="1E293B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defRPr>
                </a:lvl7pPr>
                <a:lvl8pPr>
                  <a:defRPr sz="1600" b="0">
                    <a:solidFill>
                      <a:srgbClr val="1E293B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defRPr>
                </a:lvl8pPr>
                <a:lvl9pPr>
                  <a:defRPr sz="1600" b="0">
                    <a:solidFill>
                      <a:srgbClr val="1E293B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defRPr>
                </a:lvl9pPr>
              </a:lstStyle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grow m:val="on"/>
                          <m:limLoc m:val="subSup"/>
                          <m:ctrlPr>
                            <a:rPr sz="1600" b="0">
                              <a:solidFill>
                                <a:srgbClr val="1E293B"/>
                              </a:solidFill>
                              <a:latin typeface="Cambria Math" panose="02040503050406030204"/>
                              <a:ea typeface="微软雅黑" panose="020B0503020204020204" charset="-122"/>
                            </a:rPr>
                          </m:ctrlPr>
                        </m:naryPr>
                        <m:sub>
                          <m:r>
                            <a:rPr sz="1600" b="0" i="1">
                              <a:solidFill>
                                <a:srgbClr val="1E293B"/>
                              </a:solidFill>
                              <a:latin typeface="Cambria Math" panose="02040503050406030204"/>
                              <a:ea typeface="Cambria Math" panose="02040503050406030204"/>
                            </a:rPr>
                            <m:t>𝑗</m:t>
                          </m:r>
                          <m:r>
                            <a:rPr sz="1600" b="0" i="0">
                              <a:solidFill>
                                <a:srgbClr val="1E293B"/>
                              </a:solidFill>
                              <a:latin typeface="Cambria Math" panose="02040503050406030204"/>
                              <a:ea typeface="Cambria Math" panose="02040503050406030204"/>
                            </a:rPr>
                            <m:t>=</m:t>
                          </m:r>
                          <m:r>
                            <a:rPr sz="1600" b="0" i="0">
                              <a:solidFill>
                                <a:srgbClr val="1E293B"/>
                              </a:solidFill>
                              <a:latin typeface="Cambria Math" panose="02040503050406030204"/>
                              <a:ea typeface="Cambria Math" panose="02040503050406030204"/>
                            </a:rPr>
                            <m:t>1</m:t>
                          </m:r>
                        </m:sub>
                        <m:sup>
                          <m:r>
                            <a:rPr sz="1600" b="0" i="1">
                              <a:solidFill>
                                <a:srgbClr val="1E293B"/>
                              </a:solidFill>
                              <a:latin typeface="Cambria Math" panose="02040503050406030204"/>
                              <a:ea typeface="Cambria Math" panose="02040503050406030204"/>
                            </a:rPr>
                            <m:t>𝐿</m:t>
                          </m:r>
                        </m:sup>
                        <m:e>
                          <m:f>
                            <m:fPr>
                              <m:ctrlPr>
                                <a:rPr sz="1600" b="0">
                                  <a:solidFill>
                                    <a:srgbClr val="1E293B"/>
                                  </a:solidFill>
                                  <a:latin typeface="Cambria Math" panose="02040503050406030204"/>
                                  <a:ea typeface="微软雅黑" panose="020B0503020204020204" charset="-122"/>
                                </a:rPr>
                              </m:ctrlPr>
                            </m:fPr>
                            <m:num>
                              <m:r>
                                <a:rPr sz="1600" b="0" i="0">
                                  <a:solidFill>
                                    <a:srgbClr val="1E293B"/>
                                  </a:solidFill>
                                  <a:latin typeface="Cambria Math" panose="02040503050406030204"/>
                                  <a:ea typeface="Cambria Math" panose="02040503050406030204"/>
                                </a:rPr>
                                <m:t>1</m:t>
                              </m:r>
                            </m:num>
                            <m:den>
                              <m:r>
                                <a:rPr sz="1600" b="0" i="1">
                                  <a:solidFill>
                                    <a:srgbClr val="1E293B"/>
                                  </a:solidFill>
                                  <a:latin typeface="Cambria Math" panose="02040503050406030204"/>
                                  <a:ea typeface="Cambria Math" panose="02040503050406030204"/>
                                </a:rPr>
                                <m:t>𝑗</m:t>
                              </m:r>
                            </m:den>
                          </m:f>
                        </m:e>
                      </m:nary>
                      <m:r>
                        <a:rPr sz="1600" b="0" i="0">
                          <a:solidFill>
                            <a:srgbClr val="1E293B"/>
                          </a:solidFill>
                          <a:latin typeface="Cambria Math" panose="02040503050406030204"/>
                          <a:ea typeface="Cambria Math" panose="02040503050406030204"/>
                        </a:rPr>
                        <m:t>=</m:t>
                      </m:r>
                      <m:r>
                        <m:rPr>
                          <m:sty m:val="p"/>
                        </m:rPr>
                        <a:rPr sz="1600" b="0" i="0">
                          <a:solidFill>
                            <a:srgbClr val="1E293B"/>
                          </a:solidFill>
                          <a:latin typeface="Cambria Math" panose="02040503050406030204"/>
                          <a:ea typeface="Cambria Math" panose="02040503050406030204"/>
                        </a:rPr>
                        <m:t>Θ</m:t>
                      </m:r>
                      <m:d>
                        <m:dPr>
                          <m:ctrlPr>
                            <a:rPr sz="1600" b="0">
                              <a:solidFill>
                                <a:srgbClr val="1E293B"/>
                              </a:solidFill>
                              <a:latin typeface="Cambria Math" panose="02040503050406030204"/>
                              <a:ea typeface="微软雅黑" panose="020B0503020204020204" charset="-122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sz="1600" b="0" i="0">
                              <a:solidFill>
                                <a:srgbClr val="1E293B"/>
                              </a:solidFill>
                              <a:latin typeface="Cambria Math" panose="02040503050406030204"/>
                              <a:ea typeface="Cambria Math" panose="02040503050406030204"/>
                            </a:rPr>
                            <m:t>lg</m:t>
                          </m:r>
                          <m:r>
                            <a:rPr sz="1600" b="0" i="1">
                              <a:solidFill>
                                <a:srgbClr val="1E293B"/>
                              </a:solidFill>
                              <a:latin typeface="Cambria Math" panose="02040503050406030204"/>
                              <a:ea typeface="Cambria Math" panose="02040503050406030204"/>
                            </a:rPr>
                            <m:t>𝐿</m:t>
                          </m:r>
                        </m:e>
                      </m:d>
                    </m:oMath>
                  </m:oMathPara>
                </a14:m>
                <a:endParaRPr sz="1600"/>
              </a:p>
            </p:txBody>
          </p:sp>
        </mc:Choice>
        <mc:Fallback>
          <p:sp>
            <p:nvSpPr>
              <p:cNvPr id="23" name="eq_e_3_0" descr="LaTeX: \sum_{j=1}^{L}\frac{1}{j}=\Theta(\lg L)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33875" y="4572000"/>
                <a:ext cx="6810375" cy="419100"/>
              </a:xfrm>
              <a:prstGeom prst="rect">
                <a:avLst/>
              </a:prstGeom>
              <a:blipFill rotWithShape="1">
                <a:blip r:embed="rId7"/>
                <a:stretch>
                  <a:fillRect b="-73636"/>
                </a:stretch>
              </a:blipFill>
              <a:ln w="0"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4" name="eq_e_3_1" descr="LaTeX: \lg L=\lg\lg n"/>
              <p:cNvSpPr>
                <a:spLocks noGrp="1"/>
              </p:cNvSpPr>
              <p:nvPr/>
            </p:nvSpPr>
            <p:spPr>
              <a:xfrm>
                <a:off x="4333875" y="5305425"/>
                <a:ext cx="6810375" cy="419100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lIns="0" tIns="0" rIns="0" bIns="0" anchor="t"/>
              <a:lstStyle>
                <a:defPPr>
                  <a:defRPr sz="1600" b="0">
                    <a:solidFill>
                      <a:srgbClr val="1E293B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defRPr>
                </a:defPPr>
                <a:lvl1pPr>
                  <a:defRPr sz="1600" b="0">
                    <a:solidFill>
                      <a:srgbClr val="1E293B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defRPr>
                </a:lvl1pPr>
                <a:lvl2pPr>
                  <a:defRPr sz="1600" b="0">
                    <a:solidFill>
                      <a:srgbClr val="1E293B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defRPr>
                </a:lvl2pPr>
                <a:lvl3pPr>
                  <a:defRPr sz="1600" b="0">
                    <a:solidFill>
                      <a:srgbClr val="1E293B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defRPr>
                </a:lvl3pPr>
                <a:lvl4pPr>
                  <a:defRPr sz="1600" b="0">
                    <a:solidFill>
                      <a:srgbClr val="1E293B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defRPr>
                </a:lvl4pPr>
                <a:lvl5pPr>
                  <a:defRPr sz="1600" b="0">
                    <a:solidFill>
                      <a:srgbClr val="1E293B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defRPr>
                </a:lvl5pPr>
                <a:lvl6pPr>
                  <a:defRPr sz="1600" b="0">
                    <a:solidFill>
                      <a:srgbClr val="1E293B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defRPr>
                </a:lvl6pPr>
                <a:lvl7pPr>
                  <a:defRPr sz="1600" b="0">
                    <a:solidFill>
                      <a:srgbClr val="1E293B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defRPr>
                </a:lvl7pPr>
                <a:lvl8pPr>
                  <a:defRPr sz="1600" b="0">
                    <a:solidFill>
                      <a:srgbClr val="1E293B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defRPr>
                </a:lvl8pPr>
                <a:lvl9pPr>
                  <a:defRPr sz="1600" b="0">
                    <a:solidFill>
                      <a:srgbClr val="1E293B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defRPr>
                </a:lvl9pPr>
              </a:lstStyle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sz="1600" b="0" i="0">
                          <a:solidFill>
                            <a:srgbClr val="1E293B"/>
                          </a:solidFill>
                          <a:latin typeface="Cambria Math" panose="02040503050406030204"/>
                          <a:ea typeface="Cambria Math" panose="02040503050406030204"/>
                        </a:rPr>
                        <m:t>lg</m:t>
                      </m:r>
                      <m:r>
                        <a:rPr sz="1600" b="0" i="1">
                          <a:solidFill>
                            <a:srgbClr val="1E293B"/>
                          </a:solidFill>
                          <a:latin typeface="Cambria Math" panose="02040503050406030204"/>
                          <a:ea typeface="Cambria Math" panose="02040503050406030204"/>
                        </a:rPr>
                        <m:t>𝐿</m:t>
                      </m:r>
                      <m:r>
                        <a:rPr sz="1600" b="0" i="0">
                          <a:solidFill>
                            <a:srgbClr val="1E293B"/>
                          </a:solidFill>
                          <a:latin typeface="Cambria Math" panose="02040503050406030204"/>
                          <a:ea typeface="Cambria Math" panose="02040503050406030204"/>
                        </a:rPr>
                        <m:t>=</m:t>
                      </m:r>
                      <m:r>
                        <m:rPr>
                          <m:sty m:val="p"/>
                        </m:rPr>
                        <a:rPr sz="1600" b="0" i="0">
                          <a:solidFill>
                            <a:srgbClr val="1E293B"/>
                          </a:solidFill>
                          <a:latin typeface="Cambria Math" panose="02040503050406030204"/>
                          <a:ea typeface="Cambria Math" panose="02040503050406030204"/>
                        </a:rPr>
                        <m:t>lg</m:t>
                      </m:r>
                      <m:r>
                        <m:rPr>
                          <m:sty m:val="p"/>
                        </m:rPr>
                        <a:rPr sz="1600" b="0" i="0">
                          <a:solidFill>
                            <a:srgbClr val="1E293B"/>
                          </a:solidFill>
                          <a:latin typeface="Cambria Math" panose="02040503050406030204"/>
                          <a:ea typeface="Cambria Math" panose="02040503050406030204"/>
                        </a:rPr>
                        <m:t>lg</m:t>
                      </m:r>
                      <m:r>
                        <a:rPr sz="1600" b="0" i="1">
                          <a:solidFill>
                            <a:srgbClr val="1E293B"/>
                          </a:solidFill>
                          <a:latin typeface="Cambria Math" panose="02040503050406030204"/>
                          <a:ea typeface="Cambria Math" panose="02040503050406030204"/>
                        </a:rPr>
                        <m:t>𝑛</m:t>
                      </m:r>
                    </m:oMath>
                  </m:oMathPara>
                </a14:m>
                <a:endParaRPr sz="1600"/>
              </a:p>
            </p:txBody>
          </p:sp>
        </mc:Choice>
        <mc:Fallback>
          <p:sp>
            <p:nvSpPr>
              <p:cNvPr id="24" name="eq_e_3_1" descr="LaTeX: \lg L=\lg\lg n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33875" y="5305425"/>
                <a:ext cx="6810375" cy="419100"/>
              </a:xfrm>
              <a:prstGeom prst="rect">
                <a:avLst/>
              </a:prstGeom>
              <a:blipFill rotWithShape="1">
                <a:blip r:embed="rId8"/>
                <a:stretch>
                  <a:fillRect/>
                </a:stretch>
              </a:blipFill>
              <a:ln w="0"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5" name="eq_e_result" descr="LaTeX: T(n)=\Theta(n\lg\lg n)"/>
              <p:cNvSpPr>
                <a:spLocks noGrp="1"/>
              </p:cNvSpPr>
              <p:nvPr/>
            </p:nvSpPr>
            <p:spPr>
              <a:xfrm>
                <a:off x="4333875" y="5743575"/>
                <a:ext cx="6810375" cy="409575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lIns="0" tIns="0" rIns="0" bIns="0" anchor="t"/>
              <a:lstStyle>
                <a:defPPr>
                  <a:defRPr sz="1700" b="1">
                    <a:solidFill>
                      <a:srgbClr val="2563EB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defRPr>
                </a:defPPr>
                <a:lvl1pPr>
                  <a:defRPr sz="1700" b="1">
                    <a:solidFill>
                      <a:srgbClr val="2563EB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defRPr>
                </a:lvl1pPr>
                <a:lvl2pPr>
                  <a:defRPr sz="1700" b="1">
                    <a:solidFill>
                      <a:srgbClr val="2563EB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defRPr>
                </a:lvl2pPr>
                <a:lvl3pPr>
                  <a:defRPr sz="1700" b="1">
                    <a:solidFill>
                      <a:srgbClr val="2563EB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defRPr>
                </a:lvl3pPr>
                <a:lvl4pPr>
                  <a:defRPr sz="1700" b="1">
                    <a:solidFill>
                      <a:srgbClr val="2563EB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defRPr>
                </a:lvl4pPr>
                <a:lvl5pPr>
                  <a:defRPr sz="1700" b="1">
                    <a:solidFill>
                      <a:srgbClr val="2563EB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defRPr>
                </a:lvl5pPr>
                <a:lvl6pPr>
                  <a:defRPr sz="1700" b="1">
                    <a:solidFill>
                      <a:srgbClr val="2563EB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defRPr>
                </a:lvl6pPr>
                <a:lvl7pPr>
                  <a:defRPr sz="1700" b="1">
                    <a:solidFill>
                      <a:srgbClr val="2563EB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defRPr>
                </a:lvl7pPr>
                <a:lvl8pPr>
                  <a:defRPr sz="1700" b="1">
                    <a:solidFill>
                      <a:srgbClr val="2563EB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defRPr>
                </a:lvl8pPr>
                <a:lvl9pPr>
                  <a:defRPr sz="1700" b="1">
                    <a:solidFill>
                      <a:srgbClr val="2563EB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defRPr>
                </a:lvl9pPr>
              </a:lstStyle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sz="1700" b="1" i="1">
                          <a:solidFill>
                            <a:srgbClr val="2563EB"/>
                          </a:solidFill>
                          <a:latin typeface="Cambria Math" panose="02040503050406030204"/>
                          <a:ea typeface="Cambria Math" panose="02040503050406030204"/>
                        </a:rPr>
                        <m:t>𝑇</m:t>
                      </m:r>
                      <m:d>
                        <m:dPr>
                          <m:ctrlPr>
                            <a:rPr sz="1700" b="1">
                              <a:solidFill>
                                <a:srgbClr val="2563EB"/>
                              </a:solidFill>
                              <a:latin typeface="Cambria Math" panose="02040503050406030204"/>
                              <a:ea typeface="微软雅黑" panose="020B0503020204020204" charset="-122"/>
                            </a:rPr>
                          </m:ctrlPr>
                        </m:dPr>
                        <m:e>
                          <m:r>
                            <a:rPr sz="1700" b="1" i="1">
                              <a:solidFill>
                                <a:srgbClr val="2563EB"/>
                              </a:solidFill>
                              <a:latin typeface="Cambria Math" panose="02040503050406030204"/>
                              <a:ea typeface="Cambria Math" panose="02040503050406030204"/>
                            </a:rPr>
                            <m:t>𝑛</m:t>
                          </m:r>
                        </m:e>
                      </m:d>
                      <m:r>
                        <a:rPr sz="1700" b="1" i="0">
                          <a:solidFill>
                            <a:srgbClr val="2563EB"/>
                          </a:solidFill>
                          <a:latin typeface="Cambria Math" panose="02040503050406030204"/>
                          <a:ea typeface="Cambria Math" panose="02040503050406030204"/>
                        </a:rPr>
                        <m:t>=</m:t>
                      </m:r>
                      <m:r>
                        <m:rPr>
                          <m:sty m:val="p"/>
                        </m:rPr>
                        <a:rPr sz="1700" b="1" i="0">
                          <a:solidFill>
                            <a:srgbClr val="2563EB"/>
                          </a:solidFill>
                          <a:latin typeface="Cambria Math" panose="02040503050406030204"/>
                          <a:ea typeface="Cambria Math" panose="02040503050406030204"/>
                        </a:rPr>
                        <m:t>Θ</m:t>
                      </m:r>
                      <m:d>
                        <m:dPr>
                          <m:ctrlPr>
                            <a:rPr sz="1700" b="1">
                              <a:solidFill>
                                <a:srgbClr val="2563EB"/>
                              </a:solidFill>
                              <a:latin typeface="Cambria Math" panose="02040503050406030204"/>
                              <a:ea typeface="微软雅黑" panose="020B0503020204020204" charset="-122"/>
                            </a:rPr>
                          </m:ctrlPr>
                        </m:dPr>
                        <m:e>
                          <m:r>
                            <a:rPr sz="1700" b="1" i="1">
                              <a:solidFill>
                                <a:srgbClr val="2563EB"/>
                              </a:solidFill>
                              <a:latin typeface="Cambria Math" panose="02040503050406030204"/>
                              <a:ea typeface="Cambria Math" panose="02040503050406030204"/>
                            </a:rPr>
                            <m:t>𝑛</m:t>
                          </m:r>
                          <m:r>
                            <m:rPr>
                              <m:sty m:val="p"/>
                            </m:rPr>
                            <a:rPr sz="1700" b="1" i="0">
                              <a:solidFill>
                                <a:srgbClr val="2563EB"/>
                              </a:solidFill>
                              <a:latin typeface="Cambria Math" panose="02040503050406030204"/>
                              <a:ea typeface="Cambria Math" panose="02040503050406030204"/>
                            </a:rPr>
                            <m:t>lg</m:t>
                          </m:r>
                          <m:r>
                            <m:rPr>
                              <m:sty m:val="p"/>
                            </m:rPr>
                            <a:rPr sz="1700" b="1" i="0">
                              <a:solidFill>
                                <a:srgbClr val="2563EB"/>
                              </a:solidFill>
                              <a:latin typeface="Cambria Math" panose="02040503050406030204"/>
                              <a:ea typeface="Cambria Math" panose="02040503050406030204"/>
                            </a:rPr>
                            <m:t>lg</m:t>
                          </m:r>
                          <m:r>
                            <a:rPr sz="1700" b="1" i="1">
                              <a:solidFill>
                                <a:srgbClr val="2563EB"/>
                              </a:solidFill>
                              <a:latin typeface="Cambria Math" panose="02040503050406030204"/>
                              <a:ea typeface="Cambria Math" panose="02040503050406030204"/>
                            </a:rPr>
                            <m:t>𝑛</m:t>
                          </m:r>
                        </m:e>
                      </m:d>
                    </m:oMath>
                  </m:oMathPara>
                </a14:m>
                <a:endParaRPr sz="1700"/>
              </a:p>
            </p:txBody>
          </p:sp>
        </mc:Choice>
        <mc:Fallback>
          <p:sp>
            <p:nvSpPr>
              <p:cNvPr id="25" name="eq_e_result" descr="LaTeX: T(n)=\Theta(n\lg\lg n)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33875" y="5743575"/>
                <a:ext cx="6810375" cy="409575"/>
              </a:xfrm>
              <a:prstGeom prst="rect">
                <a:avLst/>
              </a:prstGeom>
              <a:blipFill rotWithShape="1">
                <a:blip r:embed="rId9"/>
                <a:stretch>
                  <a:fillRect/>
                </a:stretch>
              </a:blipFill>
              <a:ln w="0"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6" name="result_label_e"/>
          <p:cNvSpPr>
            <a:spLocks noGrp="1"/>
          </p:cNvSpPr>
          <p:nvPr/>
        </p:nvSpPr>
        <p:spPr>
          <a:xfrm>
            <a:off x="952500" y="5781675"/>
            <a:ext cx="3048000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>
              <a:defRPr sz="1600" b="1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>
              <a:defRPr sz="1600" b="1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>
              <a:defRPr sz="1600" b="1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>
              <a:defRPr sz="1600" b="1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>
              <a:defRPr sz="1600" b="1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>
              <a:defRPr sz="1600" b="1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>
              <a:defRPr sz="1600" b="1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>
              <a:defRPr sz="1600" b="1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>
              <a:defRPr sz="1600" b="1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>
              <a:defRPr sz="1600" b="1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>
              <a:defRPr sz="1600" b="1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00" b="1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紧确渐近界</a:t>
            </a:r>
            <a:endParaRPr sz="1600" b="1">
              <a:solidFill>
                <a:srgbClr val="2563E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>
            <a:spLocks noGrp="1"/>
          </p:cNvSpPr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3" name="TextBox 2"/>
          <p:cNvSpPr>
            <a:spLocks noGrp="1"/>
          </p:cNvSpPr>
          <p:nvPr/>
        </p:nvSpPr>
        <p:spPr>
          <a:xfrm>
            <a:off x="502920" y="292608"/>
            <a:ext cx="10881360" cy="512064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>
            <a:defPPr>
              <a:defRPr sz="2400"/>
            </a:defPPr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algn="l">
              <a:spcAft>
                <a:spcPts val="500"/>
              </a:spcAft>
              <a:buNone/>
            </a:pPr>
            <a:r>
              <a:rPr sz="2400" b="1" i="0">
                <a:solidFill>
                  <a:srgbClr val="1725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题目解析（f）</a:t>
            </a:r>
            <a:endParaRPr sz="2400" b="1" i="0">
              <a:solidFill>
                <a:srgbClr val="17255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TextBox 3"/>
          <p:cNvSpPr>
            <a:spLocks noGrp="1"/>
          </p:cNvSpPr>
          <p:nvPr/>
        </p:nvSpPr>
        <p:spPr>
          <a:xfrm>
            <a:off x="530352" y="804672"/>
            <a:ext cx="10972800" cy="329184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>
            <a:defPPr>
              <a:defRPr sz="1200"/>
            </a:defPPr>
            <a:lvl1pPr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algn="l">
              <a:spcAft>
                <a:spcPts val="500"/>
              </a:spcAft>
              <a:buNone/>
            </a:pPr>
            <a:r>
              <a:rPr sz="1200" b="0" i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递归树与几何级数：各层子问题的总规模按固定比例缩小</a:t>
            </a:r>
            <a:endParaRPr sz="1200" b="0" i="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TextBox 4"/>
          <p:cNvSpPr>
            <a:spLocks noGrp="1"/>
          </p:cNvSpPr>
          <p:nvPr/>
        </p:nvSpPr>
        <p:spPr>
          <a:xfrm>
            <a:off x="9555480" y="6510528"/>
            <a:ext cx="2103120" cy="18288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r">
              <a:spcAft>
                <a:spcPts val="500"/>
              </a:spcAft>
              <a:buNone/>
            </a:pPr>
            <a:r>
              <a:rPr sz="900" b="0" i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递推式与渐近分析</a:t>
            </a:r>
            <a:endParaRPr sz="900" b="0" i="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extBox 5"/>
          <p:cNvSpPr>
            <a:spLocks noGrp="1"/>
          </p:cNvSpPr>
          <p:nvPr/>
        </p:nvSpPr>
        <p:spPr>
          <a:xfrm>
            <a:off x="502920" y="6510528"/>
            <a:ext cx="1371600" cy="283464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500"/>
              </a:spcAft>
              <a:buNone/>
            </a:pPr>
            <a:r>
              <a:rPr sz="900" b="0" i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算法设计 · 11</a:t>
            </a:r>
            <a:endParaRPr sz="900" b="0" i="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Rounded Rectangle 6"/>
          <p:cNvSpPr>
            <a:spLocks noGrp="1"/>
          </p:cNvSpPr>
          <p:nvPr/>
        </p:nvSpPr>
        <p:spPr>
          <a:xfrm>
            <a:off x="640080" y="1280160"/>
            <a:ext cx="10927080" cy="49149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8" name="Rectangle 7"/>
          <p:cNvSpPr>
            <a:spLocks noGrp="1"/>
          </p:cNvSpPr>
          <p:nvPr/>
        </p:nvSpPr>
        <p:spPr>
          <a:xfrm>
            <a:off x="640080" y="1280160"/>
            <a:ext cx="73152" cy="4914900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eq_f_recurrence" descr="LaTeX: T(n)=T(\frac{n}{2})+T(\frac{n}{4})+T(\frac{n}{8})+n"/>
              <p:cNvSpPr>
                <a:spLocks noGrp="1"/>
              </p:cNvSpPr>
              <p:nvPr/>
            </p:nvSpPr>
            <p:spPr>
              <a:xfrm>
                <a:off x="952500" y="1457325"/>
                <a:ext cx="10287000" cy="552450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lIns="0" tIns="0" rIns="0" bIns="0" anchor="t"/>
              <a:lstStyle>
                <a:defPPr>
                  <a:defRPr sz="1700" b="1">
                    <a:solidFill>
                      <a:srgbClr val="2563EB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defRPr>
                </a:defPPr>
                <a:lvl1pPr>
                  <a:defRPr sz="1700" b="1">
                    <a:solidFill>
                      <a:srgbClr val="2563EB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defRPr>
                </a:lvl1pPr>
                <a:lvl2pPr>
                  <a:defRPr sz="1700" b="1">
                    <a:solidFill>
                      <a:srgbClr val="2563EB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defRPr>
                </a:lvl2pPr>
                <a:lvl3pPr>
                  <a:defRPr sz="1700" b="1">
                    <a:solidFill>
                      <a:srgbClr val="2563EB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defRPr>
                </a:lvl3pPr>
                <a:lvl4pPr>
                  <a:defRPr sz="1700" b="1">
                    <a:solidFill>
                      <a:srgbClr val="2563EB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defRPr>
                </a:lvl4pPr>
                <a:lvl5pPr>
                  <a:defRPr sz="1700" b="1">
                    <a:solidFill>
                      <a:srgbClr val="2563EB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defRPr>
                </a:lvl5pPr>
                <a:lvl6pPr>
                  <a:defRPr sz="1700" b="1">
                    <a:solidFill>
                      <a:srgbClr val="2563EB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defRPr>
                </a:lvl6pPr>
                <a:lvl7pPr>
                  <a:defRPr sz="1700" b="1">
                    <a:solidFill>
                      <a:srgbClr val="2563EB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defRPr>
                </a:lvl7pPr>
                <a:lvl8pPr>
                  <a:defRPr sz="1700" b="1">
                    <a:solidFill>
                      <a:srgbClr val="2563EB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defRPr>
                </a:lvl8pPr>
                <a:lvl9pPr>
                  <a:defRPr sz="1700" b="1">
                    <a:solidFill>
                      <a:srgbClr val="2563EB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defRPr>
                </a:lvl9pPr>
              </a:lstStyle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sz="1700" b="1" i="1">
                          <a:solidFill>
                            <a:srgbClr val="2563EB"/>
                          </a:solidFill>
                          <a:latin typeface="Cambria Math" panose="02040503050406030204"/>
                          <a:ea typeface="Cambria Math" panose="02040503050406030204"/>
                        </a:rPr>
                        <m:t>𝑇</m:t>
                      </m:r>
                      <m:d>
                        <m:dPr>
                          <m:ctrlPr>
                            <a:rPr sz="1700" b="1">
                              <a:solidFill>
                                <a:srgbClr val="2563EB"/>
                              </a:solidFill>
                              <a:latin typeface="Cambria Math" panose="02040503050406030204"/>
                              <a:ea typeface="微软雅黑" panose="020B0503020204020204" charset="-122"/>
                            </a:rPr>
                          </m:ctrlPr>
                        </m:dPr>
                        <m:e>
                          <m:r>
                            <a:rPr sz="1700" b="1" i="1">
                              <a:solidFill>
                                <a:srgbClr val="2563EB"/>
                              </a:solidFill>
                              <a:latin typeface="Cambria Math" panose="02040503050406030204"/>
                              <a:ea typeface="Cambria Math" panose="02040503050406030204"/>
                            </a:rPr>
                            <m:t>𝑛</m:t>
                          </m:r>
                        </m:e>
                      </m:d>
                      <m:r>
                        <a:rPr sz="1700" b="1" i="0">
                          <a:solidFill>
                            <a:srgbClr val="2563EB"/>
                          </a:solidFill>
                          <a:latin typeface="Cambria Math" panose="02040503050406030204"/>
                          <a:ea typeface="Cambria Math" panose="02040503050406030204"/>
                        </a:rPr>
                        <m:t>=</m:t>
                      </m:r>
                      <m:r>
                        <a:rPr sz="1700" b="1" i="1">
                          <a:solidFill>
                            <a:srgbClr val="2563EB"/>
                          </a:solidFill>
                          <a:latin typeface="Cambria Math" panose="02040503050406030204"/>
                          <a:ea typeface="Cambria Math" panose="02040503050406030204"/>
                        </a:rPr>
                        <m:t>𝑇</m:t>
                      </m:r>
                      <m:d>
                        <m:dPr>
                          <m:ctrlPr>
                            <a:rPr sz="1700" b="1">
                              <a:solidFill>
                                <a:srgbClr val="2563EB"/>
                              </a:solidFill>
                              <a:latin typeface="Cambria Math" panose="02040503050406030204"/>
                              <a:ea typeface="微软雅黑" panose="020B0503020204020204" charset="-122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sz="1700" b="1">
                                  <a:solidFill>
                                    <a:srgbClr val="2563EB"/>
                                  </a:solidFill>
                                  <a:latin typeface="Cambria Math" panose="02040503050406030204"/>
                                  <a:ea typeface="微软雅黑" panose="020B0503020204020204" charset="-122"/>
                                </a:rPr>
                              </m:ctrlPr>
                            </m:fPr>
                            <m:num>
                              <m:r>
                                <a:rPr sz="1700" b="1" i="1">
                                  <a:solidFill>
                                    <a:srgbClr val="2563EB"/>
                                  </a:solidFill>
                                  <a:latin typeface="Cambria Math" panose="02040503050406030204"/>
                                  <a:ea typeface="Cambria Math" panose="02040503050406030204"/>
                                </a:rPr>
                                <m:t>𝑛</m:t>
                              </m:r>
                            </m:num>
                            <m:den>
                              <m:r>
                                <a:rPr sz="1700" b="1" i="0">
                                  <a:solidFill>
                                    <a:srgbClr val="2563EB"/>
                                  </a:solidFill>
                                  <a:latin typeface="Cambria Math" panose="02040503050406030204"/>
                                  <a:ea typeface="Cambria Math" panose="02040503050406030204"/>
                                </a:rPr>
                                <m:t>2</m:t>
                              </m:r>
                            </m:den>
                          </m:f>
                        </m:e>
                      </m:d>
                      <m:r>
                        <a:rPr sz="1700" b="1" i="0">
                          <a:solidFill>
                            <a:srgbClr val="2563EB"/>
                          </a:solidFill>
                          <a:latin typeface="Cambria Math" panose="02040503050406030204"/>
                          <a:ea typeface="Cambria Math" panose="02040503050406030204"/>
                        </a:rPr>
                        <m:t>+</m:t>
                      </m:r>
                      <m:r>
                        <a:rPr sz="1700" b="1" i="1">
                          <a:solidFill>
                            <a:srgbClr val="2563EB"/>
                          </a:solidFill>
                          <a:latin typeface="Cambria Math" panose="02040503050406030204"/>
                          <a:ea typeface="Cambria Math" panose="02040503050406030204"/>
                        </a:rPr>
                        <m:t>𝑇</m:t>
                      </m:r>
                      <m:d>
                        <m:dPr>
                          <m:ctrlPr>
                            <a:rPr sz="1700" b="1">
                              <a:solidFill>
                                <a:srgbClr val="2563EB"/>
                              </a:solidFill>
                              <a:latin typeface="Cambria Math" panose="02040503050406030204"/>
                              <a:ea typeface="微软雅黑" panose="020B0503020204020204" charset="-122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sz="1700" b="1">
                                  <a:solidFill>
                                    <a:srgbClr val="2563EB"/>
                                  </a:solidFill>
                                  <a:latin typeface="Cambria Math" panose="02040503050406030204"/>
                                  <a:ea typeface="微软雅黑" panose="020B0503020204020204" charset="-122"/>
                                </a:rPr>
                              </m:ctrlPr>
                            </m:fPr>
                            <m:num>
                              <m:r>
                                <a:rPr sz="1700" b="1" i="1">
                                  <a:solidFill>
                                    <a:srgbClr val="2563EB"/>
                                  </a:solidFill>
                                  <a:latin typeface="Cambria Math" panose="02040503050406030204"/>
                                  <a:ea typeface="Cambria Math" panose="02040503050406030204"/>
                                </a:rPr>
                                <m:t>𝑛</m:t>
                              </m:r>
                            </m:num>
                            <m:den>
                              <m:r>
                                <a:rPr sz="1700" b="1" i="0">
                                  <a:solidFill>
                                    <a:srgbClr val="2563EB"/>
                                  </a:solidFill>
                                  <a:latin typeface="Cambria Math" panose="02040503050406030204"/>
                                  <a:ea typeface="Cambria Math" panose="02040503050406030204"/>
                                </a:rPr>
                                <m:t>4</m:t>
                              </m:r>
                            </m:den>
                          </m:f>
                        </m:e>
                      </m:d>
                      <m:r>
                        <a:rPr sz="1700" b="1" i="0">
                          <a:solidFill>
                            <a:srgbClr val="2563EB"/>
                          </a:solidFill>
                          <a:latin typeface="Cambria Math" panose="02040503050406030204"/>
                          <a:ea typeface="Cambria Math" panose="02040503050406030204"/>
                        </a:rPr>
                        <m:t>+</m:t>
                      </m:r>
                      <m:r>
                        <a:rPr sz="1700" b="1" i="1">
                          <a:solidFill>
                            <a:srgbClr val="2563EB"/>
                          </a:solidFill>
                          <a:latin typeface="Cambria Math" panose="02040503050406030204"/>
                          <a:ea typeface="Cambria Math" panose="02040503050406030204"/>
                        </a:rPr>
                        <m:t>𝑇</m:t>
                      </m:r>
                      <m:d>
                        <m:dPr>
                          <m:ctrlPr>
                            <a:rPr sz="1700" b="1">
                              <a:solidFill>
                                <a:srgbClr val="2563EB"/>
                              </a:solidFill>
                              <a:latin typeface="Cambria Math" panose="02040503050406030204"/>
                              <a:ea typeface="微软雅黑" panose="020B0503020204020204" charset="-122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sz="1700" b="1">
                                  <a:solidFill>
                                    <a:srgbClr val="2563EB"/>
                                  </a:solidFill>
                                  <a:latin typeface="Cambria Math" panose="02040503050406030204"/>
                                  <a:ea typeface="微软雅黑" panose="020B0503020204020204" charset="-122"/>
                                </a:rPr>
                              </m:ctrlPr>
                            </m:fPr>
                            <m:num>
                              <m:r>
                                <a:rPr sz="1700" b="1" i="1">
                                  <a:solidFill>
                                    <a:srgbClr val="2563EB"/>
                                  </a:solidFill>
                                  <a:latin typeface="Cambria Math" panose="02040503050406030204"/>
                                  <a:ea typeface="Cambria Math" panose="02040503050406030204"/>
                                </a:rPr>
                                <m:t>𝑛</m:t>
                              </m:r>
                            </m:num>
                            <m:den>
                              <m:r>
                                <a:rPr sz="1700" b="1" i="0">
                                  <a:solidFill>
                                    <a:srgbClr val="2563EB"/>
                                  </a:solidFill>
                                  <a:latin typeface="Cambria Math" panose="02040503050406030204"/>
                                  <a:ea typeface="Cambria Math" panose="02040503050406030204"/>
                                </a:rPr>
                                <m:t>8</m:t>
                              </m:r>
                            </m:den>
                          </m:f>
                        </m:e>
                      </m:d>
                      <m:r>
                        <a:rPr sz="1700" b="1" i="0">
                          <a:solidFill>
                            <a:srgbClr val="2563EB"/>
                          </a:solidFill>
                          <a:latin typeface="Cambria Math" panose="02040503050406030204"/>
                          <a:ea typeface="Cambria Math" panose="02040503050406030204"/>
                        </a:rPr>
                        <m:t>+</m:t>
                      </m:r>
                      <m:r>
                        <a:rPr sz="1700" b="1" i="1">
                          <a:solidFill>
                            <a:srgbClr val="2563EB"/>
                          </a:solidFill>
                          <a:latin typeface="Cambria Math" panose="02040503050406030204"/>
                          <a:ea typeface="Cambria Math" panose="02040503050406030204"/>
                        </a:rPr>
                        <m:t>𝑛</m:t>
                      </m:r>
                    </m:oMath>
                  </m:oMathPara>
                </a14:m>
                <a:endParaRPr sz="1700"/>
              </a:p>
            </p:txBody>
          </p:sp>
        </mc:Choice>
        <mc:Fallback>
          <p:sp>
            <p:nvSpPr>
              <p:cNvPr id="9" name="eq_f_recurrence" descr="LaTeX: T(n)=T(\frac{n}{2})+T(\frac{n}{4})+T(\frac{n}{8})+n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2500" y="1457325"/>
                <a:ext cx="10287000" cy="552450"/>
              </a:xfrm>
              <a:prstGeom prst="rect">
                <a:avLst/>
              </a:prstGeom>
              <a:blipFill rotWithShape="1">
                <a:blip r:embed="rId1"/>
                <a:stretch>
                  <a:fillRect/>
                </a:stretch>
              </a:blipFill>
              <a:ln w="0"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step_f_0"/>
          <p:cNvSpPr>
            <a:spLocks noGrp="1"/>
          </p:cNvSpPr>
          <p:nvPr/>
        </p:nvSpPr>
        <p:spPr>
          <a:xfrm>
            <a:off x="952500" y="2143125"/>
            <a:ext cx="3048000" cy="2762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>
              <a:defRPr sz="1600" b="1">
                <a:solidFill>
                  <a:srgbClr val="1725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>
              <a:defRPr sz="1600" b="1">
                <a:solidFill>
                  <a:srgbClr val="1725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>
              <a:defRPr sz="1600" b="1">
                <a:solidFill>
                  <a:srgbClr val="1725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>
              <a:defRPr sz="1600" b="1">
                <a:solidFill>
                  <a:srgbClr val="1725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>
              <a:defRPr sz="1600" b="1">
                <a:solidFill>
                  <a:srgbClr val="1725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>
              <a:defRPr sz="1600" b="1">
                <a:solidFill>
                  <a:srgbClr val="1725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>
              <a:defRPr sz="1600" b="1">
                <a:solidFill>
                  <a:srgbClr val="1725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>
              <a:defRPr sz="1600" b="1">
                <a:solidFill>
                  <a:srgbClr val="1725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>
              <a:defRPr sz="1600" b="1">
                <a:solidFill>
                  <a:srgbClr val="1725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>
              <a:defRPr sz="1600" b="1">
                <a:solidFill>
                  <a:srgbClr val="1725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>
              <a:defRPr sz="1600" b="1">
                <a:solidFill>
                  <a:srgbClr val="1725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00" b="1">
                <a:solidFill>
                  <a:srgbClr val="1725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  计算总规模比例</a:t>
            </a:r>
            <a:endParaRPr sz="1600" b="1">
              <a:solidFill>
                <a:srgbClr val="17255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note_f_0"/>
          <p:cNvSpPr>
            <a:spLocks noGrp="1"/>
          </p:cNvSpPr>
          <p:nvPr/>
        </p:nvSpPr>
        <p:spPr>
          <a:xfrm>
            <a:off x="952500" y="2447925"/>
            <a:ext cx="3086100" cy="5238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>
              <a:defRPr sz="1300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>
              <a:defRPr sz="1300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>
              <a:defRPr sz="1300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>
              <a:defRPr sz="1300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>
              <a:defRPr sz="1300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>
              <a:defRPr sz="1300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>
              <a:defRPr sz="1300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>
              <a:defRPr sz="1300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>
              <a:defRPr sz="1300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>
              <a:defRPr sz="1300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>
              <a:defRPr sz="1300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00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三个子问题的规模和小于原规模。</a:t>
            </a:r>
            <a:endParaRPr sz="1300" b="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2" name="eq_f_0_0" descr="LaTeX: \frac{n}{2}+\frac{n}{4}+\frac{n}{8}=\frac{7n}{8}"/>
              <p:cNvSpPr>
                <a:spLocks noGrp="1"/>
              </p:cNvSpPr>
              <p:nvPr/>
            </p:nvSpPr>
            <p:spPr>
              <a:xfrm>
                <a:off x="4333875" y="2124075"/>
                <a:ext cx="6810375" cy="419100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lIns="0" tIns="0" rIns="0" bIns="0" anchor="t"/>
              <a:lstStyle>
                <a:defPPr>
                  <a:defRPr sz="1600" b="0">
                    <a:solidFill>
                      <a:srgbClr val="1E293B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defRPr>
                </a:defPPr>
                <a:lvl1pPr>
                  <a:defRPr sz="1600" b="0">
                    <a:solidFill>
                      <a:srgbClr val="1E293B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defRPr>
                </a:lvl1pPr>
                <a:lvl2pPr>
                  <a:defRPr sz="1600" b="0">
                    <a:solidFill>
                      <a:srgbClr val="1E293B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defRPr>
                </a:lvl2pPr>
                <a:lvl3pPr>
                  <a:defRPr sz="1600" b="0">
                    <a:solidFill>
                      <a:srgbClr val="1E293B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defRPr>
                </a:lvl3pPr>
                <a:lvl4pPr>
                  <a:defRPr sz="1600" b="0">
                    <a:solidFill>
                      <a:srgbClr val="1E293B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defRPr>
                </a:lvl4pPr>
                <a:lvl5pPr>
                  <a:defRPr sz="1600" b="0">
                    <a:solidFill>
                      <a:srgbClr val="1E293B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defRPr>
                </a:lvl5pPr>
                <a:lvl6pPr>
                  <a:defRPr sz="1600" b="0">
                    <a:solidFill>
                      <a:srgbClr val="1E293B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defRPr>
                </a:lvl6pPr>
                <a:lvl7pPr>
                  <a:defRPr sz="1600" b="0">
                    <a:solidFill>
                      <a:srgbClr val="1E293B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defRPr>
                </a:lvl7pPr>
                <a:lvl8pPr>
                  <a:defRPr sz="1600" b="0">
                    <a:solidFill>
                      <a:srgbClr val="1E293B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defRPr>
                </a:lvl8pPr>
                <a:lvl9pPr>
                  <a:defRPr sz="1600" b="0">
                    <a:solidFill>
                      <a:srgbClr val="1E293B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defRPr>
                </a:lvl9pPr>
              </a:lstStyle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sz="1600" b="0">
                              <a:solidFill>
                                <a:srgbClr val="1E293B"/>
                              </a:solidFill>
                              <a:latin typeface="Cambria Math" panose="02040503050406030204"/>
                              <a:ea typeface="微软雅黑" panose="020B0503020204020204" charset="-122"/>
                            </a:rPr>
                          </m:ctrlPr>
                        </m:fPr>
                        <m:num>
                          <m:r>
                            <a:rPr sz="1600" b="0" i="1">
                              <a:solidFill>
                                <a:srgbClr val="1E293B"/>
                              </a:solidFill>
                              <a:latin typeface="Cambria Math" panose="02040503050406030204"/>
                              <a:ea typeface="Cambria Math" panose="02040503050406030204"/>
                            </a:rPr>
                            <m:t>𝑛</m:t>
                          </m:r>
                        </m:num>
                        <m:den>
                          <m:r>
                            <a:rPr sz="1600" b="0" i="0">
                              <a:solidFill>
                                <a:srgbClr val="1E293B"/>
                              </a:solidFill>
                              <a:latin typeface="Cambria Math" panose="02040503050406030204"/>
                              <a:ea typeface="Cambria Math" panose="02040503050406030204"/>
                            </a:rPr>
                            <m:t>2</m:t>
                          </m:r>
                        </m:den>
                      </m:f>
                      <m:r>
                        <a:rPr sz="1600" b="0" i="0">
                          <a:solidFill>
                            <a:srgbClr val="1E293B"/>
                          </a:solidFill>
                          <a:latin typeface="Cambria Math" panose="02040503050406030204"/>
                          <a:ea typeface="Cambria Math" panose="02040503050406030204"/>
                        </a:rPr>
                        <m:t>+</m:t>
                      </m:r>
                      <m:f>
                        <m:fPr>
                          <m:ctrlPr>
                            <a:rPr sz="1600" b="0">
                              <a:solidFill>
                                <a:srgbClr val="1E293B"/>
                              </a:solidFill>
                              <a:latin typeface="Cambria Math" panose="02040503050406030204"/>
                              <a:ea typeface="微软雅黑" panose="020B0503020204020204" charset="-122"/>
                            </a:rPr>
                          </m:ctrlPr>
                        </m:fPr>
                        <m:num>
                          <m:r>
                            <a:rPr sz="1600" b="0" i="1">
                              <a:solidFill>
                                <a:srgbClr val="1E293B"/>
                              </a:solidFill>
                              <a:latin typeface="Cambria Math" panose="02040503050406030204"/>
                              <a:ea typeface="Cambria Math" panose="02040503050406030204"/>
                            </a:rPr>
                            <m:t>𝑛</m:t>
                          </m:r>
                        </m:num>
                        <m:den>
                          <m:r>
                            <a:rPr sz="1600" b="0" i="0">
                              <a:solidFill>
                                <a:srgbClr val="1E293B"/>
                              </a:solidFill>
                              <a:latin typeface="Cambria Math" panose="02040503050406030204"/>
                              <a:ea typeface="Cambria Math" panose="02040503050406030204"/>
                            </a:rPr>
                            <m:t>4</m:t>
                          </m:r>
                        </m:den>
                      </m:f>
                      <m:r>
                        <a:rPr sz="1600" b="0" i="0">
                          <a:solidFill>
                            <a:srgbClr val="1E293B"/>
                          </a:solidFill>
                          <a:latin typeface="Cambria Math" panose="02040503050406030204"/>
                          <a:ea typeface="Cambria Math" panose="02040503050406030204"/>
                        </a:rPr>
                        <m:t>+</m:t>
                      </m:r>
                      <m:f>
                        <m:fPr>
                          <m:ctrlPr>
                            <a:rPr sz="1600" b="0">
                              <a:solidFill>
                                <a:srgbClr val="1E293B"/>
                              </a:solidFill>
                              <a:latin typeface="Cambria Math" panose="02040503050406030204"/>
                              <a:ea typeface="微软雅黑" panose="020B0503020204020204" charset="-122"/>
                            </a:rPr>
                          </m:ctrlPr>
                        </m:fPr>
                        <m:num>
                          <m:r>
                            <a:rPr sz="1600" b="0" i="1">
                              <a:solidFill>
                                <a:srgbClr val="1E293B"/>
                              </a:solidFill>
                              <a:latin typeface="Cambria Math" panose="02040503050406030204"/>
                              <a:ea typeface="Cambria Math" panose="02040503050406030204"/>
                            </a:rPr>
                            <m:t>𝑛</m:t>
                          </m:r>
                        </m:num>
                        <m:den>
                          <m:r>
                            <a:rPr sz="1600" b="0" i="0">
                              <a:solidFill>
                                <a:srgbClr val="1E293B"/>
                              </a:solidFill>
                              <a:latin typeface="Cambria Math" panose="02040503050406030204"/>
                              <a:ea typeface="Cambria Math" panose="02040503050406030204"/>
                            </a:rPr>
                            <m:t>8</m:t>
                          </m:r>
                        </m:den>
                      </m:f>
                      <m:r>
                        <a:rPr sz="1600" b="0" i="0">
                          <a:solidFill>
                            <a:srgbClr val="1E293B"/>
                          </a:solidFill>
                          <a:latin typeface="Cambria Math" panose="02040503050406030204"/>
                          <a:ea typeface="Cambria Math" panose="02040503050406030204"/>
                        </a:rPr>
                        <m:t>=</m:t>
                      </m:r>
                      <m:f>
                        <m:fPr>
                          <m:ctrlPr>
                            <a:rPr sz="1600" b="0">
                              <a:solidFill>
                                <a:srgbClr val="1E293B"/>
                              </a:solidFill>
                              <a:latin typeface="Cambria Math" panose="02040503050406030204"/>
                              <a:ea typeface="微软雅黑" panose="020B0503020204020204" charset="-122"/>
                            </a:rPr>
                          </m:ctrlPr>
                        </m:fPr>
                        <m:num>
                          <m:r>
                            <a:rPr sz="1600" b="0" i="0">
                              <a:solidFill>
                                <a:srgbClr val="1E293B"/>
                              </a:solidFill>
                              <a:latin typeface="Cambria Math" panose="02040503050406030204"/>
                              <a:ea typeface="Cambria Math" panose="02040503050406030204"/>
                            </a:rPr>
                            <m:t>7</m:t>
                          </m:r>
                          <m:r>
                            <a:rPr sz="1600" b="0" i="1">
                              <a:solidFill>
                                <a:srgbClr val="1E293B"/>
                              </a:solidFill>
                              <a:latin typeface="Cambria Math" panose="02040503050406030204"/>
                              <a:ea typeface="Cambria Math" panose="02040503050406030204"/>
                            </a:rPr>
                            <m:t>𝑛</m:t>
                          </m:r>
                        </m:num>
                        <m:den>
                          <m:r>
                            <a:rPr sz="1600" b="0" i="0">
                              <a:solidFill>
                                <a:srgbClr val="1E293B"/>
                              </a:solidFill>
                              <a:latin typeface="Cambria Math" panose="02040503050406030204"/>
                              <a:ea typeface="Cambria Math" panose="02040503050406030204"/>
                            </a:rPr>
                            <m:t>8</m:t>
                          </m:r>
                        </m:den>
                      </m:f>
                    </m:oMath>
                  </m:oMathPara>
                </a14:m>
                <a:endParaRPr sz="1600"/>
              </a:p>
            </p:txBody>
          </p:sp>
        </mc:Choice>
        <mc:Fallback>
          <p:sp>
            <p:nvSpPr>
              <p:cNvPr id="12" name="eq_f_0_0" descr="LaTeX: \frac{n}{2}+\frac{n}{4}+\frac{n}{8}=\frac{7n}{8}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33875" y="2124075"/>
                <a:ext cx="6810375" cy="419100"/>
              </a:xfrm>
              <a:prstGeom prst="rect">
                <a:avLst/>
              </a:prstGeom>
              <a:blipFill rotWithShape="1">
                <a:blip r:embed="rId2"/>
                <a:stretch>
                  <a:fillRect b="-7879"/>
                </a:stretch>
              </a:blipFill>
              <a:ln w="0"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step_f_1"/>
          <p:cNvSpPr>
            <a:spLocks noGrp="1"/>
          </p:cNvSpPr>
          <p:nvPr/>
        </p:nvSpPr>
        <p:spPr>
          <a:xfrm>
            <a:off x="952500" y="3000375"/>
            <a:ext cx="3048000" cy="2762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>
              <a:defRPr sz="1600" b="1">
                <a:solidFill>
                  <a:srgbClr val="1725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>
              <a:defRPr sz="1600" b="1">
                <a:solidFill>
                  <a:srgbClr val="1725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>
              <a:defRPr sz="1600" b="1">
                <a:solidFill>
                  <a:srgbClr val="1725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>
              <a:defRPr sz="1600" b="1">
                <a:solidFill>
                  <a:srgbClr val="1725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>
              <a:defRPr sz="1600" b="1">
                <a:solidFill>
                  <a:srgbClr val="1725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>
              <a:defRPr sz="1600" b="1">
                <a:solidFill>
                  <a:srgbClr val="1725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>
              <a:defRPr sz="1600" b="1">
                <a:solidFill>
                  <a:srgbClr val="1725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>
              <a:defRPr sz="1600" b="1">
                <a:solidFill>
                  <a:srgbClr val="1725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>
              <a:defRPr sz="1600" b="1">
                <a:solidFill>
                  <a:srgbClr val="1725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>
              <a:defRPr sz="1600" b="1">
                <a:solidFill>
                  <a:srgbClr val="1725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>
              <a:defRPr sz="1600" b="1">
                <a:solidFill>
                  <a:srgbClr val="1725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00" b="1">
                <a:solidFill>
                  <a:srgbClr val="1725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  建立各层上界</a:t>
            </a:r>
            <a:endParaRPr sz="1600" b="1">
              <a:solidFill>
                <a:srgbClr val="17255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note_f_1"/>
          <p:cNvSpPr>
            <a:spLocks noGrp="1"/>
          </p:cNvSpPr>
          <p:nvPr/>
        </p:nvSpPr>
        <p:spPr>
          <a:xfrm>
            <a:off x="952500" y="3305175"/>
            <a:ext cx="3086100" cy="5238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>
              <a:defRPr sz="1300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>
              <a:defRPr sz="1300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>
              <a:defRPr sz="1300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>
              <a:defRPr sz="1300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>
              <a:defRPr sz="1300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>
              <a:defRPr sz="1300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>
              <a:defRPr sz="1300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>
              <a:defRPr sz="1300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>
              <a:defRPr sz="1300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>
              <a:defRPr sz="1300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>
              <a:defRPr sz="1300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00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提前停止只会减小后续层的工作量。</a:t>
            </a:r>
            <a:endParaRPr sz="1300" b="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5" name="eq_f_1_0" descr="LaTeX: W_0=n,\quad W_i\le n(\frac{7}{8})^i"/>
              <p:cNvSpPr>
                <a:spLocks noGrp="1"/>
              </p:cNvSpPr>
              <p:nvPr/>
            </p:nvSpPr>
            <p:spPr>
              <a:xfrm>
                <a:off x="4333875" y="2981325"/>
                <a:ext cx="6810375" cy="419100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lIns="0" tIns="0" rIns="0" bIns="0" anchor="t"/>
              <a:lstStyle>
                <a:defPPr>
                  <a:defRPr sz="1600" b="0">
                    <a:solidFill>
                      <a:srgbClr val="1E293B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defRPr>
                </a:defPPr>
                <a:lvl1pPr>
                  <a:defRPr sz="1600" b="0">
                    <a:solidFill>
                      <a:srgbClr val="1E293B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defRPr>
                </a:lvl1pPr>
                <a:lvl2pPr>
                  <a:defRPr sz="1600" b="0">
                    <a:solidFill>
                      <a:srgbClr val="1E293B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defRPr>
                </a:lvl2pPr>
                <a:lvl3pPr>
                  <a:defRPr sz="1600" b="0">
                    <a:solidFill>
                      <a:srgbClr val="1E293B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defRPr>
                </a:lvl3pPr>
                <a:lvl4pPr>
                  <a:defRPr sz="1600" b="0">
                    <a:solidFill>
                      <a:srgbClr val="1E293B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defRPr>
                </a:lvl4pPr>
                <a:lvl5pPr>
                  <a:defRPr sz="1600" b="0">
                    <a:solidFill>
                      <a:srgbClr val="1E293B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defRPr>
                </a:lvl5pPr>
                <a:lvl6pPr>
                  <a:defRPr sz="1600" b="0">
                    <a:solidFill>
                      <a:srgbClr val="1E293B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defRPr>
                </a:lvl6pPr>
                <a:lvl7pPr>
                  <a:defRPr sz="1600" b="0">
                    <a:solidFill>
                      <a:srgbClr val="1E293B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defRPr>
                </a:lvl7pPr>
                <a:lvl8pPr>
                  <a:defRPr sz="1600" b="0">
                    <a:solidFill>
                      <a:srgbClr val="1E293B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defRPr>
                </a:lvl8pPr>
                <a:lvl9pPr>
                  <a:defRPr sz="1600" b="0">
                    <a:solidFill>
                      <a:srgbClr val="1E293B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defRPr>
                </a:lvl9pPr>
              </a:lstStyle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sz="1600" b="0">
                              <a:solidFill>
                                <a:srgbClr val="1E293B"/>
                              </a:solidFill>
                              <a:latin typeface="Cambria Math" panose="02040503050406030204"/>
                              <a:ea typeface="微软雅黑" panose="020B0503020204020204" charset="-122"/>
                            </a:rPr>
                          </m:ctrlPr>
                        </m:sSubPr>
                        <m:e>
                          <m:r>
                            <a:rPr sz="1600" b="0" i="1">
                              <a:solidFill>
                                <a:srgbClr val="1E293B"/>
                              </a:solidFill>
                              <a:latin typeface="Cambria Math" panose="02040503050406030204"/>
                              <a:ea typeface="Cambria Math" panose="02040503050406030204"/>
                            </a:rPr>
                            <m:t>𝑊</m:t>
                          </m:r>
                        </m:e>
                        <m:sub>
                          <m:r>
                            <a:rPr sz="1600" b="0" i="0">
                              <a:solidFill>
                                <a:srgbClr val="1E293B"/>
                              </a:solidFill>
                              <a:latin typeface="Cambria Math" panose="02040503050406030204"/>
                              <a:ea typeface="Cambria Math" panose="02040503050406030204"/>
                            </a:rPr>
                            <m:t>0</m:t>
                          </m:r>
                        </m:sub>
                      </m:sSub>
                      <m:r>
                        <a:rPr sz="1600" b="0" i="0">
                          <a:solidFill>
                            <a:srgbClr val="1E293B"/>
                          </a:solidFill>
                          <a:latin typeface="Cambria Math" panose="02040503050406030204"/>
                          <a:ea typeface="Cambria Math" panose="02040503050406030204"/>
                        </a:rPr>
                        <m:t>=</m:t>
                      </m:r>
                      <m:r>
                        <a:rPr sz="1600" b="0" i="1">
                          <a:solidFill>
                            <a:srgbClr val="1E293B"/>
                          </a:solidFill>
                          <a:latin typeface="Cambria Math" panose="02040503050406030204"/>
                          <a:ea typeface="Cambria Math" panose="02040503050406030204"/>
                        </a:rPr>
                        <m:t>𝑛</m:t>
                      </m:r>
                      <m:r>
                        <a:rPr sz="1600" b="0" i="0">
                          <a:solidFill>
                            <a:srgbClr val="1E293B"/>
                          </a:solidFill>
                          <a:latin typeface="Cambria Math" panose="02040503050406030204"/>
                          <a:ea typeface="Cambria Math" panose="02040503050406030204"/>
                        </a:rPr>
                        <m:t>,</m:t>
                      </m:r>
                      <m:r>
                        <a:rPr sz="1600" b="0" i="0">
                          <a:solidFill>
                            <a:srgbClr val="1E293B"/>
                          </a:solidFill>
                          <a:latin typeface="Cambria Math" panose="02040503050406030204"/>
                          <a:ea typeface="Cambria Math" panose="02040503050406030204"/>
                        </a:rPr>
                        <m:t> </m:t>
                      </m:r>
                      <m:sSub>
                        <m:sSubPr>
                          <m:ctrlPr>
                            <a:rPr sz="1600" b="0">
                              <a:solidFill>
                                <a:srgbClr val="1E293B"/>
                              </a:solidFill>
                              <a:latin typeface="Cambria Math" panose="02040503050406030204"/>
                              <a:ea typeface="微软雅黑" panose="020B0503020204020204" charset="-122"/>
                            </a:rPr>
                          </m:ctrlPr>
                        </m:sSubPr>
                        <m:e>
                          <m:r>
                            <a:rPr sz="1600" b="0" i="1">
                              <a:solidFill>
                                <a:srgbClr val="1E293B"/>
                              </a:solidFill>
                              <a:latin typeface="Cambria Math" panose="02040503050406030204"/>
                              <a:ea typeface="Cambria Math" panose="02040503050406030204"/>
                            </a:rPr>
                            <m:t>𝑊</m:t>
                          </m:r>
                        </m:e>
                        <m:sub>
                          <m:r>
                            <a:rPr sz="1600" b="0" i="1">
                              <a:solidFill>
                                <a:srgbClr val="1E293B"/>
                              </a:solidFill>
                              <a:latin typeface="Cambria Math" panose="02040503050406030204"/>
                              <a:ea typeface="Cambria Math" panose="02040503050406030204"/>
                            </a:rPr>
                            <m:t>𝑖</m:t>
                          </m:r>
                        </m:sub>
                      </m:sSub>
                      <m:r>
                        <a:rPr sz="1600" b="0" i="0">
                          <a:solidFill>
                            <a:srgbClr val="1E293B"/>
                          </a:solidFill>
                          <a:latin typeface="Cambria Math" panose="02040503050406030204"/>
                          <a:ea typeface="Cambria Math" panose="02040503050406030204"/>
                        </a:rPr>
                        <m:t>≤</m:t>
                      </m:r>
                      <m:r>
                        <a:rPr sz="1600" b="0" i="1">
                          <a:solidFill>
                            <a:srgbClr val="1E293B"/>
                          </a:solidFill>
                          <a:latin typeface="Cambria Math" panose="02040503050406030204"/>
                          <a:ea typeface="Cambria Math" panose="02040503050406030204"/>
                        </a:rPr>
                        <m:t>𝑛</m:t>
                      </m:r>
                      <m:sSup>
                        <m:sSupPr>
                          <m:ctrlPr>
                            <a:rPr sz="1600" b="0">
                              <a:solidFill>
                                <a:srgbClr val="1E293B"/>
                              </a:solidFill>
                              <a:latin typeface="Cambria Math" panose="02040503050406030204"/>
                              <a:ea typeface="微软雅黑" panose="020B0503020204020204" charset="-122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sz="1600" b="0">
                                  <a:solidFill>
                                    <a:srgbClr val="1E293B"/>
                                  </a:solidFill>
                                  <a:latin typeface="Cambria Math" panose="02040503050406030204"/>
                                  <a:ea typeface="微软雅黑" panose="020B0503020204020204" charset="-122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sz="1600" b="0">
                                      <a:solidFill>
                                        <a:srgbClr val="1E293B"/>
                                      </a:solidFill>
                                      <a:latin typeface="Cambria Math" panose="02040503050406030204"/>
                                      <a:ea typeface="微软雅黑" panose="020B0503020204020204" charset="-122"/>
                                    </a:rPr>
                                  </m:ctrlPr>
                                </m:fPr>
                                <m:num>
                                  <m:r>
                                    <a:rPr sz="1600" b="0" i="0">
                                      <a:solidFill>
                                        <a:srgbClr val="1E293B"/>
                                      </a:solidFill>
                                      <a:latin typeface="Cambria Math" panose="02040503050406030204"/>
                                      <a:ea typeface="Cambria Math" panose="02040503050406030204"/>
                                    </a:rPr>
                                    <m:t>7</m:t>
                                  </m:r>
                                </m:num>
                                <m:den>
                                  <m:r>
                                    <a:rPr sz="1600" b="0" i="0">
                                      <a:solidFill>
                                        <a:srgbClr val="1E293B"/>
                                      </a:solidFill>
                                      <a:latin typeface="Cambria Math" panose="02040503050406030204"/>
                                      <a:ea typeface="Cambria Math" panose="02040503050406030204"/>
                                    </a:rPr>
                                    <m:t>8</m:t>
                                  </m:r>
                                </m:den>
                              </m:f>
                            </m:e>
                          </m:d>
                        </m:e>
                        <m:sup>
                          <m:r>
                            <a:rPr sz="1600" b="0" i="1">
                              <a:solidFill>
                                <a:srgbClr val="1E293B"/>
                              </a:solidFill>
                              <a:latin typeface="Cambria Math" panose="02040503050406030204"/>
                              <a:ea typeface="Cambria Math" panose="02040503050406030204"/>
                            </a:rPr>
                            <m:t>𝑖</m:t>
                          </m:r>
                        </m:sup>
                      </m:sSup>
                    </m:oMath>
                  </m:oMathPara>
                </a14:m>
                <a:endParaRPr sz="1600"/>
              </a:p>
            </p:txBody>
          </p:sp>
        </mc:Choice>
        <mc:Fallback>
          <p:sp>
            <p:nvSpPr>
              <p:cNvPr id="15" name="eq_f_1_0" descr="LaTeX: W_0=n,\quad W_i\le n(\frac{7}{8})^i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33875" y="2981325"/>
                <a:ext cx="6810375" cy="419100"/>
              </a:xfrm>
              <a:prstGeom prst="rect">
                <a:avLst/>
              </a:prstGeom>
              <a:blipFill rotWithShape="1">
                <a:blip r:embed="rId3"/>
                <a:stretch>
                  <a:fillRect b="-22576"/>
                </a:stretch>
              </a:blipFill>
              <a:ln w="0"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step_f_2"/>
          <p:cNvSpPr>
            <a:spLocks noGrp="1"/>
          </p:cNvSpPr>
          <p:nvPr/>
        </p:nvSpPr>
        <p:spPr>
          <a:xfrm>
            <a:off x="952500" y="3857625"/>
            <a:ext cx="3048000" cy="2762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>
              <a:defRPr sz="1600" b="1">
                <a:solidFill>
                  <a:srgbClr val="1725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>
              <a:defRPr sz="1600" b="1">
                <a:solidFill>
                  <a:srgbClr val="1725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>
              <a:defRPr sz="1600" b="1">
                <a:solidFill>
                  <a:srgbClr val="1725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>
              <a:defRPr sz="1600" b="1">
                <a:solidFill>
                  <a:srgbClr val="1725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>
              <a:defRPr sz="1600" b="1">
                <a:solidFill>
                  <a:srgbClr val="1725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>
              <a:defRPr sz="1600" b="1">
                <a:solidFill>
                  <a:srgbClr val="1725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>
              <a:defRPr sz="1600" b="1">
                <a:solidFill>
                  <a:srgbClr val="1725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>
              <a:defRPr sz="1600" b="1">
                <a:solidFill>
                  <a:srgbClr val="1725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>
              <a:defRPr sz="1600" b="1">
                <a:solidFill>
                  <a:srgbClr val="1725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>
              <a:defRPr sz="1600" b="1">
                <a:solidFill>
                  <a:srgbClr val="1725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>
              <a:defRPr sz="1600" b="1">
                <a:solidFill>
                  <a:srgbClr val="1725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00" b="1">
                <a:solidFill>
                  <a:srgbClr val="1725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  累加并计入叶子</a:t>
            </a:r>
            <a:endParaRPr sz="1600" b="1">
              <a:solidFill>
                <a:srgbClr val="17255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note_f_2"/>
          <p:cNvSpPr>
            <a:spLocks noGrp="1"/>
          </p:cNvSpPr>
          <p:nvPr/>
        </p:nvSpPr>
        <p:spPr>
          <a:xfrm>
            <a:off x="952500" y="4162425"/>
            <a:ext cx="3086100" cy="5238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>
              <a:defRPr sz="1300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>
              <a:defRPr sz="1300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>
              <a:defRPr sz="1300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>
              <a:defRPr sz="1300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>
              <a:defRPr sz="1300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>
              <a:defRPr sz="1300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>
              <a:defRPr sz="1300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>
              <a:defRPr sz="1300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>
              <a:defRPr sz="1300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>
              <a:defRPr sz="1300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>
              <a:defRPr sz="1300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00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内部节点成本至少为 1，故 I=O(n)。</a:t>
            </a:r>
            <a:endParaRPr sz="1300" b="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defRPr sz="1300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00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叶子数 N≤3I+1，叶子成本 O(n)。</a:t>
            </a:r>
            <a:endParaRPr sz="1300" b="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8" name="eq_f_2_0" descr="LaTeX: \sum_{i=0}^{L}W_i\le\frac{n}{1-7/8}=8n"/>
              <p:cNvSpPr>
                <a:spLocks noGrp="1"/>
              </p:cNvSpPr>
              <p:nvPr/>
            </p:nvSpPr>
            <p:spPr>
              <a:xfrm>
                <a:off x="4319270" y="3743325"/>
                <a:ext cx="6810375" cy="419100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lIns="0" tIns="0" rIns="0" bIns="0" anchor="t"/>
              <a:lstStyle>
                <a:defPPr>
                  <a:defRPr sz="1600" b="0">
                    <a:solidFill>
                      <a:srgbClr val="1E293B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defRPr>
                </a:defPPr>
                <a:lvl1pPr>
                  <a:defRPr sz="1600" b="0">
                    <a:solidFill>
                      <a:srgbClr val="1E293B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defRPr>
                </a:lvl1pPr>
                <a:lvl2pPr>
                  <a:defRPr sz="1600" b="0">
                    <a:solidFill>
                      <a:srgbClr val="1E293B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defRPr>
                </a:lvl2pPr>
                <a:lvl3pPr>
                  <a:defRPr sz="1600" b="0">
                    <a:solidFill>
                      <a:srgbClr val="1E293B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defRPr>
                </a:lvl3pPr>
                <a:lvl4pPr>
                  <a:defRPr sz="1600" b="0">
                    <a:solidFill>
                      <a:srgbClr val="1E293B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defRPr>
                </a:lvl4pPr>
                <a:lvl5pPr>
                  <a:defRPr sz="1600" b="0">
                    <a:solidFill>
                      <a:srgbClr val="1E293B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defRPr>
                </a:lvl5pPr>
                <a:lvl6pPr>
                  <a:defRPr sz="1600" b="0">
                    <a:solidFill>
                      <a:srgbClr val="1E293B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defRPr>
                </a:lvl6pPr>
                <a:lvl7pPr>
                  <a:defRPr sz="1600" b="0">
                    <a:solidFill>
                      <a:srgbClr val="1E293B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defRPr>
                </a:lvl7pPr>
                <a:lvl8pPr>
                  <a:defRPr sz="1600" b="0">
                    <a:solidFill>
                      <a:srgbClr val="1E293B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defRPr>
                </a:lvl8pPr>
                <a:lvl9pPr>
                  <a:defRPr sz="1600" b="0">
                    <a:solidFill>
                      <a:srgbClr val="1E293B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defRPr>
                </a:lvl9pPr>
              </a:lstStyle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grow m:val="on"/>
                          <m:limLoc m:val="subSup"/>
                          <m:ctrlPr>
                            <a:rPr sz="1600" b="0">
                              <a:solidFill>
                                <a:srgbClr val="1E293B"/>
                              </a:solidFill>
                              <a:latin typeface="Cambria Math" panose="02040503050406030204"/>
                              <a:ea typeface="微软雅黑" panose="020B0503020204020204" charset="-122"/>
                            </a:rPr>
                          </m:ctrlPr>
                        </m:naryPr>
                        <m:sub>
                          <m:r>
                            <a:rPr sz="1600" b="0" i="1">
                              <a:solidFill>
                                <a:srgbClr val="1E293B"/>
                              </a:solidFill>
                              <a:latin typeface="Cambria Math" panose="02040503050406030204"/>
                              <a:ea typeface="Cambria Math" panose="02040503050406030204"/>
                            </a:rPr>
                            <m:t>𝑖</m:t>
                          </m:r>
                          <m:r>
                            <a:rPr sz="1600" b="0" i="0">
                              <a:solidFill>
                                <a:srgbClr val="1E293B"/>
                              </a:solidFill>
                              <a:latin typeface="Cambria Math" panose="02040503050406030204"/>
                              <a:ea typeface="Cambria Math" panose="02040503050406030204"/>
                            </a:rPr>
                            <m:t>=</m:t>
                          </m:r>
                          <m:r>
                            <a:rPr sz="1600" b="0" i="0">
                              <a:solidFill>
                                <a:srgbClr val="1E293B"/>
                              </a:solidFill>
                              <a:latin typeface="Cambria Math" panose="02040503050406030204"/>
                              <a:ea typeface="Cambria Math" panose="02040503050406030204"/>
                            </a:rPr>
                            <m:t>0</m:t>
                          </m:r>
                        </m:sub>
                        <m:sup>
                          <m:r>
                            <a:rPr sz="1600" b="0" i="1">
                              <a:solidFill>
                                <a:srgbClr val="1E293B"/>
                              </a:solidFill>
                              <a:latin typeface="Cambria Math" panose="02040503050406030204"/>
                              <a:ea typeface="Cambria Math" panose="02040503050406030204"/>
                            </a:rPr>
                            <m:t>𝐿</m:t>
                          </m:r>
                        </m:sup>
                        <m:e>
                          <m:r>
                            <a:rPr sz="1600" b="0" i="1">
                              <a:solidFill>
                                <a:srgbClr val="1E293B"/>
                              </a:solidFill>
                              <a:latin typeface="Cambria Math" panose="02040503050406030204"/>
                              <a:ea typeface="Cambria Math" panose="02040503050406030204"/>
                            </a:rPr>
                            <m:t>𝑊</m:t>
                          </m:r>
                        </m:e>
                      </m:nary>
                      <m:r>
                        <a:rPr sz="1600" b="0" i="0">
                          <a:solidFill>
                            <a:srgbClr val="1E293B"/>
                          </a:solidFill>
                          <a:latin typeface="Cambria Math" panose="02040503050406030204"/>
                          <a:ea typeface="Cambria Math" panose="02040503050406030204"/>
                        </a:rPr>
                        <m:t>_</m:t>
                      </m:r>
                      <m:r>
                        <a:rPr sz="1600" b="0" i="1">
                          <a:solidFill>
                            <a:srgbClr val="1E293B"/>
                          </a:solidFill>
                          <a:latin typeface="Cambria Math" panose="02040503050406030204"/>
                          <a:ea typeface="Cambria Math" panose="02040503050406030204"/>
                        </a:rPr>
                        <m:t>𝑖</m:t>
                      </m:r>
                      <m:r>
                        <a:rPr sz="1600" b="0" i="0">
                          <a:solidFill>
                            <a:srgbClr val="1E293B"/>
                          </a:solidFill>
                          <a:latin typeface="Cambria Math" panose="02040503050406030204"/>
                          <a:ea typeface="Cambria Math" panose="02040503050406030204"/>
                        </a:rPr>
                        <m:t>≤</m:t>
                      </m:r>
                      <m:f>
                        <m:fPr>
                          <m:ctrlPr>
                            <a:rPr sz="1600" b="0">
                              <a:solidFill>
                                <a:srgbClr val="1E293B"/>
                              </a:solidFill>
                              <a:latin typeface="Cambria Math" panose="02040503050406030204"/>
                              <a:ea typeface="微软雅黑" panose="020B0503020204020204" charset="-122"/>
                            </a:rPr>
                          </m:ctrlPr>
                        </m:fPr>
                        <m:num>
                          <m:r>
                            <a:rPr sz="1600" b="0" i="1">
                              <a:solidFill>
                                <a:srgbClr val="1E293B"/>
                              </a:solidFill>
                              <a:latin typeface="Cambria Math" panose="02040503050406030204"/>
                              <a:ea typeface="Cambria Math" panose="02040503050406030204"/>
                            </a:rPr>
                            <m:t>𝑛</m:t>
                          </m:r>
                        </m:num>
                        <m:den>
                          <m:r>
                            <a:rPr sz="1600" b="0" i="0">
                              <a:solidFill>
                                <a:srgbClr val="1E293B"/>
                              </a:solidFill>
                              <a:latin typeface="Cambria Math" panose="02040503050406030204"/>
                              <a:ea typeface="Cambria Math" panose="02040503050406030204"/>
                            </a:rPr>
                            <m:t>1</m:t>
                          </m:r>
                          <m:r>
                            <a:rPr sz="1600" b="0" i="0">
                              <a:solidFill>
                                <a:srgbClr val="1E293B"/>
                              </a:solidFill>
                              <a:latin typeface="Cambria Math" panose="02040503050406030204"/>
                              <a:ea typeface="Cambria Math" panose="02040503050406030204"/>
                            </a:rPr>
                            <m:t>−</m:t>
                          </m:r>
                          <m:r>
                            <a:rPr sz="1600" b="0" i="0">
                              <a:solidFill>
                                <a:srgbClr val="1E293B"/>
                              </a:solidFill>
                              <a:latin typeface="Cambria Math" panose="02040503050406030204"/>
                              <a:ea typeface="Cambria Math" panose="02040503050406030204"/>
                            </a:rPr>
                            <m:t>7</m:t>
                          </m:r>
                          <m:r>
                            <a:rPr sz="1600" b="0" i="0">
                              <a:solidFill>
                                <a:srgbClr val="1E293B"/>
                              </a:solidFill>
                              <a:latin typeface="Cambria Math" panose="02040503050406030204"/>
                              <a:ea typeface="Cambria Math" panose="02040503050406030204"/>
                            </a:rPr>
                            <m:t>/</m:t>
                          </m:r>
                          <m:r>
                            <a:rPr sz="1600" b="0" i="0">
                              <a:solidFill>
                                <a:srgbClr val="1E293B"/>
                              </a:solidFill>
                              <a:latin typeface="Cambria Math" panose="02040503050406030204"/>
                              <a:ea typeface="Cambria Math" panose="02040503050406030204"/>
                            </a:rPr>
                            <m:t>8</m:t>
                          </m:r>
                        </m:den>
                      </m:f>
                      <m:r>
                        <a:rPr sz="1600" b="0" i="0">
                          <a:solidFill>
                            <a:srgbClr val="1E293B"/>
                          </a:solidFill>
                          <a:latin typeface="Cambria Math" panose="02040503050406030204"/>
                          <a:ea typeface="Cambria Math" panose="02040503050406030204"/>
                        </a:rPr>
                        <m:t>=</m:t>
                      </m:r>
                      <m:r>
                        <a:rPr sz="1600" b="0" i="0">
                          <a:solidFill>
                            <a:srgbClr val="1E293B"/>
                          </a:solidFill>
                          <a:latin typeface="Cambria Math" panose="02040503050406030204"/>
                          <a:ea typeface="Cambria Math" panose="02040503050406030204"/>
                        </a:rPr>
                        <m:t>8</m:t>
                      </m:r>
                      <m:r>
                        <a:rPr sz="1600" b="0" i="1">
                          <a:solidFill>
                            <a:srgbClr val="1E293B"/>
                          </a:solidFill>
                          <a:latin typeface="Cambria Math" panose="02040503050406030204"/>
                          <a:ea typeface="Cambria Math" panose="02040503050406030204"/>
                        </a:rPr>
                        <m:t>𝑛</m:t>
                      </m:r>
                    </m:oMath>
                  </m:oMathPara>
                </a14:m>
                <a:endParaRPr sz="1600"/>
              </a:p>
            </p:txBody>
          </p:sp>
        </mc:Choice>
        <mc:Fallback>
          <p:sp>
            <p:nvSpPr>
              <p:cNvPr id="18" name="eq_f_2_0" descr="LaTeX: \sum_{i=0}^{L}W_i\le\frac{n}{1-7/8}=8n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19270" y="3743325"/>
                <a:ext cx="6810375" cy="419100"/>
              </a:xfrm>
              <a:prstGeom prst="rect">
                <a:avLst/>
              </a:prstGeom>
              <a:blipFill rotWithShape="1">
                <a:blip r:embed="rId4"/>
                <a:stretch>
                  <a:fillRect b="-21061"/>
                </a:stretch>
              </a:blipFill>
              <a:ln w="0"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9" name="eq_f_2_1" descr="LaTeX: T(n)=O(n)"/>
              <p:cNvSpPr>
                <a:spLocks noGrp="1"/>
              </p:cNvSpPr>
              <p:nvPr/>
            </p:nvSpPr>
            <p:spPr>
              <a:xfrm>
                <a:off x="4333875" y="4257675"/>
                <a:ext cx="6810375" cy="419100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lIns="0" tIns="0" rIns="0" bIns="0" anchor="t"/>
              <a:lstStyle>
                <a:defPPr>
                  <a:defRPr sz="1600" b="0">
                    <a:solidFill>
                      <a:srgbClr val="1E293B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defRPr>
                </a:defPPr>
                <a:lvl1pPr>
                  <a:defRPr sz="1600" b="0">
                    <a:solidFill>
                      <a:srgbClr val="1E293B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defRPr>
                </a:lvl1pPr>
                <a:lvl2pPr>
                  <a:defRPr sz="1600" b="0">
                    <a:solidFill>
                      <a:srgbClr val="1E293B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defRPr>
                </a:lvl2pPr>
                <a:lvl3pPr>
                  <a:defRPr sz="1600" b="0">
                    <a:solidFill>
                      <a:srgbClr val="1E293B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defRPr>
                </a:lvl3pPr>
                <a:lvl4pPr>
                  <a:defRPr sz="1600" b="0">
                    <a:solidFill>
                      <a:srgbClr val="1E293B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defRPr>
                </a:lvl4pPr>
                <a:lvl5pPr>
                  <a:defRPr sz="1600" b="0">
                    <a:solidFill>
                      <a:srgbClr val="1E293B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defRPr>
                </a:lvl5pPr>
                <a:lvl6pPr>
                  <a:defRPr sz="1600" b="0">
                    <a:solidFill>
                      <a:srgbClr val="1E293B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defRPr>
                </a:lvl6pPr>
                <a:lvl7pPr>
                  <a:defRPr sz="1600" b="0">
                    <a:solidFill>
                      <a:srgbClr val="1E293B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defRPr>
                </a:lvl7pPr>
                <a:lvl8pPr>
                  <a:defRPr sz="1600" b="0">
                    <a:solidFill>
                      <a:srgbClr val="1E293B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defRPr>
                </a:lvl8pPr>
                <a:lvl9pPr>
                  <a:defRPr sz="1600" b="0">
                    <a:solidFill>
                      <a:srgbClr val="1E293B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defRPr>
                </a:lvl9pPr>
              </a:lstStyle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sz="1600" b="0" i="1">
                          <a:solidFill>
                            <a:srgbClr val="1E293B"/>
                          </a:solidFill>
                          <a:latin typeface="Cambria Math" panose="02040503050406030204"/>
                          <a:ea typeface="Cambria Math" panose="02040503050406030204"/>
                        </a:rPr>
                        <m:t>𝑇</m:t>
                      </m:r>
                      <m:d>
                        <m:dPr>
                          <m:ctrlPr>
                            <a:rPr sz="1600" b="0">
                              <a:solidFill>
                                <a:srgbClr val="1E293B"/>
                              </a:solidFill>
                              <a:latin typeface="Cambria Math" panose="02040503050406030204"/>
                              <a:ea typeface="微软雅黑" panose="020B0503020204020204" charset="-122"/>
                            </a:rPr>
                          </m:ctrlPr>
                        </m:dPr>
                        <m:e>
                          <m:r>
                            <a:rPr sz="1600" b="0" i="1">
                              <a:solidFill>
                                <a:srgbClr val="1E293B"/>
                              </a:solidFill>
                              <a:latin typeface="Cambria Math" panose="02040503050406030204"/>
                              <a:ea typeface="Cambria Math" panose="02040503050406030204"/>
                            </a:rPr>
                            <m:t>𝑛</m:t>
                          </m:r>
                        </m:e>
                      </m:d>
                      <m:r>
                        <a:rPr sz="1600" b="0" i="0">
                          <a:solidFill>
                            <a:srgbClr val="1E293B"/>
                          </a:solidFill>
                          <a:latin typeface="Cambria Math" panose="02040503050406030204"/>
                          <a:ea typeface="Cambria Math" panose="02040503050406030204"/>
                        </a:rPr>
                        <m:t>=</m:t>
                      </m:r>
                      <m:r>
                        <a:rPr sz="1600" b="0" i="1">
                          <a:solidFill>
                            <a:srgbClr val="1E293B"/>
                          </a:solidFill>
                          <a:latin typeface="Cambria Math" panose="02040503050406030204"/>
                          <a:ea typeface="Cambria Math" panose="02040503050406030204"/>
                        </a:rPr>
                        <m:t>𝑂</m:t>
                      </m:r>
                      <m:d>
                        <m:dPr>
                          <m:ctrlPr>
                            <a:rPr sz="1600" b="0">
                              <a:solidFill>
                                <a:srgbClr val="1E293B"/>
                              </a:solidFill>
                              <a:latin typeface="Cambria Math" panose="02040503050406030204"/>
                              <a:ea typeface="微软雅黑" panose="020B0503020204020204" charset="-122"/>
                            </a:rPr>
                          </m:ctrlPr>
                        </m:dPr>
                        <m:e>
                          <m:r>
                            <a:rPr sz="1600" b="0" i="1">
                              <a:solidFill>
                                <a:srgbClr val="1E293B"/>
                              </a:solidFill>
                              <a:latin typeface="Cambria Math" panose="02040503050406030204"/>
                              <a:ea typeface="Cambria Math" panose="02040503050406030204"/>
                            </a:rPr>
                            <m:t>𝑛</m:t>
                          </m:r>
                        </m:e>
                      </m:d>
                    </m:oMath>
                  </m:oMathPara>
                </a14:m>
                <a:endParaRPr sz="1600"/>
              </a:p>
            </p:txBody>
          </p:sp>
        </mc:Choice>
        <mc:Fallback>
          <p:sp>
            <p:nvSpPr>
              <p:cNvPr id="19" name="eq_f_2_1" descr="LaTeX: T(n)=O(n)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33875" y="4257675"/>
                <a:ext cx="6810375" cy="419100"/>
              </a:xfrm>
              <a:prstGeom prst="rect">
                <a:avLst/>
              </a:prstGeom>
              <a:blipFill rotWithShape="1">
                <a:blip r:embed="rId5"/>
                <a:stretch>
                  <a:fillRect/>
                </a:stretch>
              </a:blipFill>
              <a:ln w="0"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step_f_3"/>
          <p:cNvSpPr>
            <a:spLocks noGrp="1"/>
          </p:cNvSpPr>
          <p:nvPr/>
        </p:nvSpPr>
        <p:spPr>
          <a:xfrm>
            <a:off x="952500" y="4714875"/>
            <a:ext cx="3048000" cy="2762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>
              <a:defRPr sz="1600" b="1">
                <a:solidFill>
                  <a:srgbClr val="1725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>
              <a:defRPr sz="1600" b="1">
                <a:solidFill>
                  <a:srgbClr val="1725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>
              <a:defRPr sz="1600" b="1">
                <a:solidFill>
                  <a:srgbClr val="1725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>
              <a:defRPr sz="1600" b="1">
                <a:solidFill>
                  <a:srgbClr val="1725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>
              <a:defRPr sz="1600" b="1">
                <a:solidFill>
                  <a:srgbClr val="1725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>
              <a:defRPr sz="1600" b="1">
                <a:solidFill>
                  <a:srgbClr val="1725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>
              <a:defRPr sz="1600" b="1">
                <a:solidFill>
                  <a:srgbClr val="1725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>
              <a:defRPr sz="1600" b="1">
                <a:solidFill>
                  <a:srgbClr val="1725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>
              <a:defRPr sz="1600" b="1">
                <a:solidFill>
                  <a:srgbClr val="1725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>
              <a:defRPr sz="1600" b="1">
                <a:solidFill>
                  <a:srgbClr val="1725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>
              <a:defRPr sz="1600" b="1">
                <a:solidFill>
                  <a:srgbClr val="1725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00" b="1">
                <a:solidFill>
                  <a:srgbClr val="1725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  根节点给出下界</a:t>
            </a:r>
            <a:endParaRPr sz="1600" b="1">
              <a:solidFill>
                <a:srgbClr val="17255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note_f_3"/>
          <p:cNvSpPr>
            <a:spLocks noGrp="1"/>
          </p:cNvSpPr>
          <p:nvPr/>
        </p:nvSpPr>
        <p:spPr>
          <a:xfrm>
            <a:off x="952500" y="5019675"/>
            <a:ext cx="3086100" cy="5238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>
              <a:defRPr sz="1300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>
              <a:defRPr sz="1300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>
              <a:defRPr sz="1300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>
              <a:defRPr sz="1300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>
              <a:defRPr sz="1300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>
              <a:defRPr sz="1300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>
              <a:defRPr sz="1300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>
              <a:defRPr sz="1300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>
              <a:defRPr sz="1300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>
              <a:defRPr sz="1300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>
              <a:defRPr sz="1300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00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仅根节点就有 n 的额外工作量。</a:t>
            </a:r>
            <a:endParaRPr sz="1300" b="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2" name="eq_f_3_0" descr="LaTeX: T(n)\ge n,\quad T(n)=\Omega(n)"/>
              <p:cNvSpPr>
                <a:spLocks noGrp="1"/>
              </p:cNvSpPr>
              <p:nvPr/>
            </p:nvSpPr>
            <p:spPr>
              <a:xfrm>
                <a:off x="4333875" y="4695825"/>
                <a:ext cx="6810375" cy="419100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lIns="0" tIns="0" rIns="0" bIns="0" anchor="t"/>
              <a:lstStyle>
                <a:defPPr>
                  <a:defRPr sz="1600" b="0">
                    <a:solidFill>
                      <a:srgbClr val="1E293B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defRPr>
                </a:defPPr>
                <a:lvl1pPr>
                  <a:defRPr sz="1600" b="0">
                    <a:solidFill>
                      <a:srgbClr val="1E293B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defRPr>
                </a:lvl1pPr>
                <a:lvl2pPr>
                  <a:defRPr sz="1600" b="0">
                    <a:solidFill>
                      <a:srgbClr val="1E293B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defRPr>
                </a:lvl2pPr>
                <a:lvl3pPr>
                  <a:defRPr sz="1600" b="0">
                    <a:solidFill>
                      <a:srgbClr val="1E293B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defRPr>
                </a:lvl3pPr>
                <a:lvl4pPr>
                  <a:defRPr sz="1600" b="0">
                    <a:solidFill>
                      <a:srgbClr val="1E293B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defRPr>
                </a:lvl4pPr>
                <a:lvl5pPr>
                  <a:defRPr sz="1600" b="0">
                    <a:solidFill>
                      <a:srgbClr val="1E293B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defRPr>
                </a:lvl5pPr>
                <a:lvl6pPr>
                  <a:defRPr sz="1600" b="0">
                    <a:solidFill>
                      <a:srgbClr val="1E293B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defRPr>
                </a:lvl6pPr>
                <a:lvl7pPr>
                  <a:defRPr sz="1600" b="0">
                    <a:solidFill>
                      <a:srgbClr val="1E293B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defRPr>
                </a:lvl7pPr>
                <a:lvl8pPr>
                  <a:defRPr sz="1600" b="0">
                    <a:solidFill>
                      <a:srgbClr val="1E293B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defRPr>
                </a:lvl8pPr>
                <a:lvl9pPr>
                  <a:defRPr sz="1600" b="0">
                    <a:solidFill>
                      <a:srgbClr val="1E293B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defRPr>
                </a:lvl9pPr>
              </a:lstStyle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sz="1600" b="0" i="1">
                          <a:solidFill>
                            <a:srgbClr val="1E293B"/>
                          </a:solidFill>
                          <a:latin typeface="Cambria Math" panose="02040503050406030204"/>
                          <a:ea typeface="Cambria Math" panose="02040503050406030204"/>
                        </a:rPr>
                        <m:t>𝑇</m:t>
                      </m:r>
                      <m:d>
                        <m:dPr>
                          <m:ctrlPr>
                            <a:rPr sz="1600" b="0">
                              <a:solidFill>
                                <a:srgbClr val="1E293B"/>
                              </a:solidFill>
                              <a:latin typeface="Cambria Math" panose="02040503050406030204"/>
                              <a:ea typeface="微软雅黑" panose="020B0503020204020204" charset="-122"/>
                            </a:rPr>
                          </m:ctrlPr>
                        </m:dPr>
                        <m:e>
                          <m:r>
                            <a:rPr sz="1600" b="0" i="1">
                              <a:solidFill>
                                <a:srgbClr val="1E293B"/>
                              </a:solidFill>
                              <a:latin typeface="Cambria Math" panose="02040503050406030204"/>
                              <a:ea typeface="Cambria Math" panose="02040503050406030204"/>
                            </a:rPr>
                            <m:t>𝑛</m:t>
                          </m:r>
                        </m:e>
                      </m:d>
                      <m:r>
                        <a:rPr sz="1600" b="0" i="0">
                          <a:solidFill>
                            <a:srgbClr val="1E293B"/>
                          </a:solidFill>
                          <a:latin typeface="Cambria Math" panose="02040503050406030204"/>
                          <a:ea typeface="Cambria Math" panose="02040503050406030204"/>
                        </a:rPr>
                        <m:t>≥</m:t>
                      </m:r>
                      <m:r>
                        <a:rPr sz="1600" b="0" i="1">
                          <a:solidFill>
                            <a:srgbClr val="1E293B"/>
                          </a:solidFill>
                          <a:latin typeface="Cambria Math" panose="02040503050406030204"/>
                          <a:ea typeface="Cambria Math" panose="02040503050406030204"/>
                        </a:rPr>
                        <m:t>𝑛</m:t>
                      </m:r>
                      <m:r>
                        <a:rPr sz="1600" b="0" i="0">
                          <a:solidFill>
                            <a:srgbClr val="1E293B"/>
                          </a:solidFill>
                          <a:latin typeface="Cambria Math" panose="02040503050406030204"/>
                          <a:ea typeface="Cambria Math" panose="02040503050406030204"/>
                        </a:rPr>
                        <m:t>,</m:t>
                      </m:r>
                      <m:r>
                        <a:rPr sz="1600" b="0" i="0">
                          <a:solidFill>
                            <a:srgbClr val="1E293B"/>
                          </a:solidFill>
                          <a:latin typeface="Cambria Math" panose="02040503050406030204"/>
                          <a:ea typeface="Cambria Math" panose="02040503050406030204"/>
                        </a:rPr>
                        <m:t> </m:t>
                      </m:r>
                      <m:r>
                        <a:rPr sz="1600" b="0" i="1">
                          <a:solidFill>
                            <a:srgbClr val="1E293B"/>
                          </a:solidFill>
                          <a:latin typeface="Cambria Math" panose="02040503050406030204"/>
                          <a:ea typeface="Cambria Math" panose="02040503050406030204"/>
                        </a:rPr>
                        <m:t>𝑇</m:t>
                      </m:r>
                      <m:d>
                        <m:dPr>
                          <m:ctrlPr>
                            <a:rPr sz="1600" b="0">
                              <a:solidFill>
                                <a:srgbClr val="1E293B"/>
                              </a:solidFill>
                              <a:latin typeface="Cambria Math" panose="02040503050406030204"/>
                              <a:ea typeface="微软雅黑" panose="020B0503020204020204" charset="-122"/>
                            </a:rPr>
                          </m:ctrlPr>
                        </m:dPr>
                        <m:e>
                          <m:r>
                            <a:rPr sz="1600" b="0" i="1">
                              <a:solidFill>
                                <a:srgbClr val="1E293B"/>
                              </a:solidFill>
                              <a:latin typeface="Cambria Math" panose="02040503050406030204"/>
                              <a:ea typeface="Cambria Math" panose="02040503050406030204"/>
                            </a:rPr>
                            <m:t>𝑛</m:t>
                          </m:r>
                        </m:e>
                      </m:d>
                      <m:r>
                        <a:rPr sz="1600" b="0" i="0">
                          <a:solidFill>
                            <a:srgbClr val="1E293B"/>
                          </a:solidFill>
                          <a:latin typeface="Cambria Math" panose="02040503050406030204"/>
                          <a:ea typeface="Cambria Math" panose="02040503050406030204"/>
                        </a:rPr>
                        <m:t>=</m:t>
                      </m:r>
                      <m:r>
                        <m:rPr>
                          <m:sty m:val="p"/>
                        </m:rPr>
                        <a:rPr sz="1600" b="0" i="0">
                          <a:solidFill>
                            <a:srgbClr val="1E293B"/>
                          </a:solidFill>
                          <a:latin typeface="Cambria Math" panose="02040503050406030204"/>
                          <a:ea typeface="Cambria Math" panose="02040503050406030204"/>
                        </a:rPr>
                        <m:t>Ω</m:t>
                      </m:r>
                      <m:d>
                        <m:dPr>
                          <m:ctrlPr>
                            <a:rPr sz="1600" b="0">
                              <a:solidFill>
                                <a:srgbClr val="1E293B"/>
                              </a:solidFill>
                              <a:latin typeface="Cambria Math" panose="02040503050406030204"/>
                              <a:ea typeface="微软雅黑" panose="020B0503020204020204" charset="-122"/>
                            </a:rPr>
                          </m:ctrlPr>
                        </m:dPr>
                        <m:e>
                          <m:r>
                            <a:rPr sz="1600" b="0" i="1">
                              <a:solidFill>
                                <a:srgbClr val="1E293B"/>
                              </a:solidFill>
                              <a:latin typeface="Cambria Math" panose="02040503050406030204"/>
                              <a:ea typeface="Cambria Math" panose="02040503050406030204"/>
                            </a:rPr>
                            <m:t>𝑛</m:t>
                          </m:r>
                        </m:e>
                      </m:d>
                    </m:oMath>
                  </m:oMathPara>
                </a14:m>
                <a:endParaRPr sz="1600"/>
              </a:p>
            </p:txBody>
          </p:sp>
        </mc:Choice>
        <mc:Fallback>
          <p:sp>
            <p:nvSpPr>
              <p:cNvPr id="22" name="eq_f_3_0" descr="LaTeX: T(n)\ge n,\quad T(n)=\Omega(n)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33875" y="4695825"/>
                <a:ext cx="6810375" cy="419100"/>
              </a:xfrm>
              <a:prstGeom prst="rect">
                <a:avLst/>
              </a:prstGeom>
              <a:blipFill rotWithShape="1">
                <a:blip r:embed="rId6"/>
                <a:stretch>
                  <a:fillRect/>
                </a:stretch>
              </a:blipFill>
              <a:ln w="0"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3" name="eq_f_result" descr="LaTeX: T(n)=\Theta(n)"/>
              <p:cNvSpPr>
                <a:spLocks noGrp="1"/>
              </p:cNvSpPr>
              <p:nvPr/>
            </p:nvSpPr>
            <p:spPr>
              <a:xfrm>
                <a:off x="4333875" y="5743575"/>
                <a:ext cx="6810375" cy="409575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lIns="0" tIns="0" rIns="0" bIns="0" anchor="t"/>
              <a:lstStyle>
                <a:defPPr>
                  <a:defRPr sz="1700" b="1">
                    <a:solidFill>
                      <a:srgbClr val="2563EB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defRPr>
                </a:defPPr>
                <a:lvl1pPr>
                  <a:defRPr sz="1700" b="1">
                    <a:solidFill>
                      <a:srgbClr val="2563EB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defRPr>
                </a:lvl1pPr>
                <a:lvl2pPr>
                  <a:defRPr sz="1700" b="1">
                    <a:solidFill>
                      <a:srgbClr val="2563EB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defRPr>
                </a:lvl2pPr>
                <a:lvl3pPr>
                  <a:defRPr sz="1700" b="1">
                    <a:solidFill>
                      <a:srgbClr val="2563EB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defRPr>
                </a:lvl3pPr>
                <a:lvl4pPr>
                  <a:defRPr sz="1700" b="1">
                    <a:solidFill>
                      <a:srgbClr val="2563EB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defRPr>
                </a:lvl4pPr>
                <a:lvl5pPr>
                  <a:defRPr sz="1700" b="1">
                    <a:solidFill>
                      <a:srgbClr val="2563EB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defRPr>
                </a:lvl5pPr>
                <a:lvl6pPr>
                  <a:defRPr sz="1700" b="1">
                    <a:solidFill>
                      <a:srgbClr val="2563EB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defRPr>
                </a:lvl6pPr>
                <a:lvl7pPr>
                  <a:defRPr sz="1700" b="1">
                    <a:solidFill>
                      <a:srgbClr val="2563EB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defRPr>
                </a:lvl7pPr>
                <a:lvl8pPr>
                  <a:defRPr sz="1700" b="1">
                    <a:solidFill>
                      <a:srgbClr val="2563EB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defRPr>
                </a:lvl8pPr>
                <a:lvl9pPr>
                  <a:defRPr sz="1700" b="1">
                    <a:solidFill>
                      <a:srgbClr val="2563EB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defRPr>
                </a:lvl9pPr>
              </a:lstStyle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sz="1700" b="1" i="1">
                          <a:solidFill>
                            <a:srgbClr val="2563EB"/>
                          </a:solidFill>
                          <a:latin typeface="Cambria Math" panose="02040503050406030204"/>
                          <a:ea typeface="Cambria Math" panose="02040503050406030204"/>
                        </a:rPr>
                        <m:t>𝑇</m:t>
                      </m:r>
                      <m:d>
                        <m:dPr>
                          <m:ctrlPr>
                            <a:rPr sz="1700" b="1">
                              <a:solidFill>
                                <a:srgbClr val="2563EB"/>
                              </a:solidFill>
                              <a:latin typeface="Cambria Math" panose="02040503050406030204"/>
                              <a:ea typeface="微软雅黑" panose="020B0503020204020204" charset="-122"/>
                            </a:rPr>
                          </m:ctrlPr>
                        </m:dPr>
                        <m:e>
                          <m:r>
                            <a:rPr sz="1700" b="1" i="1">
                              <a:solidFill>
                                <a:srgbClr val="2563EB"/>
                              </a:solidFill>
                              <a:latin typeface="Cambria Math" panose="02040503050406030204"/>
                              <a:ea typeface="Cambria Math" panose="02040503050406030204"/>
                            </a:rPr>
                            <m:t>𝑛</m:t>
                          </m:r>
                        </m:e>
                      </m:d>
                      <m:r>
                        <a:rPr sz="1700" b="1" i="0">
                          <a:solidFill>
                            <a:srgbClr val="2563EB"/>
                          </a:solidFill>
                          <a:latin typeface="Cambria Math" panose="02040503050406030204"/>
                          <a:ea typeface="Cambria Math" panose="02040503050406030204"/>
                        </a:rPr>
                        <m:t>=</m:t>
                      </m:r>
                      <m:r>
                        <m:rPr>
                          <m:sty m:val="p"/>
                        </m:rPr>
                        <a:rPr sz="1700" b="1" i="0">
                          <a:solidFill>
                            <a:srgbClr val="2563EB"/>
                          </a:solidFill>
                          <a:latin typeface="Cambria Math" panose="02040503050406030204"/>
                          <a:ea typeface="Cambria Math" panose="02040503050406030204"/>
                        </a:rPr>
                        <m:t>Θ</m:t>
                      </m:r>
                      <m:d>
                        <m:dPr>
                          <m:ctrlPr>
                            <a:rPr sz="1700" b="1">
                              <a:solidFill>
                                <a:srgbClr val="2563EB"/>
                              </a:solidFill>
                              <a:latin typeface="Cambria Math" panose="02040503050406030204"/>
                              <a:ea typeface="微软雅黑" panose="020B0503020204020204" charset="-122"/>
                            </a:rPr>
                          </m:ctrlPr>
                        </m:dPr>
                        <m:e>
                          <m:r>
                            <a:rPr sz="1700" b="1" i="1">
                              <a:solidFill>
                                <a:srgbClr val="2563EB"/>
                              </a:solidFill>
                              <a:latin typeface="Cambria Math" panose="02040503050406030204"/>
                              <a:ea typeface="Cambria Math" panose="02040503050406030204"/>
                            </a:rPr>
                            <m:t>𝑛</m:t>
                          </m:r>
                        </m:e>
                      </m:d>
                    </m:oMath>
                  </m:oMathPara>
                </a14:m>
                <a:endParaRPr sz="1700"/>
              </a:p>
            </p:txBody>
          </p:sp>
        </mc:Choice>
        <mc:Fallback>
          <p:sp>
            <p:nvSpPr>
              <p:cNvPr id="23" name="eq_f_result" descr="LaTeX: T(n)=\Theta(n)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33875" y="5743575"/>
                <a:ext cx="6810375" cy="409575"/>
              </a:xfrm>
              <a:prstGeom prst="rect">
                <a:avLst/>
              </a:prstGeom>
              <a:blipFill rotWithShape="1">
                <a:blip r:embed="rId7"/>
                <a:stretch>
                  <a:fillRect/>
                </a:stretch>
              </a:blipFill>
              <a:ln w="0"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" name="result_label_f"/>
          <p:cNvSpPr>
            <a:spLocks noGrp="1"/>
          </p:cNvSpPr>
          <p:nvPr/>
        </p:nvSpPr>
        <p:spPr>
          <a:xfrm>
            <a:off x="952500" y="5781675"/>
            <a:ext cx="3048000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>
              <a:defRPr sz="1600" b="1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>
              <a:defRPr sz="1600" b="1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>
              <a:defRPr sz="1600" b="1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>
              <a:defRPr sz="1600" b="1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>
              <a:defRPr sz="1600" b="1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>
              <a:defRPr sz="1600" b="1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>
              <a:defRPr sz="1600" b="1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>
              <a:defRPr sz="1600" b="1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>
              <a:defRPr sz="1600" b="1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>
              <a:defRPr sz="1600" b="1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>
              <a:defRPr sz="1600" b="1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00" b="1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紧确渐近界</a:t>
            </a:r>
            <a:endParaRPr sz="1600" b="1">
              <a:solidFill>
                <a:srgbClr val="2563E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>
            <a:spLocks noGrp="1"/>
          </p:cNvSpPr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3" name="TextBox 2"/>
          <p:cNvSpPr>
            <a:spLocks noGrp="1"/>
          </p:cNvSpPr>
          <p:nvPr/>
        </p:nvSpPr>
        <p:spPr>
          <a:xfrm>
            <a:off x="502920" y="292608"/>
            <a:ext cx="10881360" cy="512064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>
            <a:defPPr>
              <a:defRPr sz="2400"/>
            </a:defPPr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algn="l">
              <a:spcAft>
                <a:spcPts val="500"/>
              </a:spcAft>
              <a:buNone/>
            </a:pPr>
            <a:r>
              <a:rPr sz="2400" b="1" i="0">
                <a:solidFill>
                  <a:srgbClr val="1725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题目解析（g）</a:t>
            </a:r>
            <a:endParaRPr sz="2400" b="1" i="0">
              <a:solidFill>
                <a:srgbClr val="17255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TextBox 3"/>
          <p:cNvSpPr>
            <a:spLocks noGrp="1"/>
          </p:cNvSpPr>
          <p:nvPr/>
        </p:nvSpPr>
        <p:spPr>
          <a:xfrm>
            <a:off x="530352" y="804672"/>
            <a:ext cx="10972800" cy="329184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>
            <a:defPPr>
              <a:defRPr sz="1200"/>
            </a:defPPr>
            <a:lvl1pPr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algn="l">
              <a:spcAft>
                <a:spcPts val="500"/>
              </a:spcAft>
              <a:buNone/>
            </a:pPr>
            <a:r>
              <a:rPr sz="1200" b="0" i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递推展开与调和级数：规模每次减 1，逐项累加</a:t>
            </a:r>
            <a:endParaRPr sz="1200" b="0" i="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TextBox 4"/>
          <p:cNvSpPr>
            <a:spLocks noGrp="1"/>
          </p:cNvSpPr>
          <p:nvPr/>
        </p:nvSpPr>
        <p:spPr>
          <a:xfrm>
            <a:off x="9555480" y="6510528"/>
            <a:ext cx="2103120" cy="18288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r">
              <a:spcAft>
                <a:spcPts val="500"/>
              </a:spcAft>
              <a:buNone/>
            </a:pPr>
            <a:r>
              <a:rPr sz="900" b="0" i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递推式与渐近分析</a:t>
            </a:r>
            <a:endParaRPr sz="900" b="0" i="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extBox 5"/>
          <p:cNvSpPr>
            <a:spLocks noGrp="1"/>
          </p:cNvSpPr>
          <p:nvPr/>
        </p:nvSpPr>
        <p:spPr>
          <a:xfrm>
            <a:off x="502920" y="6510528"/>
            <a:ext cx="1371600" cy="283464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500"/>
              </a:spcAft>
              <a:buNone/>
            </a:pPr>
            <a:r>
              <a:rPr sz="900" b="0" i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算法设计 · 12</a:t>
            </a:r>
            <a:endParaRPr sz="900" b="0" i="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Rounded Rectangle 6"/>
          <p:cNvSpPr>
            <a:spLocks noGrp="1"/>
          </p:cNvSpPr>
          <p:nvPr/>
        </p:nvSpPr>
        <p:spPr>
          <a:xfrm>
            <a:off x="640080" y="1280160"/>
            <a:ext cx="10927080" cy="49149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8" name="Rectangle 7"/>
          <p:cNvSpPr>
            <a:spLocks noGrp="1"/>
          </p:cNvSpPr>
          <p:nvPr/>
        </p:nvSpPr>
        <p:spPr>
          <a:xfrm>
            <a:off x="640080" y="1280160"/>
            <a:ext cx="73152" cy="4914900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eq_g_recurrence" descr="LaTeX: T(n)=T(n-1)+\frac{1}{n}"/>
              <p:cNvSpPr>
                <a:spLocks noGrp="1"/>
              </p:cNvSpPr>
              <p:nvPr/>
            </p:nvSpPr>
            <p:spPr>
              <a:xfrm>
                <a:off x="952500" y="1457325"/>
                <a:ext cx="10287000" cy="552450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lIns="0" tIns="0" rIns="0" bIns="0" anchor="t"/>
              <a:lstStyle>
                <a:defPPr>
                  <a:defRPr sz="1700" b="1">
                    <a:solidFill>
                      <a:srgbClr val="2563EB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defRPr>
                </a:defPPr>
                <a:lvl1pPr>
                  <a:defRPr sz="1700" b="1">
                    <a:solidFill>
                      <a:srgbClr val="2563EB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defRPr>
                </a:lvl1pPr>
                <a:lvl2pPr>
                  <a:defRPr sz="1700" b="1">
                    <a:solidFill>
                      <a:srgbClr val="2563EB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defRPr>
                </a:lvl2pPr>
                <a:lvl3pPr>
                  <a:defRPr sz="1700" b="1">
                    <a:solidFill>
                      <a:srgbClr val="2563EB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defRPr>
                </a:lvl3pPr>
                <a:lvl4pPr>
                  <a:defRPr sz="1700" b="1">
                    <a:solidFill>
                      <a:srgbClr val="2563EB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defRPr>
                </a:lvl4pPr>
                <a:lvl5pPr>
                  <a:defRPr sz="1700" b="1">
                    <a:solidFill>
                      <a:srgbClr val="2563EB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defRPr>
                </a:lvl5pPr>
                <a:lvl6pPr>
                  <a:defRPr sz="1700" b="1">
                    <a:solidFill>
                      <a:srgbClr val="2563EB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defRPr>
                </a:lvl6pPr>
                <a:lvl7pPr>
                  <a:defRPr sz="1700" b="1">
                    <a:solidFill>
                      <a:srgbClr val="2563EB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defRPr>
                </a:lvl7pPr>
                <a:lvl8pPr>
                  <a:defRPr sz="1700" b="1">
                    <a:solidFill>
                      <a:srgbClr val="2563EB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defRPr>
                </a:lvl8pPr>
                <a:lvl9pPr>
                  <a:defRPr sz="1700" b="1">
                    <a:solidFill>
                      <a:srgbClr val="2563EB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defRPr>
                </a:lvl9pPr>
              </a:lstStyle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sz="1700" b="1" i="1">
                          <a:solidFill>
                            <a:srgbClr val="2563EB"/>
                          </a:solidFill>
                          <a:latin typeface="Cambria Math" panose="02040503050406030204"/>
                          <a:ea typeface="Cambria Math" panose="02040503050406030204"/>
                        </a:rPr>
                        <m:t>𝑇</m:t>
                      </m:r>
                      <m:d>
                        <m:dPr>
                          <m:ctrlPr>
                            <a:rPr sz="1700" b="1">
                              <a:solidFill>
                                <a:srgbClr val="2563EB"/>
                              </a:solidFill>
                              <a:latin typeface="Cambria Math" panose="02040503050406030204"/>
                              <a:ea typeface="微软雅黑" panose="020B0503020204020204" charset="-122"/>
                            </a:rPr>
                          </m:ctrlPr>
                        </m:dPr>
                        <m:e>
                          <m:r>
                            <a:rPr sz="1700" b="1" i="1">
                              <a:solidFill>
                                <a:srgbClr val="2563EB"/>
                              </a:solidFill>
                              <a:latin typeface="Cambria Math" panose="02040503050406030204"/>
                              <a:ea typeface="Cambria Math" panose="02040503050406030204"/>
                            </a:rPr>
                            <m:t>𝑛</m:t>
                          </m:r>
                        </m:e>
                      </m:d>
                      <m:r>
                        <a:rPr sz="1700" b="1" i="0">
                          <a:solidFill>
                            <a:srgbClr val="2563EB"/>
                          </a:solidFill>
                          <a:latin typeface="Cambria Math" panose="02040503050406030204"/>
                          <a:ea typeface="Cambria Math" panose="02040503050406030204"/>
                        </a:rPr>
                        <m:t>=</m:t>
                      </m:r>
                      <m:r>
                        <a:rPr sz="1700" b="1" i="1">
                          <a:solidFill>
                            <a:srgbClr val="2563EB"/>
                          </a:solidFill>
                          <a:latin typeface="Cambria Math" panose="02040503050406030204"/>
                          <a:ea typeface="Cambria Math" panose="02040503050406030204"/>
                        </a:rPr>
                        <m:t>𝑇</m:t>
                      </m:r>
                      <m:d>
                        <m:dPr>
                          <m:ctrlPr>
                            <a:rPr sz="1700" b="1">
                              <a:solidFill>
                                <a:srgbClr val="2563EB"/>
                              </a:solidFill>
                              <a:latin typeface="Cambria Math" panose="02040503050406030204"/>
                              <a:ea typeface="微软雅黑" panose="020B0503020204020204" charset="-122"/>
                            </a:rPr>
                          </m:ctrlPr>
                        </m:dPr>
                        <m:e>
                          <m:r>
                            <a:rPr sz="1700" b="1" i="1">
                              <a:solidFill>
                                <a:srgbClr val="2563EB"/>
                              </a:solidFill>
                              <a:latin typeface="Cambria Math" panose="02040503050406030204"/>
                              <a:ea typeface="Cambria Math" panose="02040503050406030204"/>
                            </a:rPr>
                            <m:t>𝑛</m:t>
                          </m:r>
                          <m:r>
                            <a:rPr sz="1700" b="1" i="0">
                              <a:solidFill>
                                <a:srgbClr val="2563EB"/>
                              </a:solidFill>
                              <a:latin typeface="Cambria Math" panose="02040503050406030204"/>
                              <a:ea typeface="Cambria Math" panose="02040503050406030204"/>
                            </a:rPr>
                            <m:t>−</m:t>
                          </m:r>
                          <m:r>
                            <a:rPr sz="1700" b="1" i="0">
                              <a:solidFill>
                                <a:srgbClr val="2563EB"/>
                              </a:solidFill>
                              <a:latin typeface="Cambria Math" panose="02040503050406030204"/>
                              <a:ea typeface="Cambria Math" panose="02040503050406030204"/>
                            </a:rPr>
                            <m:t>1</m:t>
                          </m:r>
                        </m:e>
                      </m:d>
                      <m:r>
                        <a:rPr sz="1700" b="1" i="0">
                          <a:solidFill>
                            <a:srgbClr val="2563EB"/>
                          </a:solidFill>
                          <a:latin typeface="Cambria Math" panose="02040503050406030204"/>
                          <a:ea typeface="Cambria Math" panose="02040503050406030204"/>
                        </a:rPr>
                        <m:t>+</m:t>
                      </m:r>
                      <m:f>
                        <m:fPr>
                          <m:ctrlPr>
                            <a:rPr sz="1700" b="1">
                              <a:solidFill>
                                <a:srgbClr val="2563EB"/>
                              </a:solidFill>
                              <a:latin typeface="Cambria Math" panose="02040503050406030204"/>
                              <a:ea typeface="微软雅黑" panose="020B0503020204020204" charset="-122"/>
                            </a:rPr>
                          </m:ctrlPr>
                        </m:fPr>
                        <m:num>
                          <m:r>
                            <a:rPr sz="1700" b="1" i="0">
                              <a:solidFill>
                                <a:srgbClr val="2563EB"/>
                              </a:solidFill>
                              <a:latin typeface="Cambria Math" panose="02040503050406030204"/>
                              <a:ea typeface="Cambria Math" panose="02040503050406030204"/>
                            </a:rPr>
                            <m:t>1</m:t>
                          </m:r>
                        </m:num>
                        <m:den>
                          <m:r>
                            <a:rPr sz="1700" b="1" i="1">
                              <a:solidFill>
                                <a:srgbClr val="2563EB"/>
                              </a:solidFill>
                              <a:latin typeface="Cambria Math" panose="02040503050406030204"/>
                              <a:ea typeface="Cambria Math" panose="02040503050406030204"/>
                            </a:rPr>
                            <m:t>𝑛</m:t>
                          </m:r>
                        </m:den>
                      </m:f>
                    </m:oMath>
                  </m:oMathPara>
                </a14:m>
                <a:endParaRPr sz="1700"/>
              </a:p>
            </p:txBody>
          </p:sp>
        </mc:Choice>
        <mc:Fallback>
          <p:sp>
            <p:nvSpPr>
              <p:cNvPr id="9" name="eq_g_recurrence" descr="LaTeX: T(n)=T(n-1)+\frac{1}{n}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2500" y="1457325"/>
                <a:ext cx="10287000" cy="552450"/>
              </a:xfrm>
              <a:prstGeom prst="rect">
                <a:avLst/>
              </a:prstGeom>
              <a:blipFill rotWithShape="1">
                <a:blip r:embed="rId1"/>
                <a:stretch>
                  <a:fillRect/>
                </a:stretch>
              </a:blipFill>
              <a:ln w="0"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step_g_0"/>
          <p:cNvSpPr>
            <a:spLocks noGrp="1"/>
          </p:cNvSpPr>
          <p:nvPr/>
        </p:nvSpPr>
        <p:spPr>
          <a:xfrm>
            <a:off x="952500" y="2143125"/>
            <a:ext cx="3048000" cy="2762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>
              <a:defRPr sz="1600" b="1">
                <a:solidFill>
                  <a:srgbClr val="1725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>
              <a:defRPr sz="1600" b="1">
                <a:solidFill>
                  <a:srgbClr val="1725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>
              <a:defRPr sz="1600" b="1">
                <a:solidFill>
                  <a:srgbClr val="1725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>
              <a:defRPr sz="1600" b="1">
                <a:solidFill>
                  <a:srgbClr val="1725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>
              <a:defRPr sz="1600" b="1">
                <a:solidFill>
                  <a:srgbClr val="1725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>
              <a:defRPr sz="1600" b="1">
                <a:solidFill>
                  <a:srgbClr val="1725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>
              <a:defRPr sz="1600" b="1">
                <a:solidFill>
                  <a:srgbClr val="1725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>
              <a:defRPr sz="1600" b="1">
                <a:solidFill>
                  <a:srgbClr val="1725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>
              <a:defRPr sz="1600" b="1">
                <a:solidFill>
                  <a:srgbClr val="1725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>
              <a:defRPr sz="1600" b="1">
                <a:solidFill>
                  <a:srgbClr val="1725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>
              <a:defRPr sz="1600" b="1">
                <a:solidFill>
                  <a:srgbClr val="1725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00" b="1">
                <a:solidFill>
                  <a:srgbClr val="1725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  连续展开两次</a:t>
            </a:r>
            <a:endParaRPr sz="1600" b="1">
              <a:solidFill>
                <a:srgbClr val="17255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note_g_0"/>
          <p:cNvSpPr>
            <a:spLocks noGrp="1"/>
          </p:cNvSpPr>
          <p:nvPr/>
        </p:nvSpPr>
        <p:spPr>
          <a:xfrm>
            <a:off x="952500" y="2447925"/>
            <a:ext cx="3086100" cy="5238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>
              <a:defRPr sz="1300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>
              <a:defRPr sz="1300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>
              <a:defRPr sz="1300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>
              <a:defRPr sz="1300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>
              <a:defRPr sz="1300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>
              <a:defRPr sz="1300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>
              <a:defRPr sz="1300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>
              <a:defRPr sz="1300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>
              <a:defRPr sz="1300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>
              <a:defRPr sz="1300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>
              <a:defRPr sz="1300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00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每展开一次，就多累加一个倒数项。</a:t>
            </a:r>
            <a:endParaRPr sz="1300" b="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2" name="eq_g_0_0" descr="LaTeX: T(n)=T(n-2)+\frac{1}{n-1}+\frac{1}{n}"/>
              <p:cNvSpPr>
                <a:spLocks noGrp="1"/>
              </p:cNvSpPr>
              <p:nvPr/>
            </p:nvSpPr>
            <p:spPr>
              <a:xfrm>
                <a:off x="4333875" y="2124075"/>
                <a:ext cx="6810375" cy="419100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lIns="0" tIns="0" rIns="0" bIns="0" anchor="t"/>
              <a:lstStyle>
                <a:defPPr>
                  <a:defRPr sz="1600" b="0">
                    <a:solidFill>
                      <a:srgbClr val="1E293B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defRPr>
                </a:defPPr>
                <a:lvl1pPr>
                  <a:defRPr sz="1600" b="0">
                    <a:solidFill>
                      <a:srgbClr val="1E293B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defRPr>
                </a:lvl1pPr>
                <a:lvl2pPr>
                  <a:defRPr sz="1600" b="0">
                    <a:solidFill>
                      <a:srgbClr val="1E293B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defRPr>
                </a:lvl2pPr>
                <a:lvl3pPr>
                  <a:defRPr sz="1600" b="0">
                    <a:solidFill>
                      <a:srgbClr val="1E293B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defRPr>
                </a:lvl3pPr>
                <a:lvl4pPr>
                  <a:defRPr sz="1600" b="0">
                    <a:solidFill>
                      <a:srgbClr val="1E293B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defRPr>
                </a:lvl4pPr>
                <a:lvl5pPr>
                  <a:defRPr sz="1600" b="0">
                    <a:solidFill>
                      <a:srgbClr val="1E293B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defRPr>
                </a:lvl5pPr>
                <a:lvl6pPr>
                  <a:defRPr sz="1600" b="0">
                    <a:solidFill>
                      <a:srgbClr val="1E293B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defRPr>
                </a:lvl6pPr>
                <a:lvl7pPr>
                  <a:defRPr sz="1600" b="0">
                    <a:solidFill>
                      <a:srgbClr val="1E293B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defRPr>
                </a:lvl7pPr>
                <a:lvl8pPr>
                  <a:defRPr sz="1600" b="0">
                    <a:solidFill>
                      <a:srgbClr val="1E293B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defRPr>
                </a:lvl8pPr>
                <a:lvl9pPr>
                  <a:defRPr sz="1600" b="0">
                    <a:solidFill>
                      <a:srgbClr val="1E293B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defRPr>
                </a:lvl9pPr>
              </a:lstStyle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sz="1600" b="0" i="1">
                          <a:solidFill>
                            <a:srgbClr val="1E293B"/>
                          </a:solidFill>
                          <a:latin typeface="Cambria Math" panose="02040503050406030204"/>
                          <a:ea typeface="Cambria Math" panose="02040503050406030204"/>
                        </a:rPr>
                        <m:t>𝑇</m:t>
                      </m:r>
                      <m:d>
                        <m:dPr>
                          <m:ctrlPr>
                            <a:rPr sz="1600" b="0">
                              <a:solidFill>
                                <a:srgbClr val="1E293B"/>
                              </a:solidFill>
                              <a:latin typeface="Cambria Math" panose="02040503050406030204"/>
                              <a:ea typeface="微软雅黑" panose="020B0503020204020204" charset="-122"/>
                            </a:rPr>
                          </m:ctrlPr>
                        </m:dPr>
                        <m:e>
                          <m:r>
                            <a:rPr sz="1600" b="0" i="1">
                              <a:solidFill>
                                <a:srgbClr val="1E293B"/>
                              </a:solidFill>
                              <a:latin typeface="Cambria Math" panose="02040503050406030204"/>
                              <a:ea typeface="Cambria Math" panose="02040503050406030204"/>
                            </a:rPr>
                            <m:t>𝑛</m:t>
                          </m:r>
                        </m:e>
                      </m:d>
                      <m:r>
                        <a:rPr sz="1600" b="0" i="0">
                          <a:solidFill>
                            <a:srgbClr val="1E293B"/>
                          </a:solidFill>
                          <a:latin typeface="Cambria Math" panose="02040503050406030204"/>
                          <a:ea typeface="Cambria Math" panose="02040503050406030204"/>
                        </a:rPr>
                        <m:t>=</m:t>
                      </m:r>
                      <m:r>
                        <a:rPr sz="1600" b="0" i="1">
                          <a:solidFill>
                            <a:srgbClr val="1E293B"/>
                          </a:solidFill>
                          <a:latin typeface="Cambria Math" panose="02040503050406030204"/>
                          <a:ea typeface="Cambria Math" panose="02040503050406030204"/>
                        </a:rPr>
                        <m:t>𝑇</m:t>
                      </m:r>
                      <m:d>
                        <m:dPr>
                          <m:ctrlPr>
                            <a:rPr sz="1600" b="0">
                              <a:solidFill>
                                <a:srgbClr val="1E293B"/>
                              </a:solidFill>
                              <a:latin typeface="Cambria Math" panose="02040503050406030204"/>
                              <a:ea typeface="微软雅黑" panose="020B0503020204020204" charset="-122"/>
                            </a:rPr>
                          </m:ctrlPr>
                        </m:dPr>
                        <m:e>
                          <m:r>
                            <a:rPr sz="1600" b="0" i="1">
                              <a:solidFill>
                                <a:srgbClr val="1E293B"/>
                              </a:solidFill>
                              <a:latin typeface="Cambria Math" panose="02040503050406030204"/>
                              <a:ea typeface="Cambria Math" panose="02040503050406030204"/>
                            </a:rPr>
                            <m:t>𝑛</m:t>
                          </m:r>
                          <m:r>
                            <a:rPr sz="1600" b="0" i="0">
                              <a:solidFill>
                                <a:srgbClr val="1E293B"/>
                              </a:solidFill>
                              <a:latin typeface="Cambria Math" panose="02040503050406030204"/>
                              <a:ea typeface="Cambria Math" panose="02040503050406030204"/>
                            </a:rPr>
                            <m:t>−</m:t>
                          </m:r>
                          <m:r>
                            <a:rPr sz="1600" b="0" i="0">
                              <a:solidFill>
                                <a:srgbClr val="1E293B"/>
                              </a:solidFill>
                              <a:latin typeface="Cambria Math" panose="02040503050406030204"/>
                              <a:ea typeface="Cambria Math" panose="02040503050406030204"/>
                            </a:rPr>
                            <m:t>2</m:t>
                          </m:r>
                        </m:e>
                      </m:d>
                      <m:r>
                        <a:rPr sz="1600" b="0" i="0">
                          <a:solidFill>
                            <a:srgbClr val="1E293B"/>
                          </a:solidFill>
                          <a:latin typeface="Cambria Math" panose="02040503050406030204"/>
                          <a:ea typeface="Cambria Math" panose="02040503050406030204"/>
                        </a:rPr>
                        <m:t>+</m:t>
                      </m:r>
                      <m:f>
                        <m:fPr>
                          <m:ctrlPr>
                            <a:rPr sz="1600" b="0">
                              <a:solidFill>
                                <a:srgbClr val="1E293B"/>
                              </a:solidFill>
                              <a:latin typeface="Cambria Math" panose="02040503050406030204"/>
                              <a:ea typeface="微软雅黑" panose="020B0503020204020204" charset="-122"/>
                            </a:rPr>
                          </m:ctrlPr>
                        </m:fPr>
                        <m:num>
                          <m:r>
                            <a:rPr sz="1600" b="0" i="0">
                              <a:solidFill>
                                <a:srgbClr val="1E293B"/>
                              </a:solidFill>
                              <a:latin typeface="Cambria Math" panose="02040503050406030204"/>
                              <a:ea typeface="Cambria Math" panose="02040503050406030204"/>
                            </a:rPr>
                            <m:t>1</m:t>
                          </m:r>
                        </m:num>
                        <m:den>
                          <m:r>
                            <a:rPr sz="1600" b="0" i="1">
                              <a:solidFill>
                                <a:srgbClr val="1E293B"/>
                              </a:solidFill>
                              <a:latin typeface="Cambria Math" panose="02040503050406030204"/>
                              <a:ea typeface="Cambria Math" panose="02040503050406030204"/>
                            </a:rPr>
                            <m:t>𝑛</m:t>
                          </m:r>
                          <m:r>
                            <a:rPr sz="1600" b="0" i="0">
                              <a:solidFill>
                                <a:srgbClr val="1E293B"/>
                              </a:solidFill>
                              <a:latin typeface="Cambria Math" panose="02040503050406030204"/>
                              <a:ea typeface="Cambria Math" panose="02040503050406030204"/>
                            </a:rPr>
                            <m:t>−</m:t>
                          </m:r>
                          <m:r>
                            <a:rPr sz="1600" b="0" i="0">
                              <a:solidFill>
                                <a:srgbClr val="1E293B"/>
                              </a:solidFill>
                              <a:latin typeface="Cambria Math" panose="02040503050406030204"/>
                              <a:ea typeface="Cambria Math" panose="02040503050406030204"/>
                            </a:rPr>
                            <m:t>1</m:t>
                          </m:r>
                        </m:den>
                      </m:f>
                      <m:r>
                        <a:rPr sz="1600" b="0" i="0">
                          <a:solidFill>
                            <a:srgbClr val="1E293B"/>
                          </a:solidFill>
                          <a:latin typeface="Cambria Math" panose="02040503050406030204"/>
                          <a:ea typeface="Cambria Math" panose="02040503050406030204"/>
                        </a:rPr>
                        <m:t>+</m:t>
                      </m:r>
                      <m:f>
                        <m:fPr>
                          <m:ctrlPr>
                            <a:rPr sz="1600" b="0">
                              <a:solidFill>
                                <a:srgbClr val="1E293B"/>
                              </a:solidFill>
                              <a:latin typeface="Cambria Math" panose="02040503050406030204"/>
                              <a:ea typeface="微软雅黑" panose="020B0503020204020204" charset="-122"/>
                            </a:rPr>
                          </m:ctrlPr>
                        </m:fPr>
                        <m:num>
                          <m:r>
                            <a:rPr sz="1600" b="0" i="0">
                              <a:solidFill>
                                <a:srgbClr val="1E293B"/>
                              </a:solidFill>
                              <a:latin typeface="Cambria Math" panose="02040503050406030204"/>
                              <a:ea typeface="Cambria Math" panose="02040503050406030204"/>
                            </a:rPr>
                            <m:t>1</m:t>
                          </m:r>
                        </m:num>
                        <m:den>
                          <m:r>
                            <a:rPr sz="1600" b="0" i="1">
                              <a:solidFill>
                                <a:srgbClr val="1E293B"/>
                              </a:solidFill>
                              <a:latin typeface="Cambria Math" panose="02040503050406030204"/>
                              <a:ea typeface="Cambria Math" panose="02040503050406030204"/>
                            </a:rPr>
                            <m:t>𝑛</m:t>
                          </m:r>
                        </m:den>
                      </m:f>
                    </m:oMath>
                  </m:oMathPara>
                </a14:m>
                <a:endParaRPr sz="1600"/>
              </a:p>
            </p:txBody>
          </p:sp>
        </mc:Choice>
        <mc:Fallback>
          <p:sp>
            <p:nvSpPr>
              <p:cNvPr id="12" name="eq_g_0_0" descr="LaTeX: T(n)=T(n-2)+\frac{1}{n-1}+\frac{1}{n}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33875" y="2124075"/>
                <a:ext cx="6810375" cy="419100"/>
              </a:xfrm>
              <a:prstGeom prst="rect">
                <a:avLst/>
              </a:prstGeom>
              <a:blipFill rotWithShape="1">
                <a:blip r:embed="rId2"/>
                <a:stretch>
                  <a:fillRect b="-8182"/>
                </a:stretch>
              </a:blipFill>
              <a:ln w="0"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step_g_1"/>
          <p:cNvSpPr>
            <a:spLocks noGrp="1"/>
          </p:cNvSpPr>
          <p:nvPr/>
        </p:nvSpPr>
        <p:spPr>
          <a:xfrm>
            <a:off x="952500" y="3000375"/>
            <a:ext cx="3048000" cy="2762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>
              <a:defRPr sz="1600" b="1">
                <a:solidFill>
                  <a:srgbClr val="1725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>
              <a:defRPr sz="1600" b="1">
                <a:solidFill>
                  <a:srgbClr val="1725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>
              <a:defRPr sz="1600" b="1">
                <a:solidFill>
                  <a:srgbClr val="1725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>
              <a:defRPr sz="1600" b="1">
                <a:solidFill>
                  <a:srgbClr val="1725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>
              <a:defRPr sz="1600" b="1">
                <a:solidFill>
                  <a:srgbClr val="1725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>
              <a:defRPr sz="1600" b="1">
                <a:solidFill>
                  <a:srgbClr val="1725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>
              <a:defRPr sz="1600" b="1">
                <a:solidFill>
                  <a:srgbClr val="1725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>
              <a:defRPr sz="1600" b="1">
                <a:solidFill>
                  <a:srgbClr val="1725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>
              <a:defRPr sz="1600" b="1">
                <a:solidFill>
                  <a:srgbClr val="1725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>
              <a:defRPr sz="1600" b="1">
                <a:solidFill>
                  <a:srgbClr val="1725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>
              <a:defRPr sz="1600" b="1">
                <a:solidFill>
                  <a:srgbClr val="1725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00" b="1">
                <a:solidFill>
                  <a:srgbClr val="1725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  展开到常数基例</a:t>
            </a:r>
            <a:endParaRPr sz="1600" b="1">
              <a:solidFill>
                <a:srgbClr val="17255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note_g_1"/>
          <p:cNvSpPr>
            <a:spLocks noGrp="1"/>
          </p:cNvSpPr>
          <p:nvPr/>
        </p:nvSpPr>
        <p:spPr>
          <a:xfrm>
            <a:off x="952500" y="3305175"/>
            <a:ext cx="3086100" cy="5238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>
              <a:defRPr sz="1300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>
              <a:defRPr sz="1300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>
              <a:defRPr sz="1300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>
              <a:defRPr sz="1300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>
              <a:defRPr sz="1300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>
              <a:defRPr sz="1300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>
              <a:defRPr sz="1300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>
              <a:defRPr sz="1300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>
              <a:defRPr sz="1300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>
              <a:defRPr sz="1300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>
              <a:defRPr sz="1300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00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T(1)=Θ(1)，其常数成本不影响增长量级。</a:t>
            </a:r>
            <a:endParaRPr sz="1300" b="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5" name="eq_g_1_0" descr="LaTeX: T(n)=T(1)+\sum_{k=2}^{n}\frac{1}{k}"/>
              <p:cNvSpPr>
                <a:spLocks noGrp="1"/>
              </p:cNvSpPr>
              <p:nvPr/>
            </p:nvSpPr>
            <p:spPr>
              <a:xfrm>
                <a:off x="4333875" y="2981325"/>
                <a:ext cx="6810375" cy="419100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lIns="0" tIns="0" rIns="0" bIns="0" anchor="t"/>
              <a:lstStyle>
                <a:defPPr>
                  <a:defRPr sz="1600" b="0">
                    <a:solidFill>
                      <a:srgbClr val="1E293B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defRPr>
                </a:defPPr>
                <a:lvl1pPr>
                  <a:defRPr sz="1600" b="0">
                    <a:solidFill>
                      <a:srgbClr val="1E293B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defRPr>
                </a:lvl1pPr>
                <a:lvl2pPr>
                  <a:defRPr sz="1600" b="0">
                    <a:solidFill>
                      <a:srgbClr val="1E293B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defRPr>
                </a:lvl2pPr>
                <a:lvl3pPr>
                  <a:defRPr sz="1600" b="0">
                    <a:solidFill>
                      <a:srgbClr val="1E293B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defRPr>
                </a:lvl3pPr>
                <a:lvl4pPr>
                  <a:defRPr sz="1600" b="0">
                    <a:solidFill>
                      <a:srgbClr val="1E293B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defRPr>
                </a:lvl4pPr>
                <a:lvl5pPr>
                  <a:defRPr sz="1600" b="0">
                    <a:solidFill>
                      <a:srgbClr val="1E293B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defRPr>
                </a:lvl5pPr>
                <a:lvl6pPr>
                  <a:defRPr sz="1600" b="0">
                    <a:solidFill>
                      <a:srgbClr val="1E293B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defRPr>
                </a:lvl6pPr>
                <a:lvl7pPr>
                  <a:defRPr sz="1600" b="0">
                    <a:solidFill>
                      <a:srgbClr val="1E293B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defRPr>
                </a:lvl7pPr>
                <a:lvl8pPr>
                  <a:defRPr sz="1600" b="0">
                    <a:solidFill>
                      <a:srgbClr val="1E293B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defRPr>
                </a:lvl8pPr>
                <a:lvl9pPr>
                  <a:defRPr sz="1600" b="0">
                    <a:solidFill>
                      <a:srgbClr val="1E293B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defRPr>
                </a:lvl9pPr>
              </a:lstStyle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sz="1600" b="0" i="1">
                          <a:solidFill>
                            <a:srgbClr val="1E293B"/>
                          </a:solidFill>
                          <a:latin typeface="Cambria Math" panose="02040503050406030204"/>
                          <a:ea typeface="Cambria Math" panose="02040503050406030204"/>
                        </a:rPr>
                        <m:t>𝑇</m:t>
                      </m:r>
                      <m:d>
                        <m:dPr>
                          <m:ctrlPr>
                            <a:rPr sz="1600" b="0">
                              <a:solidFill>
                                <a:srgbClr val="1E293B"/>
                              </a:solidFill>
                              <a:latin typeface="Cambria Math" panose="02040503050406030204"/>
                              <a:ea typeface="微软雅黑" panose="020B0503020204020204" charset="-122"/>
                            </a:rPr>
                          </m:ctrlPr>
                        </m:dPr>
                        <m:e>
                          <m:r>
                            <a:rPr sz="1600" b="0" i="1">
                              <a:solidFill>
                                <a:srgbClr val="1E293B"/>
                              </a:solidFill>
                              <a:latin typeface="Cambria Math" panose="02040503050406030204"/>
                              <a:ea typeface="Cambria Math" panose="02040503050406030204"/>
                            </a:rPr>
                            <m:t>𝑛</m:t>
                          </m:r>
                        </m:e>
                      </m:d>
                      <m:r>
                        <a:rPr sz="1600" b="0" i="0">
                          <a:solidFill>
                            <a:srgbClr val="1E293B"/>
                          </a:solidFill>
                          <a:latin typeface="Cambria Math" panose="02040503050406030204"/>
                          <a:ea typeface="Cambria Math" panose="02040503050406030204"/>
                        </a:rPr>
                        <m:t>=</m:t>
                      </m:r>
                      <m:r>
                        <a:rPr sz="1600" b="0" i="1">
                          <a:solidFill>
                            <a:srgbClr val="1E293B"/>
                          </a:solidFill>
                          <a:latin typeface="Cambria Math" panose="02040503050406030204"/>
                          <a:ea typeface="Cambria Math" panose="02040503050406030204"/>
                        </a:rPr>
                        <m:t>𝑇</m:t>
                      </m:r>
                      <m:d>
                        <m:dPr>
                          <m:ctrlPr>
                            <a:rPr sz="1600" b="0">
                              <a:solidFill>
                                <a:srgbClr val="1E293B"/>
                              </a:solidFill>
                              <a:latin typeface="Cambria Math" panose="02040503050406030204"/>
                              <a:ea typeface="微软雅黑" panose="020B0503020204020204" charset="-122"/>
                            </a:rPr>
                          </m:ctrlPr>
                        </m:dPr>
                        <m:e>
                          <m:r>
                            <a:rPr sz="1600" b="0" i="0">
                              <a:solidFill>
                                <a:srgbClr val="1E293B"/>
                              </a:solidFill>
                              <a:latin typeface="Cambria Math" panose="02040503050406030204"/>
                              <a:ea typeface="Cambria Math" panose="02040503050406030204"/>
                            </a:rPr>
                            <m:t>1</m:t>
                          </m:r>
                        </m:e>
                      </m:d>
                      <m:r>
                        <a:rPr sz="1600" b="0" i="0">
                          <a:solidFill>
                            <a:srgbClr val="1E293B"/>
                          </a:solidFill>
                          <a:latin typeface="Cambria Math" panose="02040503050406030204"/>
                          <a:ea typeface="Cambria Math" panose="02040503050406030204"/>
                        </a:rPr>
                        <m:t>+</m:t>
                      </m:r>
                      <m:nary>
                        <m:naryPr>
                          <m:chr m:val="∑"/>
                          <m:grow m:val="on"/>
                          <m:limLoc m:val="subSup"/>
                          <m:ctrlPr>
                            <a:rPr sz="1600" b="0">
                              <a:solidFill>
                                <a:srgbClr val="1E293B"/>
                              </a:solidFill>
                              <a:latin typeface="Cambria Math" panose="02040503050406030204"/>
                              <a:ea typeface="微软雅黑" panose="020B0503020204020204" charset="-122"/>
                            </a:rPr>
                          </m:ctrlPr>
                        </m:naryPr>
                        <m:sub>
                          <m:r>
                            <a:rPr sz="1600" b="0" i="1">
                              <a:solidFill>
                                <a:srgbClr val="1E293B"/>
                              </a:solidFill>
                              <a:latin typeface="Cambria Math" panose="02040503050406030204"/>
                              <a:ea typeface="Cambria Math" panose="02040503050406030204"/>
                            </a:rPr>
                            <m:t>𝑘</m:t>
                          </m:r>
                          <m:r>
                            <a:rPr sz="1600" b="0" i="0">
                              <a:solidFill>
                                <a:srgbClr val="1E293B"/>
                              </a:solidFill>
                              <a:latin typeface="Cambria Math" panose="02040503050406030204"/>
                              <a:ea typeface="Cambria Math" panose="02040503050406030204"/>
                            </a:rPr>
                            <m:t>=</m:t>
                          </m:r>
                          <m:r>
                            <a:rPr sz="1600" b="0" i="0">
                              <a:solidFill>
                                <a:srgbClr val="1E293B"/>
                              </a:solidFill>
                              <a:latin typeface="Cambria Math" panose="02040503050406030204"/>
                              <a:ea typeface="Cambria Math" panose="02040503050406030204"/>
                            </a:rPr>
                            <m:t>2</m:t>
                          </m:r>
                        </m:sub>
                        <m:sup>
                          <m:r>
                            <a:rPr sz="1600" b="0" i="1">
                              <a:solidFill>
                                <a:srgbClr val="1E293B"/>
                              </a:solidFill>
                              <a:latin typeface="Cambria Math" panose="02040503050406030204"/>
                              <a:ea typeface="Cambria Math" panose="02040503050406030204"/>
                            </a:rPr>
                            <m:t>𝑛</m:t>
                          </m:r>
                        </m:sup>
                        <m:e>
                          <m:f>
                            <m:fPr>
                              <m:ctrlPr>
                                <a:rPr sz="1600" b="0">
                                  <a:solidFill>
                                    <a:srgbClr val="1E293B"/>
                                  </a:solidFill>
                                  <a:latin typeface="Cambria Math" panose="02040503050406030204"/>
                                  <a:ea typeface="微软雅黑" panose="020B0503020204020204" charset="-122"/>
                                </a:rPr>
                              </m:ctrlPr>
                            </m:fPr>
                            <m:num>
                              <m:r>
                                <a:rPr sz="1600" b="0" i="0">
                                  <a:solidFill>
                                    <a:srgbClr val="1E293B"/>
                                  </a:solidFill>
                                  <a:latin typeface="Cambria Math" panose="02040503050406030204"/>
                                  <a:ea typeface="Cambria Math" panose="02040503050406030204"/>
                                </a:rPr>
                                <m:t>1</m:t>
                              </m:r>
                            </m:num>
                            <m:den>
                              <m:r>
                                <a:rPr sz="1600" b="0" i="1">
                                  <a:solidFill>
                                    <a:srgbClr val="1E293B"/>
                                  </a:solidFill>
                                  <a:latin typeface="Cambria Math" panose="02040503050406030204"/>
                                  <a:ea typeface="Cambria Math" panose="02040503050406030204"/>
                                </a:rPr>
                                <m:t>𝑘</m:t>
                              </m:r>
                            </m:den>
                          </m:f>
                        </m:e>
                      </m:nary>
                    </m:oMath>
                  </m:oMathPara>
                </a14:m>
                <a:endParaRPr sz="1600"/>
              </a:p>
            </p:txBody>
          </p:sp>
        </mc:Choice>
        <mc:Fallback>
          <p:sp>
            <p:nvSpPr>
              <p:cNvPr id="15" name="eq_g_1_0" descr="LaTeX: T(n)=T(1)+\sum_{k=2}^{n}\frac{1}{k}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33875" y="2981325"/>
                <a:ext cx="6810375" cy="419100"/>
              </a:xfrm>
              <a:prstGeom prst="rect">
                <a:avLst/>
              </a:prstGeom>
              <a:blipFill rotWithShape="1">
                <a:blip r:embed="rId3"/>
                <a:stretch>
                  <a:fillRect b="-59697"/>
                </a:stretch>
              </a:blipFill>
              <a:ln w="0"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step_g_2"/>
          <p:cNvSpPr>
            <a:spLocks noGrp="1"/>
          </p:cNvSpPr>
          <p:nvPr/>
        </p:nvSpPr>
        <p:spPr>
          <a:xfrm>
            <a:off x="952500" y="3857625"/>
            <a:ext cx="3048000" cy="2762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>
              <a:defRPr sz="1600" b="1">
                <a:solidFill>
                  <a:srgbClr val="1725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>
              <a:defRPr sz="1600" b="1">
                <a:solidFill>
                  <a:srgbClr val="1725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>
              <a:defRPr sz="1600" b="1">
                <a:solidFill>
                  <a:srgbClr val="1725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>
              <a:defRPr sz="1600" b="1">
                <a:solidFill>
                  <a:srgbClr val="1725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>
              <a:defRPr sz="1600" b="1">
                <a:solidFill>
                  <a:srgbClr val="1725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>
              <a:defRPr sz="1600" b="1">
                <a:solidFill>
                  <a:srgbClr val="1725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>
              <a:defRPr sz="1600" b="1">
                <a:solidFill>
                  <a:srgbClr val="1725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>
              <a:defRPr sz="1600" b="1">
                <a:solidFill>
                  <a:srgbClr val="1725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>
              <a:defRPr sz="1600" b="1">
                <a:solidFill>
                  <a:srgbClr val="1725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>
              <a:defRPr sz="1600" b="1">
                <a:solidFill>
                  <a:srgbClr val="1725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>
              <a:defRPr sz="1600" b="1">
                <a:solidFill>
                  <a:srgbClr val="1725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00" b="1">
                <a:solidFill>
                  <a:srgbClr val="1725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  使用调和级数估计</a:t>
            </a:r>
            <a:endParaRPr sz="1600" b="1">
              <a:solidFill>
                <a:srgbClr val="17255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note_g_2"/>
          <p:cNvSpPr>
            <a:spLocks noGrp="1"/>
          </p:cNvSpPr>
          <p:nvPr/>
        </p:nvSpPr>
        <p:spPr>
          <a:xfrm>
            <a:off x="952500" y="4162425"/>
            <a:ext cx="3086100" cy="5238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>
              <a:defRPr sz="1300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>
              <a:defRPr sz="1300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>
              <a:defRPr sz="1300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>
              <a:defRPr sz="1300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>
              <a:defRPr sz="1300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>
              <a:defRPr sz="1300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>
              <a:defRPr sz="1300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>
              <a:defRPr sz="1300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>
              <a:defRPr sz="1300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>
              <a:defRPr sz="1300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>
              <a:defRPr sz="1300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00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调和级数与对数同阶，换底只差常数。</a:t>
            </a:r>
            <a:endParaRPr sz="1300" b="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8" name="eq_g_2_0" descr="LaTeX: H_n=\sum_{k=1}^{n}\frac{1}{k}"/>
              <p:cNvSpPr>
                <a:spLocks noGrp="1"/>
              </p:cNvSpPr>
              <p:nvPr/>
            </p:nvSpPr>
            <p:spPr>
              <a:xfrm>
                <a:off x="4239895" y="3714750"/>
                <a:ext cx="6810375" cy="419100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lIns="0" tIns="0" rIns="0" bIns="0" anchor="t"/>
              <a:lstStyle>
                <a:defPPr>
                  <a:defRPr sz="1600" b="0">
                    <a:solidFill>
                      <a:srgbClr val="1E293B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defRPr>
                </a:defPPr>
                <a:lvl1pPr>
                  <a:defRPr sz="1600" b="0">
                    <a:solidFill>
                      <a:srgbClr val="1E293B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defRPr>
                </a:lvl1pPr>
                <a:lvl2pPr>
                  <a:defRPr sz="1600" b="0">
                    <a:solidFill>
                      <a:srgbClr val="1E293B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defRPr>
                </a:lvl2pPr>
                <a:lvl3pPr>
                  <a:defRPr sz="1600" b="0">
                    <a:solidFill>
                      <a:srgbClr val="1E293B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defRPr>
                </a:lvl3pPr>
                <a:lvl4pPr>
                  <a:defRPr sz="1600" b="0">
                    <a:solidFill>
                      <a:srgbClr val="1E293B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defRPr>
                </a:lvl4pPr>
                <a:lvl5pPr>
                  <a:defRPr sz="1600" b="0">
                    <a:solidFill>
                      <a:srgbClr val="1E293B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defRPr>
                </a:lvl5pPr>
                <a:lvl6pPr>
                  <a:defRPr sz="1600" b="0">
                    <a:solidFill>
                      <a:srgbClr val="1E293B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defRPr>
                </a:lvl6pPr>
                <a:lvl7pPr>
                  <a:defRPr sz="1600" b="0">
                    <a:solidFill>
                      <a:srgbClr val="1E293B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defRPr>
                </a:lvl7pPr>
                <a:lvl8pPr>
                  <a:defRPr sz="1600" b="0">
                    <a:solidFill>
                      <a:srgbClr val="1E293B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defRPr>
                </a:lvl8pPr>
                <a:lvl9pPr>
                  <a:defRPr sz="1600" b="0">
                    <a:solidFill>
                      <a:srgbClr val="1E293B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defRPr>
                </a:lvl9pPr>
              </a:lstStyle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sz="1600" b="0">
                              <a:solidFill>
                                <a:srgbClr val="1E293B"/>
                              </a:solidFill>
                              <a:latin typeface="Cambria Math" panose="02040503050406030204"/>
                              <a:ea typeface="微软雅黑" panose="020B0503020204020204" charset="-122"/>
                            </a:rPr>
                          </m:ctrlPr>
                        </m:sSubPr>
                        <m:e>
                          <m:r>
                            <a:rPr sz="1600" b="0" i="1">
                              <a:solidFill>
                                <a:srgbClr val="1E293B"/>
                              </a:solidFill>
                              <a:latin typeface="Cambria Math" panose="02040503050406030204"/>
                              <a:ea typeface="Cambria Math" panose="02040503050406030204"/>
                            </a:rPr>
                            <m:t>𝐻</m:t>
                          </m:r>
                        </m:e>
                        <m:sub>
                          <m:r>
                            <a:rPr sz="1600" b="0" i="1">
                              <a:solidFill>
                                <a:srgbClr val="1E293B"/>
                              </a:solidFill>
                              <a:latin typeface="Cambria Math" panose="02040503050406030204"/>
                              <a:ea typeface="Cambria Math" panose="02040503050406030204"/>
                            </a:rPr>
                            <m:t>𝑛</m:t>
                          </m:r>
                        </m:sub>
                      </m:sSub>
                      <m:r>
                        <a:rPr sz="1600" b="0" i="0">
                          <a:solidFill>
                            <a:srgbClr val="1E293B"/>
                          </a:solidFill>
                          <a:latin typeface="Cambria Math" panose="02040503050406030204"/>
                          <a:ea typeface="Cambria Math" panose="02040503050406030204"/>
                        </a:rPr>
                        <m:t>=</m:t>
                      </m:r>
                      <m:nary>
                        <m:naryPr>
                          <m:chr m:val="∑"/>
                          <m:grow m:val="on"/>
                          <m:limLoc m:val="subSup"/>
                          <m:ctrlPr>
                            <a:rPr sz="1600" b="0">
                              <a:solidFill>
                                <a:srgbClr val="1E293B"/>
                              </a:solidFill>
                              <a:latin typeface="Cambria Math" panose="02040503050406030204"/>
                              <a:ea typeface="微软雅黑" panose="020B0503020204020204" charset="-122"/>
                            </a:rPr>
                          </m:ctrlPr>
                        </m:naryPr>
                        <m:sub>
                          <m:r>
                            <a:rPr sz="1600" b="0" i="1">
                              <a:solidFill>
                                <a:srgbClr val="1E293B"/>
                              </a:solidFill>
                              <a:latin typeface="Cambria Math" panose="02040503050406030204"/>
                              <a:ea typeface="Cambria Math" panose="02040503050406030204"/>
                            </a:rPr>
                            <m:t>𝑘</m:t>
                          </m:r>
                          <m:r>
                            <a:rPr sz="1600" b="0" i="0">
                              <a:solidFill>
                                <a:srgbClr val="1E293B"/>
                              </a:solidFill>
                              <a:latin typeface="Cambria Math" panose="02040503050406030204"/>
                              <a:ea typeface="Cambria Math" panose="02040503050406030204"/>
                            </a:rPr>
                            <m:t>=</m:t>
                          </m:r>
                          <m:r>
                            <a:rPr sz="1600" b="0" i="0">
                              <a:solidFill>
                                <a:srgbClr val="1E293B"/>
                              </a:solidFill>
                              <a:latin typeface="Cambria Math" panose="02040503050406030204"/>
                              <a:ea typeface="Cambria Math" panose="02040503050406030204"/>
                            </a:rPr>
                            <m:t>1</m:t>
                          </m:r>
                        </m:sub>
                        <m:sup>
                          <m:r>
                            <a:rPr sz="1600" b="0" i="1">
                              <a:solidFill>
                                <a:srgbClr val="1E293B"/>
                              </a:solidFill>
                              <a:latin typeface="Cambria Math" panose="02040503050406030204"/>
                              <a:ea typeface="Cambria Math" panose="02040503050406030204"/>
                            </a:rPr>
                            <m:t>𝑛</m:t>
                          </m:r>
                        </m:sup>
                        <m:e>
                          <m:f>
                            <m:fPr>
                              <m:ctrlPr>
                                <a:rPr sz="1600" b="0">
                                  <a:solidFill>
                                    <a:srgbClr val="1E293B"/>
                                  </a:solidFill>
                                  <a:latin typeface="Cambria Math" panose="02040503050406030204"/>
                                  <a:ea typeface="微软雅黑" panose="020B0503020204020204" charset="-122"/>
                                </a:rPr>
                              </m:ctrlPr>
                            </m:fPr>
                            <m:num>
                              <m:r>
                                <a:rPr sz="1600" b="0" i="0">
                                  <a:solidFill>
                                    <a:srgbClr val="1E293B"/>
                                  </a:solidFill>
                                  <a:latin typeface="Cambria Math" panose="02040503050406030204"/>
                                  <a:ea typeface="Cambria Math" panose="02040503050406030204"/>
                                </a:rPr>
                                <m:t>1</m:t>
                              </m:r>
                            </m:num>
                            <m:den>
                              <m:r>
                                <a:rPr sz="1600" b="0" i="1">
                                  <a:solidFill>
                                    <a:srgbClr val="1E293B"/>
                                  </a:solidFill>
                                  <a:latin typeface="Cambria Math" panose="02040503050406030204"/>
                                  <a:ea typeface="Cambria Math" panose="02040503050406030204"/>
                                </a:rPr>
                                <m:t>𝑘</m:t>
                              </m:r>
                            </m:den>
                          </m:f>
                        </m:e>
                      </m:nary>
                    </m:oMath>
                  </m:oMathPara>
                </a14:m>
                <a:endParaRPr sz="1600"/>
              </a:p>
            </p:txBody>
          </p:sp>
        </mc:Choice>
        <mc:Fallback>
          <p:sp>
            <p:nvSpPr>
              <p:cNvPr id="18" name="eq_g_2_0" descr="LaTeX: H_n=\sum_{k=1}^{n}\frac{1}{k}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39895" y="3714750"/>
                <a:ext cx="6810375" cy="419100"/>
              </a:xfrm>
              <a:prstGeom prst="rect">
                <a:avLst/>
              </a:prstGeom>
              <a:blipFill rotWithShape="1">
                <a:blip r:embed="rId4"/>
                <a:stretch>
                  <a:fillRect b="-59697"/>
                </a:stretch>
              </a:blipFill>
              <a:ln w="0"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9" name="eq_g_2_1" descr="LaTeX: \ln(n+1)\le H_n\le1+\ln n"/>
              <p:cNvSpPr>
                <a:spLocks noGrp="1"/>
              </p:cNvSpPr>
              <p:nvPr/>
            </p:nvSpPr>
            <p:spPr>
              <a:xfrm>
                <a:off x="4333875" y="4491355"/>
                <a:ext cx="6810375" cy="419100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lIns="0" tIns="0" rIns="0" bIns="0" anchor="t"/>
              <a:lstStyle>
                <a:defPPr>
                  <a:defRPr sz="1600" b="0">
                    <a:solidFill>
                      <a:srgbClr val="1E293B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defRPr>
                </a:defPPr>
                <a:lvl1pPr>
                  <a:defRPr sz="1600" b="0">
                    <a:solidFill>
                      <a:srgbClr val="1E293B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defRPr>
                </a:lvl1pPr>
                <a:lvl2pPr>
                  <a:defRPr sz="1600" b="0">
                    <a:solidFill>
                      <a:srgbClr val="1E293B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defRPr>
                </a:lvl2pPr>
                <a:lvl3pPr>
                  <a:defRPr sz="1600" b="0">
                    <a:solidFill>
                      <a:srgbClr val="1E293B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defRPr>
                </a:lvl3pPr>
                <a:lvl4pPr>
                  <a:defRPr sz="1600" b="0">
                    <a:solidFill>
                      <a:srgbClr val="1E293B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defRPr>
                </a:lvl4pPr>
                <a:lvl5pPr>
                  <a:defRPr sz="1600" b="0">
                    <a:solidFill>
                      <a:srgbClr val="1E293B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defRPr>
                </a:lvl5pPr>
                <a:lvl6pPr>
                  <a:defRPr sz="1600" b="0">
                    <a:solidFill>
                      <a:srgbClr val="1E293B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defRPr>
                </a:lvl6pPr>
                <a:lvl7pPr>
                  <a:defRPr sz="1600" b="0">
                    <a:solidFill>
                      <a:srgbClr val="1E293B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defRPr>
                </a:lvl7pPr>
                <a:lvl8pPr>
                  <a:defRPr sz="1600" b="0">
                    <a:solidFill>
                      <a:srgbClr val="1E293B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defRPr>
                </a:lvl8pPr>
                <a:lvl9pPr>
                  <a:defRPr sz="1600" b="0">
                    <a:solidFill>
                      <a:srgbClr val="1E293B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defRPr>
                </a:lvl9pPr>
              </a:lstStyle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sz="1600" b="0" i="0">
                          <a:solidFill>
                            <a:srgbClr val="1E293B"/>
                          </a:solidFill>
                          <a:latin typeface="Cambria Math" panose="02040503050406030204"/>
                          <a:ea typeface="Cambria Math" panose="02040503050406030204"/>
                        </a:rPr>
                        <m:t>ln</m:t>
                      </m:r>
                      <m:d>
                        <m:dPr>
                          <m:ctrlPr>
                            <a:rPr sz="1600" b="0">
                              <a:solidFill>
                                <a:srgbClr val="1E293B"/>
                              </a:solidFill>
                              <a:latin typeface="Cambria Math" panose="02040503050406030204"/>
                              <a:ea typeface="微软雅黑" panose="020B0503020204020204" charset="-122"/>
                            </a:rPr>
                          </m:ctrlPr>
                        </m:dPr>
                        <m:e>
                          <m:r>
                            <a:rPr sz="1600" b="0" i="1">
                              <a:solidFill>
                                <a:srgbClr val="1E293B"/>
                              </a:solidFill>
                              <a:latin typeface="Cambria Math" panose="02040503050406030204"/>
                              <a:ea typeface="Cambria Math" panose="02040503050406030204"/>
                            </a:rPr>
                            <m:t>𝑛</m:t>
                          </m:r>
                          <m:r>
                            <a:rPr sz="1600" b="0" i="0">
                              <a:solidFill>
                                <a:srgbClr val="1E293B"/>
                              </a:solidFill>
                              <a:latin typeface="Cambria Math" panose="02040503050406030204"/>
                              <a:ea typeface="Cambria Math" panose="02040503050406030204"/>
                            </a:rPr>
                            <m:t>+</m:t>
                          </m:r>
                          <m:r>
                            <a:rPr sz="1600" b="0" i="0">
                              <a:solidFill>
                                <a:srgbClr val="1E293B"/>
                              </a:solidFill>
                              <a:latin typeface="Cambria Math" panose="02040503050406030204"/>
                              <a:ea typeface="Cambria Math" panose="02040503050406030204"/>
                            </a:rPr>
                            <m:t>1</m:t>
                          </m:r>
                        </m:e>
                      </m:d>
                      <m:r>
                        <a:rPr sz="1600" b="0" i="0">
                          <a:solidFill>
                            <a:srgbClr val="1E293B"/>
                          </a:solidFill>
                          <a:latin typeface="Cambria Math" panose="02040503050406030204"/>
                          <a:ea typeface="Cambria Math" panose="02040503050406030204"/>
                        </a:rPr>
                        <m:t>≤</m:t>
                      </m:r>
                      <m:sSub>
                        <m:sSubPr>
                          <m:ctrlPr>
                            <a:rPr sz="1600" b="0">
                              <a:solidFill>
                                <a:srgbClr val="1E293B"/>
                              </a:solidFill>
                              <a:latin typeface="Cambria Math" panose="02040503050406030204"/>
                              <a:ea typeface="微软雅黑" panose="020B0503020204020204" charset="-122"/>
                            </a:rPr>
                          </m:ctrlPr>
                        </m:sSubPr>
                        <m:e>
                          <m:r>
                            <a:rPr sz="1600" b="0" i="1">
                              <a:solidFill>
                                <a:srgbClr val="1E293B"/>
                              </a:solidFill>
                              <a:latin typeface="Cambria Math" panose="02040503050406030204"/>
                              <a:ea typeface="Cambria Math" panose="02040503050406030204"/>
                            </a:rPr>
                            <m:t>𝐻</m:t>
                          </m:r>
                        </m:e>
                        <m:sub>
                          <m:r>
                            <a:rPr sz="1600" b="0" i="1">
                              <a:solidFill>
                                <a:srgbClr val="1E293B"/>
                              </a:solidFill>
                              <a:latin typeface="Cambria Math" panose="02040503050406030204"/>
                              <a:ea typeface="Cambria Math" panose="02040503050406030204"/>
                            </a:rPr>
                            <m:t>𝑛</m:t>
                          </m:r>
                        </m:sub>
                      </m:sSub>
                      <m:r>
                        <a:rPr sz="1600" b="0" i="0">
                          <a:solidFill>
                            <a:srgbClr val="1E293B"/>
                          </a:solidFill>
                          <a:latin typeface="Cambria Math" panose="02040503050406030204"/>
                          <a:ea typeface="Cambria Math" panose="02040503050406030204"/>
                        </a:rPr>
                        <m:t>≤</m:t>
                      </m:r>
                      <m:r>
                        <a:rPr sz="1600" b="0" i="0">
                          <a:solidFill>
                            <a:srgbClr val="1E293B"/>
                          </a:solidFill>
                          <a:latin typeface="Cambria Math" panose="02040503050406030204"/>
                          <a:ea typeface="Cambria Math" panose="02040503050406030204"/>
                        </a:rPr>
                        <m:t>1</m:t>
                      </m:r>
                      <m:r>
                        <a:rPr sz="1600" b="0" i="0">
                          <a:solidFill>
                            <a:srgbClr val="1E293B"/>
                          </a:solidFill>
                          <a:latin typeface="Cambria Math" panose="02040503050406030204"/>
                          <a:ea typeface="Cambria Math" panose="02040503050406030204"/>
                        </a:rPr>
                        <m:t>+</m:t>
                      </m:r>
                      <m:r>
                        <m:rPr>
                          <m:sty m:val="p"/>
                        </m:rPr>
                        <a:rPr sz="1600" b="0" i="0">
                          <a:solidFill>
                            <a:srgbClr val="1E293B"/>
                          </a:solidFill>
                          <a:latin typeface="Cambria Math" panose="02040503050406030204"/>
                          <a:ea typeface="Cambria Math" panose="02040503050406030204"/>
                        </a:rPr>
                        <m:t>ln</m:t>
                      </m:r>
                      <m:r>
                        <a:rPr sz="1600" b="0" i="1">
                          <a:solidFill>
                            <a:srgbClr val="1E293B"/>
                          </a:solidFill>
                          <a:latin typeface="Cambria Math" panose="02040503050406030204"/>
                          <a:ea typeface="Cambria Math" panose="02040503050406030204"/>
                        </a:rPr>
                        <m:t>𝑛</m:t>
                      </m:r>
                    </m:oMath>
                  </m:oMathPara>
                </a14:m>
                <a:endParaRPr sz="1600"/>
              </a:p>
            </p:txBody>
          </p:sp>
        </mc:Choice>
        <mc:Fallback>
          <p:sp>
            <p:nvSpPr>
              <p:cNvPr id="19" name="eq_g_2_1" descr="LaTeX: \ln(n+1)\le H_n\le1+\ln n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33875" y="4491355"/>
                <a:ext cx="6810375" cy="419100"/>
              </a:xfrm>
              <a:prstGeom prst="rect">
                <a:avLst/>
              </a:prstGeom>
              <a:blipFill rotWithShape="1">
                <a:blip r:embed="rId5"/>
                <a:stretch>
                  <a:fillRect/>
                </a:stretch>
              </a:blipFill>
              <a:ln w="0"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step_g_3"/>
          <p:cNvSpPr>
            <a:spLocks noGrp="1"/>
          </p:cNvSpPr>
          <p:nvPr/>
        </p:nvSpPr>
        <p:spPr>
          <a:xfrm>
            <a:off x="952500" y="4714875"/>
            <a:ext cx="3048000" cy="2762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>
              <a:defRPr sz="1600" b="1">
                <a:solidFill>
                  <a:srgbClr val="1725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>
              <a:defRPr sz="1600" b="1">
                <a:solidFill>
                  <a:srgbClr val="1725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>
              <a:defRPr sz="1600" b="1">
                <a:solidFill>
                  <a:srgbClr val="1725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>
              <a:defRPr sz="1600" b="1">
                <a:solidFill>
                  <a:srgbClr val="1725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>
              <a:defRPr sz="1600" b="1">
                <a:solidFill>
                  <a:srgbClr val="1725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>
              <a:defRPr sz="1600" b="1">
                <a:solidFill>
                  <a:srgbClr val="1725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>
              <a:defRPr sz="1600" b="1">
                <a:solidFill>
                  <a:srgbClr val="1725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>
              <a:defRPr sz="1600" b="1">
                <a:solidFill>
                  <a:srgbClr val="1725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>
              <a:defRPr sz="1600" b="1">
                <a:solidFill>
                  <a:srgbClr val="1725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>
              <a:defRPr sz="1600" b="1">
                <a:solidFill>
                  <a:srgbClr val="1725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>
              <a:defRPr sz="1600" b="1">
                <a:solidFill>
                  <a:srgbClr val="1725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00" b="1">
                <a:solidFill>
                  <a:srgbClr val="1725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  得到紧确渐近界</a:t>
            </a:r>
            <a:endParaRPr sz="1600" b="1">
              <a:solidFill>
                <a:srgbClr val="17255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note_g_3"/>
          <p:cNvSpPr>
            <a:spLocks noGrp="1"/>
          </p:cNvSpPr>
          <p:nvPr/>
        </p:nvSpPr>
        <p:spPr>
          <a:xfrm>
            <a:off x="952500" y="5019675"/>
            <a:ext cx="3086100" cy="5238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>
              <a:defRPr sz="1300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>
              <a:defRPr sz="1300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>
              <a:defRPr sz="1300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>
              <a:defRPr sz="1300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>
              <a:defRPr sz="1300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>
              <a:defRPr sz="1300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>
              <a:defRPr sz="1300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>
              <a:defRPr sz="1300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>
              <a:defRPr sz="1300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>
              <a:defRPr sz="1300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>
              <a:defRPr sz="1300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00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上界和下界都为对数量级。</a:t>
            </a:r>
            <a:endParaRPr sz="1300" b="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2" name="eq_g_3_0" descr="LaTeX: T(n)=\Theta(1)+H_n-1=\Theta(\lg n)"/>
              <p:cNvSpPr>
                <a:spLocks noGrp="1"/>
              </p:cNvSpPr>
              <p:nvPr/>
            </p:nvSpPr>
            <p:spPr>
              <a:xfrm>
                <a:off x="4277995" y="4966970"/>
                <a:ext cx="6810375" cy="419100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lIns="0" tIns="0" rIns="0" bIns="0" anchor="t"/>
              <a:lstStyle>
                <a:defPPr>
                  <a:defRPr sz="1600" b="0">
                    <a:solidFill>
                      <a:srgbClr val="1E293B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defRPr>
                </a:defPPr>
                <a:lvl1pPr>
                  <a:defRPr sz="1600" b="0">
                    <a:solidFill>
                      <a:srgbClr val="1E293B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defRPr>
                </a:lvl1pPr>
                <a:lvl2pPr>
                  <a:defRPr sz="1600" b="0">
                    <a:solidFill>
                      <a:srgbClr val="1E293B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defRPr>
                </a:lvl2pPr>
                <a:lvl3pPr>
                  <a:defRPr sz="1600" b="0">
                    <a:solidFill>
                      <a:srgbClr val="1E293B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defRPr>
                </a:lvl3pPr>
                <a:lvl4pPr>
                  <a:defRPr sz="1600" b="0">
                    <a:solidFill>
                      <a:srgbClr val="1E293B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defRPr>
                </a:lvl4pPr>
                <a:lvl5pPr>
                  <a:defRPr sz="1600" b="0">
                    <a:solidFill>
                      <a:srgbClr val="1E293B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defRPr>
                </a:lvl5pPr>
                <a:lvl6pPr>
                  <a:defRPr sz="1600" b="0">
                    <a:solidFill>
                      <a:srgbClr val="1E293B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defRPr>
                </a:lvl6pPr>
                <a:lvl7pPr>
                  <a:defRPr sz="1600" b="0">
                    <a:solidFill>
                      <a:srgbClr val="1E293B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defRPr>
                </a:lvl7pPr>
                <a:lvl8pPr>
                  <a:defRPr sz="1600" b="0">
                    <a:solidFill>
                      <a:srgbClr val="1E293B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defRPr>
                </a:lvl8pPr>
                <a:lvl9pPr>
                  <a:defRPr sz="1600" b="0">
                    <a:solidFill>
                      <a:srgbClr val="1E293B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defRPr>
                </a:lvl9pPr>
              </a:lstStyle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sz="1600" b="0" i="1">
                          <a:solidFill>
                            <a:srgbClr val="1E293B"/>
                          </a:solidFill>
                          <a:latin typeface="Cambria Math" panose="02040503050406030204"/>
                          <a:ea typeface="Cambria Math" panose="02040503050406030204"/>
                        </a:rPr>
                        <m:t>𝑇</m:t>
                      </m:r>
                      <m:d>
                        <m:dPr>
                          <m:ctrlPr>
                            <a:rPr sz="1600" b="0">
                              <a:solidFill>
                                <a:srgbClr val="1E293B"/>
                              </a:solidFill>
                              <a:latin typeface="Cambria Math" panose="02040503050406030204"/>
                              <a:ea typeface="微软雅黑" panose="020B0503020204020204" charset="-122"/>
                            </a:rPr>
                          </m:ctrlPr>
                        </m:dPr>
                        <m:e>
                          <m:r>
                            <a:rPr sz="1600" b="0" i="1">
                              <a:solidFill>
                                <a:srgbClr val="1E293B"/>
                              </a:solidFill>
                              <a:latin typeface="Cambria Math" panose="02040503050406030204"/>
                              <a:ea typeface="Cambria Math" panose="02040503050406030204"/>
                            </a:rPr>
                            <m:t>𝑛</m:t>
                          </m:r>
                        </m:e>
                      </m:d>
                      <m:r>
                        <a:rPr sz="1600" b="0" i="0">
                          <a:solidFill>
                            <a:srgbClr val="1E293B"/>
                          </a:solidFill>
                          <a:latin typeface="Cambria Math" panose="02040503050406030204"/>
                          <a:ea typeface="Cambria Math" panose="02040503050406030204"/>
                        </a:rPr>
                        <m:t>=</m:t>
                      </m:r>
                      <m:r>
                        <m:rPr>
                          <m:sty m:val="p"/>
                        </m:rPr>
                        <a:rPr sz="1600" b="0" i="0">
                          <a:solidFill>
                            <a:srgbClr val="1E293B"/>
                          </a:solidFill>
                          <a:latin typeface="Cambria Math" panose="02040503050406030204"/>
                          <a:ea typeface="Cambria Math" panose="02040503050406030204"/>
                        </a:rPr>
                        <m:t>Θ</m:t>
                      </m:r>
                      <m:d>
                        <m:dPr>
                          <m:ctrlPr>
                            <a:rPr sz="1600" b="0">
                              <a:solidFill>
                                <a:srgbClr val="1E293B"/>
                              </a:solidFill>
                              <a:latin typeface="Cambria Math" panose="02040503050406030204"/>
                              <a:ea typeface="微软雅黑" panose="020B0503020204020204" charset="-122"/>
                            </a:rPr>
                          </m:ctrlPr>
                        </m:dPr>
                        <m:e>
                          <m:r>
                            <a:rPr sz="1600" b="0" i="0">
                              <a:solidFill>
                                <a:srgbClr val="1E293B"/>
                              </a:solidFill>
                              <a:latin typeface="Cambria Math" panose="02040503050406030204"/>
                              <a:ea typeface="Cambria Math" panose="02040503050406030204"/>
                            </a:rPr>
                            <m:t>1</m:t>
                          </m:r>
                        </m:e>
                      </m:d>
                      <m:r>
                        <a:rPr sz="1600" b="0" i="0">
                          <a:solidFill>
                            <a:srgbClr val="1E293B"/>
                          </a:solidFill>
                          <a:latin typeface="Cambria Math" panose="02040503050406030204"/>
                          <a:ea typeface="Cambria Math" panose="02040503050406030204"/>
                        </a:rPr>
                        <m:t>+</m:t>
                      </m:r>
                      <m:sSub>
                        <m:sSubPr>
                          <m:ctrlPr>
                            <a:rPr sz="1600" b="0">
                              <a:solidFill>
                                <a:srgbClr val="1E293B"/>
                              </a:solidFill>
                              <a:latin typeface="Cambria Math" panose="02040503050406030204"/>
                              <a:ea typeface="微软雅黑" panose="020B0503020204020204" charset="-122"/>
                            </a:rPr>
                          </m:ctrlPr>
                        </m:sSubPr>
                        <m:e>
                          <m:r>
                            <a:rPr sz="1600" b="0" i="1">
                              <a:solidFill>
                                <a:srgbClr val="1E293B"/>
                              </a:solidFill>
                              <a:latin typeface="Cambria Math" panose="02040503050406030204"/>
                              <a:ea typeface="Cambria Math" panose="02040503050406030204"/>
                            </a:rPr>
                            <m:t>𝐻</m:t>
                          </m:r>
                        </m:e>
                        <m:sub>
                          <m:r>
                            <a:rPr sz="1600" b="0" i="1">
                              <a:solidFill>
                                <a:srgbClr val="1E293B"/>
                              </a:solidFill>
                              <a:latin typeface="Cambria Math" panose="02040503050406030204"/>
                              <a:ea typeface="Cambria Math" panose="02040503050406030204"/>
                            </a:rPr>
                            <m:t>𝑛</m:t>
                          </m:r>
                        </m:sub>
                      </m:sSub>
                      <m:r>
                        <a:rPr sz="1600" b="0" i="0">
                          <a:solidFill>
                            <a:srgbClr val="1E293B"/>
                          </a:solidFill>
                          <a:latin typeface="Cambria Math" panose="02040503050406030204"/>
                          <a:ea typeface="Cambria Math" panose="02040503050406030204"/>
                        </a:rPr>
                        <m:t>−</m:t>
                      </m:r>
                      <m:r>
                        <a:rPr sz="1600" b="0" i="0">
                          <a:solidFill>
                            <a:srgbClr val="1E293B"/>
                          </a:solidFill>
                          <a:latin typeface="Cambria Math" panose="02040503050406030204"/>
                          <a:ea typeface="Cambria Math" panose="02040503050406030204"/>
                        </a:rPr>
                        <m:t>1</m:t>
                      </m:r>
                      <m:r>
                        <a:rPr sz="1600" b="0" i="0">
                          <a:solidFill>
                            <a:srgbClr val="1E293B"/>
                          </a:solidFill>
                          <a:latin typeface="Cambria Math" panose="02040503050406030204"/>
                          <a:ea typeface="Cambria Math" panose="02040503050406030204"/>
                        </a:rPr>
                        <m:t>=</m:t>
                      </m:r>
                      <m:r>
                        <m:rPr>
                          <m:sty m:val="p"/>
                        </m:rPr>
                        <a:rPr sz="1600" b="0" i="0">
                          <a:solidFill>
                            <a:srgbClr val="1E293B"/>
                          </a:solidFill>
                          <a:latin typeface="Cambria Math" panose="02040503050406030204"/>
                          <a:ea typeface="Cambria Math" panose="02040503050406030204"/>
                        </a:rPr>
                        <m:t>Θ</m:t>
                      </m:r>
                      <m:d>
                        <m:dPr>
                          <m:ctrlPr>
                            <a:rPr sz="1600" b="0">
                              <a:solidFill>
                                <a:srgbClr val="1E293B"/>
                              </a:solidFill>
                              <a:latin typeface="Cambria Math" panose="02040503050406030204"/>
                              <a:ea typeface="微软雅黑" panose="020B0503020204020204" charset="-122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sz="1600" b="0" i="0">
                              <a:solidFill>
                                <a:srgbClr val="1E293B"/>
                              </a:solidFill>
                              <a:latin typeface="Cambria Math" panose="02040503050406030204"/>
                              <a:ea typeface="Cambria Math" panose="02040503050406030204"/>
                            </a:rPr>
                            <m:t>lg</m:t>
                          </m:r>
                          <m:r>
                            <a:rPr sz="1600" b="0" i="1">
                              <a:solidFill>
                                <a:srgbClr val="1E293B"/>
                              </a:solidFill>
                              <a:latin typeface="Cambria Math" panose="02040503050406030204"/>
                              <a:ea typeface="Cambria Math" panose="02040503050406030204"/>
                            </a:rPr>
                            <m:t>𝑛</m:t>
                          </m:r>
                        </m:e>
                      </m:d>
                    </m:oMath>
                  </m:oMathPara>
                </a14:m>
                <a:endParaRPr sz="1600"/>
              </a:p>
            </p:txBody>
          </p:sp>
        </mc:Choice>
        <mc:Fallback>
          <p:sp>
            <p:nvSpPr>
              <p:cNvPr id="22" name="eq_g_3_0" descr="LaTeX: T(n)=\Theta(1)+H_n-1=\Theta(\lg n)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77995" y="4966970"/>
                <a:ext cx="6810375" cy="419100"/>
              </a:xfrm>
              <a:prstGeom prst="rect">
                <a:avLst/>
              </a:prstGeom>
              <a:blipFill rotWithShape="1">
                <a:blip r:embed="rId6"/>
                <a:stretch>
                  <a:fillRect/>
                </a:stretch>
              </a:blipFill>
              <a:ln w="0"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3" name="eq_g_result" descr="LaTeX: T(n)=\Theta(\lg n)"/>
              <p:cNvSpPr>
                <a:spLocks noGrp="1"/>
              </p:cNvSpPr>
              <p:nvPr/>
            </p:nvSpPr>
            <p:spPr>
              <a:xfrm>
                <a:off x="4333875" y="5743575"/>
                <a:ext cx="6810375" cy="409575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lIns="0" tIns="0" rIns="0" bIns="0" anchor="t"/>
              <a:lstStyle>
                <a:defPPr>
                  <a:defRPr sz="1700" b="1">
                    <a:solidFill>
                      <a:srgbClr val="2563EB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defRPr>
                </a:defPPr>
                <a:lvl1pPr>
                  <a:defRPr sz="1700" b="1">
                    <a:solidFill>
                      <a:srgbClr val="2563EB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defRPr>
                </a:lvl1pPr>
                <a:lvl2pPr>
                  <a:defRPr sz="1700" b="1">
                    <a:solidFill>
                      <a:srgbClr val="2563EB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defRPr>
                </a:lvl2pPr>
                <a:lvl3pPr>
                  <a:defRPr sz="1700" b="1">
                    <a:solidFill>
                      <a:srgbClr val="2563EB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defRPr>
                </a:lvl3pPr>
                <a:lvl4pPr>
                  <a:defRPr sz="1700" b="1">
                    <a:solidFill>
                      <a:srgbClr val="2563EB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defRPr>
                </a:lvl4pPr>
                <a:lvl5pPr>
                  <a:defRPr sz="1700" b="1">
                    <a:solidFill>
                      <a:srgbClr val="2563EB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defRPr>
                </a:lvl5pPr>
                <a:lvl6pPr>
                  <a:defRPr sz="1700" b="1">
                    <a:solidFill>
                      <a:srgbClr val="2563EB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defRPr>
                </a:lvl6pPr>
                <a:lvl7pPr>
                  <a:defRPr sz="1700" b="1">
                    <a:solidFill>
                      <a:srgbClr val="2563EB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defRPr>
                </a:lvl7pPr>
                <a:lvl8pPr>
                  <a:defRPr sz="1700" b="1">
                    <a:solidFill>
                      <a:srgbClr val="2563EB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defRPr>
                </a:lvl8pPr>
                <a:lvl9pPr>
                  <a:defRPr sz="1700" b="1">
                    <a:solidFill>
                      <a:srgbClr val="2563EB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defRPr>
                </a:lvl9pPr>
              </a:lstStyle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sz="1700" b="1" i="1">
                          <a:solidFill>
                            <a:srgbClr val="2563EB"/>
                          </a:solidFill>
                          <a:latin typeface="Cambria Math" panose="02040503050406030204"/>
                          <a:ea typeface="Cambria Math" panose="02040503050406030204"/>
                        </a:rPr>
                        <m:t>𝑇</m:t>
                      </m:r>
                      <m:d>
                        <m:dPr>
                          <m:ctrlPr>
                            <a:rPr sz="1700" b="1">
                              <a:solidFill>
                                <a:srgbClr val="2563EB"/>
                              </a:solidFill>
                              <a:latin typeface="Cambria Math" panose="02040503050406030204"/>
                              <a:ea typeface="微软雅黑" panose="020B0503020204020204" charset="-122"/>
                            </a:rPr>
                          </m:ctrlPr>
                        </m:dPr>
                        <m:e>
                          <m:r>
                            <a:rPr sz="1700" b="1" i="1">
                              <a:solidFill>
                                <a:srgbClr val="2563EB"/>
                              </a:solidFill>
                              <a:latin typeface="Cambria Math" panose="02040503050406030204"/>
                              <a:ea typeface="Cambria Math" panose="02040503050406030204"/>
                            </a:rPr>
                            <m:t>𝑛</m:t>
                          </m:r>
                        </m:e>
                      </m:d>
                      <m:r>
                        <a:rPr sz="1700" b="1" i="0">
                          <a:solidFill>
                            <a:srgbClr val="2563EB"/>
                          </a:solidFill>
                          <a:latin typeface="Cambria Math" panose="02040503050406030204"/>
                          <a:ea typeface="Cambria Math" panose="02040503050406030204"/>
                        </a:rPr>
                        <m:t>=</m:t>
                      </m:r>
                      <m:r>
                        <m:rPr>
                          <m:sty m:val="p"/>
                        </m:rPr>
                        <a:rPr sz="1700" b="1" i="0">
                          <a:solidFill>
                            <a:srgbClr val="2563EB"/>
                          </a:solidFill>
                          <a:latin typeface="Cambria Math" panose="02040503050406030204"/>
                          <a:ea typeface="Cambria Math" panose="02040503050406030204"/>
                        </a:rPr>
                        <m:t>Θ</m:t>
                      </m:r>
                      <m:d>
                        <m:dPr>
                          <m:ctrlPr>
                            <a:rPr sz="1700" b="1">
                              <a:solidFill>
                                <a:srgbClr val="2563EB"/>
                              </a:solidFill>
                              <a:latin typeface="Cambria Math" panose="02040503050406030204"/>
                              <a:ea typeface="微软雅黑" panose="020B0503020204020204" charset="-122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sz="1700" b="1" i="0">
                              <a:solidFill>
                                <a:srgbClr val="2563EB"/>
                              </a:solidFill>
                              <a:latin typeface="Cambria Math" panose="02040503050406030204"/>
                              <a:ea typeface="Cambria Math" panose="02040503050406030204"/>
                            </a:rPr>
                            <m:t>lg</m:t>
                          </m:r>
                          <m:r>
                            <a:rPr sz="1700" b="1" i="1">
                              <a:solidFill>
                                <a:srgbClr val="2563EB"/>
                              </a:solidFill>
                              <a:latin typeface="Cambria Math" panose="02040503050406030204"/>
                              <a:ea typeface="Cambria Math" panose="02040503050406030204"/>
                            </a:rPr>
                            <m:t>𝑛</m:t>
                          </m:r>
                        </m:e>
                      </m:d>
                    </m:oMath>
                  </m:oMathPara>
                </a14:m>
                <a:endParaRPr sz="1700"/>
              </a:p>
            </p:txBody>
          </p:sp>
        </mc:Choice>
        <mc:Fallback>
          <p:sp>
            <p:nvSpPr>
              <p:cNvPr id="23" name="eq_g_result" descr="LaTeX: T(n)=\Theta(\lg n)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33875" y="5743575"/>
                <a:ext cx="6810375" cy="409575"/>
              </a:xfrm>
              <a:prstGeom prst="rect">
                <a:avLst/>
              </a:prstGeom>
              <a:blipFill rotWithShape="1">
                <a:blip r:embed="rId7"/>
                <a:stretch>
                  <a:fillRect/>
                </a:stretch>
              </a:blipFill>
              <a:ln w="0"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" name="result_label_g"/>
          <p:cNvSpPr>
            <a:spLocks noGrp="1"/>
          </p:cNvSpPr>
          <p:nvPr/>
        </p:nvSpPr>
        <p:spPr>
          <a:xfrm>
            <a:off x="952500" y="5781675"/>
            <a:ext cx="3048000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>
              <a:defRPr sz="1600" b="1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>
              <a:defRPr sz="1600" b="1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>
              <a:defRPr sz="1600" b="1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>
              <a:defRPr sz="1600" b="1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>
              <a:defRPr sz="1600" b="1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>
              <a:defRPr sz="1600" b="1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>
              <a:defRPr sz="1600" b="1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>
              <a:defRPr sz="1600" b="1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>
              <a:defRPr sz="1600" b="1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>
              <a:defRPr sz="1600" b="1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>
              <a:defRPr sz="1600" b="1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00" b="1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紧确渐近界</a:t>
            </a:r>
            <a:endParaRPr sz="1600" b="1">
              <a:solidFill>
                <a:srgbClr val="2563E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>
            <a:spLocks noGrp="1"/>
          </p:cNvSpPr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3" name="TextBox 2"/>
          <p:cNvSpPr>
            <a:spLocks noGrp="1"/>
          </p:cNvSpPr>
          <p:nvPr/>
        </p:nvSpPr>
        <p:spPr>
          <a:xfrm>
            <a:off x="502920" y="292608"/>
            <a:ext cx="10881360" cy="512064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>
            <a:defPPr>
              <a:defRPr sz="2400"/>
            </a:defPPr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algn="l">
              <a:spcAft>
                <a:spcPts val="500"/>
              </a:spcAft>
              <a:buNone/>
            </a:pPr>
            <a:r>
              <a:rPr sz="2400" b="1" i="0">
                <a:solidFill>
                  <a:srgbClr val="1725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题目解析（h）</a:t>
            </a:r>
            <a:endParaRPr sz="2400" b="1" i="0">
              <a:solidFill>
                <a:srgbClr val="17255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TextBox 3"/>
          <p:cNvSpPr>
            <a:spLocks noGrp="1"/>
          </p:cNvSpPr>
          <p:nvPr/>
        </p:nvSpPr>
        <p:spPr>
          <a:xfrm>
            <a:off x="530352" y="804672"/>
            <a:ext cx="10972800" cy="329184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>
            <a:defPPr>
              <a:defRPr sz="1200"/>
            </a:defPPr>
            <a:lvl1pPr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algn="l">
              <a:spcAft>
                <a:spcPts val="500"/>
              </a:spcAft>
              <a:buNone/>
            </a:pPr>
            <a:r>
              <a:rPr sz="1200" b="0" i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递推展开与对数求和：用求和的上下界证明结果</a:t>
            </a:r>
            <a:endParaRPr sz="1200" b="0" i="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TextBox 4"/>
          <p:cNvSpPr>
            <a:spLocks noGrp="1"/>
          </p:cNvSpPr>
          <p:nvPr/>
        </p:nvSpPr>
        <p:spPr>
          <a:xfrm>
            <a:off x="9555480" y="6510528"/>
            <a:ext cx="2103120" cy="18288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r">
              <a:spcAft>
                <a:spcPts val="500"/>
              </a:spcAft>
              <a:buNone/>
            </a:pPr>
            <a:r>
              <a:rPr sz="900" b="0" i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递推式与渐近分析</a:t>
            </a:r>
            <a:endParaRPr sz="900" b="0" i="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extBox 5"/>
          <p:cNvSpPr>
            <a:spLocks noGrp="1"/>
          </p:cNvSpPr>
          <p:nvPr/>
        </p:nvSpPr>
        <p:spPr>
          <a:xfrm>
            <a:off x="502920" y="6510528"/>
            <a:ext cx="1371600" cy="283464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500"/>
              </a:spcAft>
              <a:buNone/>
            </a:pPr>
            <a:r>
              <a:rPr sz="900" b="0" i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算法设计 · 13</a:t>
            </a:r>
            <a:endParaRPr sz="900" b="0" i="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Rounded Rectangle 6"/>
          <p:cNvSpPr>
            <a:spLocks noGrp="1"/>
          </p:cNvSpPr>
          <p:nvPr/>
        </p:nvSpPr>
        <p:spPr>
          <a:xfrm>
            <a:off x="640080" y="1280160"/>
            <a:ext cx="10927080" cy="49149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8" name="Rectangle 7"/>
          <p:cNvSpPr>
            <a:spLocks noGrp="1"/>
          </p:cNvSpPr>
          <p:nvPr/>
        </p:nvSpPr>
        <p:spPr>
          <a:xfrm>
            <a:off x="640080" y="1280160"/>
            <a:ext cx="73152" cy="4914900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eq_h_recurrence" descr="LaTeX: T(n)=T(n-1)+\lg n"/>
              <p:cNvSpPr>
                <a:spLocks noGrp="1"/>
              </p:cNvSpPr>
              <p:nvPr/>
            </p:nvSpPr>
            <p:spPr>
              <a:xfrm>
                <a:off x="952500" y="1457325"/>
                <a:ext cx="10287000" cy="552450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lIns="0" tIns="0" rIns="0" bIns="0" anchor="t"/>
              <a:lstStyle>
                <a:defPPr>
                  <a:defRPr sz="1700" b="1">
                    <a:solidFill>
                      <a:srgbClr val="2563EB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defRPr>
                </a:defPPr>
                <a:lvl1pPr>
                  <a:defRPr sz="1700" b="1">
                    <a:solidFill>
                      <a:srgbClr val="2563EB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defRPr>
                </a:lvl1pPr>
                <a:lvl2pPr>
                  <a:defRPr sz="1700" b="1">
                    <a:solidFill>
                      <a:srgbClr val="2563EB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defRPr>
                </a:lvl2pPr>
                <a:lvl3pPr>
                  <a:defRPr sz="1700" b="1">
                    <a:solidFill>
                      <a:srgbClr val="2563EB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defRPr>
                </a:lvl3pPr>
                <a:lvl4pPr>
                  <a:defRPr sz="1700" b="1">
                    <a:solidFill>
                      <a:srgbClr val="2563EB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defRPr>
                </a:lvl4pPr>
                <a:lvl5pPr>
                  <a:defRPr sz="1700" b="1">
                    <a:solidFill>
                      <a:srgbClr val="2563EB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defRPr>
                </a:lvl5pPr>
                <a:lvl6pPr>
                  <a:defRPr sz="1700" b="1">
                    <a:solidFill>
                      <a:srgbClr val="2563EB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defRPr>
                </a:lvl6pPr>
                <a:lvl7pPr>
                  <a:defRPr sz="1700" b="1">
                    <a:solidFill>
                      <a:srgbClr val="2563EB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defRPr>
                </a:lvl7pPr>
                <a:lvl8pPr>
                  <a:defRPr sz="1700" b="1">
                    <a:solidFill>
                      <a:srgbClr val="2563EB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defRPr>
                </a:lvl8pPr>
                <a:lvl9pPr>
                  <a:defRPr sz="1700" b="1">
                    <a:solidFill>
                      <a:srgbClr val="2563EB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defRPr>
                </a:lvl9pPr>
              </a:lstStyle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sz="1700" b="1" i="1">
                          <a:solidFill>
                            <a:srgbClr val="2563EB"/>
                          </a:solidFill>
                          <a:latin typeface="Cambria Math" panose="02040503050406030204"/>
                          <a:ea typeface="Cambria Math" panose="02040503050406030204"/>
                        </a:rPr>
                        <m:t>𝑇</m:t>
                      </m:r>
                      <m:d>
                        <m:dPr>
                          <m:ctrlPr>
                            <a:rPr sz="1700" b="1">
                              <a:solidFill>
                                <a:srgbClr val="2563EB"/>
                              </a:solidFill>
                              <a:latin typeface="Cambria Math" panose="02040503050406030204"/>
                              <a:ea typeface="微软雅黑" panose="020B0503020204020204" charset="-122"/>
                            </a:rPr>
                          </m:ctrlPr>
                        </m:dPr>
                        <m:e>
                          <m:r>
                            <a:rPr sz="1700" b="1" i="1">
                              <a:solidFill>
                                <a:srgbClr val="2563EB"/>
                              </a:solidFill>
                              <a:latin typeface="Cambria Math" panose="02040503050406030204"/>
                              <a:ea typeface="Cambria Math" panose="02040503050406030204"/>
                            </a:rPr>
                            <m:t>𝑛</m:t>
                          </m:r>
                        </m:e>
                      </m:d>
                      <m:r>
                        <a:rPr sz="1700" b="1" i="0">
                          <a:solidFill>
                            <a:srgbClr val="2563EB"/>
                          </a:solidFill>
                          <a:latin typeface="Cambria Math" panose="02040503050406030204"/>
                          <a:ea typeface="Cambria Math" panose="02040503050406030204"/>
                        </a:rPr>
                        <m:t>=</m:t>
                      </m:r>
                      <m:r>
                        <a:rPr sz="1700" b="1" i="1">
                          <a:solidFill>
                            <a:srgbClr val="2563EB"/>
                          </a:solidFill>
                          <a:latin typeface="Cambria Math" panose="02040503050406030204"/>
                          <a:ea typeface="Cambria Math" panose="02040503050406030204"/>
                        </a:rPr>
                        <m:t>𝑇</m:t>
                      </m:r>
                      <m:d>
                        <m:dPr>
                          <m:ctrlPr>
                            <a:rPr sz="1700" b="1">
                              <a:solidFill>
                                <a:srgbClr val="2563EB"/>
                              </a:solidFill>
                              <a:latin typeface="Cambria Math" panose="02040503050406030204"/>
                              <a:ea typeface="微软雅黑" panose="020B0503020204020204" charset="-122"/>
                            </a:rPr>
                          </m:ctrlPr>
                        </m:dPr>
                        <m:e>
                          <m:r>
                            <a:rPr sz="1700" b="1" i="1">
                              <a:solidFill>
                                <a:srgbClr val="2563EB"/>
                              </a:solidFill>
                              <a:latin typeface="Cambria Math" panose="02040503050406030204"/>
                              <a:ea typeface="Cambria Math" panose="02040503050406030204"/>
                            </a:rPr>
                            <m:t>𝑛</m:t>
                          </m:r>
                          <m:r>
                            <a:rPr sz="1700" b="1" i="0">
                              <a:solidFill>
                                <a:srgbClr val="2563EB"/>
                              </a:solidFill>
                              <a:latin typeface="Cambria Math" panose="02040503050406030204"/>
                              <a:ea typeface="Cambria Math" panose="02040503050406030204"/>
                            </a:rPr>
                            <m:t>−</m:t>
                          </m:r>
                          <m:r>
                            <a:rPr sz="1700" b="1" i="0">
                              <a:solidFill>
                                <a:srgbClr val="2563EB"/>
                              </a:solidFill>
                              <a:latin typeface="Cambria Math" panose="02040503050406030204"/>
                              <a:ea typeface="Cambria Math" panose="02040503050406030204"/>
                            </a:rPr>
                            <m:t>1</m:t>
                          </m:r>
                        </m:e>
                      </m:d>
                      <m:r>
                        <a:rPr sz="1700" b="1" i="0">
                          <a:solidFill>
                            <a:srgbClr val="2563EB"/>
                          </a:solidFill>
                          <a:latin typeface="Cambria Math" panose="02040503050406030204"/>
                          <a:ea typeface="Cambria Math" panose="02040503050406030204"/>
                        </a:rPr>
                        <m:t>+</m:t>
                      </m:r>
                      <m:r>
                        <m:rPr>
                          <m:sty m:val="p"/>
                        </m:rPr>
                        <a:rPr sz="1700" b="1" i="0">
                          <a:solidFill>
                            <a:srgbClr val="2563EB"/>
                          </a:solidFill>
                          <a:latin typeface="Cambria Math" panose="02040503050406030204"/>
                          <a:ea typeface="Cambria Math" panose="02040503050406030204"/>
                        </a:rPr>
                        <m:t>lg</m:t>
                      </m:r>
                      <m:r>
                        <a:rPr sz="1700" b="1" i="1">
                          <a:solidFill>
                            <a:srgbClr val="2563EB"/>
                          </a:solidFill>
                          <a:latin typeface="Cambria Math" panose="02040503050406030204"/>
                          <a:ea typeface="Cambria Math" panose="02040503050406030204"/>
                        </a:rPr>
                        <m:t>𝑛</m:t>
                      </m:r>
                    </m:oMath>
                  </m:oMathPara>
                </a14:m>
                <a:endParaRPr sz="1700"/>
              </a:p>
            </p:txBody>
          </p:sp>
        </mc:Choice>
        <mc:Fallback>
          <p:sp>
            <p:nvSpPr>
              <p:cNvPr id="9" name="eq_h_recurrence" descr="LaTeX: T(n)=T(n-1)+\lg n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2500" y="1457325"/>
                <a:ext cx="10287000" cy="552450"/>
              </a:xfrm>
              <a:prstGeom prst="rect">
                <a:avLst/>
              </a:prstGeom>
              <a:blipFill rotWithShape="1">
                <a:blip r:embed="rId1"/>
                <a:stretch>
                  <a:fillRect/>
                </a:stretch>
              </a:blipFill>
              <a:ln w="0"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step_h_0"/>
          <p:cNvSpPr>
            <a:spLocks noGrp="1"/>
          </p:cNvSpPr>
          <p:nvPr/>
        </p:nvSpPr>
        <p:spPr>
          <a:xfrm>
            <a:off x="952500" y="2143125"/>
            <a:ext cx="3048000" cy="2762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>
              <a:defRPr sz="1600" b="1">
                <a:solidFill>
                  <a:srgbClr val="1725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>
              <a:defRPr sz="1600" b="1">
                <a:solidFill>
                  <a:srgbClr val="1725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>
              <a:defRPr sz="1600" b="1">
                <a:solidFill>
                  <a:srgbClr val="1725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>
              <a:defRPr sz="1600" b="1">
                <a:solidFill>
                  <a:srgbClr val="1725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>
              <a:defRPr sz="1600" b="1">
                <a:solidFill>
                  <a:srgbClr val="1725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>
              <a:defRPr sz="1600" b="1">
                <a:solidFill>
                  <a:srgbClr val="1725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>
              <a:defRPr sz="1600" b="1">
                <a:solidFill>
                  <a:srgbClr val="1725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>
              <a:defRPr sz="1600" b="1">
                <a:solidFill>
                  <a:srgbClr val="1725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>
              <a:defRPr sz="1600" b="1">
                <a:solidFill>
                  <a:srgbClr val="1725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>
              <a:defRPr sz="1600" b="1">
                <a:solidFill>
                  <a:srgbClr val="1725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>
              <a:defRPr sz="1600" b="1">
                <a:solidFill>
                  <a:srgbClr val="1725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00" b="1">
                <a:solidFill>
                  <a:srgbClr val="1725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  展开递推式</a:t>
            </a:r>
            <a:endParaRPr sz="1600" b="1">
              <a:solidFill>
                <a:srgbClr val="17255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note_h_0"/>
          <p:cNvSpPr>
            <a:spLocks noGrp="1"/>
          </p:cNvSpPr>
          <p:nvPr/>
        </p:nvSpPr>
        <p:spPr>
          <a:xfrm>
            <a:off x="952500" y="2447925"/>
            <a:ext cx="3086100" cy="5238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>
              <a:defRPr sz="1300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>
              <a:defRPr sz="1300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>
              <a:defRPr sz="1300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>
              <a:defRPr sz="1300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>
              <a:defRPr sz="1300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>
              <a:defRPr sz="1300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>
              <a:defRPr sz="1300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>
              <a:defRPr sz="1300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>
              <a:defRPr sz="1300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>
              <a:defRPr sz="1300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>
              <a:defRPr sz="1300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00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每一步增加当前规模的对数。</a:t>
            </a:r>
            <a:endParaRPr sz="1300" b="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2" name="eq_h_0_0" descr="LaTeX: T(n)=T(1)+\sum_{k=2}^{n}\lg k"/>
              <p:cNvSpPr>
                <a:spLocks noGrp="1"/>
              </p:cNvSpPr>
              <p:nvPr/>
            </p:nvSpPr>
            <p:spPr>
              <a:xfrm>
                <a:off x="4333875" y="1974215"/>
                <a:ext cx="6810375" cy="419100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lIns="0" tIns="0" rIns="0" bIns="0" anchor="t"/>
              <a:lstStyle>
                <a:defPPr>
                  <a:defRPr sz="1600" b="0">
                    <a:solidFill>
                      <a:srgbClr val="1E293B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defRPr>
                </a:defPPr>
                <a:lvl1pPr>
                  <a:defRPr sz="1600" b="0">
                    <a:solidFill>
                      <a:srgbClr val="1E293B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defRPr>
                </a:lvl1pPr>
                <a:lvl2pPr>
                  <a:defRPr sz="1600" b="0">
                    <a:solidFill>
                      <a:srgbClr val="1E293B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defRPr>
                </a:lvl2pPr>
                <a:lvl3pPr>
                  <a:defRPr sz="1600" b="0">
                    <a:solidFill>
                      <a:srgbClr val="1E293B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defRPr>
                </a:lvl3pPr>
                <a:lvl4pPr>
                  <a:defRPr sz="1600" b="0">
                    <a:solidFill>
                      <a:srgbClr val="1E293B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defRPr>
                </a:lvl4pPr>
                <a:lvl5pPr>
                  <a:defRPr sz="1600" b="0">
                    <a:solidFill>
                      <a:srgbClr val="1E293B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defRPr>
                </a:lvl5pPr>
                <a:lvl6pPr>
                  <a:defRPr sz="1600" b="0">
                    <a:solidFill>
                      <a:srgbClr val="1E293B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defRPr>
                </a:lvl6pPr>
                <a:lvl7pPr>
                  <a:defRPr sz="1600" b="0">
                    <a:solidFill>
                      <a:srgbClr val="1E293B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defRPr>
                </a:lvl7pPr>
                <a:lvl8pPr>
                  <a:defRPr sz="1600" b="0">
                    <a:solidFill>
                      <a:srgbClr val="1E293B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defRPr>
                </a:lvl8pPr>
                <a:lvl9pPr>
                  <a:defRPr sz="1600" b="0">
                    <a:solidFill>
                      <a:srgbClr val="1E293B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defRPr>
                </a:lvl9pPr>
              </a:lstStyle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sz="1600" b="0" i="1">
                          <a:solidFill>
                            <a:srgbClr val="1E293B"/>
                          </a:solidFill>
                          <a:latin typeface="Cambria Math" panose="02040503050406030204"/>
                          <a:ea typeface="Cambria Math" panose="02040503050406030204"/>
                        </a:rPr>
                        <m:t>𝑇</m:t>
                      </m:r>
                      <m:d>
                        <m:dPr>
                          <m:ctrlPr>
                            <a:rPr sz="1600" b="0">
                              <a:solidFill>
                                <a:srgbClr val="1E293B"/>
                              </a:solidFill>
                              <a:latin typeface="Cambria Math" panose="02040503050406030204"/>
                              <a:ea typeface="微软雅黑" panose="020B0503020204020204" charset="-122"/>
                            </a:rPr>
                          </m:ctrlPr>
                        </m:dPr>
                        <m:e>
                          <m:r>
                            <a:rPr sz="1600" b="0" i="1">
                              <a:solidFill>
                                <a:srgbClr val="1E293B"/>
                              </a:solidFill>
                              <a:latin typeface="Cambria Math" panose="02040503050406030204"/>
                              <a:ea typeface="Cambria Math" panose="02040503050406030204"/>
                            </a:rPr>
                            <m:t>𝑛</m:t>
                          </m:r>
                        </m:e>
                      </m:d>
                      <m:r>
                        <a:rPr sz="1600" b="0" i="0">
                          <a:solidFill>
                            <a:srgbClr val="1E293B"/>
                          </a:solidFill>
                          <a:latin typeface="Cambria Math" panose="02040503050406030204"/>
                          <a:ea typeface="Cambria Math" panose="02040503050406030204"/>
                        </a:rPr>
                        <m:t>=</m:t>
                      </m:r>
                      <m:r>
                        <a:rPr sz="1600" b="0" i="1">
                          <a:solidFill>
                            <a:srgbClr val="1E293B"/>
                          </a:solidFill>
                          <a:latin typeface="Cambria Math" panose="02040503050406030204"/>
                          <a:ea typeface="Cambria Math" panose="02040503050406030204"/>
                        </a:rPr>
                        <m:t>𝑇</m:t>
                      </m:r>
                      <m:d>
                        <m:dPr>
                          <m:ctrlPr>
                            <a:rPr sz="1600" b="0">
                              <a:solidFill>
                                <a:srgbClr val="1E293B"/>
                              </a:solidFill>
                              <a:latin typeface="Cambria Math" panose="02040503050406030204"/>
                              <a:ea typeface="微软雅黑" panose="020B0503020204020204" charset="-122"/>
                            </a:rPr>
                          </m:ctrlPr>
                        </m:dPr>
                        <m:e>
                          <m:r>
                            <a:rPr sz="1600" b="0" i="0">
                              <a:solidFill>
                                <a:srgbClr val="1E293B"/>
                              </a:solidFill>
                              <a:latin typeface="Cambria Math" panose="02040503050406030204"/>
                              <a:ea typeface="Cambria Math" panose="02040503050406030204"/>
                            </a:rPr>
                            <m:t>1</m:t>
                          </m:r>
                        </m:e>
                      </m:d>
                      <m:r>
                        <a:rPr sz="1600" b="0" i="0">
                          <a:solidFill>
                            <a:srgbClr val="1E293B"/>
                          </a:solidFill>
                          <a:latin typeface="Cambria Math" panose="02040503050406030204"/>
                          <a:ea typeface="Cambria Math" panose="02040503050406030204"/>
                        </a:rPr>
                        <m:t>+</m:t>
                      </m:r>
                      <m:nary>
                        <m:naryPr>
                          <m:chr m:val="∑"/>
                          <m:grow m:val="on"/>
                          <m:limLoc m:val="subSup"/>
                          <m:ctrlPr>
                            <a:rPr sz="1600" b="0">
                              <a:solidFill>
                                <a:srgbClr val="1E293B"/>
                              </a:solidFill>
                              <a:latin typeface="Cambria Math" panose="02040503050406030204"/>
                              <a:ea typeface="微软雅黑" panose="020B0503020204020204" charset="-122"/>
                            </a:rPr>
                          </m:ctrlPr>
                        </m:naryPr>
                        <m:sub>
                          <m:r>
                            <a:rPr sz="1600" b="0" i="1">
                              <a:solidFill>
                                <a:srgbClr val="1E293B"/>
                              </a:solidFill>
                              <a:latin typeface="Cambria Math" panose="02040503050406030204"/>
                              <a:ea typeface="Cambria Math" panose="02040503050406030204"/>
                            </a:rPr>
                            <m:t>𝑘</m:t>
                          </m:r>
                          <m:r>
                            <a:rPr sz="1600" b="0" i="0">
                              <a:solidFill>
                                <a:srgbClr val="1E293B"/>
                              </a:solidFill>
                              <a:latin typeface="Cambria Math" panose="02040503050406030204"/>
                              <a:ea typeface="Cambria Math" panose="02040503050406030204"/>
                            </a:rPr>
                            <m:t>=</m:t>
                          </m:r>
                          <m:r>
                            <a:rPr sz="1600" b="0" i="0">
                              <a:solidFill>
                                <a:srgbClr val="1E293B"/>
                              </a:solidFill>
                              <a:latin typeface="Cambria Math" panose="02040503050406030204"/>
                              <a:ea typeface="Cambria Math" panose="02040503050406030204"/>
                            </a:rPr>
                            <m:t>2</m:t>
                          </m:r>
                        </m:sub>
                        <m:sup>
                          <m:r>
                            <a:rPr sz="1600" b="0" i="1">
                              <a:solidFill>
                                <a:srgbClr val="1E293B"/>
                              </a:solidFill>
                              <a:latin typeface="Cambria Math" panose="02040503050406030204"/>
                              <a:ea typeface="Cambria Math" panose="02040503050406030204"/>
                            </a:rPr>
                            <m:t>𝑛</m:t>
                          </m:r>
                        </m:sup>
                        <m:e>
                          <m:r>
                            <m:rPr>
                              <m:sty m:val="p"/>
                            </m:rPr>
                            <a:rPr sz="1600" b="0" i="0">
                              <a:solidFill>
                                <a:srgbClr val="1E293B"/>
                              </a:solidFill>
                              <a:latin typeface="Cambria Math" panose="02040503050406030204"/>
                              <a:ea typeface="Cambria Math" panose="02040503050406030204"/>
                            </a:rPr>
                            <m:t>lg</m:t>
                          </m:r>
                        </m:e>
                      </m:nary>
                      <m:r>
                        <a:rPr sz="1600" b="0" i="1">
                          <a:solidFill>
                            <a:srgbClr val="1E293B"/>
                          </a:solidFill>
                          <a:latin typeface="Cambria Math" panose="02040503050406030204"/>
                          <a:ea typeface="Cambria Math" panose="02040503050406030204"/>
                        </a:rPr>
                        <m:t>𝑘</m:t>
                      </m:r>
                    </m:oMath>
                  </m:oMathPara>
                </a14:m>
                <a:endParaRPr sz="1600"/>
              </a:p>
            </p:txBody>
          </p:sp>
        </mc:Choice>
        <mc:Fallback>
          <p:sp>
            <p:nvSpPr>
              <p:cNvPr id="12" name="eq_h_0_0" descr="LaTeX: T(n)=T(1)+\sum_{k=2}^{n}\lg k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33875" y="1974215"/>
                <a:ext cx="6810375" cy="419100"/>
              </a:xfrm>
              <a:prstGeom prst="rect">
                <a:avLst/>
              </a:prstGeom>
              <a:blipFill rotWithShape="1">
                <a:blip r:embed="rId2"/>
                <a:stretch>
                  <a:fillRect b="-12273"/>
                </a:stretch>
              </a:blipFill>
              <a:ln w="0"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3" name="eq_h_0_1" descr="LaTeX: \sum_{k=2}^{n}\lg k=\lg(n!)"/>
              <p:cNvSpPr>
                <a:spLocks noGrp="1"/>
              </p:cNvSpPr>
              <p:nvPr/>
            </p:nvSpPr>
            <p:spPr>
              <a:xfrm>
                <a:off x="4333875" y="2543175"/>
                <a:ext cx="6810375" cy="419100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lIns="0" tIns="0" rIns="0" bIns="0" anchor="t"/>
              <a:lstStyle>
                <a:defPPr>
                  <a:defRPr sz="1600" b="0">
                    <a:solidFill>
                      <a:srgbClr val="1E293B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defRPr>
                </a:defPPr>
                <a:lvl1pPr>
                  <a:defRPr sz="1600" b="0">
                    <a:solidFill>
                      <a:srgbClr val="1E293B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defRPr>
                </a:lvl1pPr>
                <a:lvl2pPr>
                  <a:defRPr sz="1600" b="0">
                    <a:solidFill>
                      <a:srgbClr val="1E293B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defRPr>
                </a:lvl2pPr>
                <a:lvl3pPr>
                  <a:defRPr sz="1600" b="0">
                    <a:solidFill>
                      <a:srgbClr val="1E293B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defRPr>
                </a:lvl3pPr>
                <a:lvl4pPr>
                  <a:defRPr sz="1600" b="0">
                    <a:solidFill>
                      <a:srgbClr val="1E293B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defRPr>
                </a:lvl4pPr>
                <a:lvl5pPr>
                  <a:defRPr sz="1600" b="0">
                    <a:solidFill>
                      <a:srgbClr val="1E293B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defRPr>
                </a:lvl5pPr>
                <a:lvl6pPr>
                  <a:defRPr sz="1600" b="0">
                    <a:solidFill>
                      <a:srgbClr val="1E293B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defRPr>
                </a:lvl6pPr>
                <a:lvl7pPr>
                  <a:defRPr sz="1600" b="0">
                    <a:solidFill>
                      <a:srgbClr val="1E293B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defRPr>
                </a:lvl7pPr>
                <a:lvl8pPr>
                  <a:defRPr sz="1600" b="0">
                    <a:solidFill>
                      <a:srgbClr val="1E293B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defRPr>
                </a:lvl8pPr>
                <a:lvl9pPr>
                  <a:defRPr sz="1600" b="0">
                    <a:solidFill>
                      <a:srgbClr val="1E293B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defRPr>
                </a:lvl9pPr>
              </a:lstStyle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grow m:val="on"/>
                          <m:limLoc m:val="subSup"/>
                          <m:ctrlPr>
                            <a:rPr sz="1600" b="0">
                              <a:solidFill>
                                <a:srgbClr val="1E293B"/>
                              </a:solidFill>
                              <a:latin typeface="Cambria Math" panose="02040503050406030204"/>
                              <a:ea typeface="微软雅黑" panose="020B0503020204020204" charset="-122"/>
                            </a:rPr>
                          </m:ctrlPr>
                        </m:naryPr>
                        <m:sub>
                          <m:r>
                            <a:rPr sz="1600" b="0" i="1">
                              <a:solidFill>
                                <a:srgbClr val="1E293B"/>
                              </a:solidFill>
                              <a:latin typeface="Cambria Math" panose="02040503050406030204"/>
                              <a:ea typeface="Cambria Math" panose="02040503050406030204"/>
                            </a:rPr>
                            <m:t>𝑘</m:t>
                          </m:r>
                          <m:r>
                            <a:rPr sz="1600" b="0" i="0">
                              <a:solidFill>
                                <a:srgbClr val="1E293B"/>
                              </a:solidFill>
                              <a:latin typeface="Cambria Math" panose="02040503050406030204"/>
                              <a:ea typeface="Cambria Math" panose="02040503050406030204"/>
                            </a:rPr>
                            <m:t>=</m:t>
                          </m:r>
                          <m:r>
                            <a:rPr sz="1600" b="0" i="0">
                              <a:solidFill>
                                <a:srgbClr val="1E293B"/>
                              </a:solidFill>
                              <a:latin typeface="Cambria Math" panose="02040503050406030204"/>
                              <a:ea typeface="Cambria Math" panose="02040503050406030204"/>
                            </a:rPr>
                            <m:t>2</m:t>
                          </m:r>
                        </m:sub>
                        <m:sup>
                          <m:r>
                            <a:rPr sz="1600" b="0" i="1">
                              <a:solidFill>
                                <a:srgbClr val="1E293B"/>
                              </a:solidFill>
                              <a:latin typeface="Cambria Math" panose="02040503050406030204"/>
                              <a:ea typeface="Cambria Math" panose="02040503050406030204"/>
                            </a:rPr>
                            <m:t>𝑛</m:t>
                          </m:r>
                        </m:sup>
                        <m:e>
                          <m:r>
                            <m:rPr>
                              <m:sty m:val="p"/>
                            </m:rPr>
                            <a:rPr sz="1600" b="0" i="0">
                              <a:solidFill>
                                <a:srgbClr val="1E293B"/>
                              </a:solidFill>
                              <a:latin typeface="Cambria Math" panose="02040503050406030204"/>
                              <a:ea typeface="Cambria Math" panose="02040503050406030204"/>
                            </a:rPr>
                            <m:t>lg</m:t>
                          </m:r>
                        </m:e>
                      </m:nary>
                      <m:r>
                        <a:rPr sz="1600" b="0" i="1">
                          <a:solidFill>
                            <a:srgbClr val="1E293B"/>
                          </a:solidFill>
                          <a:latin typeface="Cambria Math" panose="02040503050406030204"/>
                          <a:ea typeface="Cambria Math" panose="02040503050406030204"/>
                        </a:rPr>
                        <m:t>𝑘</m:t>
                      </m:r>
                      <m:r>
                        <a:rPr sz="1600" b="0" i="0">
                          <a:solidFill>
                            <a:srgbClr val="1E293B"/>
                          </a:solidFill>
                          <a:latin typeface="Cambria Math" panose="02040503050406030204"/>
                          <a:ea typeface="Cambria Math" panose="02040503050406030204"/>
                        </a:rPr>
                        <m:t>=</m:t>
                      </m:r>
                      <m:r>
                        <m:rPr>
                          <m:sty m:val="p"/>
                        </m:rPr>
                        <a:rPr sz="1600" b="0" i="0">
                          <a:solidFill>
                            <a:srgbClr val="1E293B"/>
                          </a:solidFill>
                          <a:latin typeface="Cambria Math" panose="02040503050406030204"/>
                          <a:ea typeface="Cambria Math" panose="02040503050406030204"/>
                        </a:rPr>
                        <m:t>lg</m:t>
                      </m:r>
                      <m:d>
                        <m:dPr>
                          <m:ctrlPr>
                            <a:rPr sz="1600" b="0">
                              <a:solidFill>
                                <a:srgbClr val="1E293B"/>
                              </a:solidFill>
                              <a:latin typeface="Cambria Math" panose="02040503050406030204"/>
                              <a:ea typeface="微软雅黑" panose="020B0503020204020204" charset="-122"/>
                            </a:rPr>
                          </m:ctrlPr>
                        </m:dPr>
                        <m:e>
                          <m:r>
                            <a:rPr sz="1600" b="0" i="1">
                              <a:solidFill>
                                <a:srgbClr val="1E293B"/>
                              </a:solidFill>
                              <a:latin typeface="Cambria Math" panose="02040503050406030204"/>
                              <a:ea typeface="Cambria Math" panose="02040503050406030204"/>
                            </a:rPr>
                            <m:t>𝑛</m:t>
                          </m:r>
                          <m:r>
                            <a:rPr sz="1600" b="0" i="0">
                              <a:solidFill>
                                <a:srgbClr val="1E293B"/>
                              </a:solidFill>
                              <a:latin typeface="Cambria Math" panose="02040503050406030204"/>
                              <a:ea typeface="Cambria Math" panose="02040503050406030204"/>
                            </a:rPr>
                            <m:t>!</m:t>
                          </m:r>
                        </m:e>
                      </m:d>
                    </m:oMath>
                  </m:oMathPara>
                </a14:m>
                <a:endParaRPr sz="1600"/>
              </a:p>
            </p:txBody>
          </p:sp>
        </mc:Choice>
        <mc:Fallback>
          <p:sp>
            <p:nvSpPr>
              <p:cNvPr id="13" name="eq_h_0_1" descr="LaTeX: \sum_{k=2}^{n}\lg k=\lg(n!)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33875" y="2543175"/>
                <a:ext cx="6810375" cy="419100"/>
              </a:xfrm>
              <a:prstGeom prst="rect">
                <a:avLst/>
              </a:prstGeom>
              <a:blipFill rotWithShape="1">
                <a:blip r:embed="rId3"/>
                <a:stretch>
                  <a:fillRect b="-12273"/>
                </a:stretch>
              </a:blipFill>
              <a:ln w="0"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step_h_1"/>
          <p:cNvSpPr>
            <a:spLocks noGrp="1"/>
          </p:cNvSpPr>
          <p:nvPr/>
        </p:nvSpPr>
        <p:spPr>
          <a:xfrm>
            <a:off x="952500" y="3000375"/>
            <a:ext cx="3048000" cy="2762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>
              <a:defRPr sz="1600" b="1">
                <a:solidFill>
                  <a:srgbClr val="1725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>
              <a:defRPr sz="1600" b="1">
                <a:solidFill>
                  <a:srgbClr val="1725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>
              <a:defRPr sz="1600" b="1">
                <a:solidFill>
                  <a:srgbClr val="1725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>
              <a:defRPr sz="1600" b="1">
                <a:solidFill>
                  <a:srgbClr val="1725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>
              <a:defRPr sz="1600" b="1">
                <a:solidFill>
                  <a:srgbClr val="1725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>
              <a:defRPr sz="1600" b="1">
                <a:solidFill>
                  <a:srgbClr val="1725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>
              <a:defRPr sz="1600" b="1">
                <a:solidFill>
                  <a:srgbClr val="1725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>
              <a:defRPr sz="1600" b="1">
                <a:solidFill>
                  <a:srgbClr val="1725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>
              <a:defRPr sz="1600" b="1">
                <a:solidFill>
                  <a:srgbClr val="1725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>
              <a:defRPr sz="1600" b="1">
                <a:solidFill>
                  <a:srgbClr val="1725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>
              <a:defRPr sz="1600" b="1">
                <a:solidFill>
                  <a:srgbClr val="1725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00" b="1">
                <a:solidFill>
                  <a:srgbClr val="1725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  给出上界</a:t>
            </a:r>
            <a:endParaRPr sz="1600" b="1">
              <a:solidFill>
                <a:srgbClr val="17255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note_h_1"/>
          <p:cNvSpPr>
            <a:spLocks noGrp="1"/>
          </p:cNvSpPr>
          <p:nvPr/>
        </p:nvSpPr>
        <p:spPr>
          <a:xfrm>
            <a:off x="952500" y="3305175"/>
            <a:ext cx="3086100" cy="5238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>
              <a:defRPr sz="1300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>
              <a:defRPr sz="1300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>
              <a:defRPr sz="1300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>
              <a:defRPr sz="1300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>
              <a:defRPr sz="1300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>
              <a:defRPr sz="1300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>
              <a:defRPr sz="1300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>
              <a:defRPr sz="1300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>
              <a:defRPr sz="1300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>
              <a:defRPr sz="1300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>
              <a:defRPr sz="1300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00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每项至多为 lg n，项数少于 n。</a:t>
            </a:r>
            <a:endParaRPr sz="1300" b="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6" name="eq_h_1_0" descr="LaTeX: \sum_{k=2}^{n}\lg k\le n\lg n"/>
              <p:cNvSpPr>
                <a:spLocks noGrp="1"/>
              </p:cNvSpPr>
              <p:nvPr/>
            </p:nvSpPr>
            <p:spPr>
              <a:xfrm>
                <a:off x="4333875" y="3190875"/>
                <a:ext cx="6810375" cy="419100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lIns="0" tIns="0" rIns="0" bIns="0" anchor="t"/>
              <a:lstStyle>
                <a:defPPr>
                  <a:defRPr sz="1600" b="0">
                    <a:solidFill>
                      <a:srgbClr val="1E293B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defRPr>
                </a:defPPr>
                <a:lvl1pPr>
                  <a:defRPr sz="1600" b="0">
                    <a:solidFill>
                      <a:srgbClr val="1E293B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defRPr>
                </a:lvl1pPr>
                <a:lvl2pPr>
                  <a:defRPr sz="1600" b="0">
                    <a:solidFill>
                      <a:srgbClr val="1E293B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defRPr>
                </a:lvl2pPr>
                <a:lvl3pPr>
                  <a:defRPr sz="1600" b="0">
                    <a:solidFill>
                      <a:srgbClr val="1E293B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defRPr>
                </a:lvl3pPr>
                <a:lvl4pPr>
                  <a:defRPr sz="1600" b="0">
                    <a:solidFill>
                      <a:srgbClr val="1E293B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defRPr>
                </a:lvl4pPr>
                <a:lvl5pPr>
                  <a:defRPr sz="1600" b="0">
                    <a:solidFill>
                      <a:srgbClr val="1E293B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defRPr>
                </a:lvl5pPr>
                <a:lvl6pPr>
                  <a:defRPr sz="1600" b="0">
                    <a:solidFill>
                      <a:srgbClr val="1E293B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defRPr>
                </a:lvl6pPr>
                <a:lvl7pPr>
                  <a:defRPr sz="1600" b="0">
                    <a:solidFill>
                      <a:srgbClr val="1E293B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defRPr>
                </a:lvl7pPr>
                <a:lvl8pPr>
                  <a:defRPr sz="1600" b="0">
                    <a:solidFill>
                      <a:srgbClr val="1E293B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defRPr>
                </a:lvl8pPr>
                <a:lvl9pPr>
                  <a:defRPr sz="1600" b="0">
                    <a:solidFill>
                      <a:srgbClr val="1E293B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defRPr>
                </a:lvl9pPr>
              </a:lstStyle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grow m:val="on"/>
                          <m:limLoc m:val="subSup"/>
                          <m:ctrlPr>
                            <a:rPr sz="1600" b="0">
                              <a:solidFill>
                                <a:srgbClr val="1E293B"/>
                              </a:solidFill>
                              <a:latin typeface="Cambria Math" panose="02040503050406030204"/>
                              <a:ea typeface="微软雅黑" panose="020B0503020204020204" charset="-122"/>
                            </a:rPr>
                          </m:ctrlPr>
                        </m:naryPr>
                        <m:sub>
                          <m:r>
                            <a:rPr sz="1600" b="0" i="1">
                              <a:solidFill>
                                <a:srgbClr val="1E293B"/>
                              </a:solidFill>
                              <a:latin typeface="Cambria Math" panose="02040503050406030204"/>
                              <a:ea typeface="Cambria Math" panose="02040503050406030204"/>
                            </a:rPr>
                            <m:t>𝑘</m:t>
                          </m:r>
                          <m:r>
                            <a:rPr sz="1600" b="0" i="0">
                              <a:solidFill>
                                <a:srgbClr val="1E293B"/>
                              </a:solidFill>
                              <a:latin typeface="Cambria Math" panose="02040503050406030204"/>
                              <a:ea typeface="Cambria Math" panose="02040503050406030204"/>
                            </a:rPr>
                            <m:t>=</m:t>
                          </m:r>
                          <m:r>
                            <a:rPr sz="1600" b="0" i="0">
                              <a:solidFill>
                                <a:srgbClr val="1E293B"/>
                              </a:solidFill>
                              <a:latin typeface="Cambria Math" panose="02040503050406030204"/>
                              <a:ea typeface="Cambria Math" panose="02040503050406030204"/>
                            </a:rPr>
                            <m:t>2</m:t>
                          </m:r>
                        </m:sub>
                        <m:sup>
                          <m:r>
                            <a:rPr sz="1600" b="0" i="1">
                              <a:solidFill>
                                <a:srgbClr val="1E293B"/>
                              </a:solidFill>
                              <a:latin typeface="Cambria Math" panose="02040503050406030204"/>
                              <a:ea typeface="Cambria Math" panose="02040503050406030204"/>
                            </a:rPr>
                            <m:t>𝑛</m:t>
                          </m:r>
                        </m:sup>
                        <m:e>
                          <m:r>
                            <m:rPr>
                              <m:sty m:val="p"/>
                            </m:rPr>
                            <a:rPr sz="1600" b="0" i="0">
                              <a:solidFill>
                                <a:srgbClr val="1E293B"/>
                              </a:solidFill>
                              <a:latin typeface="Cambria Math" panose="02040503050406030204"/>
                              <a:ea typeface="Cambria Math" panose="02040503050406030204"/>
                            </a:rPr>
                            <m:t>lg</m:t>
                          </m:r>
                        </m:e>
                      </m:nary>
                      <m:r>
                        <a:rPr sz="1600" b="0" i="1">
                          <a:solidFill>
                            <a:srgbClr val="1E293B"/>
                          </a:solidFill>
                          <a:latin typeface="Cambria Math" panose="02040503050406030204"/>
                          <a:ea typeface="Cambria Math" panose="02040503050406030204"/>
                        </a:rPr>
                        <m:t>𝑘</m:t>
                      </m:r>
                      <m:r>
                        <a:rPr sz="1600" b="0" i="0">
                          <a:solidFill>
                            <a:srgbClr val="1E293B"/>
                          </a:solidFill>
                          <a:latin typeface="Cambria Math" panose="02040503050406030204"/>
                          <a:ea typeface="Cambria Math" panose="02040503050406030204"/>
                        </a:rPr>
                        <m:t>≤</m:t>
                      </m:r>
                      <m:r>
                        <a:rPr sz="1600" b="0" i="1">
                          <a:solidFill>
                            <a:srgbClr val="1E293B"/>
                          </a:solidFill>
                          <a:latin typeface="Cambria Math" panose="02040503050406030204"/>
                          <a:ea typeface="Cambria Math" panose="02040503050406030204"/>
                        </a:rPr>
                        <m:t>𝑛</m:t>
                      </m:r>
                      <m:r>
                        <m:rPr>
                          <m:sty m:val="p"/>
                        </m:rPr>
                        <a:rPr sz="1600" b="0" i="0">
                          <a:solidFill>
                            <a:srgbClr val="1E293B"/>
                          </a:solidFill>
                          <a:latin typeface="Cambria Math" panose="02040503050406030204"/>
                          <a:ea typeface="Cambria Math" panose="02040503050406030204"/>
                        </a:rPr>
                        <m:t>lg</m:t>
                      </m:r>
                      <m:r>
                        <a:rPr sz="1600" b="0" i="1">
                          <a:solidFill>
                            <a:srgbClr val="1E293B"/>
                          </a:solidFill>
                          <a:latin typeface="Cambria Math" panose="02040503050406030204"/>
                          <a:ea typeface="Cambria Math" panose="02040503050406030204"/>
                        </a:rPr>
                        <m:t>𝑛</m:t>
                      </m:r>
                    </m:oMath>
                  </m:oMathPara>
                </a14:m>
                <a:endParaRPr sz="1600"/>
              </a:p>
            </p:txBody>
          </p:sp>
        </mc:Choice>
        <mc:Fallback>
          <p:sp>
            <p:nvSpPr>
              <p:cNvPr id="16" name="eq_h_1_0" descr="LaTeX: \sum_{k=2}^{n}\lg k\le n\lg n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33875" y="3190875"/>
                <a:ext cx="6810375" cy="419100"/>
              </a:xfrm>
              <a:prstGeom prst="rect">
                <a:avLst/>
              </a:prstGeom>
              <a:blipFill rotWithShape="1">
                <a:blip r:embed="rId4"/>
                <a:stretch>
                  <a:fillRect b="-12273"/>
                </a:stretch>
              </a:blipFill>
              <a:ln w="0"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step_h_2"/>
          <p:cNvSpPr>
            <a:spLocks noGrp="1"/>
          </p:cNvSpPr>
          <p:nvPr/>
        </p:nvSpPr>
        <p:spPr>
          <a:xfrm>
            <a:off x="952500" y="3857625"/>
            <a:ext cx="3048000" cy="2762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>
              <a:defRPr sz="1600" b="1">
                <a:solidFill>
                  <a:srgbClr val="1725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>
              <a:defRPr sz="1600" b="1">
                <a:solidFill>
                  <a:srgbClr val="1725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>
              <a:defRPr sz="1600" b="1">
                <a:solidFill>
                  <a:srgbClr val="1725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>
              <a:defRPr sz="1600" b="1">
                <a:solidFill>
                  <a:srgbClr val="1725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>
              <a:defRPr sz="1600" b="1">
                <a:solidFill>
                  <a:srgbClr val="1725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>
              <a:defRPr sz="1600" b="1">
                <a:solidFill>
                  <a:srgbClr val="1725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>
              <a:defRPr sz="1600" b="1">
                <a:solidFill>
                  <a:srgbClr val="1725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>
              <a:defRPr sz="1600" b="1">
                <a:solidFill>
                  <a:srgbClr val="1725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>
              <a:defRPr sz="1600" b="1">
                <a:solidFill>
                  <a:srgbClr val="1725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>
              <a:defRPr sz="1600" b="1">
                <a:solidFill>
                  <a:srgbClr val="1725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>
              <a:defRPr sz="1600" b="1">
                <a:solidFill>
                  <a:srgbClr val="1725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00" b="1">
                <a:solidFill>
                  <a:srgbClr val="1725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  给出下界</a:t>
            </a:r>
            <a:endParaRPr sz="1600" b="1">
              <a:solidFill>
                <a:srgbClr val="17255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note_h_2"/>
          <p:cNvSpPr>
            <a:spLocks noGrp="1"/>
          </p:cNvSpPr>
          <p:nvPr/>
        </p:nvSpPr>
        <p:spPr>
          <a:xfrm>
            <a:off x="952500" y="4162425"/>
            <a:ext cx="3086100" cy="5238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>
              <a:defRPr sz="1300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>
              <a:defRPr sz="1300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>
              <a:defRPr sz="1300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>
              <a:defRPr sz="1300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>
              <a:defRPr sz="1300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>
              <a:defRPr sz="1300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>
              <a:defRPr sz="1300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>
              <a:defRPr sz="1300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>
              <a:defRPr sz="1300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>
              <a:defRPr sz="1300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>
              <a:defRPr sz="1300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00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只取后半段：至少约 n/2 项，</a:t>
            </a:r>
            <a:endParaRPr sz="1300" b="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defRPr sz="1300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00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每项至少 lg(n/2)。</a:t>
            </a:r>
            <a:endParaRPr sz="1300" b="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9" name="eq_h_2_0" descr="LaTeX: \sum_{k=2}^{n}\lg k\ge\frac{n}{2}\lg(\frac{n}{2})"/>
              <p:cNvSpPr>
                <a:spLocks noGrp="1"/>
              </p:cNvSpPr>
              <p:nvPr/>
            </p:nvSpPr>
            <p:spPr>
              <a:xfrm>
                <a:off x="4333875" y="3743325"/>
                <a:ext cx="6810375" cy="419100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lIns="0" tIns="0" rIns="0" bIns="0" anchor="t"/>
              <a:lstStyle>
                <a:defPPr>
                  <a:defRPr sz="1600" b="0">
                    <a:solidFill>
                      <a:srgbClr val="1E293B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defRPr>
                </a:defPPr>
                <a:lvl1pPr>
                  <a:defRPr sz="1600" b="0">
                    <a:solidFill>
                      <a:srgbClr val="1E293B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defRPr>
                </a:lvl1pPr>
                <a:lvl2pPr>
                  <a:defRPr sz="1600" b="0">
                    <a:solidFill>
                      <a:srgbClr val="1E293B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defRPr>
                </a:lvl2pPr>
                <a:lvl3pPr>
                  <a:defRPr sz="1600" b="0">
                    <a:solidFill>
                      <a:srgbClr val="1E293B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defRPr>
                </a:lvl3pPr>
                <a:lvl4pPr>
                  <a:defRPr sz="1600" b="0">
                    <a:solidFill>
                      <a:srgbClr val="1E293B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defRPr>
                </a:lvl4pPr>
                <a:lvl5pPr>
                  <a:defRPr sz="1600" b="0">
                    <a:solidFill>
                      <a:srgbClr val="1E293B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defRPr>
                </a:lvl5pPr>
                <a:lvl6pPr>
                  <a:defRPr sz="1600" b="0">
                    <a:solidFill>
                      <a:srgbClr val="1E293B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defRPr>
                </a:lvl6pPr>
                <a:lvl7pPr>
                  <a:defRPr sz="1600" b="0">
                    <a:solidFill>
                      <a:srgbClr val="1E293B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defRPr>
                </a:lvl7pPr>
                <a:lvl8pPr>
                  <a:defRPr sz="1600" b="0">
                    <a:solidFill>
                      <a:srgbClr val="1E293B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defRPr>
                </a:lvl8pPr>
                <a:lvl9pPr>
                  <a:defRPr sz="1600" b="0">
                    <a:solidFill>
                      <a:srgbClr val="1E293B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defRPr>
                </a:lvl9pPr>
              </a:lstStyle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grow m:val="on"/>
                          <m:limLoc m:val="subSup"/>
                          <m:ctrlPr>
                            <a:rPr sz="1600" b="0">
                              <a:solidFill>
                                <a:srgbClr val="1E293B"/>
                              </a:solidFill>
                              <a:latin typeface="Cambria Math" panose="02040503050406030204"/>
                              <a:ea typeface="微软雅黑" panose="020B0503020204020204" charset="-122"/>
                            </a:rPr>
                          </m:ctrlPr>
                        </m:naryPr>
                        <m:sub>
                          <m:r>
                            <a:rPr sz="1600" b="0" i="1">
                              <a:solidFill>
                                <a:srgbClr val="1E293B"/>
                              </a:solidFill>
                              <a:latin typeface="Cambria Math" panose="02040503050406030204"/>
                              <a:ea typeface="Cambria Math" panose="02040503050406030204"/>
                            </a:rPr>
                            <m:t>𝑘</m:t>
                          </m:r>
                          <m:r>
                            <a:rPr sz="1600" b="0" i="0">
                              <a:solidFill>
                                <a:srgbClr val="1E293B"/>
                              </a:solidFill>
                              <a:latin typeface="Cambria Math" panose="02040503050406030204"/>
                              <a:ea typeface="Cambria Math" panose="02040503050406030204"/>
                            </a:rPr>
                            <m:t>=</m:t>
                          </m:r>
                          <m:r>
                            <a:rPr sz="1600" b="0" i="0">
                              <a:solidFill>
                                <a:srgbClr val="1E293B"/>
                              </a:solidFill>
                              <a:latin typeface="Cambria Math" panose="02040503050406030204"/>
                              <a:ea typeface="Cambria Math" panose="02040503050406030204"/>
                            </a:rPr>
                            <m:t>2</m:t>
                          </m:r>
                        </m:sub>
                        <m:sup>
                          <m:r>
                            <a:rPr sz="1600" b="0" i="1">
                              <a:solidFill>
                                <a:srgbClr val="1E293B"/>
                              </a:solidFill>
                              <a:latin typeface="Cambria Math" panose="02040503050406030204"/>
                              <a:ea typeface="Cambria Math" panose="02040503050406030204"/>
                            </a:rPr>
                            <m:t>𝑛</m:t>
                          </m:r>
                        </m:sup>
                        <m:e>
                          <m:r>
                            <m:rPr>
                              <m:sty m:val="p"/>
                            </m:rPr>
                            <a:rPr sz="1600" b="0" i="0">
                              <a:solidFill>
                                <a:srgbClr val="1E293B"/>
                              </a:solidFill>
                              <a:latin typeface="Cambria Math" panose="02040503050406030204"/>
                              <a:ea typeface="Cambria Math" panose="02040503050406030204"/>
                            </a:rPr>
                            <m:t>lg</m:t>
                          </m:r>
                        </m:e>
                      </m:nary>
                      <m:r>
                        <a:rPr sz="1600" b="0" i="1">
                          <a:solidFill>
                            <a:srgbClr val="1E293B"/>
                          </a:solidFill>
                          <a:latin typeface="Cambria Math" panose="02040503050406030204"/>
                          <a:ea typeface="Cambria Math" panose="02040503050406030204"/>
                        </a:rPr>
                        <m:t>𝑘</m:t>
                      </m:r>
                      <m:r>
                        <a:rPr sz="1600" b="0" i="0">
                          <a:solidFill>
                            <a:srgbClr val="1E293B"/>
                          </a:solidFill>
                          <a:latin typeface="Cambria Math" panose="02040503050406030204"/>
                          <a:ea typeface="Cambria Math" panose="02040503050406030204"/>
                        </a:rPr>
                        <m:t>≥</m:t>
                      </m:r>
                      <m:f>
                        <m:fPr>
                          <m:ctrlPr>
                            <a:rPr sz="1600" b="0">
                              <a:solidFill>
                                <a:srgbClr val="1E293B"/>
                              </a:solidFill>
                              <a:latin typeface="Cambria Math" panose="02040503050406030204"/>
                              <a:ea typeface="微软雅黑" panose="020B0503020204020204" charset="-122"/>
                            </a:rPr>
                          </m:ctrlPr>
                        </m:fPr>
                        <m:num>
                          <m:r>
                            <a:rPr sz="1600" b="0" i="1">
                              <a:solidFill>
                                <a:srgbClr val="1E293B"/>
                              </a:solidFill>
                              <a:latin typeface="Cambria Math" panose="02040503050406030204"/>
                              <a:ea typeface="Cambria Math" panose="02040503050406030204"/>
                            </a:rPr>
                            <m:t>𝑛</m:t>
                          </m:r>
                        </m:num>
                        <m:den>
                          <m:r>
                            <a:rPr sz="1600" b="0" i="0">
                              <a:solidFill>
                                <a:srgbClr val="1E293B"/>
                              </a:solidFill>
                              <a:latin typeface="Cambria Math" panose="02040503050406030204"/>
                              <a:ea typeface="Cambria Math" panose="02040503050406030204"/>
                            </a:rPr>
                            <m:t>2</m:t>
                          </m:r>
                        </m:den>
                      </m:f>
                      <m:r>
                        <m:rPr>
                          <m:sty m:val="p"/>
                        </m:rPr>
                        <a:rPr sz="1600" b="0" i="0">
                          <a:solidFill>
                            <a:srgbClr val="1E293B"/>
                          </a:solidFill>
                          <a:latin typeface="Cambria Math" panose="02040503050406030204"/>
                          <a:ea typeface="Cambria Math" panose="02040503050406030204"/>
                        </a:rPr>
                        <m:t>lg</m:t>
                      </m:r>
                      <m:d>
                        <m:dPr>
                          <m:ctrlPr>
                            <a:rPr sz="1600" b="0">
                              <a:solidFill>
                                <a:srgbClr val="1E293B"/>
                              </a:solidFill>
                              <a:latin typeface="Cambria Math" panose="02040503050406030204"/>
                              <a:ea typeface="微软雅黑" panose="020B0503020204020204" charset="-122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sz="1600" b="0">
                                  <a:solidFill>
                                    <a:srgbClr val="1E293B"/>
                                  </a:solidFill>
                                  <a:latin typeface="Cambria Math" panose="02040503050406030204"/>
                                  <a:ea typeface="微软雅黑" panose="020B0503020204020204" charset="-122"/>
                                </a:rPr>
                              </m:ctrlPr>
                            </m:fPr>
                            <m:num>
                              <m:r>
                                <a:rPr sz="1600" b="0" i="1">
                                  <a:solidFill>
                                    <a:srgbClr val="1E293B"/>
                                  </a:solidFill>
                                  <a:latin typeface="Cambria Math" panose="02040503050406030204"/>
                                  <a:ea typeface="Cambria Math" panose="02040503050406030204"/>
                                </a:rPr>
                                <m:t>𝑛</m:t>
                              </m:r>
                            </m:num>
                            <m:den>
                              <m:r>
                                <a:rPr sz="1600" b="0" i="0">
                                  <a:solidFill>
                                    <a:srgbClr val="1E293B"/>
                                  </a:solidFill>
                                  <a:latin typeface="Cambria Math" panose="02040503050406030204"/>
                                  <a:ea typeface="Cambria Math" panose="02040503050406030204"/>
                                </a:rPr>
                                <m:t>2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sz="1600"/>
              </a:p>
            </p:txBody>
          </p:sp>
        </mc:Choice>
        <mc:Fallback>
          <p:sp>
            <p:nvSpPr>
              <p:cNvPr id="19" name="eq_h_2_0" descr="LaTeX: \sum_{k=2}^{n}\lg k\ge\frac{n}{2}\lg(\frac{n}{2})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33875" y="3743325"/>
                <a:ext cx="6810375" cy="419100"/>
              </a:xfrm>
              <a:prstGeom prst="rect">
                <a:avLst/>
              </a:prstGeom>
              <a:blipFill rotWithShape="1">
                <a:blip r:embed="rId5"/>
                <a:stretch>
                  <a:fillRect b="-12273"/>
                </a:stretch>
              </a:blipFill>
              <a:ln w="0"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0" name="eq_h_2_1" descr="LaTeX: \frac{n}{2}\lg(\frac{n}{2})=\Theta(n\lg n)"/>
              <p:cNvSpPr>
                <a:spLocks noGrp="1"/>
              </p:cNvSpPr>
              <p:nvPr/>
            </p:nvSpPr>
            <p:spPr>
              <a:xfrm>
                <a:off x="4333875" y="4257675"/>
                <a:ext cx="6810375" cy="419100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lIns="0" tIns="0" rIns="0" bIns="0" anchor="t"/>
              <a:lstStyle>
                <a:defPPr>
                  <a:defRPr sz="1600" b="0">
                    <a:solidFill>
                      <a:srgbClr val="1E293B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defRPr>
                </a:defPPr>
                <a:lvl1pPr>
                  <a:defRPr sz="1600" b="0">
                    <a:solidFill>
                      <a:srgbClr val="1E293B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defRPr>
                </a:lvl1pPr>
                <a:lvl2pPr>
                  <a:defRPr sz="1600" b="0">
                    <a:solidFill>
                      <a:srgbClr val="1E293B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defRPr>
                </a:lvl2pPr>
                <a:lvl3pPr>
                  <a:defRPr sz="1600" b="0">
                    <a:solidFill>
                      <a:srgbClr val="1E293B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defRPr>
                </a:lvl3pPr>
                <a:lvl4pPr>
                  <a:defRPr sz="1600" b="0">
                    <a:solidFill>
                      <a:srgbClr val="1E293B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defRPr>
                </a:lvl4pPr>
                <a:lvl5pPr>
                  <a:defRPr sz="1600" b="0">
                    <a:solidFill>
                      <a:srgbClr val="1E293B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defRPr>
                </a:lvl5pPr>
                <a:lvl6pPr>
                  <a:defRPr sz="1600" b="0">
                    <a:solidFill>
                      <a:srgbClr val="1E293B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defRPr>
                </a:lvl6pPr>
                <a:lvl7pPr>
                  <a:defRPr sz="1600" b="0">
                    <a:solidFill>
                      <a:srgbClr val="1E293B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defRPr>
                </a:lvl7pPr>
                <a:lvl8pPr>
                  <a:defRPr sz="1600" b="0">
                    <a:solidFill>
                      <a:srgbClr val="1E293B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defRPr>
                </a:lvl8pPr>
                <a:lvl9pPr>
                  <a:defRPr sz="1600" b="0">
                    <a:solidFill>
                      <a:srgbClr val="1E293B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defRPr>
                </a:lvl9pPr>
              </a:lstStyle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sz="1600" b="0">
                              <a:solidFill>
                                <a:srgbClr val="1E293B"/>
                              </a:solidFill>
                              <a:latin typeface="Cambria Math" panose="02040503050406030204"/>
                              <a:ea typeface="微软雅黑" panose="020B0503020204020204" charset="-122"/>
                            </a:rPr>
                          </m:ctrlPr>
                        </m:fPr>
                        <m:num>
                          <m:r>
                            <a:rPr sz="1600" b="0" i="1">
                              <a:solidFill>
                                <a:srgbClr val="1E293B"/>
                              </a:solidFill>
                              <a:latin typeface="Cambria Math" panose="02040503050406030204"/>
                              <a:ea typeface="Cambria Math" panose="02040503050406030204"/>
                            </a:rPr>
                            <m:t>𝑛</m:t>
                          </m:r>
                        </m:num>
                        <m:den>
                          <m:r>
                            <a:rPr sz="1600" b="0" i="0">
                              <a:solidFill>
                                <a:srgbClr val="1E293B"/>
                              </a:solidFill>
                              <a:latin typeface="Cambria Math" panose="02040503050406030204"/>
                              <a:ea typeface="Cambria Math" panose="02040503050406030204"/>
                            </a:rPr>
                            <m:t>2</m:t>
                          </m:r>
                        </m:den>
                      </m:f>
                      <m:r>
                        <m:rPr>
                          <m:sty m:val="p"/>
                        </m:rPr>
                        <a:rPr sz="1600" b="0" i="0">
                          <a:solidFill>
                            <a:srgbClr val="1E293B"/>
                          </a:solidFill>
                          <a:latin typeface="Cambria Math" panose="02040503050406030204"/>
                          <a:ea typeface="Cambria Math" panose="02040503050406030204"/>
                        </a:rPr>
                        <m:t>lg</m:t>
                      </m:r>
                      <m:d>
                        <m:dPr>
                          <m:ctrlPr>
                            <a:rPr sz="1600" b="0">
                              <a:solidFill>
                                <a:srgbClr val="1E293B"/>
                              </a:solidFill>
                              <a:latin typeface="Cambria Math" panose="02040503050406030204"/>
                              <a:ea typeface="微软雅黑" panose="020B0503020204020204" charset="-122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sz="1600" b="0">
                                  <a:solidFill>
                                    <a:srgbClr val="1E293B"/>
                                  </a:solidFill>
                                  <a:latin typeface="Cambria Math" panose="02040503050406030204"/>
                                  <a:ea typeface="微软雅黑" panose="020B0503020204020204" charset="-122"/>
                                </a:rPr>
                              </m:ctrlPr>
                            </m:fPr>
                            <m:num>
                              <m:r>
                                <a:rPr sz="1600" b="0" i="1">
                                  <a:solidFill>
                                    <a:srgbClr val="1E293B"/>
                                  </a:solidFill>
                                  <a:latin typeface="Cambria Math" panose="02040503050406030204"/>
                                  <a:ea typeface="Cambria Math" panose="02040503050406030204"/>
                                </a:rPr>
                                <m:t>𝑛</m:t>
                              </m:r>
                            </m:num>
                            <m:den>
                              <m:r>
                                <a:rPr sz="1600" b="0" i="0">
                                  <a:solidFill>
                                    <a:srgbClr val="1E293B"/>
                                  </a:solidFill>
                                  <a:latin typeface="Cambria Math" panose="02040503050406030204"/>
                                  <a:ea typeface="Cambria Math" panose="02040503050406030204"/>
                                </a:rPr>
                                <m:t>2</m:t>
                              </m:r>
                            </m:den>
                          </m:f>
                        </m:e>
                      </m:d>
                      <m:r>
                        <a:rPr sz="1600" b="0" i="0">
                          <a:solidFill>
                            <a:srgbClr val="1E293B"/>
                          </a:solidFill>
                          <a:latin typeface="Cambria Math" panose="02040503050406030204"/>
                          <a:ea typeface="Cambria Math" panose="02040503050406030204"/>
                        </a:rPr>
                        <m:t>=</m:t>
                      </m:r>
                      <m:r>
                        <m:rPr>
                          <m:sty m:val="p"/>
                        </m:rPr>
                        <a:rPr sz="1600" b="0" i="0">
                          <a:solidFill>
                            <a:srgbClr val="1E293B"/>
                          </a:solidFill>
                          <a:latin typeface="Cambria Math" panose="02040503050406030204"/>
                          <a:ea typeface="Cambria Math" panose="02040503050406030204"/>
                        </a:rPr>
                        <m:t>Θ</m:t>
                      </m:r>
                      <m:d>
                        <m:dPr>
                          <m:ctrlPr>
                            <a:rPr sz="1600" b="0">
                              <a:solidFill>
                                <a:srgbClr val="1E293B"/>
                              </a:solidFill>
                              <a:latin typeface="Cambria Math" panose="02040503050406030204"/>
                              <a:ea typeface="微软雅黑" panose="020B0503020204020204" charset="-122"/>
                            </a:rPr>
                          </m:ctrlPr>
                        </m:dPr>
                        <m:e>
                          <m:r>
                            <a:rPr sz="1600" b="0" i="1">
                              <a:solidFill>
                                <a:srgbClr val="1E293B"/>
                              </a:solidFill>
                              <a:latin typeface="Cambria Math" panose="02040503050406030204"/>
                              <a:ea typeface="Cambria Math" panose="02040503050406030204"/>
                            </a:rPr>
                            <m:t>𝑛</m:t>
                          </m:r>
                          <m:r>
                            <m:rPr>
                              <m:sty m:val="p"/>
                            </m:rPr>
                            <a:rPr sz="1600" b="0" i="0">
                              <a:solidFill>
                                <a:srgbClr val="1E293B"/>
                              </a:solidFill>
                              <a:latin typeface="Cambria Math" panose="02040503050406030204"/>
                              <a:ea typeface="Cambria Math" panose="02040503050406030204"/>
                            </a:rPr>
                            <m:t>lg</m:t>
                          </m:r>
                          <m:r>
                            <a:rPr sz="1600" b="0" i="1">
                              <a:solidFill>
                                <a:srgbClr val="1E293B"/>
                              </a:solidFill>
                              <a:latin typeface="Cambria Math" panose="02040503050406030204"/>
                              <a:ea typeface="Cambria Math" panose="02040503050406030204"/>
                            </a:rPr>
                            <m:t>𝑛</m:t>
                          </m:r>
                        </m:e>
                      </m:d>
                    </m:oMath>
                  </m:oMathPara>
                </a14:m>
                <a:endParaRPr sz="1600"/>
              </a:p>
            </p:txBody>
          </p:sp>
        </mc:Choice>
        <mc:Fallback>
          <p:sp>
            <p:nvSpPr>
              <p:cNvPr id="20" name="eq_h_2_1" descr="LaTeX: \frac{n}{2}\lg(\frac{n}{2})=\Theta(n\lg n)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33875" y="4257675"/>
                <a:ext cx="6810375" cy="419100"/>
              </a:xfrm>
              <a:prstGeom prst="rect">
                <a:avLst/>
              </a:prstGeom>
              <a:blipFill rotWithShape="1">
                <a:blip r:embed="rId6"/>
                <a:stretch>
                  <a:fillRect/>
                </a:stretch>
              </a:blipFill>
              <a:ln w="0"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step_h_3"/>
          <p:cNvSpPr>
            <a:spLocks noGrp="1"/>
          </p:cNvSpPr>
          <p:nvPr/>
        </p:nvSpPr>
        <p:spPr>
          <a:xfrm>
            <a:off x="952500" y="4714875"/>
            <a:ext cx="3048000" cy="2762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>
              <a:defRPr sz="1600" b="1">
                <a:solidFill>
                  <a:srgbClr val="1725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>
              <a:defRPr sz="1600" b="1">
                <a:solidFill>
                  <a:srgbClr val="1725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>
              <a:defRPr sz="1600" b="1">
                <a:solidFill>
                  <a:srgbClr val="1725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>
              <a:defRPr sz="1600" b="1">
                <a:solidFill>
                  <a:srgbClr val="1725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>
              <a:defRPr sz="1600" b="1">
                <a:solidFill>
                  <a:srgbClr val="1725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>
              <a:defRPr sz="1600" b="1">
                <a:solidFill>
                  <a:srgbClr val="1725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>
              <a:defRPr sz="1600" b="1">
                <a:solidFill>
                  <a:srgbClr val="1725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>
              <a:defRPr sz="1600" b="1">
                <a:solidFill>
                  <a:srgbClr val="1725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>
              <a:defRPr sz="1600" b="1">
                <a:solidFill>
                  <a:srgbClr val="1725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>
              <a:defRPr sz="1600" b="1">
                <a:solidFill>
                  <a:srgbClr val="1725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>
              <a:defRPr sz="1600" b="1">
                <a:solidFill>
                  <a:srgbClr val="1725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00" b="1">
                <a:solidFill>
                  <a:srgbClr val="1725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  合并上下界</a:t>
            </a:r>
            <a:endParaRPr sz="1600" b="1">
              <a:solidFill>
                <a:srgbClr val="17255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note_h_3"/>
          <p:cNvSpPr>
            <a:spLocks noGrp="1"/>
          </p:cNvSpPr>
          <p:nvPr/>
        </p:nvSpPr>
        <p:spPr>
          <a:xfrm>
            <a:off x="952500" y="5019675"/>
            <a:ext cx="3086100" cy="5238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>
              <a:defRPr sz="1300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>
              <a:defRPr sz="1300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>
              <a:defRPr sz="1300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>
              <a:defRPr sz="1300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>
              <a:defRPr sz="1300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>
              <a:defRPr sz="1300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>
              <a:defRPr sz="1300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>
              <a:defRPr sz="1300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>
              <a:defRPr sz="1300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>
              <a:defRPr sz="1300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>
              <a:defRPr sz="1300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00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加上常数基例后，增长量级保持不变。</a:t>
            </a:r>
            <a:endParaRPr sz="1300" b="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3" name="eq_h_3_0" descr="LaTeX: T(n)=O(n\lg n),\quad T(n)=\Omega(n\lg n)"/>
              <p:cNvSpPr>
                <a:spLocks noGrp="1"/>
              </p:cNvSpPr>
              <p:nvPr/>
            </p:nvSpPr>
            <p:spPr>
              <a:xfrm>
                <a:off x="4277995" y="5113655"/>
                <a:ext cx="6810375" cy="419100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lIns="0" tIns="0" rIns="0" bIns="0" anchor="t"/>
              <a:lstStyle>
                <a:defPPr>
                  <a:defRPr sz="1600" b="0">
                    <a:solidFill>
                      <a:srgbClr val="1E293B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defRPr>
                </a:defPPr>
                <a:lvl1pPr>
                  <a:defRPr sz="1600" b="0">
                    <a:solidFill>
                      <a:srgbClr val="1E293B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defRPr>
                </a:lvl1pPr>
                <a:lvl2pPr>
                  <a:defRPr sz="1600" b="0">
                    <a:solidFill>
                      <a:srgbClr val="1E293B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defRPr>
                </a:lvl2pPr>
                <a:lvl3pPr>
                  <a:defRPr sz="1600" b="0">
                    <a:solidFill>
                      <a:srgbClr val="1E293B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defRPr>
                </a:lvl3pPr>
                <a:lvl4pPr>
                  <a:defRPr sz="1600" b="0">
                    <a:solidFill>
                      <a:srgbClr val="1E293B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defRPr>
                </a:lvl4pPr>
                <a:lvl5pPr>
                  <a:defRPr sz="1600" b="0">
                    <a:solidFill>
                      <a:srgbClr val="1E293B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defRPr>
                </a:lvl5pPr>
                <a:lvl6pPr>
                  <a:defRPr sz="1600" b="0">
                    <a:solidFill>
                      <a:srgbClr val="1E293B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defRPr>
                </a:lvl6pPr>
                <a:lvl7pPr>
                  <a:defRPr sz="1600" b="0">
                    <a:solidFill>
                      <a:srgbClr val="1E293B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defRPr>
                </a:lvl7pPr>
                <a:lvl8pPr>
                  <a:defRPr sz="1600" b="0">
                    <a:solidFill>
                      <a:srgbClr val="1E293B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defRPr>
                </a:lvl8pPr>
                <a:lvl9pPr>
                  <a:defRPr sz="1600" b="0">
                    <a:solidFill>
                      <a:srgbClr val="1E293B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defRPr>
                </a:lvl9pPr>
              </a:lstStyle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sz="1600" b="0" i="1">
                          <a:solidFill>
                            <a:srgbClr val="1E293B"/>
                          </a:solidFill>
                          <a:latin typeface="Cambria Math" panose="02040503050406030204"/>
                          <a:ea typeface="Cambria Math" panose="02040503050406030204"/>
                        </a:rPr>
                        <m:t>𝑇</m:t>
                      </m:r>
                      <m:d>
                        <m:dPr>
                          <m:ctrlPr>
                            <a:rPr sz="1600" b="0">
                              <a:solidFill>
                                <a:srgbClr val="1E293B"/>
                              </a:solidFill>
                              <a:latin typeface="Cambria Math" panose="02040503050406030204"/>
                              <a:ea typeface="微软雅黑" panose="020B0503020204020204" charset="-122"/>
                            </a:rPr>
                          </m:ctrlPr>
                        </m:dPr>
                        <m:e>
                          <m:r>
                            <a:rPr sz="1600" b="0" i="1">
                              <a:solidFill>
                                <a:srgbClr val="1E293B"/>
                              </a:solidFill>
                              <a:latin typeface="Cambria Math" panose="02040503050406030204"/>
                              <a:ea typeface="Cambria Math" panose="02040503050406030204"/>
                            </a:rPr>
                            <m:t>𝑛</m:t>
                          </m:r>
                        </m:e>
                      </m:d>
                      <m:r>
                        <a:rPr sz="1600" b="0" i="0">
                          <a:solidFill>
                            <a:srgbClr val="1E293B"/>
                          </a:solidFill>
                          <a:latin typeface="Cambria Math" panose="02040503050406030204"/>
                          <a:ea typeface="Cambria Math" panose="02040503050406030204"/>
                        </a:rPr>
                        <m:t>=</m:t>
                      </m:r>
                      <m:r>
                        <a:rPr sz="1600" b="0" i="1">
                          <a:solidFill>
                            <a:srgbClr val="1E293B"/>
                          </a:solidFill>
                          <a:latin typeface="Cambria Math" panose="02040503050406030204"/>
                          <a:ea typeface="Cambria Math" panose="02040503050406030204"/>
                        </a:rPr>
                        <m:t>𝑂</m:t>
                      </m:r>
                      <m:d>
                        <m:dPr>
                          <m:ctrlPr>
                            <a:rPr sz="1600" b="0">
                              <a:solidFill>
                                <a:srgbClr val="1E293B"/>
                              </a:solidFill>
                              <a:latin typeface="Cambria Math" panose="02040503050406030204"/>
                              <a:ea typeface="微软雅黑" panose="020B0503020204020204" charset="-122"/>
                            </a:rPr>
                          </m:ctrlPr>
                        </m:dPr>
                        <m:e>
                          <m:r>
                            <a:rPr sz="1600" b="0" i="1">
                              <a:solidFill>
                                <a:srgbClr val="1E293B"/>
                              </a:solidFill>
                              <a:latin typeface="Cambria Math" panose="02040503050406030204"/>
                              <a:ea typeface="Cambria Math" panose="02040503050406030204"/>
                            </a:rPr>
                            <m:t>𝑛</m:t>
                          </m:r>
                          <m:r>
                            <m:rPr>
                              <m:sty m:val="p"/>
                            </m:rPr>
                            <a:rPr sz="1600" b="0" i="0">
                              <a:solidFill>
                                <a:srgbClr val="1E293B"/>
                              </a:solidFill>
                              <a:latin typeface="Cambria Math" panose="02040503050406030204"/>
                              <a:ea typeface="Cambria Math" panose="02040503050406030204"/>
                            </a:rPr>
                            <m:t>lg</m:t>
                          </m:r>
                          <m:r>
                            <a:rPr sz="1600" b="0" i="1">
                              <a:solidFill>
                                <a:srgbClr val="1E293B"/>
                              </a:solidFill>
                              <a:latin typeface="Cambria Math" panose="02040503050406030204"/>
                              <a:ea typeface="Cambria Math" panose="02040503050406030204"/>
                            </a:rPr>
                            <m:t>𝑛</m:t>
                          </m:r>
                        </m:e>
                      </m:d>
                      <m:r>
                        <a:rPr sz="1600" b="0" i="0">
                          <a:solidFill>
                            <a:srgbClr val="1E293B"/>
                          </a:solidFill>
                          <a:latin typeface="Cambria Math" panose="02040503050406030204"/>
                          <a:ea typeface="Cambria Math" panose="02040503050406030204"/>
                        </a:rPr>
                        <m:t>,</m:t>
                      </m:r>
                      <m:r>
                        <a:rPr sz="1600" b="0" i="0">
                          <a:solidFill>
                            <a:srgbClr val="1E293B"/>
                          </a:solidFill>
                          <a:latin typeface="Cambria Math" panose="02040503050406030204"/>
                          <a:ea typeface="Cambria Math" panose="02040503050406030204"/>
                        </a:rPr>
                        <m:t> </m:t>
                      </m:r>
                      <m:r>
                        <a:rPr sz="1600" b="0" i="1">
                          <a:solidFill>
                            <a:srgbClr val="1E293B"/>
                          </a:solidFill>
                          <a:latin typeface="Cambria Math" panose="02040503050406030204"/>
                          <a:ea typeface="Cambria Math" panose="02040503050406030204"/>
                        </a:rPr>
                        <m:t>𝑇</m:t>
                      </m:r>
                      <m:d>
                        <m:dPr>
                          <m:ctrlPr>
                            <a:rPr sz="1600" b="0">
                              <a:solidFill>
                                <a:srgbClr val="1E293B"/>
                              </a:solidFill>
                              <a:latin typeface="Cambria Math" panose="02040503050406030204"/>
                              <a:ea typeface="微软雅黑" panose="020B0503020204020204" charset="-122"/>
                            </a:rPr>
                          </m:ctrlPr>
                        </m:dPr>
                        <m:e>
                          <m:r>
                            <a:rPr sz="1600" b="0" i="1">
                              <a:solidFill>
                                <a:srgbClr val="1E293B"/>
                              </a:solidFill>
                              <a:latin typeface="Cambria Math" panose="02040503050406030204"/>
                              <a:ea typeface="Cambria Math" panose="02040503050406030204"/>
                            </a:rPr>
                            <m:t>𝑛</m:t>
                          </m:r>
                        </m:e>
                      </m:d>
                      <m:r>
                        <a:rPr sz="1600" b="0" i="0">
                          <a:solidFill>
                            <a:srgbClr val="1E293B"/>
                          </a:solidFill>
                          <a:latin typeface="Cambria Math" panose="02040503050406030204"/>
                          <a:ea typeface="Cambria Math" panose="02040503050406030204"/>
                        </a:rPr>
                        <m:t>=</m:t>
                      </m:r>
                      <m:r>
                        <m:rPr>
                          <m:sty m:val="p"/>
                        </m:rPr>
                        <a:rPr sz="1600" b="0" i="0">
                          <a:solidFill>
                            <a:srgbClr val="1E293B"/>
                          </a:solidFill>
                          <a:latin typeface="Cambria Math" panose="02040503050406030204"/>
                          <a:ea typeface="Cambria Math" panose="02040503050406030204"/>
                        </a:rPr>
                        <m:t>Ω</m:t>
                      </m:r>
                      <m:d>
                        <m:dPr>
                          <m:ctrlPr>
                            <a:rPr sz="1600" b="0">
                              <a:solidFill>
                                <a:srgbClr val="1E293B"/>
                              </a:solidFill>
                              <a:latin typeface="Cambria Math" panose="02040503050406030204"/>
                              <a:ea typeface="微软雅黑" panose="020B0503020204020204" charset="-122"/>
                            </a:rPr>
                          </m:ctrlPr>
                        </m:dPr>
                        <m:e>
                          <m:r>
                            <a:rPr sz="1600" b="0" i="1">
                              <a:solidFill>
                                <a:srgbClr val="1E293B"/>
                              </a:solidFill>
                              <a:latin typeface="Cambria Math" panose="02040503050406030204"/>
                              <a:ea typeface="Cambria Math" panose="02040503050406030204"/>
                            </a:rPr>
                            <m:t>𝑛</m:t>
                          </m:r>
                          <m:r>
                            <m:rPr>
                              <m:sty m:val="p"/>
                            </m:rPr>
                            <a:rPr sz="1600" b="0" i="0">
                              <a:solidFill>
                                <a:srgbClr val="1E293B"/>
                              </a:solidFill>
                              <a:latin typeface="Cambria Math" panose="02040503050406030204"/>
                              <a:ea typeface="Cambria Math" panose="02040503050406030204"/>
                            </a:rPr>
                            <m:t>lg</m:t>
                          </m:r>
                          <m:r>
                            <a:rPr sz="1600" b="0" i="1">
                              <a:solidFill>
                                <a:srgbClr val="1E293B"/>
                              </a:solidFill>
                              <a:latin typeface="Cambria Math" panose="02040503050406030204"/>
                              <a:ea typeface="Cambria Math" panose="02040503050406030204"/>
                            </a:rPr>
                            <m:t>𝑛</m:t>
                          </m:r>
                        </m:e>
                      </m:d>
                    </m:oMath>
                  </m:oMathPara>
                </a14:m>
                <a:endParaRPr sz="1600"/>
              </a:p>
            </p:txBody>
          </p:sp>
        </mc:Choice>
        <mc:Fallback>
          <p:sp>
            <p:nvSpPr>
              <p:cNvPr id="23" name="eq_h_3_0" descr="LaTeX: T(n)=O(n\lg n),\quad T(n)=\Omega(n\lg n)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77995" y="5113655"/>
                <a:ext cx="6810375" cy="419100"/>
              </a:xfrm>
              <a:prstGeom prst="rect">
                <a:avLst/>
              </a:prstGeom>
              <a:blipFill rotWithShape="1">
                <a:blip r:embed="rId7"/>
                <a:stretch>
                  <a:fillRect/>
                </a:stretch>
              </a:blipFill>
              <a:ln w="0"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4" name="eq_h_result" descr="LaTeX: T(n)=\Theta(n\lg n)"/>
              <p:cNvSpPr>
                <a:spLocks noGrp="1"/>
              </p:cNvSpPr>
              <p:nvPr/>
            </p:nvSpPr>
            <p:spPr>
              <a:xfrm>
                <a:off x="4333875" y="5743575"/>
                <a:ext cx="6810375" cy="409575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lIns="0" tIns="0" rIns="0" bIns="0" anchor="t"/>
              <a:lstStyle>
                <a:defPPr>
                  <a:defRPr sz="1700" b="1">
                    <a:solidFill>
                      <a:srgbClr val="2563EB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defRPr>
                </a:defPPr>
                <a:lvl1pPr>
                  <a:defRPr sz="1700" b="1">
                    <a:solidFill>
                      <a:srgbClr val="2563EB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defRPr>
                </a:lvl1pPr>
                <a:lvl2pPr>
                  <a:defRPr sz="1700" b="1">
                    <a:solidFill>
                      <a:srgbClr val="2563EB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defRPr>
                </a:lvl2pPr>
                <a:lvl3pPr>
                  <a:defRPr sz="1700" b="1">
                    <a:solidFill>
                      <a:srgbClr val="2563EB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defRPr>
                </a:lvl3pPr>
                <a:lvl4pPr>
                  <a:defRPr sz="1700" b="1">
                    <a:solidFill>
                      <a:srgbClr val="2563EB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defRPr>
                </a:lvl4pPr>
                <a:lvl5pPr>
                  <a:defRPr sz="1700" b="1">
                    <a:solidFill>
                      <a:srgbClr val="2563EB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defRPr>
                </a:lvl5pPr>
                <a:lvl6pPr>
                  <a:defRPr sz="1700" b="1">
                    <a:solidFill>
                      <a:srgbClr val="2563EB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defRPr>
                </a:lvl6pPr>
                <a:lvl7pPr>
                  <a:defRPr sz="1700" b="1">
                    <a:solidFill>
                      <a:srgbClr val="2563EB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defRPr>
                </a:lvl7pPr>
                <a:lvl8pPr>
                  <a:defRPr sz="1700" b="1">
                    <a:solidFill>
                      <a:srgbClr val="2563EB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defRPr>
                </a:lvl8pPr>
                <a:lvl9pPr>
                  <a:defRPr sz="1700" b="1">
                    <a:solidFill>
                      <a:srgbClr val="2563EB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defRPr>
                </a:lvl9pPr>
              </a:lstStyle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sz="1700" b="1" i="1">
                          <a:solidFill>
                            <a:srgbClr val="2563EB"/>
                          </a:solidFill>
                          <a:latin typeface="Cambria Math" panose="02040503050406030204"/>
                          <a:ea typeface="Cambria Math" panose="02040503050406030204"/>
                        </a:rPr>
                        <m:t>𝑇</m:t>
                      </m:r>
                      <m:d>
                        <m:dPr>
                          <m:ctrlPr>
                            <a:rPr sz="1700" b="1">
                              <a:solidFill>
                                <a:srgbClr val="2563EB"/>
                              </a:solidFill>
                              <a:latin typeface="Cambria Math" panose="02040503050406030204"/>
                              <a:ea typeface="微软雅黑" panose="020B0503020204020204" charset="-122"/>
                            </a:rPr>
                          </m:ctrlPr>
                        </m:dPr>
                        <m:e>
                          <m:r>
                            <a:rPr sz="1700" b="1" i="1">
                              <a:solidFill>
                                <a:srgbClr val="2563EB"/>
                              </a:solidFill>
                              <a:latin typeface="Cambria Math" panose="02040503050406030204"/>
                              <a:ea typeface="Cambria Math" panose="02040503050406030204"/>
                            </a:rPr>
                            <m:t>𝑛</m:t>
                          </m:r>
                        </m:e>
                      </m:d>
                      <m:r>
                        <a:rPr sz="1700" b="1" i="0">
                          <a:solidFill>
                            <a:srgbClr val="2563EB"/>
                          </a:solidFill>
                          <a:latin typeface="Cambria Math" panose="02040503050406030204"/>
                          <a:ea typeface="Cambria Math" panose="02040503050406030204"/>
                        </a:rPr>
                        <m:t>=</m:t>
                      </m:r>
                      <m:r>
                        <m:rPr>
                          <m:sty m:val="p"/>
                        </m:rPr>
                        <a:rPr sz="1700" b="1" i="0">
                          <a:solidFill>
                            <a:srgbClr val="2563EB"/>
                          </a:solidFill>
                          <a:latin typeface="Cambria Math" panose="02040503050406030204"/>
                          <a:ea typeface="Cambria Math" panose="02040503050406030204"/>
                        </a:rPr>
                        <m:t>Θ</m:t>
                      </m:r>
                      <m:d>
                        <m:dPr>
                          <m:ctrlPr>
                            <a:rPr sz="1700" b="1">
                              <a:solidFill>
                                <a:srgbClr val="2563EB"/>
                              </a:solidFill>
                              <a:latin typeface="Cambria Math" panose="02040503050406030204"/>
                              <a:ea typeface="微软雅黑" panose="020B0503020204020204" charset="-122"/>
                            </a:rPr>
                          </m:ctrlPr>
                        </m:dPr>
                        <m:e>
                          <m:r>
                            <a:rPr sz="1700" b="1" i="1">
                              <a:solidFill>
                                <a:srgbClr val="2563EB"/>
                              </a:solidFill>
                              <a:latin typeface="Cambria Math" panose="02040503050406030204"/>
                              <a:ea typeface="Cambria Math" panose="02040503050406030204"/>
                            </a:rPr>
                            <m:t>𝑛</m:t>
                          </m:r>
                          <m:r>
                            <m:rPr>
                              <m:sty m:val="p"/>
                            </m:rPr>
                            <a:rPr sz="1700" b="1" i="0">
                              <a:solidFill>
                                <a:srgbClr val="2563EB"/>
                              </a:solidFill>
                              <a:latin typeface="Cambria Math" panose="02040503050406030204"/>
                              <a:ea typeface="Cambria Math" panose="02040503050406030204"/>
                            </a:rPr>
                            <m:t>lg</m:t>
                          </m:r>
                          <m:r>
                            <a:rPr sz="1700" b="1" i="1">
                              <a:solidFill>
                                <a:srgbClr val="2563EB"/>
                              </a:solidFill>
                              <a:latin typeface="Cambria Math" panose="02040503050406030204"/>
                              <a:ea typeface="Cambria Math" panose="02040503050406030204"/>
                            </a:rPr>
                            <m:t>𝑛</m:t>
                          </m:r>
                        </m:e>
                      </m:d>
                    </m:oMath>
                  </m:oMathPara>
                </a14:m>
                <a:endParaRPr sz="1700"/>
              </a:p>
            </p:txBody>
          </p:sp>
        </mc:Choice>
        <mc:Fallback>
          <p:sp>
            <p:nvSpPr>
              <p:cNvPr id="24" name="eq_h_result" descr="LaTeX: T(n)=\Theta(n\lg n)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33875" y="5743575"/>
                <a:ext cx="6810375" cy="409575"/>
              </a:xfrm>
              <a:prstGeom prst="rect">
                <a:avLst/>
              </a:prstGeom>
              <a:blipFill rotWithShape="1">
                <a:blip r:embed="rId8"/>
                <a:stretch>
                  <a:fillRect/>
                </a:stretch>
              </a:blipFill>
              <a:ln w="0"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" name="result_label_h"/>
          <p:cNvSpPr>
            <a:spLocks noGrp="1"/>
          </p:cNvSpPr>
          <p:nvPr/>
        </p:nvSpPr>
        <p:spPr>
          <a:xfrm>
            <a:off x="952500" y="5781675"/>
            <a:ext cx="3048000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>
              <a:defRPr sz="1600" b="1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>
              <a:defRPr sz="1600" b="1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>
              <a:defRPr sz="1600" b="1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>
              <a:defRPr sz="1600" b="1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>
              <a:defRPr sz="1600" b="1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>
              <a:defRPr sz="1600" b="1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>
              <a:defRPr sz="1600" b="1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>
              <a:defRPr sz="1600" b="1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>
              <a:defRPr sz="1600" b="1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>
              <a:defRPr sz="1600" b="1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>
              <a:defRPr sz="1600" b="1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00" b="1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紧确渐近界</a:t>
            </a:r>
            <a:endParaRPr sz="1600" b="1">
              <a:solidFill>
                <a:srgbClr val="2563E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>
            <a:spLocks noGrp="1"/>
          </p:cNvSpPr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3" name="TextBox 2"/>
          <p:cNvSpPr>
            <a:spLocks noGrp="1"/>
          </p:cNvSpPr>
          <p:nvPr/>
        </p:nvSpPr>
        <p:spPr>
          <a:xfrm>
            <a:off x="502920" y="292608"/>
            <a:ext cx="10881360" cy="512064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>
            <a:defPPr>
              <a:defRPr sz="2400"/>
            </a:defPPr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algn="l">
              <a:spcAft>
                <a:spcPts val="500"/>
              </a:spcAft>
              <a:buNone/>
            </a:pPr>
            <a:r>
              <a:rPr sz="2400" b="1" i="0">
                <a:solidFill>
                  <a:srgbClr val="1725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题目解析（i）</a:t>
            </a:r>
            <a:endParaRPr sz="2400" b="1" i="0">
              <a:solidFill>
                <a:srgbClr val="17255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TextBox 3"/>
          <p:cNvSpPr>
            <a:spLocks noGrp="1"/>
          </p:cNvSpPr>
          <p:nvPr/>
        </p:nvSpPr>
        <p:spPr>
          <a:xfrm>
            <a:off x="530352" y="804672"/>
            <a:ext cx="10972800" cy="329184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>
            <a:defPPr>
              <a:defRPr sz="1200"/>
            </a:defPPr>
            <a:lvl1pPr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algn="l">
              <a:spcAft>
                <a:spcPts val="500"/>
              </a:spcAft>
              <a:buNone/>
            </a:pPr>
            <a:r>
              <a:rPr sz="1200" b="0" i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递推展开与求和上下界：每次减 2，只对与 n 同奇偶的整数求和</a:t>
            </a:r>
            <a:endParaRPr sz="1200" b="0" i="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TextBox 4"/>
          <p:cNvSpPr>
            <a:spLocks noGrp="1"/>
          </p:cNvSpPr>
          <p:nvPr/>
        </p:nvSpPr>
        <p:spPr>
          <a:xfrm>
            <a:off x="9555480" y="6510528"/>
            <a:ext cx="2103120" cy="18288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r">
              <a:spcAft>
                <a:spcPts val="500"/>
              </a:spcAft>
              <a:buNone/>
            </a:pPr>
            <a:r>
              <a:rPr sz="900" b="0" i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递推式与渐近分析</a:t>
            </a:r>
            <a:endParaRPr sz="900" b="0" i="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extBox 5"/>
          <p:cNvSpPr>
            <a:spLocks noGrp="1"/>
          </p:cNvSpPr>
          <p:nvPr/>
        </p:nvSpPr>
        <p:spPr>
          <a:xfrm>
            <a:off x="502920" y="6510528"/>
            <a:ext cx="1371600" cy="283464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500"/>
              </a:spcAft>
              <a:buNone/>
            </a:pPr>
            <a:r>
              <a:rPr sz="900" b="0" i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算法设计 · 14</a:t>
            </a:r>
            <a:endParaRPr sz="900" b="0" i="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Rounded Rectangle 6"/>
          <p:cNvSpPr>
            <a:spLocks noGrp="1"/>
          </p:cNvSpPr>
          <p:nvPr/>
        </p:nvSpPr>
        <p:spPr>
          <a:xfrm>
            <a:off x="640080" y="1238250"/>
            <a:ext cx="10927080" cy="49149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8" name="Rectangle 7"/>
          <p:cNvSpPr>
            <a:spLocks noGrp="1"/>
          </p:cNvSpPr>
          <p:nvPr/>
        </p:nvSpPr>
        <p:spPr>
          <a:xfrm>
            <a:off x="640080" y="1280160"/>
            <a:ext cx="73152" cy="4914900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eq_i_recurrence" descr="LaTeX: T(n)=T(n-2)+\frac{1}{\lg n}"/>
              <p:cNvSpPr>
                <a:spLocks noGrp="1"/>
              </p:cNvSpPr>
              <p:nvPr/>
            </p:nvSpPr>
            <p:spPr>
              <a:xfrm>
                <a:off x="952500" y="1457325"/>
                <a:ext cx="10287000" cy="552450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lIns="0" tIns="0" rIns="0" bIns="0" anchor="t"/>
              <a:lstStyle>
                <a:defPPr>
                  <a:defRPr sz="1700" b="1">
                    <a:solidFill>
                      <a:srgbClr val="2563EB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defRPr>
                </a:defPPr>
                <a:lvl1pPr>
                  <a:defRPr sz="1700" b="1">
                    <a:solidFill>
                      <a:srgbClr val="2563EB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defRPr>
                </a:lvl1pPr>
                <a:lvl2pPr>
                  <a:defRPr sz="1700" b="1">
                    <a:solidFill>
                      <a:srgbClr val="2563EB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defRPr>
                </a:lvl2pPr>
                <a:lvl3pPr>
                  <a:defRPr sz="1700" b="1">
                    <a:solidFill>
                      <a:srgbClr val="2563EB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defRPr>
                </a:lvl3pPr>
                <a:lvl4pPr>
                  <a:defRPr sz="1700" b="1">
                    <a:solidFill>
                      <a:srgbClr val="2563EB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defRPr>
                </a:lvl4pPr>
                <a:lvl5pPr>
                  <a:defRPr sz="1700" b="1">
                    <a:solidFill>
                      <a:srgbClr val="2563EB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defRPr>
                </a:lvl5pPr>
                <a:lvl6pPr>
                  <a:defRPr sz="1700" b="1">
                    <a:solidFill>
                      <a:srgbClr val="2563EB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defRPr>
                </a:lvl6pPr>
                <a:lvl7pPr>
                  <a:defRPr sz="1700" b="1">
                    <a:solidFill>
                      <a:srgbClr val="2563EB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defRPr>
                </a:lvl7pPr>
                <a:lvl8pPr>
                  <a:defRPr sz="1700" b="1">
                    <a:solidFill>
                      <a:srgbClr val="2563EB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defRPr>
                </a:lvl8pPr>
                <a:lvl9pPr>
                  <a:defRPr sz="1700" b="1">
                    <a:solidFill>
                      <a:srgbClr val="2563EB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defRPr>
                </a:lvl9pPr>
              </a:lstStyle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sz="1700" b="1" i="1">
                          <a:solidFill>
                            <a:srgbClr val="2563EB"/>
                          </a:solidFill>
                          <a:latin typeface="Cambria Math" panose="02040503050406030204"/>
                          <a:ea typeface="Cambria Math" panose="02040503050406030204"/>
                        </a:rPr>
                        <m:t>𝑇</m:t>
                      </m:r>
                      <m:d>
                        <m:dPr>
                          <m:ctrlPr>
                            <a:rPr sz="1700" b="1">
                              <a:solidFill>
                                <a:srgbClr val="2563EB"/>
                              </a:solidFill>
                              <a:latin typeface="Cambria Math" panose="02040503050406030204"/>
                              <a:ea typeface="微软雅黑" panose="020B0503020204020204" charset="-122"/>
                            </a:rPr>
                          </m:ctrlPr>
                        </m:dPr>
                        <m:e>
                          <m:r>
                            <a:rPr sz="1700" b="1" i="1">
                              <a:solidFill>
                                <a:srgbClr val="2563EB"/>
                              </a:solidFill>
                              <a:latin typeface="Cambria Math" panose="02040503050406030204"/>
                              <a:ea typeface="Cambria Math" panose="02040503050406030204"/>
                            </a:rPr>
                            <m:t>𝑛</m:t>
                          </m:r>
                        </m:e>
                      </m:d>
                      <m:r>
                        <a:rPr sz="1700" b="1" i="0">
                          <a:solidFill>
                            <a:srgbClr val="2563EB"/>
                          </a:solidFill>
                          <a:latin typeface="Cambria Math" panose="02040503050406030204"/>
                          <a:ea typeface="Cambria Math" panose="02040503050406030204"/>
                        </a:rPr>
                        <m:t>=</m:t>
                      </m:r>
                      <m:r>
                        <a:rPr sz="1700" b="1" i="1">
                          <a:solidFill>
                            <a:srgbClr val="2563EB"/>
                          </a:solidFill>
                          <a:latin typeface="Cambria Math" panose="02040503050406030204"/>
                          <a:ea typeface="Cambria Math" panose="02040503050406030204"/>
                        </a:rPr>
                        <m:t>𝑇</m:t>
                      </m:r>
                      <m:d>
                        <m:dPr>
                          <m:ctrlPr>
                            <a:rPr sz="1700" b="1">
                              <a:solidFill>
                                <a:srgbClr val="2563EB"/>
                              </a:solidFill>
                              <a:latin typeface="Cambria Math" panose="02040503050406030204"/>
                              <a:ea typeface="微软雅黑" panose="020B0503020204020204" charset="-122"/>
                            </a:rPr>
                          </m:ctrlPr>
                        </m:dPr>
                        <m:e>
                          <m:r>
                            <a:rPr sz="1700" b="1" i="1">
                              <a:solidFill>
                                <a:srgbClr val="2563EB"/>
                              </a:solidFill>
                              <a:latin typeface="Cambria Math" panose="02040503050406030204"/>
                              <a:ea typeface="Cambria Math" panose="02040503050406030204"/>
                            </a:rPr>
                            <m:t>𝑛</m:t>
                          </m:r>
                          <m:r>
                            <a:rPr sz="1700" b="1" i="0">
                              <a:solidFill>
                                <a:srgbClr val="2563EB"/>
                              </a:solidFill>
                              <a:latin typeface="Cambria Math" panose="02040503050406030204"/>
                              <a:ea typeface="Cambria Math" panose="02040503050406030204"/>
                            </a:rPr>
                            <m:t>−</m:t>
                          </m:r>
                          <m:r>
                            <a:rPr sz="1700" b="1" i="0">
                              <a:solidFill>
                                <a:srgbClr val="2563EB"/>
                              </a:solidFill>
                              <a:latin typeface="Cambria Math" panose="02040503050406030204"/>
                              <a:ea typeface="Cambria Math" panose="02040503050406030204"/>
                            </a:rPr>
                            <m:t>2</m:t>
                          </m:r>
                        </m:e>
                      </m:d>
                      <m:r>
                        <a:rPr sz="1700" b="1" i="0">
                          <a:solidFill>
                            <a:srgbClr val="2563EB"/>
                          </a:solidFill>
                          <a:latin typeface="Cambria Math" panose="02040503050406030204"/>
                          <a:ea typeface="Cambria Math" panose="02040503050406030204"/>
                        </a:rPr>
                        <m:t>+</m:t>
                      </m:r>
                      <m:f>
                        <m:fPr>
                          <m:ctrlPr>
                            <a:rPr sz="1700" b="1">
                              <a:solidFill>
                                <a:srgbClr val="2563EB"/>
                              </a:solidFill>
                              <a:latin typeface="Cambria Math" panose="02040503050406030204"/>
                              <a:ea typeface="微软雅黑" panose="020B0503020204020204" charset="-122"/>
                            </a:rPr>
                          </m:ctrlPr>
                        </m:fPr>
                        <m:num>
                          <m:r>
                            <a:rPr sz="1700" b="1" i="0">
                              <a:solidFill>
                                <a:srgbClr val="2563EB"/>
                              </a:solidFill>
                              <a:latin typeface="Cambria Math" panose="02040503050406030204"/>
                              <a:ea typeface="Cambria Math" panose="02040503050406030204"/>
                            </a:rPr>
                            <m:t>1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sz="1700" b="1" i="0">
                              <a:solidFill>
                                <a:srgbClr val="2563EB"/>
                              </a:solidFill>
                              <a:latin typeface="Cambria Math" panose="02040503050406030204"/>
                              <a:ea typeface="Cambria Math" panose="02040503050406030204"/>
                            </a:rPr>
                            <m:t>lg</m:t>
                          </m:r>
                          <m:r>
                            <a:rPr sz="1700" b="1" i="1">
                              <a:solidFill>
                                <a:srgbClr val="2563EB"/>
                              </a:solidFill>
                              <a:latin typeface="Cambria Math" panose="02040503050406030204"/>
                              <a:ea typeface="Cambria Math" panose="02040503050406030204"/>
                            </a:rPr>
                            <m:t>𝑛</m:t>
                          </m:r>
                        </m:den>
                      </m:f>
                    </m:oMath>
                  </m:oMathPara>
                </a14:m>
                <a:endParaRPr sz="1700"/>
              </a:p>
            </p:txBody>
          </p:sp>
        </mc:Choice>
        <mc:Fallback>
          <p:sp>
            <p:nvSpPr>
              <p:cNvPr id="9" name="eq_i_recurrence" descr="LaTeX: T(n)=T(n-2)+\frac{1}{\lg n}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2500" y="1457325"/>
                <a:ext cx="10287000" cy="552450"/>
              </a:xfrm>
              <a:prstGeom prst="rect">
                <a:avLst/>
              </a:prstGeom>
              <a:blipFill rotWithShape="1">
                <a:blip r:embed="rId1"/>
                <a:stretch>
                  <a:fillRect/>
                </a:stretch>
              </a:blipFill>
              <a:ln w="0"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step_i_0"/>
          <p:cNvSpPr>
            <a:spLocks noGrp="1"/>
          </p:cNvSpPr>
          <p:nvPr/>
        </p:nvSpPr>
        <p:spPr>
          <a:xfrm>
            <a:off x="952500" y="2143125"/>
            <a:ext cx="3048000" cy="2762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>
              <a:defRPr sz="1600" b="1">
                <a:solidFill>
                  <a:srgbClr val="1725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>
              <a:defRPr sz="1600" b="1">
                <a:solidFill>
                  <a:srgbClr val="1725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>
              <a:defRPr sz="1600" b="1">
                <a:solidFill>
                  <a:srgbClr val="1725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>
              <a:defRPr sz="1600" b="1">
                <a:solidFill>
                  <a:srgbClr val="1725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>
              <a:defRPr sz="1600" b="1">
                <a:solidFill>
                  <a:srgbClr val="1725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>
              <a:defRPr sz="1600" b="1">
                <a:solidFill>
                  <a:srgbClr val="1725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>
              <a:defRPr sz="1600" b="1">
                <a:solidFill>
                  <a:srgbClr val="1725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>
              <a:defRPr sz="1600" b="1">
                <a:solidFill>
                  <a:srgbClr val="1725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>
              <a:defRPr sz="1600" b="1">
                <a:solidFill>
                  <a:srgbClr val="1725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>
              <a:defRPr sz="1600" b="1">
                <a:solidFill>
                  <a:srgbClr val="1725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>
              <a:defRPr sz="1600" b="1">
                <a:solidFill>
                  <a:srgbClr val="1725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00" b="1">
                <a:solidFill>
                  <a:srgbClr val="1725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  展开为同奇偶求和</a:t>
            </a:r>
            <a:endParaRPr sz="1600" b="1">
              <a:solidFill>
                <a:srgbClr val="17255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note_i_0"/>
          <p:cNvSpPr>
            <a:spLocks noGrp="1"/>
          </p:cNvSpPr>
          <p:nvPr/>
        </p:nvSpPr>
        <p:spPr>
          <a:xfrm>
            <a:off x="952500" y="2447925"/>
            <a:ext cx="3086100" cy="5238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>
              <a:defRPr sz="1300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>
              <a:defRPr sz="1300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>
              <a:defRPr sz="1300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>
              <a:defRPr sz="1300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>
              <a:defRPr sz="1300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>
              <a:defRPr sz="1300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>
              <a:defRPr sz="1300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>
              <a:defRPr sz="1300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>
              <a:defRPr sz="1300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>
              <a:defRPr sz="1300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>
              <a:defRPr sz="1300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00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基例取 n₀=2 或 3。以下求和中的 k</a:t>
            </a:r>
            <a:endParaRPr sz="1300" b="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defRPr sz="1300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00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均与 n 同奇偶，且 k≥2。</a:t>
            </a:r>
            <a:endParaRPr sz="1300" b="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2" name="eq_i_0_0" descr="LaTeX: T(n)=T(n_0)+\sum_{k=n_0+2}^{n}\frac{1}{\lg k}"/>
              <p:cNvSpPr>
                <a:spLocks noGrp="1"/>
              </p:cNvSpPr>
              <p:nvPr/>
            </p:nvSpPr>
            <p:spPr>
              <a:xfrm>
                <a:off x="4333875" y="2066925"/>
                <a:ext cx="6810375" cy="419100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lIns="0" tIns="0" rIns="0" bIns="0" anchor="t"/>
              <a:lstStyle>
                <a:defPPr>
                  <a:defRPr sz="1600" b="0">
                    <a:solidFill>
                      <a:srgbClr val="1E293B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defRPr>
                </a:defPPr>
                <a:lvl1pPr>
                  <a:defRPr sz="1600" b="0">
                    <a:solidFill>
                      <a:srgbClr val="1E293B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defRPr>
                </a:lvl1pPr>
                <a:lvl2pPr>
                  <a:defRPr sz="1600" b="0">
                    <a:solidFill>
                      <a:srgbClr val="1E293B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defRPr>
                </a:lvl2pPr>
                <a:lvl3pPr>
                  <a:defRPr sz="1600" b="0">
                    <a:solidFill>
                      <a:srgbClr val="1E293B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defRPr>
                </a:lvl3pPr>
                <a:lvl4pPr>
                  <a:defRPr sz="1600" b="0">
                    <a:solidFill>
                      <a:srgbClr val="1E293B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defRPr>
                </a:lvl4pPr>
                <a:lvl5pPr>
                  <a:defRPr sz="1600" b="0">
                    <a:solidFill>
                      <a:srgbClr val="1E293B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defRPr>
                </a:lvl5pPr>
                <a:lvl6pPr>
                  <a:defRPr sz="1600" b="0">
                    <a:solidFill>
                      <a:srgbClr val="1E293B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defRPr>
                </a:lvl6pPr>
                <a:lvl7pPr>
                  <a:defRPr sz="1600" b="0">
                    <a:solidFill>
                      <a:srgbClr val="1E293B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defRPr>
                </a:lvl7pPr>
                <a:lvl8pPr>
                  <a:defRPr sz="1600" b="0">
                    <a:solidFill>
                      <a:srgbClr val="1E293B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defRPr>
                </a:lvl8pPr>
                <a:lvl9pPr>
                  <a:defRPr sz="1600" b="0">
                    <a:solidFill>
                      <a:srgbClr val="1E293B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defRPr>
                </a:lvl9pPr>
              </a:lstStyle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sz="1600" b="0" i="1">
                          <a:solidFill>
                            <a:srgbClr val="1E293B"/>
                          </a:solidFill>
                          <a:latin typeface="Cambria Math" panose="02040503050406030204"/>
                          <a:ea typeface="Cambria Math" panose="02040503050406030204"/>
                        </a:rPr>
                        <m:t>𝑇</m:t>
                      </m:r>
                      <m:d>
                        <m:dPr>
                          <m:ctrlPr>
                            <a:rPr sz="1600" b="0">
                              <a:solidFill>
                                <a:srgbClr val="1E293B"/>
                              </a:solidFill>
                              <a:latin typeface="Cambria Math" panose="02040503050406030204"/>
                              <a:ea typeface="微软雅黑" panose="020B0503020204020204" charset="-122"/>
                            </a:rPr>
                          </m:ctrlPr>
                        </m:dPr>
                        <m:e>
                          <m:r>
                            <a:rPr sz="1600" b="0" i="1">
                              <a:solidFill>
                                <a:srgbClr val="1E293B"/>
                              </a:solidFill>
                              <a:latin typeface="Cambria Math" panose="02040503050406030204"/>
                              <a:ea typeface="Cambria Math" panose="02040503050406030204"/>
                            </a:rPr>
                            <m:t>𝑛</m:t>
                          </m:r>
                        </m:e>
                      </m:d>
                      <m:r>
                        <a:rPr sz="1600" b="0" i="0">
                          <a:solidFill>
                            <a:srgbClr val="1E293B"/>
                          </a:solidFill>
                          <a:latin typeface="Cambria Math" panose="02040503050406030204"/>
                          <a:ea typeface="Cambria Math" panose="02040503050406030204"/>
                        </a:rPr>
                        <m:t>=</m:t>
                      </m:r>
                      <m:r>
                        <a:rPr sz="1600" b="0" i="1">
                          <a:solidFill>
                            <a:srgbClr val="1E293B"/>
                          </a:solidFill>
                          <a:latin typeface="Cambria Math" panose="02040503050406030204"/>
                          <a:ea typeface="Cambria Math" panose="02040503050406030204"/>
                        </a:rPr>
                        <m:t>𝑇</m:t>
                      </m:r>
                      <m:d>
                        <m:dPr>
                          <m:ctrlPr>
                            <a:rPr sz="1600" b="0">
                              <a:solidFill>
                                <a:srgbClr val="1E293B"/>
                              </a:solidFill>
                              <a:latin typeface="Cambria Math" panose="02040503050406030204"/>
                              <a:ea typeface="微软雅黑" panose="020B0503020204020204" charset="-122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sz="1600" b="0">
                                  <a:solidFill>
                                    <a:srgbClr val="1E293B"/>
                                  </a:solidFill>
                                  <a:latin typeface="Cambria Math" panose="02040503050406030204"/>
                                  <a:ea typeface="微软雅黑" panose="020B0503020204020204" charset="-122"/>
                                </a:rPr>
                              </m:ctrlPr>
                            </m:sSubPr>
                            <m:e>
                              <m:r>
                                <a:rPr sz="1600" b="0" i="1">
                                  <a:solidFill>
                                    <a:srgbClr val="1E293B"/>
                                  </a:solidFill>
                                  <a:latin typeface="Cambria Math" panose="02040503050406030204"/>
                                  <a:ea typeface="Cambria Math" panose="02040503050406030204"/>
                                </a:rPr>
                                <m:t>𝑛</m:t>
                              </m:r>
                            </m:e>
                            <m:sub>
                              <m:r>
                                <a:rPr sz="1600" b="0" i="0">
                                  <a:solidFill>
                                    <a:srgbClr val="1E293B"/>
                                  </a:solidFill>
                                  <a:latin typeface="Cambria Math" panose="02040503050406030204"/>
                                  <a:ea typeface="Cambria Math" panose="02040503050406030204"/>
                                </a:rPr>
                                <m:t>0</m:t>
                              </m:r>
                            </m:sub>
                          </m:sSub>
                        </m:e>
                      </m:d>
                      <m:r>
                        <a:rPr sz="1600" b="0" i="0">
                          <a:solidFill>
                            <a:srgbClr val="1E293B"/>
                          </a:solidFill>
                          <a:latin typeface="Cambria Math" panose="02040503050406030204"/>
                          <a:ea typeface="Cambria Math" panose="02040503050406030204"/>
                        </a:rPr>
                        <m:t>+</m:t>
                      </m:r>
                      <m:nary>
                        <m:naryPr>
                          <m:chr m:val="∑"/>
                          <m:grow m:val="on"/>
                          <m:limLoc m:val="subSup"/>
                          <m:ctrlPr>
                            <a:rPr sz="1600" b="0">
                              <a:solidFill>
                                <a:srgbClr val="1E293B"/>
                              </a:solidFill>
                              <a:latin typeface="Cambria Math" panose="02040503050406030204"/>
                              <a:ea typeface="微软雅黑" panose="020B0503020204020204" charset="-122"/>
                            </a:rPr>
                          </m:ctrlPr>
                        </m:naryPr>
                        <m:sub>
                          <m:r>
                            <a:rPr sz="1600" b="0" i="1">
                              <a:solidFill>
                                <a:srgbClr val="1E293B"/>
                              </a:solidFill>
                              <a:latin typeface="Cambria Math" panose="02040503050406030204"/>
                              <a:ea typeface="Cambria Math" panose="02040503050406030204"/>
                            </a:rPr>
                            <m:t>𝑘</m:t>
                          </m:r>
                          <m:r>
                            <a:rPr sz="1600" b="0" i="0">
                              <a:solidFill>
                                <a:srgbClr val="1E293B"/>
                              </a:solidFill>
                              <a:latin typeface="Cambria Math" panose="02040503050406030204"/>
                              <a:ea typeface="Cambria Math" panose="02040503050406030204"/>
                            </a:rPr>
                            <m:t>=</m:t>
                          </m:r>
                          <m:sSub>
                            <m:sSubPr>
                              <m:ctrlPr>
                                <a:rPr sz="1600" b="0">
                                  <a:solidFill>
                                    <a:srgbClr val="1E293B"/>
                                  </a:solidFill>
                                  <a:latin typeface="Cambria Math" panose="02040503050406030204"/>
                                  <a:ea typeface="微软雅黑" panose="020B0503020204020204" charset="-122"/>
                                </a:rPr>
                              </m:ctrlPr>
                            </m:sSubPr>
                            <m:e>
                              <m:r>
                                <a:rPr sz="1600" b="0" i="1">
                                  <a:solidFill>
                                    <a:srgbClr val="1E293B"/>
                                  </a:solidFill>
                                  <a:latin typeface="Cambria Math" panose="02040503050406030204"/>
                                  <a:ea typeface="Cambria Math" panose="02040503050406030204"/>
                                </a:rPr>
                                <m:t>𝑛</m:t>
                              </m:r>
                            </m:e>
                            <m:sub>
                              <m:r>
                                <a:rPr sz="1600" b="0" i="0">
                                  <a:solidFill>
                                    <a:srgbClr val="1E293B"/>
                                  </a:solidFill>
                                  <a:latin typeface="Cambria Math" panose="02040503050406030204"/>
                                  <a:ea typeface="Cambria Math" panose="02040503050406030204"/>
                                </a:rPr>
                                <m:t>0</m:t>
                              </m:r>
                            </m:sub>
                          </m:sSub>
                          <m:r>
                            <a:rPr sz="1600" b="0" i="0">
                              <a:solidFill>
                                <a:srgbClr val="1E293B"/>
                              </a:solidFill>
                              <a:latin typeface="Cambria Math" panose="02040503050406030204"/>
                              <a:ea typeface="Cambria Math" panose="02040503050406030204"/>
                            </a:rPr>
                            <m:t>+</m:t>
                          </m:r>
                          <m:r>
                            <a:rPr sz="1600" b="0" i="0">
                              <a:solidFill>
                                <a:srgbClr val="1E293B"/>
                              </a:solidFill>
                              <a:latin typeface="Cambria Math" panose="02040503050406030204"/>
                              <a:ea typeface="Cambria Math" panose="02040503050406030204"/>
                            </a:rPr>
                            <m:t>2</m:t>
                          </m:r>
                        </m:sub>
                        <m:sup>
                          <m:r>
                            <a:rPr sz="1600" b="0" i="1">
                              <a:solidFill>
                                <a:srgbClr val="1E293B"/>
                              </a:solidFill>
                              <a:latin typeface="Cambria Math" panose="02040503050406030204"/>
                              <a:ea typeface="Cambria Math" panose="02040503050406030204"/>
                            </a:rPr>
                            <m:t>𝑛</m:t>
                          </m:r>
                        </m:sup>
                        <m:e>
                          <m:f>
                            <m:fPr>
                              <m:ctrlPr>
                                <a:rPr sz="1600" b="0">
                                  <a:solidFill>
                                    <a:srgbClr val="1E293B"/>
                                  </a:solidFill>
                                  <a:latin typeface="Cambria Math" panose="02040503050406030204"/>
                                  <a:ea typeface="微软雅黑" panose="020B0503020204020204" charset="-122"/>
                                </a:rPr>
                              </m:ctrlPr>
                            </m:fPr>
                            <m:num>
                              <m:r>
                                <a:rPr sz="1600" b="0" i="0">
                                  <a:solidFill>
                                    <a:srgbClr val="1E293B"/>
                                  </a:solidFill>
                                  <a:latin typeface="Cambria Math" panose="02040503050406030204"/>
                                  <a:ea typeface="Cambria Math" panose="02040503050406030204"/>
                                </a:rPr>
                                <m:t>1</m:t>
                              </m:r>
                            </m:num>
                            <m:den>
                              <m:r>
                                <m:rPr>
                                  <m:sty m:val="p"/>
                                </m:rPr>
                                <a:rPr sz="1600" b="0" i="0">
                                  <a:solidFill>
                                    <a:srgbClr val="1E293B"/>
                                  </a:solidFill>
                                  <a:latin typeface="Cambria Math" panose="02040503050406030204"/>
                                  <a:ea typeface="Cambria Math" panose="02040503050406030204"/>
                                </a:rPr>
                                <m:t>lg</m:t>
                              </m:r>
                              <m:r>
                                <a:rPr sz="1600" b="0" i="1">
                                  <a:solidFill>
                                    <a:srgbClr val="1E293B"/>
                                  </a:solidFill>
                                  <a:latin typeface="Cambria Math" panose="02040503050406030204"/>
                                  <a:ea typeface="Cambria Math" panose="02040503050406030204"/>
                                </a:rPr>
                                <m:t>𝑘</m:t>
                              </m:r>
                            </m:den>
                          </m:f>
                        </m:e>
                      </m:nary>
                    </m:oMath>
                  </m:oMathPara>
                </a14:m>
                <a:endParaRPr sz="1600"/>
              </a:p>
            </p:txBody>
          </p:sp>
        </mc:Choice>
        <mc:Fallback>
          <p:sp>
            <p:nvSpPr>
              <p:cNvPr id="12" name="eq_i_0_0" descr="LaTeX: T(n)=T(n_0)+\sum_{k=n_0+2}^{n}\frac{1}{\lg k}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33875" y="2066925"/>
                <a:ext cx="6810375" cy="419100"/>
              </a:xfrm>
              <a:prstGeom prst="rect">
                <a:avLst/>
              </a:prstGeom>
              <a:blipFill rotWithShape="1">
                <a:blip r:embed="rId2"/>
                <a:stretch>
                  <a:fillRect b="-66818"/>
                </a:stretch>
              </a:blipFill>
              <a:ln w="0"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3" name="eq_i_0_1" descr="LaTeX: T(n_0)=\Theta(1)"/>
              <p:cNvSpPr>
                <a:spLocks noGrp="1"/>
              </p:cNvSpPr>
              <p:nvPr/>
            </p:nvSpPr>
            <p:spPr>
              <a:xfrm>
                <a:off x="3873500" y="2733675"/>
                <a:ext cx="6810375" cy="419100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lIns="0" tIns="0" rIns="0" bIns="0" anchor="t"/>
              <a:lstStyle>
                <a:defPPr>
                  <a:defRPr sz="1600" b="0">
                    <a:solidFill>
                      <a:srgbClr val="1E293B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defRPr>
                </a:defPPr>
                <a:lvl1pPr>
                  <a:defRPr sz="1600" b="0">
                    <a:solidFill>
                      <a:srgbClr val="1E293B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defRPr>
                </a:lvl1pPr>
                <a:lvl2pPr>
                  <a:defRPr sz="1600" b="0">
                    <a:solidFill>
                      <a:srgbClr val="1E293B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defRPr>
                </a:lvl2pPr>
                <a:lvl3pPr>
                  <a:defRPr sz="1600" b="0">
                    <a:solidFill>
                      <a:srgbClr val="1E293B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defRPr>
                </a:lvl3pPr>
                <a:lvl4pPr>
                  <a:defRPr sz="1600" b="0">
                    <a:solidFill>
                      <a:srgbClr val="1E293B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defRPr>
                </a:lvl4pPr>
                <a:lvl5pPr>
                  <a:defRPr sz="1600" b="0">
                    <a:solidFill>
                      <a:srgbClr val="1E293B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defRPr>
                </a:lvl5pPr>
                <a:lvl6pPr>
                  <a:defRPr sz="1600" b="0">
                    <a:solidFill>
                      <a:srgbClr val="1E293B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defRPr>
                </a:lvl6pPr>
                <a:lvl7pPr>
                  <a:defRPr sz="1600" b="0">
                    <a:solidFill>
                      <a:srgbClr val="1E293B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defRPr>
                </a:lvl7pPr>
                <a:lvl8pPr>
                  <a:defRPr sz="1600" b="0">
                    <a:solidFill>
                      <a:srgbClr val="1E293B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defRPr>
                </a:lvl8pPr>
                <a:lvl9pPr>
                  <a:defRPr sz="1600" b="0">
                    <a:solidFill>
                      <a:srgbClr val="1E293B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defRPr>
                </a:lvl9pPr>
              </a:lstStyle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sz="1600" b="0" i="1">
                          <a:solidFill>
                            <a:srgbClr val="1E293B"/>
                          </a:solidFill>
                          <a:latin typeface="Cambria Math" panose="02040503050406030204"/>
                          <a:ea typeface="Cambria Math" panose="02040503050406030204"/>
                        </a:rPr>
                        <m:t>𝑇</m:t>
                      </m:r>
                      <m:d>
                        <m:dPr>
                          <m:ctrlPr>
                            <a:rPr sz="1600" b="0">
                              <a:solidFill>
                                <a:srgbClr val="1E293B"/>
                              </a:solidFill>
                              <a:latin typeface="Cambria Math" panose="02040503050406030204"/>
                              <a:ea typeface="微软雅黑" panose="020B0503020204020204" charset="-122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sz="1600" b="0">
                                  <a:solidFill>
                                    <a:srgbClr val="1E293B"/>
                                  </a:solidFill>
                                  <a:latin typeface="Cambria Math" panose="02040503050406030204"/>
                                  <a:ea typeface="微软雅黑" panose="020B0503020204020204" charset="-122"/>
                                </a:rPr>
                              </m:ctrlPr>
                            </m:sSubPr>
                            <m:e>
                              <m:r>
                                <a:rPr sz="1600" b="0" i="1">
                                  <a:solidFill>
                                    <a:srgbClr val="1E293B"/>
                                  </a:solidFill>
                                  <a:latin typeface="Cambria Math" panose="02040503050406030204"/>
                                  <a:ea typeface="Cambria Math" panose="02040503050406030204"/>
                                </a:rPr>
                                <m:t>𝑛</m:t>
                              </m:r>
                            </m:e>
                            <m:sub>
                              <m:r>
                                <a:rPr sz="1600" b="0" i="0">
                                  <a:solidFill>
                                    <a:srgbClr val="1E293B"/>
                                  </a:solidFill>
                                  <a:latin typeface="Cambria Math" panose="02040503050406030204"/>
                                  <a:ea typeface="Cambria Math" panose="02040503050406030204"/>
                                </a:rPr>
                                <m:t>0</m:t>
                              </m:r>
                            </m:sub>
                          </m:sSub>
                        </m:e>
                      </m:d>
                      <m:r>
                        <a:rPr sz="1600" b="0" i="0">
                          <a:solidFill>
                            <a:srgbClr val="1E293B"/>
                          </a:solidFill>
                          <a:latin typeface="Cambria Math" panose="02040503050406030204"/>
                          <a:ea typeface="Cambria Math" panose="02040503050406030204"/>
                        </a:rPr>
                        <m:t>=</m:t>
                      </m:r>
                      <m:r>
                        <m:rPr>
                          <m:sty m:val="p"/>
                        </m:rPr>
                        <a:rPr sz="1600" b="0" i="0">
                          <a:solidFill>
                            <a:srgbClr val="1E293B"/>
                          </a:solidFill>
                          <a:latin typeface="Cambria Math" panose="02040503050406030204"/>
                          <a:ea typeface="Cambria Math" panose="02040503050406030204"/>
                        </a:rPr>
                        <m:t>Θ</m:t>
                      </m:r>
                      <m:d>
                        <m:dPr>
                          <m:ctrlPr>
                            <a:rPr sz="1600" b="0">
                              <a:solidFill>
                                <a:srgbClr val="1E293B"/>
                              </a:solidFill>
                              <a:latin typeface="Cambria Math" panose="02040503050406030204"/>
                              <a:ea typeface="微软雅黑" panose="020B0503020204020204" charset="-122"/>
                            </a:rPr>
                          </m:ctrlPr>
                        </m:dPr>
                        <m:e>
                          <m:r>
                            <a:rPr sz="1600" b="0" i="0">
                              <a:solidFill>
                                <a:srgbClr val="1E293B"/>
                              </a:solidFill>
                              <a:latin typeface="Cambria Math" panose="02040503050406030204"/>
                              <a:ea typeface="Cambria Math" panose="02040503050406030204"/>
                            </a:rPr>
                            <m:t>1</m:t>
                          </m:r>
                        </m:e>
                      </m:d>
                    </m:oMath>
                  </m:oMathPara>
                </a14:m>
                <a:endParaRPr sz="1600"/>
              </a:p>
            </p:txBody>
          </p:sp>
        </mc:Choice>
        <mc:Fallback>
          <p:sp>
            <p:nvSpPr>
              <p:cNvPr id="13" name="eq_i_0_1" descr="LaTeX: T(n_0)=\Theta(1)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73500" y="2733675"/>
                <a:ext cx="6810375" cy="419100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  <a:ln w="0"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step_i_1"/>
          <p:cNvSpPr>
            <a:spLocks noGrp="1"/>
          </p:cNvSpPr>
          <p:nvPr/>
        </p:nvSpPr>
        <p:spPr>
          <a:xfrm>
            <a:off x="952500" y="3000375"/>
            <a:ext cx="3048000" cy="2762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>
              <a:defRPr sz="1600" b="1">
                <a:solidFill>
                  <a:srgbClr val="1725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>
              <a:defRPr sz="1600" b="1">
                <a:solidFill>
                  <a:srgbClr val="1725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>
              <a:defRPr sz="1600" b="1">
                <a:solidFill>
                  <a:srgbClr val="1725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>
              <a:defRPr sz="1600" b="1">
                <a:solidFill>
                  <a:srgbClr val="1725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>
              <a:defRPr sz="1600" b="1">
                <a:solidFill>
                  <a:srgbClr val="1725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>
              <a:defRPr sz="1600" b="1">
                <a:solidFill>
                  <a:srgbClr val="1725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>
              <a:defRPr sz="1600" b="1">
                <a:solidFill>
                  <a:srgbClr val="1725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>
              <a:defRPr sz="1600" b="1">
                <a:solidFill>
                  <a:srgbClr val="1725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>
              <a:defRPr sz="1600" b="1">
                <a:solidFill>
                  <a:srgbClr val="1725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>
              <a:defRPr sz="1600" b="1">
                <a:solidFill>
                  <a:srgbClr val="1725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>
              <a:defRPr sz="1600" b="1">
                <a:solidFill>
                  <a:srgbClr val="1725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00" b="1">
                <a:solidFill>
                  <a:srgbClr val="1725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  分段估计上界</a:t>
            </a:r>
            <a:endParaRPr sz="1600" b="1">
              <a:solidFill>
                <a:srgbClr val="17255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note_i_1"/>
          <p:cNvSpPr>
            <a:spLocks noGrp="1"/>
          </p:cNvSpPr>
          <p:nvPr/>
        </p:nvSpPr>
        <p:spPr>
          <a:xfrm>
            <a:off x="952500" y="3305175"/>
            <a:ext cx="3086100" cy="5238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>
              <a:defRPr sz="1300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>
              <a:defRPr sz="1300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>
              <a:defRPr sz="1300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>
              <a:defRPr sz="1300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>
              <a:defRPr sz="1300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>
              <a:defRPr sz="1300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>
              <a:defRPr sz="1300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>
              <a:defRPr sz="1300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>
              <a:defRPr sz="1300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>
              <a:defRPr sz="1300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>
              <a:defRPr sz="1300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00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在 √n 处分成两段。第一段少于 √n 项，</a:t>
            </a:r>
            <a:endParaRPr sz="1300" b="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defRPr sz="1300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00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每项≤1；第二段每项≤2/lg n。</a:t>
            </a:r>
            <a:endParaRPr sz="1300" b="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6" name="eq_i_1_0" descr="LaTeX: \sum_{k&lt;\sqrt n}\frac{1}{\lg k}\le\sqrt n"/>
              <p:cNvSpPr>
                <a:spLocks noGrp="1"/>
              </p:cNvSpPr>
              <p:nvPr/>
            </p:nvSpPr>
            <p:spPr>
              <a:xfrm>
                <a:off x="4277995" y="3142615"/>
                <a:ext cx="6810375" cy="419100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lIns="0" tIns="0" rIns="0" bIns="0" anchor="t"/>
              <a:lstStyle>
                <a:defPPr>
                  <a:defRPr sz="1600" b="0">
                    <a:solidFill>
                      <a:srgbClr val="1E293B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defRPr>
                </a:defPPr>
                <a:lvl1pPr>
                  <a:defRPr sz="1600" b="0">
                    <a:solidFill>
                      <a:srgbClr val="1E293B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defRPr>
                </a:lvl1pPr>
                <a:lvl2pPr>
                  <a:defRPr sz="1600" b="0">
                    <a:solidFill>
                      <a:srgbClr val="1E293B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defRPr>
                </a:lvl2pPr>
                <a:lvl3pPr>
                  <a:defRPr sz="1600" b="0">
                    <a:solidFill>
                      <a:srgbClr val="1E293B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defRPr>
                </a:lvl3pPr>
                <a:lvl4pPr>
                  <a:defRPr sz="1600" b="0">
                    <a:solidFill>
                      <a:srgbClr val="1E293B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defRPr>
                </a:lvl4pPr>
                <a:lvl5pPr>
                  <a:defRPr sz="1600" b="0">
                    <a:solidFill>
                      <a:srgbClr val="1E293B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defRPr>
                </a:lvl5pPr>
                <a:lvl6pPr>
                  <a:defRPr sz="1600" b="0">
                    <a:solidFill>
                      <a:srgbClr val="1E293B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defRPr>
                </a:lvl6pPr>
                <a:lvl7pPr>
                  <a:defRPr sz="1600" b="0">
                    <a:solidFill>
                      <a:srgbClr val="1E293B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defRPr>
                </a:lvl7pPr>
                <a:lvl8pPr>
                  <a:defRPr sz="1600" b="0">
                    <a:solidFill>
                      <a:srgbClr val="1E293B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defRPr>
                </a:lvl8pPr>
                <a:lvl9pPr>
                  <a:defRPr sz="1600" b="0">
                    <a:solidFill>
                      <a:srgbClr val="1E293B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defRPr>
                </a:lvl9pPr>
              </a:lstStyle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grow m:val="on"/>
                          <m:limLoc m:val="subSup"/>
                          <m:supHide m:val="on"/>
                          <m:ctrlPr>
                            <a:rPr sz="1600" b="0">
                              <a:solidFill>
                                <a:srgbClr val="1E293B"/>
                              </a:solidFill>
                              <a:latin typeface="Cambria Math" panose="02040503050406030204"/>
                              <a:ea typeface="微软雅黑" panose="020B0503020204020204" charset="-122"/>
                            </a:rPr>
                          </m:ctrlPr>
                        </m:naryPr>
                        <m:sub>
                          <m:r>
                            <a:rPr sz="1600" b="0" i="1">
                              <a:solidFill>
                                <a:srgbClr val="1E293B"/>
                              </a:solidFill>
                              <a:latin typeface="Cambria Math" panose="02040503050406030204"/>
                              <a:ea typeface="Cambria Math" panose="02040503050406030204"/>
                            </a:rPr>
                            <m:t>𝑘</m:t>
                          </m:r>
                          <m:r>
                            <a:rPr sz="1600" b="0" i="0">
                              <a:solidFill>
                                <a:srgbClr val="1E293B"/>
                              </a:solidFill>
                              <a:latin typeface="Cambria Math" panose="02040503050406030204"/>
                              <a:ea typeface="Cambria Math" panose="02040503050406030204"/>
                            </a:rPr>
                            <m:t>&lt;</m:t>
                          </m:r>
                          <m:rad>
                            <m:radPr>
                              <m:degHide m:val="on"/>
                              <m:ctrlPr>
                                <a:rPr sz="1600" b="0">
                                  <a:solidFill>
                                    <a:srgbClr val="1E293B"/>
                                  </a:solidFill>
                                  <a:latin typeface="Cambria Math" panose="02040503050406030204"/>
                                  <a:ea typeface="微软雅黑" panose="020B0503020204020204" charset="-122"/>
                                </a:rPr>
                              </m:ctrlPr>
                            </m:radPr>
                            <m:deg/>
                            <m:e>
                              <m:r>
                                <a:rPr sz="1600" b="0" i="1">
                                  <a:solidFill>
                                    <a:srgbClr val="1E293B"/>
                                  </a:solidFill>
                                  <a:latin typeface="Cambria Math" panose="02040503050406030204"/>
                                  <a:ea typeface="Cambria Math" panose="02040503050406030204"/>
                                </a:rPr>
                                <m:t>𝑛</m:t>
                              </m:r>
                            </m:e>
                          </m:rad>
                        </m:sub>
                        <m:sup/>
                        <m:e>
                          <m:f>
                            <m:fPr>
                              <m:ctrlPr>
                                <a:rPr sz="1600" b="0">
                                  <a:solidFill>
                                    <a:srgbClr val="1E293B"/>
                                  </a:solidFill>
                                  <a:latin typeface="Cambria Math" panose="02040503050406030204"/>
                                  <a:ea typeface="微软雅黑" panose="020B0503020204020204" charset="-122"/>
                                </a:rPr>
                              </m:ctrlPr>
                            </m:fPr>
                            <m:num>
                              <m:r>
                                <a:rPr sz="1600" b="0" i="0">
                                  <a:solidFill>
                                    <a:srgbClr val="1E293B"/>
                                  </a:solidFill>
                                  <a:latin typeface="Cambria Math" panose="02040503050406030204"/>
                                  <a:ea typeface="Cambria Math" panose="02040503050406030204"/>
                                </a:rPr>
                                <m:t>1</m:t>
                              </m:r>
                            </m:num>
                            <m:den>
                              <m:r>
                                <m:rPr>
                                  <m:sty m:val="p"/>
                                </m:rPr>
                                <a:rPr sz="1600" b="0" i="0">
                                  <a:solidFill>
                                    <a:srgbClr val="1E293B"/>
                                  </a:solidFill>
                                  <a:latin typeface="Cambria Math" panose="02040503050406030204"/>
                                  <a:ea typeface="Cambria Math" panose="02040503050406030204"/>
                                </a:rPr>
                                <m:t>lg</m:t>
                              </m:r>
                              <m:r>
                                <a:rPr sz="1600" b="0" i="1">
                                  <a:solidFill>
                                    <a:srgbClr val="1E293B"/>
                                  </a:solidFill>
                                  <a:latin typeface="Cambria Math" panose="02040503050406030204"/>
                                  <a:ea typeface="Cambria Math" panose="02040503050406030204"/>
                                </a:rPr>
                                <m:t>𝑘</m:t>
                              </m:r>
                            </m:den>
                          </m:f>
                        </m:e>
                      </m:nary>
                      <m:r>
                        <a:rPr sz="1600" b="0" i="0">
                          <a:solidFill>
                            <a:srgbClr val="1E293B"/>
                          </a:solidFill>
                          <a:latin typeface="Cambria Math" panose="02040503050406030204"/>
                          <a:ea typeface="Cambria Math" panose="02040503050406030204"/>
                        </a:rPr>
                        <m:t>≤</m:t>
                      </m:r>
                      <m:rad>
                        <m:radPr>
                          <m:degHide m:val="on"/>
                          <m:ctrlPr>
                            <a:rPr sz="1600" b="0">
                              <a:solidFill>
                                <a:srgbClr val="1E293B"/>
                              </a:solidFill>
                              <a:latin typeface="Cambria Math" panose="02040503050406030204"/>
                              <a:ea typeface="微软雅黑" panose="020B0503020204020204" charset="-122"/>
                            </a:rPr>
                          </m:ctrlPr>
                        </m:radPr>
                        <m:deg/>
                        <m:e>
                          <m:r>
                            <a:rPr sz="1600" b="0" i="1">
                              <a:solidFill>
                                <a:srgbClr val="1E293B"/>
                              </a:solidFill>
                              <a:latin typeface="Cambria Math" panose="02040503050406030204"/>
                              <a:ea typeface="Cambria Math" panose="02040503050406030204"/>
                            </a:rPr>
                            <m:t>𝑛</m:t>
                          </m:r>
                        </m:e>
                      </m:rad>
                    </m:oMath>
                  </m:oMathPara>
                </a14:m>
                <a:endParaRPr sz="1600"/>
              </a:p>
            </p:txBody>
          </p:sp>
        </mc:Choice>
        <mc:Fallback>
          <p:sp>
            <p:nvSpPr>
              <p:cNvPr id="16" name="eq_i_1_0" descr="LaTeX: \sum_{k&lt;\sqrt n}\frac{1}{\lg k}\le\sqrt n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77995" y="3142615"/>
                <a:ext cx="6810375" cy="419100"/>
              </a:xfrm>
              <a:prstGeom prst="rect">
                <a:avLst/>
              </a:prstGeom>
              <a:blipFill rotWithShape="1">
                <a:blip r:embed="rId4"/>
                <a:stretch>
                  <a:fillRect b="-59848"/>
                </a:stretch>
              </a:blipFill>
              <a:ln w="0"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7" name="eq_i_1_1" descr="LaTeX: \sum_{k\ge\sqrt n}\frac{1}{\lg k}\le\frac{2n}{\lg n}"/>
              <p:cNvSpPr>
                <a:spLocks noGrp="1"/>
              </p:cNvSpPr>
              <p:nvPr/>
            </p:nvSpPr>
            <p:spPr>
              <a:xfrm>
                <a:off x="4277995" y="3804285"/>
                <a:ext cx="6810375" cy="419100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lIns="0" tIns="0" rIns="0" bIns="0" anchor="t"/>
              <a:lstStyle>
                <a:defPPr>
                  <a:defRPr sz="1600" b="0">
                    <a:solidFill>
                      <a:srgbClr val="1E293B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defRPr>
                </a:defPPr>
                <a:lvl1pPr>
                  <a:defRPr sz="1600" b="0">
                    <a:solidFill>
                      <a:srgbClr val="1E293B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defRPr>
                </a:lvl1pPr>
                <a:lvl2pPr>
                  <a:defRPr sz="1600" b="0">
                    <a:solidFill>
                      <a:srgbClr val="1E293B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defRPr>
                </a:lvl2pPr>
                <a:lvl3pPr>
                  <a:defRPr sz="1600" b="0">
                    <a:solidFill>
                      <a:srgbClr val="1E293B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defRPr>
                </a:lvl3pPr>
                <a:lvl4pPr>
                  <a:defRPr sz="1600" b="0">
                    <a:solidFill>
                      <a:srgbClr val="1E293B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defRPr>
                </a:lvl4pPr>
                <a:lvl5pPr>
                  <a:defRPr sz="1600" b="0">
                    <a:solidFill>
                      <a:srgbClr val="1E293B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defRPr>
                </a:lvl5pPr>
                <a:lvl6pPr>
                  <a:defRPr sz="1600" b="0">
                    <a:solidFill>
                      <a:srgbClr val="1E293B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defRPr>
                </a:lvl6pPr>
                <a:lvl7pPr>
                  <a:defRPr sz="1600" b="0">
                    <a:solidFill>
                      <a:srgbClr val="1E293B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defRPr>
                </a:lvl7pPr>
                <a:lvl8pPr>
                  <a:defRPr sz="1600" b="0">
                    <a:solidFill>
                      <a:srgbClr val="1E293B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defRPr>
                </a:lvl8pPr>
                <a:lvl9pPr>
                  <a:defRPr sz="1600" b="0">
                    <a:solidFill>
                      <a:srgbClr val="1E293B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defRPr>
                </a:lvl9pPr>
              </a:lstStyle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grow m:val="on"/>
                          <m:limLoc m:val="subSup"/>
                          <m:supHide m:val="on"/>
                          <m:ctrlPr>
                            <a:rPr sz="1600" b="0">
                              <a:solidFill>
                                <a:srgbClr val="1E293B"/>
                              </a:solidFill>
                              <a:latin typeface="Cambria Math" panose="02040503050406030204"/>
                              <a:ea typeface="微软雅黑" panose="020B0503020204020204" charset="-122"/>
                            </a:rPr>
                          </m:ctrlPr>
                        </m:naryPr>
                        <m:sub>
                          <m:r>
                            <a:rPr sz="1600" b="0" i="1">
                              <a:solidFill>
                                <a:srgbClr val="1E293B"/>
                              </a:solidFill>
                              <a:latin typeface="Cambria Math" panose="02040503050406030204"/>
                              <a:ea typeface="Cambria Math" panose="02040503050406030204"/>
                            </a:rPr>
                            <m:t>𝑘</m:t>
                          </m:r>
                          <m:r>
                            <a:rPr sz="1600" b="0" i="0">
                              <a:solidFill>
                                <a:srgbClr val="1E293B"/>
                              </a:solidFill>
                              <a:latin typeface="Cambria Math" panose="02040503050406030204"/>
                              <a:ea typeface="Cambria Math" panose="02040503050406030204"/>
                            </a:rPr>
                            <m:t>≥</m:t>
                          </m:r>
                          <m:rad>
                            <m:radPr>
                              <m:degHide m:val="on"/>
                              <m:ctrlPr>
                                <a:rPr sz="1600" b="0">
                                  <a:solidFill>
                                    <a:srgbClr val="1E293B"/>
                                  </a:solidFill>
                                  <a:latin typeface="Cambria Math" panose="02040503050406030204"/>
                                  <a:ea typeface="微软雅黑" panose="020B0503020204020204" charset="-122"/>
                                </a:rPr>
                              </m:ctrlPr>
                            </m:radPr>
                            <m:deg/>
                            <m:e>
                              <m:r>
                                <a:rPr sz="1600" b="0" i="1">
                                  <a:solidFill>
                                    <a:srgbClr val="1E293B"/>
                                  </a:solidFill>
                                  <a:latin typeface="Cambria Math" panose="02040503050406030204"/>
                                  <a:ea typeface="Cambria Math" panose="02040503050406030204"/>
                                </a:rPr>
                                <m:t>𝑛</m:t>
                              </m:r>
                            </m:e>
                          </m:rad>
                        </m:sub>
                        <m:sup/>
                        <m:e>
                          <m:f>
                            <m:fPr>
                              <m:ctrlPr>
                                <a:rPr sz="1600" b="0">
                                  <a:solidFill>
                                    <a:srgbClr val="1E293B"/>
                                  </a:solidFill>
                                  <a:latin typeface="Cambria Math" panose="02040503050406030204"/>
                                  <a:ea typeface="微软雅黑" panose="020B0503020204020204" charset="-122"/>
                                </a:rPr>
                              </m:ctrlPr>
                            </m:fPr>
                            <m:num>
                              <m:r>
                                <a:rPr sz="1600" b="0" i="0">
                                  <a:solidFill>
                                    <a:srgbClr val="1E293B"/>
                                  </a:solidFill>
                                  <a:latin typeface="Cambria Math" panose="02040503050406030204"/>
                                  <a:ea typeface="Cambria Math" panose="02040503050406030204"/>
                                </a:rPr>
                                <m:t>1</m:t>
                              </m:r>
                            </m:num>
                            <m:den>
                              <m:r>
                                <m:rPr>
                                  <m:sty m:val="p"/>
                                </m:rPr>
                                <a:rPr sz="1600" b="0" i="0">
                                  <a:solidFill>
                                    <a:srgbClr val="1E293B"/>
                                  </a:solidFill>
                                  <a:latin typeface="Cambria Math" panose="02040503050406030204"/>
                                  <a:ea typeface="Cambria Math" panose="02040503050406030204"/>
                                </a:rPr>
                                <m:t>lg</m:t>
                              </m:r>
                              <m:r>
                                <a:rPr sz="1600" b="0" i="1">
                                  <a:solidFill>
                                    <a:srgbClr val="1E293B"/>
                                  </a:solidFill>
                                  <a:latin typeface="Cambria Math" panose="02040503050406030204"/>
                                  <a:ea typeface="Cambria Math" panose="02040503050406030204"/>
                                </a:rPr>
                                <m:t>𝑘</m:t>
                              </m:r>
                            </m:den>
                          </m:f>
                        </m:e>
                      </m:nary>
                      <m:r>
                        <a:rPr sz="1600" b="0" i="0">
                          <a:solidFill>
                            <a:srgbClr val="1E293B"/>
                          </a:solidFill>
                          <a:latin typeface="Cambria Math" panose="02040503050406030204"/>
                          <a:ea typeface="Cambria Math" panose="02040503050406030204"/>
                        </a:rPr>
                        <m:t>≤</m:t>
                      </m:r>
                      <m:f>
                        <m:fPr>
                          <m:ctrlPr>
                            <a:rPr sz="1600" b="0">
                              <a:solidFill>
                                <a:srgbClr val="1E293B"/>
                              </a:solidFill>
                              <a:latin typeface="Cambria Math" panose="02040503050406030204"/>
                              <a:ea typeface="微软雅黑" panose="020B0503020204020204" charset="-122"/>
                            </a:rPr>
                          </m:ctrlPr>
                        </m:fPr>
                        <m:num>
                          <m:r>
                            <a:rPr sz="1600" b="0" i="0">
                              <a:solidFill>
                                <a:srgbClr val="1E293B"/>
                              </a:solidFill>
                              <a:latin typeface="Cambria Math" panose="02040503050406030204"/>
                              <a:ea typeface="Cambria Math" panose="02040503050406030204"/>
                            </a:rPr>
                            <m:t>2</m:t>
                          </m:r>
                          <m:r>
                            <a:rPr sz="1600" b="0" i="1">
                              <a:solidFill>
                                <a:srgbClr val="1E293B"/>
                              </a:solidFill>
                              <a:latin typeface="Cambria Math" panose="02040503050406030204"/>
                              <a:ea typeface="Cambria Math" panose="02040503050406030204"/>
                            </a:rPr>
                            <m:t>𝑛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sz="1600" b="0" i="0">
                              <a:solidFill>
                                <a:srgbClr val="1E293B"/>
                              </a:solidFill>
                              <a:latin typeface="Cambria Math" panose="02040503050406030204"/>
                              <a:ea typeface="Cambria Math" panose="02040503050406030204"/>
                            </a:rPr>
                            <m:t>lg</m:t>
                          </m:r>
                          <m:r>
                            <a:rPr sz="1600" b="0" i="1">
                              <a:solidFill>
                                <a:srgbClr val="1E293B"/>
                              </a:solidFill>
                              <a:latin typeface="Cambria Math" panose="02040503050406030204"/>
                              <a:ea typeface="Cambria Math" panose="02040503050406030204"/>
                            </a:rPr>
                            <m:t>𝑛</m:t>
                          </m:r>
                        </m:den>
                      </m:f>
                    </m:oMath>
                  </m:oMathPara>
                </a14:m>
                <a:endParaRPr sz="1600"/>
              </a:p>
            </p:txBody>
          </p:sp>
        </mc:Choice>
        <mc:Fallback>
          <p:sp>
            <p:nvSpPr>
              <p:cNvPr id="17" name="eq_i_1_1" descr="LaTeX: \sum_{k\ge\sqrt n}\frac{1}{\lg k}\le\frac{2n}{\lg n}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77995" y="3804285"/>
                <a:ext cx="6810375" cy="419100"/>
              </a:xfrm>
              <a:prstGeom prst="rect">
                <a:avLst/>
              </a:prstGeom>
              <a:blipFill rotWithShape="1">
                <a:blip r:embed="rId5"/>
                <a:stretch>
                  <a:fillRect b="-59848"/>
                </a:stretch>
              </a:blipFill>
              <a:ln w="0"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step_i_2"/>
          <p:cNvSpPr>
            <a:spLocks noGrp="1"/>
          </p:cNvSpPr>
          <p:nvPr/>
        </p:nvSpPr>
        <p:spPr>
          <a:xfrm>
            <a:off x="952500" y="3857625"/>
            <a:ext cx="3048000" cy="2762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>
              <a:defRPr sz="1600" b="1">
                <a:solidFill>
                  <a:srgbClr val="1725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>
              <a:defRPr sz="1600" b="1">
                <a:solidFill>
                  <a:srgbClr val="1725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>
              <a:defRPr sz="1600" b="1">
                <a:solidFill>
                  <a:srgbClr val="1725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>
              <a:defRPr sz="1600" b="1">
                <a:solidFill>
                  <a:srgbClr val="1725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>
              <a:defRPr sz="1600" b="1">
                <a:solidFill>
                  <a:srgbClr val="1725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>
              <a:defRPr sz="1600" b="1">
                <a:solidFill>
                  <a:srgbClr val="1725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>
              <a:defRPr sz="1600" b="1">
                <a:solidFill>
                  <a:srgbClr val="1725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>
              <a:defRPr sz="1600" b="1">
                <a:solidFill>
                  <a:srgbClr val="1725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>
              <a:defRPr sz="1600" b="1">
                <a:solidFill>
                  <a:srgbClr val="1725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>
              <a:defRPr sz="1600" b="1">
                <a:solidFill>
                  <a:srgbClr val="1725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>
              <a:defRPr sz="1600" b="1">
                <a:solidFill>
                  <a:srgbClr val="1725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00" b="1">
                <a:solidFill>
                  <a:srgbClr val="1725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  合并上界</a:t>
            </a:r>
            <a:endParaRPr sz="1600" b="1">
              <a:solidFill>
                <a:srgbClr val="17255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note_i_2"/>
          <p:cNvSpPr>
            <a:spLocks noGrp="1"/>
          </p:cNvSpPr>
          <p:nvPr/>
        </p:nvSpPr>
        <p:spPr>
          <a:xfrm>
            <a:off x="952500" y="4162425"/>
            <a:ext cx="3086100" cy="5238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>
              <a:defRPr sz="1300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>
              <a:defRPr sz="1300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>
              <a:defRPr sz="1300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>
              <a:defRPr sz="1300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>
              <a:defRPr sz="1300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>
              <a:defRPr sz="1300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>
              <a:defRPr sz="1300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>
              <a:defRPr sz="1300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>
              <a:defRPr sz="1300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>
              <a:defRPr sz="1300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>
              <a:defRPr sz="1300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00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√n 比 n/lg n 增长慢。</a:t>
            </a:r>
            <a:endParaRPr sz="1300" b="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0" name="eq_i_2_0" descr="LaTeX: T(n)=O(\sqrt n+\frac{n}{\lg n})=O(\frac{n}{\lg n})"/>
              <p:cNvSpPr>
                <a:spLocks noGrp="1"/>
              </p:cNvSpPr>
              <p:nvPr/>
            </p:nvSpPr>
            <p:spPr>
              <a:xfrm>
                <a:off x="4178935" y="4443095"/>
                <a:ext cx="6810375" cy="419100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lIns="0" tIns="0" rIns="0" bIns="0" anchor="t"/>
              <a:lstStyle>
                <a:defPPr>
                  <a:defRPr sz="1600" b="0">
                    <a:solidFill>
                      <a:srgbClr val="1E293B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defRPr>
                </a:defPPr>
                <a:lvl1pPr>
                  <a:defRPr sz="1600" b="0">
                    <a:solidFill>
                      <a:srgbClr val="1E293B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defRPr>
                </a:lvl1pPr>
                <a:lvl2pPr>
                  <a:defRPr sz="1600" b="0">
                    <a:solidFill>
                      <a:srgbClr val="1E293B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defRPr>
                </a:lvl2pPr>
                <a:lvl3pPr>
                  <a:defRPr sz="1600" b="0">
                    <a:solidFill>
                      <a:srgbClr val="1E293B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defRPr>
                </a:lvl3pPr>
                <a:lvl4pPr>
                  <a:defRPr sz="1600" b="0">
                    <a:solidFill>
                      <a:srgbClr val="1E293B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defRPr>
                </a:lvl4pPr>
                <a:lvl5pPr>
                  <a:defRPr sz="1600" b="0">
                    <a:solidFill>
                      <a:srgbClr val="1E293B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defRPr>
                </a:lvl5pPr>
                <a:lvl6pPr>
                  <a:defRPr sz="1600" b="0">
                    <a:solidFill>
                      <a:srgbClr val="1E293B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defRPr>
                </a:lvl6pPr>
                <a:lvl7pPr>
                  <a:defRPr sz="1600" b="0">
                    <a:solidFill>
                      <a:srgbClr val="1E293B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defRPr>
                </a:lvl7pPr>
                <a:lvl8pPr>
                  <a:defRPr sz="1600" b="0">
                    <a:solidFill>
                      <a:srgbClr val="1E293B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defRPr>
                </a:lvl8pPr>
                <a:lvl9pPr>
                  <a:defRPr sz="1600" b="0">
                    <a:solidFill>
                      <a:srgbClr val="1E293B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defRPr>
                </a:lvl9pPr>
              </a:lstStyle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sz="1600" b="0" i="1">
                          <a:solidFill>
                            <a:srgbClr val="1E293B"/>
                          </a:solidFill>
                          <a:latin typeface="Cambria Math" panose="02040503050406030204"/>
                          <a:ea typeface="Cambria Math" panose="02040503050406030204"/>
                        </a:rPr>
                        <m:t>𝑇</m:t>
                      </m:r>
                      <m:d>
                        <m:dPr>
                          <m:ctrlPr>
                            <a:rPr sz="1600" b="0">
                              <a:solidFill>
                                <a:srgbClr val="1E293B"/>
                              </a:solidFill>
                              <a:latin typeface="Cambria Math" panose="02040503050406030204"/>
                              <a:ea typeface="微软雅黑" panose="020B0503020204020204" charset="-122"/>
                            </a:rPr>
                          </m:ctrlPr>
                        </m:dPr>
                        <m:e>
                          <m:r>
                            <a:rPr sz="1600" b="0" i="1">
                              <a:solidFill>
                                <a:srgbClr val="1E293B"/>
                              </a:solidFill>
                              <a:latin typeface="Cambria Math" panose="02040503050406030204"/>
                              <a:ea typeface="Cambria Math" panose="02040503050406030204"/>
                            </a:rPr>
                            <m:t>𝑛</m:t>
                          </m:r>
                        </m:e>
                      </m:d>
                      <m:r>
                        <a:rPr sz="1600" b="0" i="0">
                          <a:solidFill>
                            <a:srgbClr val="1E293B"/>
                          </a:solidFill>
                          <a:latin typeface="Cambria Math" panose="02040503050406030204"/>
                          <a:ea typeface="Cambria Math" panose="02040503050406030204"/>
                        </a:rPr>
                        <m:t>=</m:t>
                      </m:r>
                      <m:r>
                        <a:rPr sz="1600" b="0" i="1">
                          <a:solidFill>
                            <a:srgbClr val="1E293B"/>
                          </a:solidFill>
                          <a:latin typeface="Cambria Math" panose="02040503050406030204"/>
                          <a:ea typeface="Cambria Math" panose="02040503050406030204"/>
                        </a:rPr>
                        <m:t>𝑂</m:t>
                      </m:r>
                      <m:d>
                        <m:dPr>
                          <m:ctrlPr>
                            <a:rPr sz="1600" b="0">
                              <a:solidFill>
                                <a:srgbClr val="1E293B"/>
                              </a:solidFill>
                              <a:latin typeface="Cambria Math" panose="02040503050406030204"/>
                              <a:ea typeface="微软雅黑" panose="020B0503020204020204" charset="-122"/>
                            </a:rPr>
                          </m:ctrlPr>
                        </m:dPr>
                        <m:e>
                          <m:rad>
                            <m:radPr>
                              <m:degHide m:val="on"/>
                              <m:ctrlPr>
                                <a:rPr sz="1600" b="0">
                                  <a:solidFill>
                                    <a:srgbClr val="1E293B"/>
                                  </a:solidFill>
                                  <a:latin typeface="Cambria Math" panose="02040503050406030204"/>
                                  <a:ea typeface="微软雅黑" panose="020B0503020204020204" charset="-122"/>
                                </a:rPr>
                              </m:ctrlPr>
                            </m:radPr>
                            <m:deg/>
                            <m:e>
                              <m:r>
                                <a:rPr sz="1600" b="0" i="1">
                                  <a:solidFill>
                                    <a:srgbClr val="1E293B"/>
                                  </a:solidFill>
                                  <a:latin typeface="Cambria Math" panose="02040503050406030204"/>
                                  <a:ea typeface="Cambria Math" panose="02040503050406030204"/>
                                </a:rPr>
                                <m:t>𝑛</m:t>
                              </m:r>
                            </m:e>
                          </m:rad>
                          <m:r>
                            <a:rPr sz="1600" b="0" i="0">
                              <a:solidFill>
                                <a:srgbClr val="1E293B"/>
                              </a:solidFill>
                              <a:latin typeface="Cambria Math" panose="02040503050406030204"/>
                              <a:ea typeface="Cambria Math" panose="02040503050406030204"/>
                            </a:rPr>
                            <m:t>+</m:t>
                          </m:r>
                          <m:f>
                            <m:fPr>
                              <m:ctrlPr>
                                <a:rPr sz="1600" b="0">
                                  <a:solidFill>
                                    <a:srgbClr val="1E293B"/>
                                  </a:solidFill>
                                  <a:latin typeface="Cambria Math" panose="02040503050406030204"/>
                                  <a:ea typeface="微软雅黑" panose="020B0503020204020204" charset="-122"/>
                                </a:rPr>
                              </m:ctrlPr>
                            </m:fPr>
                            <m:num>
                              <m:r>
                                <a:rPr sz="1600" b="0" i="1">
                                  <a:solidFill>
                                    <a:srgbClr val="1E293B"/>
                                  </a:solidFill>
                                  <a:latin typeface="Cambria Math" panose="02040503050406030204"/>
                                  <a:ea typeface="Cambria Math" panose="02040503050406030204"/>
                                </a:rPr>
                                <m:t>𝑛</m:t>
                              </m:r>
                            </m:num>
                            <m:den>
                              <m:r>
                                <m:rPr>
                                  <m:sty m:val="p"/>
                                </m:rPr>
                                <a:rPr sz="1600" b="0" i="0">
                                  <a:solidFill>
                                    <a:srgbClr val="1E293B"/>
                                  </a:solidFill>
                                  <a:latin typeface="Cambria Math" panose="02040503050406030204"/>
                                  <a:ea typeface="Cambria Math" panose="02040503050406030204"/>
                                </a:rPr>
                                <m:t>lg</m:t>
                              </m:r>
                              <m:r>
                                <a:rPr sz="1600" b="0" i="1">
                                  <a:solidFill>
                                    <a:srgbClr val="1E293B"/>
                                  </a:solidFill>
                                  <a:latin typeface="Cambria Math" panose="02040503050406030204"/>
                                  <a:ea typeface="Cambria Math" panose="02040503050406030204"/>
                                </a:rPr>
                                <m:t>𝑛</m:t>
                              </m:r>
                            </m:den>
                          </m:f>
                        </m:e>
                      </m:d>
                      <m:r>
                        <a:rPr sz="1600" b="0" i="0">
                          <a:solidFill>
                            <a:srgbClr val="1E293B"/>
                          </a:solidFill>
                          <a:latin typeface="Cambria Math" panose="02040503050406030204"/>
                          <a:ea typeface="Cambria Math" panose="02040503050406030204"/>
                        </a:rPr>
                        <m:t>=</m:t>
                      </m:r>
                      <m:r>
                        <a:rPr sz="1600" b="0" i="1">
                          <a:solidFill>
                            <a:srgbClr val="1E293B"/>
                          </a:solidFill>
                          <a:latin typeface="Cambria Math" panose="02040503050406030204"/>
                          <a:ea typeface="Cambria Math" panose="02040503050406030204"/>
                        </a:rPr>
                        <m:t>𝑂</m:t>
                      </m:r>
                      <m:d>
                        <m:dPr>
                          <m:ctrlPr>
                            <a:rPr sz="1600" b="0">
                              <a:solidFill>
                                <a:srgbClr val="1E293B"/>
                              </a:solidFill>
                              <a:latin typeface="Cambria Math" panose="02040503050406030204"/>
                              <a:ea typeface="微软雅黑" panose="020B0503020204020204" charset="-122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sz="1600" b="0">
                                  <a:solidFill>
                                    <a:srgbClr val="1E293B"/>
                                  </a:solidFill>
                                  <a:latin typeface="Cambria Math" panose="02040503050406030204"/>
                                  <a:ea typeface="微软雅黑" panose="020B0503020204020204" charset="-122"/>
                                </a:rPr>
                              </m:ctrlPr>
                            </m:fPr>
                            <m:num>
                              <m:r>
                                <a:rPr sz="1600" b="0" i="1">
                                  <a:solidFill>
                                    <a:srgbClr val="1E293B"/>
                                  </a:solidFill>
                                  <a:latin typeface="Cambria Math" panose="02040503050406030204"/>
                                  <a:ea typeface="Cambria Math" panose="02040503050406030204"/>
                                </a:rPr>
                                <m:t>𝑛</m:t>
                              </m:r>
                            </m:num>
                            <m:den>
                              <m:r>
                                <m:rPr>
                                  <m:sty m:val="p"/>
                                </m:rPr>
                                <a:rPr sz="1600" b="0" i="0">
                                  <a:solidFill>
                                    <a:srgbClr val="1E293B"/>
                                  </a:solidFill>
                                  <a:latin typeface="Cambria Math" panose="02040503050406030204"/>
                                  <a:ea typeface="Cambria Math" panose="02040503050406030204"/>
                                </a:rPr>
                                <m:t>lg</m:t>
                              </m:r>
                              <m:r>
                                <a:rPr sz="1600" b="0" i="1">
                                  <a:solidFill>
                                    <a:srgbClr val="1E293B"/>
                                  </a:solidFill>
                                  <a:latin typeface="Cambria Math" panose="02040503050406030204"/>
                                  <a:ea typeface="Cambria Math" panose="02040503050406030204"/>
                                </a:rPr>
                                <m:t>𝑛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sz="1600"/>
              </a:p>
            </p:txBody>
          </p:sp>
        </mc:Choice>
        <mc:Fallback>
          <p:sp>
            <p:nvSpPr>
              <p:cNvPr id="20" name="eq_i_2_0" descr="LaTeX: T(n)=O(\sqrt n+\frac{n}{\lg n})=O(\frac{n}{\lg n})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78935" y="4443095"/>
                <a:ext cx="6810375" cy="419100"/>
              </a:xfrm>
              <a:prstGeom prst="rect">
                <a:avLst/>
              </a:prstGeom>
              <a:blipFill rotWithShape="1">
                <a:blip r:embed="rId6"/>
                <a:stretch>
                  <a:fillRect b="-11061"/>
                </a:stretch>
              </a:blipFill>
              <a:ln w="0"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step_i_3"/>
          <p:cNvSpPr>
            <a:spLocks noGrp="1"/>
          </p:cNvSpPr>
          <p:nvPr/>
        </p:nvSpPr>
        <p:spPr>
          <a:xfrm>
            <a:off x="952500" y="4714875"/>
            <a:ext cx="3048000" cy="2762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>
              <a:defRPr sz="1600" b="1">
                <a:solidFill>
                  <a:srgbClr val="1725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>
              <a:defRPr sz="1600" b="1">
                <a:solidFill>
                  <a:srgbClr val="1725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>
              <a:defRPr sz="1600" b="1">
                <a:solidFill>
                  <a:srgbClr val="1725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>
              <a:defRPr sz="1600" b="1">
                <a:solidFill>
                  <a:srgbClr val="1725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>
              <a:defRPr sz="1600" b="1">
                <a:solidFill>
                  <a:srgbClr val="1725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>
              <a:defRPr sz="1600" b="1">
                <a:solidFill>
                  <a:srgbClr val="1725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>
              <a:defRPr sz="1600" b="1">
                <a:solidFill>
                  <a:srgbClr val="1725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>
              <a:defRPr sz="1600" b="1">
                <a:solidFill>
                  <a:srgbClr val="1725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>
              <a:defRPr sz="1600" b="1">
                <a:solidFill>
                  <a:srgbClr val="1725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>
              <a:defRPr sz="1600" b="1">
                <a:solidFill>
                  <a:srgbClr val="1725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>
              <a:defRPr sz="1600" b="1">
                <a:solidFill>
                  <a:srgbClr val="1725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00" b="1">
                <a:solidFill>
                  <a:srgbClr val="1725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  取后半段估计下界</a:t>
            </a:r>
            <a:endParaRPr sz="1600" b="1">
              <a:solidFill>
                <a:srgbClr val="17255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note_i_3"/>
          <p:cNvSpPr>
            <a:spLocks noGrp="1"/>
          </p:cNvSpPr>
          <p:nvPr/>
        </p:nvSpPr>
        <p:spPr>
          <a:xfrm>
            <a:off x="952500" y="5019675"/>
            <a:ext cx="3086100" cy="5238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>
              <a:defRPr sz="1300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>
              <a:defRPr sz="1300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>
              <a:defRPr sz="1300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>
              <a:defRPr sz="1300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>
              <a:defRPr sz="1300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>
              <a:defRPr sz="1300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>
              <a:defRPr sz="1300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>
              <a:defRPr sz="1300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>
              <a:defRPr sz="1300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>
              <a:defRPr sz="1300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>
              <a:defRPr sz="1300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00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[n/2,n] 内有 Θ(n) 个同奇偶整数，</a:t>
            </a:r>
            <a:endParaRPr sz="1300" b="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defRPr sz="1300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00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每项≥1/lg n，故总和至少为 Ω(n/lg n)。</a:t>
            </a:r>
            <a:endParaRPr sz="1300" b="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3" name="eq_i_3_0" descr="LaTeX: T(n)\ge c\frac{n}{\lg n},\quad c&gt;0"/>
              <p:cNvSpPr>
                <a:spLocks noGrp="1"/>
              </p:cNvSpPr>
              <p:nvPr/>
            </p:nvSpPr>
            <p:spPr>
              <a:xfrm>
                <a:off x="4277995" y="5081905"/>
                <a:ext cx="6810375" cy="419100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lIns="0" tIns="0" rIns="0" bIns="0" anchor="t"/>
              <a:lstStyle>
                <a:defPPr>
                  <a:defRPr sz="1600" b="0">
                    <a:solidFill>
                      <a:srgbClr val="1E293B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defRPr>
                </a:defPPr>
                <a:lvl1pPr>
                  <a:defRPr sz="1600" b="0">
                    <a:solidFill>
                      <a:srgbClr val="1E293B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defRPr>
                </a:lvl1pPr>
                <a:lvl2pPr>
                  <a:defRPr sz="1600" b="0">
                    <a:solidFill>
                      <a:srgbClr val="1E293B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defRPr>
                </a:lvl2pPr>
                <a:lvl3pPr>
                  <a:defRPr sz="1600" b="0">
                    <a:solidFill>
                      <a:srgbClr val="1E293B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defRPr>
                </a:lvl3pPr>
                <a:lvl4pPr>
                  <a:defRPr sz="1600" b="0">
                    <a:solidFill>
                      <a:srgbClr val="1E293B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defRPr>
                </a:lvl4pPr>
                <a:lvl5pPr>
                  <a:defRPr sz="1600" b="0">
                    <a:solidFill>
                      <a:srgbClr val="1E293B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defRPr>
                </a:lvl5pPr>
                <a:lvl6pPr>
                  <a:defRPr sz="1600" b="0">
                    <a:solidFill>
                      <a:srgbClr val="1E293B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defRPr>
                </a:lvl6pPr>
                <a:lvl7pPr>
                  <a:defRPr sz="1600" b="0">
                    <a:solidFill>
                      <a:srgbClr val="1E293B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defRPr>
                </a:lvl7pPr>
                <a:lvl8pPr>
                  <a:defRPr sz="1600" b="0">
                    <a:solidFill>
                      <a:srgbClr val="1E293B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defRPr>
                </a:lvl8pPr>
                <a:lvl9pPr>
                  <a:defRPr sz="1600" b="0">
                    <a:solidFill>
                      <a:srgbClr val="1E293B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defRPr>
                </a:lvl9pPr>
              </a:lstStyle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sz="1600" b="0" i="1">
                          <a:solidFill>
                            <a:srgbClr val="1E293B"/>
                          </a:solidFill>
                          <a:latin typeface="Cambria Math" panose="02040503050406030204"/>
                          <a:ea typeface="Cambria Math" panose="02040503050406030204"/>
                        </a:rPr>
                        <m:t>𝑇</m:t>
                      </m:r>
                      <m:d>
                        <m:dPr>
                          <m:ctrlPr>
                            <a:rPr sz="1600" b="0">
                              <a:solidFill>
                                <a:srgbClr val="1E293B"/>
                              </a:solidFill>
                              <a:latin typeface="Cambria Math" panose="02040503050406030204"/>
                              <a:ea typeface="微软雅黑" panose="020B0503020204020204" charset="-122"/>
                            </a:rPr>
                          </m:ctrlPr>
                        </m:dPr>
                        <m:e>
                          <m:r>
                            <a:rPr sz="1600" b="0" i="1">
                              <a:solidFill>
                                <a:srgbClr val="1E293B"/>
                              </a:solidFill>
                              <a:latin typeface="Cambria Math" panose="02040503050406030204"/>
                              <a:ea typeface="Cambria Math" panose="02040503050406030204"/>
                            </a:rPr>
                            <m:t>𝑛</m:t>
                          </m:r>
                        </m:e>
                      </m:d>
                      <m:r>
                        <a:rPr sz="1600" b="0" i="0">
                          <a:solidFill>
                            <a:srgbClr val="1E293B"/>
                          </a:solidFill>
                          <a:latin typeface="Cambria Math" panose="02040503050406030204"/>
                          <a:ea typeface="Cambria Math" panose="02040503050406030204"/>
                        </a:rPr>
                        <m:t>≥</m:t>
                      </m:r>
                      <m:r>
                        <a:rPr sz="1600" b="0" i="1">
                          <a:solidFill>
                            <a:srgbClr val="1E293B"/>
                          </a:solidFill>
                          <a:latin typeface="Cambria Math" panose="02040503050406030204"/>
                          <a:ea typeface="Cambria Math" panose="02040503050406030204"/>
                        </a:rPr>
                        <m:t>𝑐</m:t>
                      </m:r>
                      <m:f>
                        <m:fPr>
                          <m:ctrlPr>
                            <a:rPr sz="1600" b="0">
                              <a:solidFill>
                                <a:srgbClr val="1E293B"/>
                              </a:solidFill>
                              <a:latin typeface="Cambria Math" panose="02040503050406030204"/>
                              <a:ea typeface="微软雅黑" panose="020B0503020204020204" charset="-122"/>
                            </a:rPr>
                          </m:ctrlPr>
                        </m:fPr>
                        <m:num>
                          <m:r>
                            <a:rPr sz="1600" b="0" i="1">
                              <a:solidFill>
                                <a:srgbClr val="1E293B"/>
                              </a:solidFill>
                              <a:latin typeface="Cambria Math" panose="02040503050406030204"/>
                              <a:ea typeface="Cambria Math" panose="02040503050406030204"/>
                            </a:rPr>
                            <m:t>𝑛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sz="1600" b="0" i="0">
                              <a:solidFill>
                                <a:srgbClr val="1E293B"/>
                              </a:solidFill>
                              <a:latin typeface="Cambria Math" panose="02040503050406030204"/>
                              <a:ea typeface="Cambria Math" panose="02040503050406030204"/>
                            </a:rPr>
                            <m:t>lg</m:t>
                          </m:r>
                          <m:r>
                            <a:rPr sz="1600" b="0" i="1">
                              <a:solidFill>
                                <a:srgbClr val="1E293B"/>
                              </a:solidFill>
                              <a:latin typeface="Cambria Math" panose="02040503050406030204"/>
                              <a:ea typeface="Cambria Math" panose="02040503050406030204"/>
                            </a:rPr>
                            <m:t>𝑛</m:t>
                          </m:r>
                        </m:den>
                      </m:f>
                      <m:r>
                        <a:rPr sz="1600" b="0" i="0">
                          <a:solidFill>
                            <a:srgbClr val="1E293B"/>
                          </a:solidFill>
                          <a:latin typeface="Cambria Math" panose="02040503050406030204"/>
                          <a:ea typeface="Cambria Math" panose="02040503050406030204"/>
                        </a:rPr>
                        <m:t>,</m:t>
                      </m:r>
                      <m:r>
                        <a:rPr sz="1600" b="0" i="0">
                          <a:solidFill>
                            <a:srgbClr val="1E293B"/>
                          </a:solidFill>
                          <a:latin typeface="Cambria Math" panose="02040503050406030204"/>
                          <a:ea typeface="Cambria Math" panose="02040503050406030204"/>
                        </a:rPr>
                        <m:t> </m:t>
                      </m:r>
                      <m:r>
                        <a:rPr sz="1600" b="0" i="1">
                          <a:solidFill>
                            <a:srgbClr val="1E293B"/>
                          </a:solidFill>
                          <a:latin typeface="Cambria Math" panose="02040503050406030204"/>
                          <a:ea typeface="Cambria Math" panose="02040503050406030204"/>
                        </a:rPr>
                        <m:t>𝑐</m:t>
                      </m:r>
                      <m:r>
                        <a:rPr sz="1600" b="0" i="0">
                          <a:solidFill>
                            <a:srgbClr val="1E293B"/>
                          </a:solidFill>
                          <a:latin typeface="Cambria Math" panose="02040503050406030204"/>
                          <a:ea typeface="Cambria Math" panose="02040503050406030204"/>
                        </a:rPr>
                        <m:t>&gt;</m:t>
                      </m:r>
                      <m:r>
                        <a:rPr sz="1600" b="0" i="0">
                          <a:solidFill>
                            <a:srgbClr val="1E293B"/>
                          </a:solidFill>
                          <a:latin typeface="Cambria Math" panose="02040503050406030204"/>
                          <a:ea typeface="Cambria Math" panose="02040503050406030204"/>
                        </a:rPr>
                        <m:t>0</m:t>
                      </m:r>
                    </m:oMath>
                  </m:oMathPara>
                </a14:m>
                <a:endParaRPr sz="1600"/>
              </a:p>
            </p:txBody>
          </p:sp>
        </mc:Choice>
        <mc:Fallback>
          <p:sp>
            <p:nvSpPr>
              <p:cNvPr id="23" name="eq_i_3_0" descr="LaTeX: T(n)\ge c\frac{n}{\lg n},\quad c&gt;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77995" y="5081905"/>
                <a:ext cx="6810375" cy="419100"/>
              </a:xfrm>
              <a:prstGeom prst="rect">
                <a:avLst/>
              </a:prstGeom>
              <a:blipFill rotWithShape="1">
                <a:blip r:embed="rId7"/>
                <a:stretch>
                  <a:fillRect b="-8788"/>
                </a:stretch>
              </a:blipFill>
              <a:ln w="0"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4" name="eq_i_result" descr="LaTeX: T(n)=\Theta(\frac{n}{\lg n})"/>
              <p:cNvSpPr>
                <a:spLocks noGrp="1"/>
              </p:cNvSpPr>
              <p:nvPr/>
            </p:nvSpPr>
            <p:spPr>
              <a:xfrm>
                <a:off x="4333875" y="5676900"/>
                <a:ext cx="6810375" cy="409575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lIns="0" tIns="0" rIns="0" bIns="0" anchor="t"/>
              <a:lstStyle>
                <a:defPPr>
                  <a:defRPr sz="1700" b="1">
                    <a:solidFill>
                      <a:srgbClr val="2563EB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defRPr>
                </a:defPPr>
                <a:lvl1pPr>
                  <a:defRPr sz="1700" b="1">
                    <a:solidFill>
                      <a:srgbClr val="2563EB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defRPr>
                </a:lvl1pPr>
                <a:lvl2pPr>
                  <a:defRPr sz="1700" b="1">
                    <a:solidFill>
                      <a:srgbClr val="2563EB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defRPr>
                </a:lvl2pPr>
                <a:lvl3pPr>
                  <a:defRPr sz="1700" b="1">
                    <a:solidFill>
                      <a:srgbClr val="2563EB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defRPr>
                </a:lvl3pPr>
                <a:lvl4pPr>
                  <a:defRPr sz="1700" b="1">
                    <a:solidFill>
                      <a:srgbClr val="2563EB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defRPr>
                </a:lvl4pPr>
                <a:lvl5pPr>
                  <a:defRPr sz="1700" b="1">
                    <a:solidFill>
                      <a:srgbClr val="2563EB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defRPr>
                </a:lvl5pPr>
                <a:lvl6pPr>
                  <a:defRPr sz="1700" b="1">
                    <a:solidFill>
                      <a:srgbClr val="2563EB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defRPr>
                </a:lvl6pPr>
                <a:lvl7pPr>
                  <a:defRPr sz="1700" b="1">
                    <a:solidFill>
                      <a:srgbClr val="2563EB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defRPr>
                </a:lvl7pPr>
                <a:lvl8pPr>
                  <a:defRPr sz="1700" b="1">
                    <a:solidFill>
                      <a:srgbClr val="2563EB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defRPr>
                </a:lvl8pPr>
                <a:lvl9pPr>
                  <a:defRPr sz="1700" b="1">
                    <a:solidFill>
                      <a:srgbClr val="2563EB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defRPr>
                </a:lvl9pPr>
              </a:lstStyle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sz="1700" b="1" i="1">
                          <a:solidFill>
                            <a:srgbClr val="2563EB"/>
                          </a:solidFill>
                          <a:latin typeface="Cambria Math" panose="02040503050406030204"/>
                          <a:ea typeface="Cambria Math" panose="02040503050406030204"/>
                        </a:rPr>
                        <m:t>𝑇</m:t>
                      </m:r>
                      <m:d>
                        <m:dPr>
                          <m:ctrlPr>
                            <a:rPr sz="1700" b="1">
                              <a:solidFill>
                                <a:srgbClr val="2563EB"/>
                              </a:solidFill>
                              <a:latin typeface="Cambria Math" panose="02040503050406030204"/>
                              <a:ea typeface="微软雅黑" panose="020B0503020204020204" charset="-122"/>
                            </a:rPr>
                          </m:ctrlPr>
                        </m:dPr>
                        <m:e>
                          <m:r>
                            <a:rPr sz="1700" b="1" i="1">
                              <a:solidFill>
                                <a:srgbClr val="2563EB"/>
                              </a:solidFill>
                              <a:latin typeface="Cambria Math" panose="02040503050406030204"/>
                              <a:ea typeface="Cambria Math" panose="02040503050406030204"/>
                            </a:rPr>
                            <m:t>𝑛</m:t>
                          </m:r>
                        </m:e>
                      </m:d>
                      <m:r>
                        <a:rPr sz="1700" b="1" i="0">
                          <a:solidFill>
                            <a:srgbClr val="2563EB"/>
                          </a:solidFill>
                          <a:latin typeface="Cambria Math" panose="02040503050406030204"/>
                          <a:ea typeface="Cambria Math" panose="02040503050406030204"/>
                        </a:rPr>
                        <m:t>=</m:t>
                      </m:r>
                      <m:r>
                        <m:rPr>
                          <m:sty m:val="p"/>
                        </m:rPr>
                        <a:rPr sz="1700" b="1" i="0">
                          <a:solidFill>
                            <a:srgbClr val="2563EB"/>
                          </a:solidFill>
                          <a:latin typeface="Cambria Math" panose="02040503050406030204"/>
                          <a:ea typeface="Cambria Math" panose="02040503050406030204"/>
                        </a:rPr>
                        <m:t>Θ</m:t>
                      </m:r>
                      <m:d>
                        <m:dPr>
                          <m:ctrlPr>
                            <a:rPr sz="1700" b="1">
                              <a:solidFill>
                                <a:srgbClr val="2563EB"/>
                              </a:solidFill>
                              <a:latin typeface="Cambria Math" panose="02040503050406030204"/>
                              <a:ea typeface="微软雅黑" panose="020B0503020204020204" charset="-122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sz="1700" b="1">
                                  <a:solidFill>
                                    <a:srgbClr val="2563EB"/>
                                  </a:solidFill>
                                  <a:latin typeface="Cambria Math" panose="02040503050406030204"/>
                                  <a:ea typeface="微软雅黑" panose="020B0503020204020204" charset="-122"/>
                                </a:rPr>
                              </m:ctrlPr>
                            </m:fPr>
                            <m:num>
                              <m:r>
                                <a:rPr sz="1700" b="1" i="1">
                                  <a:solidFill>
                                    <a:srgbClr val="2563EB"/>
                                  </a:solidFill>
                                  <a:latin typeface="Cambria Math" panose="02040503050406030204"/>
                                  <a:ea typeface="Cambria Math" panose="02040503050406030204"/>
                                </a:rPr>
                                <m:t>𝑛</m:t>
                              </m:r>
                            </m:num>
                            <m:den>
                              <m:r>
                                <m:rPr>
                                  <m:sty m:val="p"/>
                                </m:rPr>
                                <a:rPr sz="1700" b="1" i="0">
                                  <a:solidFill>
                                    <a:srgbClr val="2563EB"/>
                                  </a:solidFill>
                                  <a:latin typeface="Cambria Math" panose="02040503050406030204"/>
                                  <a:ea typeface="Cambria Math" panose="02040503050406030204"/>
                                </a:rPr>
                                <m:t>lg</m:t>
                              </m:r>
                              <m:r>
                                <a:rPr sz="1700" b="1" i="1">
                                  <a:solidFill>
                                    <a:srgbClr val="2563EB"/>
                                  </a:solidFill>
                                  <a:latin typeface="Cambria Math" panose="02040503050406030204"/>
                                  <a:ea typeface="Cambria Math" panose="02040503050406030204"/>
                                </a:rPr>
                                <m:t>𝑛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sz="1700"/>
              </a:p>
            </p:txBody>
          </p:sp>
        </mc:Choice>
        <mc:Fallback>
          <p:sp>
            <p:nvSpPr>
              <p:cNvPr id="24" name="eq_i_result" descr="LaTeX: T(n)=\Theta(\frac{n}{\lg n})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33875" y="5676900"/>
                <a:ext cx="6810375" cy="409575"/>
              </a:xfrm>
              <a:prstGeom prst="rect">
                <a:avLst/>
              </a:prstGeom>
              <a:blipFill rotWithShape="1">
                <a:blip r:embed="rId8"/>
                <a:stretch>
                  <a:fillRect b="-20930"/>
                </a:stretch>
              </a:blipFill>
              <a:ln w="0"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" name="result_label_i"/>
          <p:cNvSpPr>
            <a:spLocks noGrp="1"/>
          </p:cNvSpPr>
          <p:nvPr/>
        </p:nvSpPr>
        <p:spPr>
          <a:xfrm>
            <a:off x="952500" y="5781675"/>
            <a:ext cx="3048000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>
              <a:defRPr sz="1600" b="1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>
              <a:defRPr sz="1600" b="1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>
              <a:defRPr sz="1600" b="1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>
              <a:defRPr sz="1600" b="1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>
              <a:defRPr sz="1600" b="1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>
              <a:defRPr sz="1600" b="1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>
              <a:defRPr sz="1600" b="1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>
              <a:defRPr sz="1600" b="1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>
              <a:defRPr sz="1600" b="1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>
              <a:defRPr sz="1600" b="1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>
              <a:defRPr sz="1600" b="1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00" b="1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紧确渐近界</a:t>
            </a:r>
            <a:endParaRPr sz="1600" b="1">
              <a:solidFill>
                <a:srgbClr val="2563E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>
            <a:spLocks noGrp="1"/>
          </p:cNvSpPr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3" name="TextBox 2"/>
          <p:cNvSpPr>
            <a:spLocks noGrp="1"/>
          </p:cNvSpPr>
          <p:nvPr/>
        </p:nvSpPr>
        <p:spPr>
          <a:xfrm>
            <a:off x="502920" y="292608"/>
            <a:ext cx="10881360" cy="45720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500"/>
              </a:spcAft>
              <a:buNone/>
            </a:pPr>
            <a:r>
              <a:rPr sz="2375" b="1" i="0">
                <a:solidFill>
                  <a:srgbClr val="1725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五、九个小题答案总览</a:t>
            </a:r>
            <a:endParaRPr sz="2375" b="1" i="0">
              <a:solidFill>
                <a:srgbClr val="17255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TextBox 3"/>
          <p:cNvSpPr>
            <a:spLocks noGrp="1"/>
          </p:cNvSpPr>
          <p:nvPr/>
        </p:nvSpPr>
        <p:spPr>
          <a:xfrm>
            <a:off x="530352" y="804672"/>
            <a:ext cx="10972800" cy="329184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500"/>
              </a:spcAft>
              <a:buNone/>
            </a:pPr>
            <a:r>
              <a:rPr sz="1200" b="0" i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按结构选方法，九题结果如下</a:t>
            </a:r>
            <a:endParaRPr sz="1200" b="0" i="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TextBox 4"/>
          <p:cNvSpPr>
            <a:spLocks noGrp="1"/>
          </p:cNvSpPr>
          <p:nvPr/>
        </p:nvSpPr>
        <p:spPr>
          <a:xfrm>
            <a:off x="9555480" y="6510528"/>
            <a:ext cx="2103120" cy="18288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r">
              <a:spcAft>
                <a:spcPts val="500"/>
              </a:spcAft>
              <a:buNone/>
            </a:pPr>
            <a:r>
              <a:rPr sz="900" b="0" i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递推式与渐近分析</a:t>
            </a:r>
            <a:endParaRPr sz="900" b="0" i="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extBox 5"/>
          <p:cNvSpPr>
            <a:spLocks noGrp="1"/>
          </p:cNvSpPr>
          <p:nvPr/>
        </p:nvSpPr>
        <p:spPr>
          <a:xfrm>
            <a:off x="502920" y="6510528"/>
            <a:ext cx="1371600" cy="18288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500"/>
              </a:spcAft>
              <a:buNone/>
            </a:pPr>
            <a:r>
              <a:rPr sz="900" b="0" i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算法设计 · 15</a:t>
            </a:r>
            <a:endParaRPr sz="900" b="0" i="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7" name="Table 6"/>
              <p:cNvGraphicFramePr/>
              <p:nvPr/>
            </p:nvGraphicFramePr>
            <p:xfrm>
              <a:off x="502920" y="1325880"/>
              <a:ext cx="11155680" cy="489204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594360"/>
                    <a:gridCol w="3886200"/>
                    <a:gridCol w="2834640"/>
                    <a:gridCol w="3840480"/>
                  </a:tblGrid>
                  <a:tr h="489204"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sz="1200" b="1">
                              <a:solidFill>
                                <a:srgbClr val="FFFFFF"/>
                              </a:solidFill>
                              <a:latin typeface="微软雅黑" panose="020B0503020204020204" charset="-122"/>
                              <a:ea typeface="微软雅黑" panose="020B0503020204020204" charset="-122"/>
                              <a:cs typeface="微软雅黑" panose="020B0503020204020204" charset="-122"/>
                            </a:rPr>
                            <a:t>题号</a:t>
                          </a:r>
                          <a:endParaRPr sz="1200" b="1">
                            <a:solidFill>
                              <a:srgbClr val="FFFFFF"/>
                            </a:solidFill>
                            <a:latin typeface="微软雅黑" panose="020B0503020204020204" charset="-122"/>
                            <a:ea typeface="微软雅黑" panose="020B0503020204020204" charset="-122"/>
                            <a:cs typeface="微软雅黑" panose="020B0503020204020204" charset="-122"/>
                          </a:endParaRPr>
                        </a:p>
                      </a:txBody>
                      <a:tcPr anchor="ctr">
                        <a:solidFill>
                          <a:srgbClr val="172554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sz="1200" b="1">
                              <a:solidFill>
                                <a:srgbClr val="FFFFFF"/>
                              </a:solidFill>
                              <a:latin typeface="微软雅黑" panose="020B0503020204020204" charset="-122"/>
                              <a:ea typeface="微软雅黑" panose="020B0503020204020204" charset="-122"/>
                              <a:cs typeface="微软雅黑" panose="020B0503020204020204" charset="-122"/>
                            </a:rPr>
                            <a:t>递推式</a:t>
                          </a:r>
                          <a:r>
                            <a:rPr sz="1200" b="1">
                              <a:solidFill>
                                <a:srgbClr val="FFFFFF"/>
                              </a:solidFill>
                              <a:latin typeface="微软雅黑" panose="020B0503020204020204" charset="-122"/>
                              <a:ea typeface="微软雅黑" panose="020B0503020204020204" charset="-122"/>
                              <a:cs typeface="微软雅黑" panose="020B0503020204020204" charset="-122"/>
                            </a:rPr>
                            <a:t>（</a:t>
                          </a:r>
                          <a:r>
                            <a:rPr sz="1200" b="1">
                              <a:solidFill>
                                <a:srgbClr val="FFFFFF"/>
                              </a:solidFill>
                              <a:latin typeface="微软雅黑" panose="020B0503020204020204" charset="-122"/>
                              <a:ea typeface="微软雅黑" panose="020B0503020204020204" charset="-122"/>
                              <a:cs typeface="微软雅黑" panose="020B0503020204020204" charset="-122"/>
                            </a:rPr>
                            <a:t>省略</a:t>
                          </a:r>
                          <a14:m>
                            <m:oMath xmlns:m="http://schemas.openxmlformats.org/officeDocument/2006/math">
                              <m:r>
                                <a:rPr sz="1200" b="1" i="1">
                                  <a:solidFill>
                                    <a:srgbClr val="FFFFFF"/>
                                  </a:solidFill>
                                  <a:latin typeface="Cambria Math" panose="02040503050406030204"/>
                                  <a:ea typeface="Cambria Math" panose="02040503050406030204"/>
                                  <a:cs typeface="微软雅黑" panose="020B0503020204020204" charset="-122"/>
                                </a:rPr>
                                <m:t>𝑇</m:t>
                              </m:r>
                              <m:d>
                                <m:dPr>
                                  <m:ctrlPr>
                                    <a:rPr sz="1200" b="1">
                                      <a:solidFill>
                                        <a:srgbClr val="FFFFFF"/>
                                      </a:solidFill>
                                      <a:latin typeface="Cambria Math" panose="02040503050406030204"/>
                                      <a:ea typeface="微软雅黑" panose="020B0503020204020204" charset="-122"/>
                                      <a:cs typeface="微软雅黑" panose="020B0503020204020204" charset="-122"/>
                                    </a:rPr>
                                  </m:ctrlPr>
                                </m:dPr>
                                <m:e>
                                  <m:r>
                                    <a:rPr sz="1200" b="1" i="1">
                                      <a:solidFill>
                                        <a:srgbClr val="FFFFFF"/>
                                      </a:solidFill>
                                      <a:latin typeface="Cambria Math" panose="02040503050406030204"/>
                                      <a:ea typeface="Cambria Math" panose="02040503050406030204"/>
                                      <a:cs typeface="微软雅黑" panose="020B0503020204020204" charset="-122"/>
                                    </a:rPr>
                                    <m:t>𝑛</m:t>
                                  </m:r>
                                </m:e>
                              </m:d>
                              <m:r>
                                <a:rPr sz="1200" b="1" i="0">
                                  <a:solidFill>
                                    <a:srgbClr val="FFFFFF"/>
                                  </a:solidFill>
                                  <a:latin typeface="Cambria Math" panose="02040503050406030204"/>
                                  <a:ea typeface="Cambria Math" panose="02040503050406030204"/>
                                  <a:cs typeface="微软雅黑" panose="020B0503020204020204" charset="-122"/>
                                </a:rPr>
                                <m:t>=</m:t>
                              </m:r>
                            </m:oMath>
                          </a14:m>
                          <a:r>
                            <a:rPr sz="1200" b="1">
                              <a:solidFill>
                                <a:srgbClr val="FFFFFF"/>
                              </a:solidFill>
                              <a:latin typeface="微软雅黑" panose="020B0503020204020204" charset="-122"/>
                              <a:ea typeface="微软雅黑" panose="020B0503020204020204" charset="-122"/>
                              <a:cs typeface="微软雅黑" panose="020B0503020204020204" charset="-122"/>
                            </a:rPr>
                            <a:t>）</a:t>
                          </a:r>
                          <a:endParaRPr sz="1200"/>
                        </a:p>
                      </a:txBody>
                      <a:tcPr anchor="ctr">
                        <a:solidFill>
                          <a:srgbClr val="172554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sz="1200" b="1">
                              <a:solidFill>
                                <a:srgbClr val="FFFFFF"/>
                              </a:solidFill>
                              <a:latin typeface="微软雅黑" panose="020B0503020204020204" charset="-122"/>
                              <a:ea typeface="微软雅黑" panose="020B0503020204020204" charset="-122"/>
                              <a:cs typeface="微软雅黑" panose="020B0503020204020204" charset="-122"/>
                            </a:rPr>
                            <a:t>主要方法</a:t>
                          </a:r>
                          <a:endParaRPr sz="1200" b="1">
                            <a:solidFill>
                              <a:srgbClr val="FFFFFF"/>
                            </a:solidFill>
                            <a:latin typeface="微软雅黑" panose="020B0503020204020204" charset="-122"/>
                            <a:ea typeface="微软雅黑" panose="020B0503020204020204" charset="-122"/>
                            <a:cs typeface="微软雅黑" panose="020B0503020204020204" charset="-122"/>
                          </a:endParaRPr>
                        </a:p>
                      </a:txBody>
                      <a:tcPr anchor="ctr">
                        <a:solidFill>
                          <a:srgbClr val="172554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sz="1200" b="1">
                              <a:solidFill>
                                <a:srgbClr val="FFFFFF"/>
                              </a:solidFill>
                              <a:latin typeface="微软雅黑" panose="020B0503020204020204" charset="-122"/>
                              <a:ea typeface="微软雅黑" panose="020B0503020204020204" charset="-122"/>
                              <a:cs typeface="微软雅黑" panose="020B0503020204020204" charset="-122"/>
                            </a:rPr>
                            <a:t>紧确渐近界</a:t>
                          </a:r>
                          <a:endParaRPr sz="1200" b="1">
                            <a:solidFill>
                              <a:srgbClr val="FFFFFF"/>
                            </a:solidFill>
                            <a:latin typeface="微软雅黑" panose="020B0503020204020204" charset="-122"/>
                            <a:ea typeface="微软雅黑" panose="020B0503020204020204" charset="-122"/>
                            <a:cs typeface="微软雅黑" panose="020B0503020204020204" charset="-122"/>
                          </a:endParaRPr>
                        </a:p>
                      </a:txBody>
                      <a:tcPr anchor="ctr">
                        <a:solidFill>
                          <a:srgbClr val="172554"/>
                        </a:solidFill>
                      </a:tcPr>
                    </a:tc>
                  </a:tr>
                  <a:tr h="489204"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sz="1100">
                              <a:solidFill>
                                <a:srgbClr val="1E293B"/>
                              </a:solidFill>
                              <a:latin typeface="微软雅黑" panose="020B0503020204020204" charset="-122"/>
                              <a:ea typeface="微软雅黑" panose="020B0503020204020204" charset="-122"/>
                              <a:cs typeface="微软雅黑" panose="020B0503020204020204" charset="-122"/>
                            </a:rPr>
                            <a:t>a</a:t>
                          </a:r>
                          <a:endParaRPr sz="1100">
                            <a:solidFill>
                              <a:srgbClr val="1E293B"/>
                            </a:solidFill>
                            <a:latin typeface="微软雅黑" panose="020B0503020204020204" charset="-122"/>
                            <a:ea typeface="微软雅黑" panose="020B0503020204020204" charset="-122"/>
                            <a:cs typeface="微软雅黑" panose="020B0503020204020204" charset="-122"/>
                          </a:endParaRPr>
                        </a:p>
                      </a:txBody>
                      <a:tcPr marL="54864" marR="54864" marT="22860" marB="22860" anchor="ctr"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sz="1000" i="0">
                                    <a:solidFill>
                                      <a:srgbClr val="1E293B"/>
                                    </a:solidFill>
                                    <a:latin typeface="Cambria Math" panose="02040503050406030204"/>
                                    <a:ea typeface="Cambria Math" panose="02040503050406030204"/>
                                    <a:cs typeface="微软雅黑" panose="020B0503020204020204" charset="-122"/>
                                  </a:rPr>
                                  <m:t>5</m:t>
                                </m:r>
                                <m:r>
                                  <a:rPr sz="1000" i="1">
                                    <a:solidFill>
                                      <a:srgbClr val="1E293B"/>
                                    </a:solidFill>
                                    <a:latin typeface="Cambria Math" panose="02040503050406030204"/>
                                    <a:ea typeface="Cambria Math" panose="02040503050406030204"/>
                                    <a:cs typeface="微软雅黑" panose="020B0503020204020204" charset="-122"/>
                                  </a:rPr>
                                  <m:t>𝑇</m:t>
                                </m:r>
                                <m:d>
                                  <m:dPr>
                                    <m:ctrlPr>
                                      <a:rPr sz="1000">
                                        <a:solidFill>
                                          <a:srgbClr val="1E293B"/>
                                        </a:solidFill>
                                        <a:latin typeface="Cambria Math" panose="02040503050406030204"/>
                                        <a:ea typeface="微软雅黑" panose="020B0503020204020204" charset="-122"/>
                                        <a:cs typeface="微软雅黑" panose="020B0503020204020204" charset="-122"/>
                                      </a:rPr>
                                    </m:ctrlPr>
                                  </m:dPr>
                                  <m:e>
                                    <m:f>
                                      <m:fPr>
                                        <m:ctrlPr>
                                          <a:rPr sz="1000">
                                            <a:solidFill>
                                              <a:srgbClr val="1E293B"/>
                                            </a:solidFill>
                                            <a:latin typeface="Cambria Math" panose="02040503050406030204"/>
                                            <a:ea typeface="微软雅黑" panose="020B0503020204020204" charset="-122"/>
                                            <a:cs typeface="微软雅黑" panose="020B0503020204020204" charset="-122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sz="1000" i="1">
                                            <a:solidFill>
                                              <a:srgbClr val="1E293B"/>
                                            </a:solidFill>
                                            <a:latin typeface="Cambria Math" panose="02040503050406030204"/>
                                            <a:ea typeface="Cambria Math" panose="02040503050406030204"/>
                                            <a:cs typeface="微软雅黑" panose="020B0503020204020204" charset="-122"/>
                                          </a:rPr>
                                          <m:t>𝑛</m:t>
                                        </m:r>
                                      </m:num>
                                      <m:den>
                                        <m:r>
                                          <a:rPr sz="1000" i="0">
                                            <a:solidFill>
                                              <a:srgbClr val="1E293B"/>
                                            </a:solidFill>
                                            <a:latin typeface="Cambria Math" panose="02040503050406030204"/>
                                            <a:ea typeface="Cambria Math" panose="02040503050406030204"/>
                                            <a:cs typeface="微软雅黑" panose="020B0503020204020204" charset="-122"/>
                                          </a:rPr>
                                          <m:t>3</m:t>
                                        </m:r>
                                      </m:den>
                                    </m:f>
                                  </m:e>
                                </m:d>
                                <m:r>
                                  <a:rPr sz="1000" i="0">
                                    <a:solidFill>
                                      <a:srgbClr val="1E293B"/>
                                    </a:solidFill>
                                    <a:latin typeface="Cambria Math" panose="02040503050406030204"/>
                                    <a:ea typeface="Cambria Math" panose="02040503050406030204"/>
                                    <a:cs typeface="微软雅黑" panose="020B0503020204020204" charset="-122"/>
                                  </a:rPr>
                                  <m:t>+</m:t>
                                </m:r>
                                <m:r>
                                  <a:rPr sz="1000" i="1">
                                    <a:solidFill>
                                      <a:srgbClr val="1E293B"/>
                                    </a:solidFill>
                                    <a:latin typeface="Cambria Math" panose="02040503050406030204"/>
                                    <a:ea typeface="Cambria Math" panose="02040503050406030204"/>
                                    <a:cs typeface="微软雅黑" panose="020B0503020204020204" charset="-122"/>
                                  </a:rPr>
                                  <m:t>𝑛</m:t>
                                </m:r>
                                <m:r>
                                  <m:rPr>
                                    <m:sty m:val="p"/>
                                  </m:rPr>
                                  <a:rPr sz="1000" i="0">
                                    <a:solidFill>
                                      <a:srgbClr val="1E293B"/>
                                    </a:solidFill>
                                    <a:latin typeface="Cambria Math" panose="02040503050406030204"/>
                                    <a:ea typeface="Cambria Math" panose="02040503050406030204"/>
                                    <a:cs typeface="微软雅黑" panose="020B0503020204020204" charset="-122"/>
                                  </a:rPr>
                                  <m:t>lg</m:t>
                                </m:r>
                                <m:r>
                                  <a:rPr sz="1000" i="1">
                                    <a:solidFill>
                                      <a:srgbClr val="1E293B"/>
                                    </a:solidFill>
                                    <a:latin typeface="Cambria Math" panose="02040503050406030204"/>
                                    <a:ea typeface="Cambria Math" panose="02040503050406030204"/>
                                    <a:cs typeface="微软雅黑" panose="020B0503020204020204" charset="-122"/>
                                  </a:rPr>
                                  <m:t>𝑛</m:t>
                                </m:r>
                              </m:oMath>
                            </m:oMathPara>
                          </a14:m>
                          <a:endParaRPr sz="1000"/>
                        </a:p>
                      </a:txBody>
                      <a:tcPr marL="54864" marR="54864" marT="22860" marB="22860" anchor="ctr"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sz="1100">
                              <a:solidFill>
                                <a:srgbClr val="1E293B"/>
                              </a:solidFill>
                              <a:latin typeface="微软雅黑" panose="020B0503020204020204" charset="-122"/>
                              <a:ea typeface="微软雅黑" panose="020B0503020204020204" charset="-122"/>
                              <a:cs typeface="微软雅黑" panose="020B0503020204020204" charset="-122"/>
                            </a:rPr>
                            <a:t>主定理（情况 1）</a:t>
                          </a:r>
                          <a:endParaRPr sz="1100">
                            <a:solidFill>
                              <a:srgbClr val="1E293B"/>
                            </a:solidFill>
                            <a:latin typeface="微软雅黑" panose="020B0503020204020204" charset="-122"/>
                            <a:ea typeface="微软雅黑" panose="020B0503020204020204" charset="-122"/>
                            <a:cs typeface="微软雅黑" panose="020B0503020204020204" charset="-122"/>
                          </a:endParaRPr>
                        </a:p>
                      </a:txBody>
                      <a:tcPr marL="54864" marR="54864" marT="22860" marB="22860" anchor="ctr"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sz="1100" b="1" i="0">
                                    <a:solidFill>
                                      <a:srgbClr val="2563EB"/>
                                    </a:solidFill>
                                    <a:latin typeface="Cambria Math" panose="02040503050406030204"/>
                                    <a:ea typeface="Cambria Math" panose="02040503050406030204"/>
                                    <a:cs typeface="微软雅黑" panose="020B0503020204020204" charset="-122"/>
                                  </a:rPr>
                                  <m:t>Θ</m:t>
                                </m:r>
                                <m:d>
                                  <m:dPr>
                                    <m:ctrlPr>
                                      <a:rPr sz="1100" b="1">
                                        <a:solidFill>
                                          <a:srgbClr val="2563EB"/>
                                        </a:solidFill>
                                        <a:latin typeface="Cambria Math" panose="02040503050406030204"/>
                                        <a:ea typeface="微软雅黑" panose="020B0503020204020204" charset="-122"/>
                                        <a:cs typeface="微软雅黑" panose="020B0503020204020204" charset="-122"/>
                                      </a:rPr>
                                    </m:ctrlPr>
                                  </m:dPr>
                                  <m:e>
                                    <m:sSup>
                                      <m:sSupPr>
                                        <m:ctrlPr>
                                          <a:rPr sz="1100" b="1">
                                            <a:solidFill>
                                              <a:srgbClr val="2563EB"/>
                                            </a:solidFill>
                                            <a:latin typeface="Cambria Math" panose="02040503050406030204"/>
                                            <a:ea typeface="微软雅黑" panose="020B0503020204020204" charset="-122"/>
                                            <a:cs typeface="微软雅黑" panose="020B0503020204020204" charset="-122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sz="1100" b="1" i="1">
                                            <a:solidFill>
                                              <a:srgbClr val="2563EB"/>
                                            </a:solidFill>
                                            <a:latin typeface="Cambria Math" panose="02040503050406030204"/>
                                            <a:ea typeface="Cambria Math" panose="02040503050406030204"/>
                                            <a:cs typeface="微软雅黑" panose="020B0503020204020204" charset="-122"/>
                                          </a:rPr>
                                          <m:t>𝑛</m:t>
                                        </m:r>
                                      </m:e>
                                      <m:sup>
                                        <m:sSub>
                                          <m:sSubPr>
                                            <m:ctrlPr>
                                              <a:rPr sz="1100" b="1">
                                                <a:solidFill>
                                                  <a:srgbClr val="2563EB"/>
                                                </a:solidFill>
                                                <a:latin typeface="Cambria Math" panose="02040503050406030204"/>
                                                <a:ea typeface="微软雅黑" panose="020B0503020204020204" charset="-122"/>
                                                <a:cs typeface="微软雅黑" panose="020B0503020204020204" charset="-122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m:rPr>
                                                <m:sty m:val="p"/>
                                              </m:rPr>
                                              <a:rPr sz="1100" b="1" i="0">
                                                <a:solidFill>
                                                  <a:srgbClr val="2563EB"/>
                                                </a:solidFill>
                                                <a:latin typeface="Cambria Math" panose="02040503050406030204"/>
                                                <a:ea typeface="Cambria Math" panose="02040503050406030204"/>
                                                <a:cs typeface="微软雅黑" panose="020B0503020204020204" charset="-122"/>
                                              </a:rPr>
                                              <m:t>log</m:t>
                                            </m:r>
                                          </m:e>
                                          <m:sub>
                                            <m:r>
                                              <a:rPr sz="1100" b="1" i="0">
                                                <a:solidFill>
                                                  <a:srgbClr val="2563EB"/>
                                                </a:solidFill>
                                                <a:latin typeface="Cambria Math" panose="02040503050406030204"/>
                                                <a:ea typeface="Cambria Math" panose="02040503050406030204"/>
                                                <a:cs typeface="微软雅黑" panose="020B0503020204020204" charset="-122"/>
                                              </a:rPr>
                                              <m:t>3</m:t>
                                            </m:r>
                                          </m:sub>
                                        </m:sSub>
                                        <m:r>
                                          <a:rPr sz="1100" b="1" i="0">
                                            <a:solidFill>
                                              <a:srgbClr val="2563EB"/>
                                            </a:solidFill>
                                            <a:latin typeface="Cambria Math" panose="02040503050406030204"/>
                                            <a:ea typeface="Cambria Math" panose="02040503050406030204"/>
                                            <a:cs typeface="微软雅黑" panose="020B0503020204020204" charset="-122"/>
                                          </a:rPr>
                                          <m:t>5</m:t>
                                        </m:r>
                                      </m:sup>
                                    </m:sSup>
                                  </m:e>
                                </m:d>
                              </m:oMath>
                            </m:oMathPara>
                          </a14:m>
                          <a:endParaRPr sz="1100"/>
                        </a:p>
                      </a:txBody>
                      <a:tcPr marL="54864" marR="54864" marT="22860" marB="22860" anchor="ctr">
                        <a:solidFill>
                          <a:srgbClr val="FFFFFF"/>
                        </a:solidFill>
                      </a:tcPr>
                    </a:tc>
                  </a:tr>
                  <a:tr h="489204"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sz="1100">
                              <a:solidFill>
                                <a:srgbClr val="1E293B"/>
                              </a:solidFill>
                              <a:latin typeface="微软雅黑" panose="020B0503020204020204" charset="-122"/>
                              <a:ea typeface="微软雅黑" panose="020B0503020204020204" charset="-122"/>
                              <a:cs typeface="微软雅黑" panose="020B0503020204020204" charset="-122"/>
                            </a:rPr>
                            <a:t>b</a:t>
                          </a:r>
                          <a:endParaRPr sz="1100">
                            <a:solidFill>
                              <a:srgbClr val="1E293B"/>
                            </a:solidFill>
                            <a:latin typeface="微软雅黑" panose="020B0503020204020204" charset="-122"/>
                            <a:ea typeface="微软雅黑" panose="020B0503020204020204" charset="-122"/>
                            <a:cs typeface="微软雅黑" panose="020B0503020204020204" charset="-122"/>
                          </a:endParaRPr>
                        </a:p>
                      </a:txBody>
                      <a:tcPr marL="54864" marR="54864" marT="22860" marB="22860" anchor="ctr">
                        <a:solidFill>
                          <a:srgbClr val="F1F5F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sz="1000" i="0">
                                    <a:solidFill>
                                      <a:srgbClr val="1E293B"/>
                                    </a:solidFill>
                                    <a:latin typeface="Cambria Math" panose="02040503050406030204"/>
                                    <a:ea typeface="Cambria Math" panose="02040503050406030204"/>
                                    <a:cs typeface="微软雅黑" panose="020B0503020204020204" charset="-122"/>
                                  </a:rPr>
                                  <m:t>3</m:t>
                                </m:r>
                                <m:r>
                                  <a:rPr sz="1000" i="1">
                                    <a:solidFill>
                                      <a:srgbClr val="1E293B"/>
                                    </a:solidFill>
                                    <a:latin typeface="Cambria Math" panose="02040503050406030204"/>
                                    <a:ea typeface="Cambria Math" panose="02040503050406030204"/>
                                    <a:cs typeface="微软雅黑" panose="020B0503020204020204" charset="-122"/>
                                  </a:rPr>
                                  <m:t>𝑇</m:t>
                                </m:r>
                                <m:d>
                                  <m:dPr>
                                    <m:ctrlPr>
                                      <a:rPr sz="1000">
                                        <a:solidFill>
                                          <a:srgbClr val="1E293B"/>
                                        </a:solidFill>
                                        <a:latin typeface="Cambria Math" panose="02040503050406030204"/>
                                        <a:ea typeface="微软雅黑" panose="020B0503020204020204" charset="-122"/>
                                        <a:cs typeface="微软雅黑" panose="020B0503020204020204" charset="-122"/>
                                      </a:rPr>
                                    </m:ctrlPr>
                                  </m:dPr>
                                  <m:e>
                                    <m:f>
                                      <m:fPr>
                                        <m:ctrlPr>
                                          <a:rPr sz="1000">
                                            <a:solidFill>
                                              <a:srgbClr val="1E293B"/>
                                            </a:solidFill>
                                            <a:latin typeface="Cambria Math" panose="02040503050406030204"/>
                                            <a:ea typeface="微软雅黑" panose="020B0503020204020204" charset="-122"/>
                                            <a:cs typeface="微软雅黑" panose="020B0503020204020204" charset="-122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sz="1000" i="1">
                                            <a:solidFill>
                                              <a:srgbClr val="1E293B"/>
                                            </a:solidFill>
                                            <a:latin typeface="Cambria Math" panose="02040503050406030204"/>
                                            <a:ea typeface="Cambria Math" panose="02040503050406030204"/>
                                            <a:cs typeface="微软雅黑" panose="020B0503020204020204" charset="-122"/>
                                          </a:rPr>
                                          <m:t>𝑛</m:t>
                                        </m:r>
                                      </m:num>
                                      <m:den>
                                        <m:r>
                                          <a:rPr sz="1000" i="0">
                                            <a:solidFill>
                                              <a:srgbClr val="1E293B"/>
                                            </a:solidFill>
                                            <a:latin typeface="Cambria Math" panose="02040503050406030204"/>
                                            <a:ea typeface="Cambria Math" panose="02040503050406030204"/>
                                            <a:cs typeface="微软雅黑" panose="020B0503020204020204" charset="-122"/>
                                          </a:rPr>
                                          <m:t>3</m:t>
                                        </m:r>
                                      </m:den>
                                    </m:f>
                                  </m:e>
                                </m:d>
                                <m:r>
                                  <a:rPr sz="1000" i="0">
                                    <a:solidFill>
                                      <a:srgbClr val="1E293B"/>
                                    </a:solidFill>
                                    <a:latin typeface="Cambria Math" panose="02040503050406030204"/>
                                    <a:ea typeface="Cambria Math" panose="02040503050406030204"/>
                                    <a:cs typeface="微软雅黑" panose="020B0503020204020204" charset="-122"/>
                                  </a:rPr>
                                  <m:t>+</m:t>
                                </m:r>
                                <m:f>
                                  <m:fPr>
                                    <m:ctrlPr>
                                      <a:rPr sz="1000">
                                        <a:solidFill>
                                          <a:srgbClr val="1E293B"/>
                                        </a:solidFill>
                                        <a:latin typeface="Cambria Math" panose="02040503050406030204"/>
                                        <a:ea typeface="微软雅黑" panose="020B0503020204020204" charset="-122"/>
                                        <a:cs typeface="微软雅黑" panose="020B0503020204020204" charset="-122"/>
                                      </a:rPr>
                                    </m:ctrlPr>
                                  </m:fPr>
                                  <m:num>
                                    <m:r>
                                      <a:rPr sz="1000" i="1">
                                        <a:solidFill>
                                          <a:srgbClr val="1E293B"/>
                                        </a:solidFill>
                                        <a:latin typeface="Cambria Math" panose="02040503050406030204"/>
                                        <a:ea typeface="Cambria Math" panose="02040503050406030204"/>
                                        <a:cs typeface="微软雅黑" panose="020B0503020204020204" charset="-122"/>
                                      </a:rPr>
                                      <m:t>𝑛</m:t>
                                    </m:r>
                                  </m:num>
                                  <m:den>
                                    <m:r>
                                      <m:rPr>
                                        <m:sty m:val="p"/>
                                      </m:rPr>
                                      <a:rPr sz="1000" i="0">
                                        <a:solidFill>
                                          <a:srgbClr val="1E293B"/>
                                        </a:solidFill>
                                        <a:latin typeface="Cambria Math" panose="02040503050406030204"/>
                                        <a:ea typeface="Cambria Math" panose="02040503050406030204"/>
                                        <a:cs typeface="微软雅黑" panose="020B0503020204020204" charset="-122"/>
                                      </a:rPr>
                                      <m:t>lg</m:t>
                                    </m:r>
                                    <m:r>
                                      <a:rPr sz="1000" i="1">
                                        <a:solidFill>
                                          <a:srgbClr val="1E293B"/>
                                        </a:solidFill>
                                        <a:latin typeface="Cambria Math" panose="02040503050406030204"/>
                                        <a:ea typeface="Cambria Math" panose="02040503050406030204"/>
                                        <a:cs typeface="微软雅黑" panose="020B0503020204020204" charset="-122"/>
                                      </a:rPr>
                                      <m:t>𝑛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sz="1000"/>
                        </a:p>
                      </a:txBody>
                      <a:tcPr marL="54864" marR="54864" marT="22860" marB="22860" anchor="ctr">
                        <a:solidFill>
                          <a:srgbClr val="F1F5F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sz="1100">
                              <a:solidFill>
                                <a:srgbClr val="1E293B"/>
                              </a:solidFill>
                              <a:latin typeface="微软雅黑" panose="020B0503020204020204" charset="-122"/>
                              <a:ea typeface="微软雅黑" panose="020B0503020204020204" charset="-122"/>
                              <a:cs typeface="微软雅黑" panose="020B0503020204020204" charset="-122"/>
                            </a:rPr>
                            <a:t>递归树 / 调和级数</a:t>
                          </a:r>
                          <a:endParaRPr sz="1100">
                            <a:solidFill>
                              <a:srgbClr val="1E293B"/>
                            </a:solidFill>
                            <a:latin typeface="微软雅黑" panose="020B0503020204020204" charset="-122"/>
                            <a:ea typeface="微软雅黑" panose="020B0503020204020204" charset="-122"/>
                            <a:cs typeface="微软雅黑" panose="020B0503020204020204" charset="-122"/>
                          </a:endParaRPr>
                        </a:p>
                      </a:txBody>
                      <a:tcPr marL="54864" marR="54864" marT="22860" marB="22860" anchor="ctr">
                        <a:solidFill>
                          <a:srgbClr val="F1F5F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sz="1100" b="1" i="0">
                                    <a:solidFill>
                                      <a:srgbClr val="2563EB"/>
                                    </a:solidFill>
                                    <a:latin typeface="Cambria Math" panose="02040503050406030204"/>
                                    <a:ea typeface="Cambria Math" panose="02040503050406030204"/>
                                    <a:cs typeface="微软雅黑" panose="020B0503020204020204" charset="-122"/>
                                  </a:rPr>
                                  <m:t>Θ</m:t>
                                </m:r>
                                <m:d>
                                  <m:dPr>
                                    <m:ctrlPr>
                                      <a:rPr sz="1100" b="1">
                                        <a:solidFill>
                                          <a:srgbClr val="2563EB"/>
                                        </a:solidFill>
                                        <a:latin typeface="Cambria Math" panose="02040503050406030204"/>
                                        <a:ea typeface="微软雅黑" panose="020B0503020204020204" charset="-122"/>
                                        <a:cs typeface="微软雅黑" panose="020B0503020204020204" charset="-122"/>
                                      </a:rPr>
                                    </m:ctrlPr>
                                  </m:dPr>
                                  <m:e>
                                    <m:r>
                                      <a:rPr sz="1100" b="1" i="1">
                                        <a:solidFill>
                                          <a:srgbClr val="2563EB"/>
                                        </a:solidFill>
                                        <a:latin typeface="Cambria Math" panose="02040503050406030204"/>
                                        <a:ea typeface="Cambria Math" panose="02040503050406030204"/>
                                        <a:cs typeface="微软雅黑" panose="020B0503020204020204" charset="-122"/>
                                      </a:rPr>
                                      <m:t>𝑛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sz="1100" b="1" i="0">
                                        <a:solidFill>
                                          <a:srgbClr val="2563EB"/>
                                        </a:solidFill>
                                        <a:latin typeface="Cambria Math" panose="02040503050406030204"/>
                                        <a:ea typeface="Cambria Math" panose="02040503050406030204"/>
                                        <a:cs typeface="微软雅黑" panose="020B0503020204020204" charset="-122"/>
                                      </a:rPr>
                                      <m:t>lg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sz="1100" b="1" i="0">
                                        <a:solidFill>
                                          <a:srgbClr val="2563EB"/>
                                        </a:solidFill>
                                        <a:latin typeface="Cambria Math" panose="02040503050406030204"/>
                                        <a:ea typeface="Cambria Math" panose="02040503050406030204"/>
                                        <a:cs typeface="微软雅黑" panose="020B0503020204020204" charset="-122"/>
                                      </a:rPr>
                                      <m:t>lg</m:t>
                                    </m:r>
                                    <m:r>
                                      <a:rPr sz="1100" b="1" i="1">
                                        <a:solidFill>
                                          <a:srgbClr val="2563EB"/>
                                        </a:solidFill>
                                        <a:latin typeface="Cambria Math" panose="02040503050406030204"/>
                                        <a:ea typeface="Cambria Math" panose="02040503050406030204"/>
                                        <a:cs typeface="微软雅黑" panose="020B0503020204020204" charset="-122"/>
                                      </a:rPr>
                                      <m:t>𝑛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sz="1100"/>
                        </a:p>
                      </a:txBody>
                      <a:tcPr marL="54864" marR="54864" marT="22860" marB="22860" anchor="ctr">
                        <a:solidFill>
                          <a:srgbClr val="F1F5F9"/>
                        </a:solidFill>
                      </a:tcPr>
                    </a:tc>
                  </a:tr>
                  <a:tr h="489204"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sz="1100">
                              <a:solidFill>
                                <a:srgbClr val="1E293B"/>
                              </a:solidFill>
                              <a:latin typeface="微软雅黑" panose="020B0503020204020204" charset="-122"/>
                              <a:ea typeface="微软雅黑" panose="020B0503020204020204" charset="-122"/>
                              <a:cs typeface="微软雅黑" panose="020B0503020204020204" charset="-122"/>
                            </a:rPr>
                            <a:t>c</a:t>
                          </a:r>
                          <a:endParaRPr sz="1100">
                            <a:solidFill>
                              <a:srgbClr val="1E293B"/>
                            </a:solidFill>
                            <a:latin typeface="微软雅黑" panose="020B0503020204020204" charset="-122"/>
                            <a:ea typeface="微软雅黑" panose="020B0503020204020204" charset="-122"/>
                            <a:cs typeface="微软雅黑" panose="020B0503020204020204" charset="-122"/>
                          </a:endParaRPr>
                        </a:p>
                      </a:txBody>
                      <a:tcPr marL="54864" marR="54864" marT="22860" marB="22860" anchor="ctr"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sz="1000" i="0">
                                    <a:solidFill>
                                      <a:srgbClr val="1E293B"/>
                                    </a:solidFill>
                                    <a:latin typeface="Cambria Math" panose="02040503050406030204"/>
                                    <a:ea typeface="Cambria Math" panose="02040503050406030204"/>
                                    <a:cs typeface="微软雅黑" panose="020B0503020204020204" charset="-122"/>
                                  </a:rPr>
                                  <m:t>8</m:t>
                                </m:r>
                                <m:r>
                                  <a:rPr sz="1000" i="1">
                                    <a:solidFill>
                                      <a:srgbClr val="1E293B"/>
                                    </a:solidFill>
                                    <a:latin typeface="Cambria Math" panose="02040503050406030204"/>
                                    <a:ea typeface="Cambria Math" panose="02040503050406030204"/>
                                    <a:cs typeface="微软雅黑" panose="020B0503020204020204" charset="-122"/>
                                  </a:rPr>
                                  <m:t>𝑇</m:t>
                                </m:r>
                                <m:d>
                                  <m:dPr>
                                    <m:ctrlPr>
                                      <a:rPr sz="1000">
                                        <a:solidFill>
                                          <a:srgbClr val="1E293B"/>
                                        </a:solidFill>
                                        <a:latin typeface="Cambria Math" panose="02040503050406030204"/>
                                        <a:ea typeface="微软雅黑" panose="020B0503020204020204" charset="-122"/>
                                        <a:cs typeface="微软雅黑" panose="020B0503020204020204" charset="-122"/>
                                      </a:rPr>
                                    </m:ctrlPr>
                                  </m:dPr>
                                  <m:e>
                                    <m:f>
                                      <m:fPr>
                                        <m:ctrlPr>
                                          <a:rPr sz="1000">
                                            <a:solidFill>
                                              <a:srgbClr val="1E293B"/>
                                            </a:solidFill>
                                            <a:latin typeface="Cambria Math" panose="02040503050406030204"/>
                                            <a:ea typeface="微软雅黑" panose="020B0503020204020204" charset="-122"/>
                                            <a:cs typeface="微软雅黑" panose="020B0503020204020204" charset="-122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sz="1000" i="1">
                                            <a:solidFill>
                                              <a:srgbClr val="1E293B"/>
                                            </a:solidFill>
                                            <a:latin typeface="Cambria Math" panose="02040503050406030204"/>
                                            <a:ea typeface="Cambria Math" panose="02040503050406030204"/>
                                            <a:cs typeface="微软雅黑" panose="020B0503020204020204" charset="-122"/>
                                          </a:rPr>
                                          <m:t>𝑛</m:t>
                                        </m:r>
                                      </m:num>
                                      <m:den>
                                        <m:r>
                                          <a:rPr sz="1000" i="0">
                                            <a:solidFill>
                                              <a:srgbClr val="1E293B"/>
                                            </a:solidFill>
                                            <a:latin typeface="Cambria Math" panose="02040503050406030204"/>
                                            <a:ea typeface="Cambria Math" panose="02040503050406030204"/>
                                            <a:cs typeface="微软雅黑" panose="020B0503020204020204" charset="-122"/>
                                          </a:rPr>
                                          <m:t>2</m:t>
                                        </m:r>
                                      </m:den>
                                    </m:f>
                                  </m:e>
                                </m:d>
                                <m:r>
                                  <a:rPr sz="1000" i="0">
                                    <a:solidFill>
                                      <a:srgbClr val="1E293B"/>
                                    </a:solidFill>
                                    <a:latin typeface="Cambria Math" panose="02040503050406030204"/>
                                    <a:ea typeface="Cambria Math" panose="02040503050406030204"/>
                                    <a:cs typeface="微软雅黑" panose="020B0503020204020204" charset="-122"/>
                                  </a:rPr>
                                  <m:t>+</m:t>
                                </m:r>
                                <m:sSup>
                                  <m:sSupPr>
                                    <m:ctrlPr>
                                      <a:rPr sz="1000">
                                        <a:solidFill>
                                          <a:srgbClr val="1E293B"/>
                                        </a:solidFill>
                                        <a:latin typeface="Cambria Math" panose="02040503050406030204"/>
                                        <a:ea typeface="微软雅黑" panose="020B0503020204020204" charset="-122"/>
                                        <a:cs typeface="微软雅黑" panose="020B0503020204020204" charset="-122"/>
                                      </a:rPr>
                                    </m:ctrlPr>
                                  </m:sSupPr>
                                  <m:e>
                                    <m:r>
                                      <a:rPr sz="1000" i="1">
                                        <a:solidFill>
                                          <a:srgbClr val="1E293B"/>
                                        </a:solidFill>
                                        <a:latin typeface="Cambria Math" panose="02040503050406030204"/>
                                        <a:ea typeface="Cambria Math" panose="02040503050406030204"/>
                                        <a:cs typeface="微软雅黑" panose="020B0503020204020204" charset="-122"/>
                                      </a:rPr>
                                      <m:t>𝑛</m:t>
                                    </m:r>
                                  </m:e>
                                  <m:sup>
                                    <m:r>
                                      <a:rPr sz="1000" i="0">
                                        <a:solidFill>
                                          <a:srgbClr val="1E293B"/>
                                        </a:solidFill>
                                        <a:latin typeface="Cambria Math" panose="02040503050406030204"/>
                                        <a:ea typeface="Cambria Math" panose="02040503050406030204"/>
                                        <a:cs typeface="微软雅黑" panose="020B0503020204020204" charset="-122"/>
                                      </a:rPr>
                                      <m:t>3</m:t>
                                    </m:r>
                                  </m:sup>
                                </m:sSup>
                                <m:rad>
                                  <m:radPr>
                                    <m:degHide m:val="on"/>
                                    <m:ctrlPr>
                                      <a:rPr sz="1000">
                                        <a:solidFill>
                                          <a:srgbClr val="1E293B"/>
                                        </a:solidFill>
                                        <a:latin typeface="Cambria Math" panose="02040503050406030204"/>
                                        <a:ea typeface="微软雅黑" panose="020B0503020204020204" charset="-122"/>
                                        <a:cs typeface="微软雅黑" panose="020B0503020204020204" charset="-122"/>
                                      </a:rPr>
                                    </m:ctrlPr>
                                  </m:radPr>
                                  <m:deg/>
                                  <m:e>
                                    <m:r>
                                      <a:rPr sz="1000" i="1">
                                        <a:solidFill>
                                          <a:srgbClr val="1E293B"/>
                                        </a:solidFill>
                                        <a:latin typeface="Cambria Math" panose="02040503050406030204"/>
                                        <a:ea typeface="Cambria Math" panose="02040503050406030204"/>
                                        <a:cs typeface="微软雅黑" panose="020B0503020204020204" charset="-122"/>
                                      </a:rPr>
                                      <m:t>𝑛</m:t>
                                    </m:r>
                                  </m:e>
                                </m:rad>
                              </m:oMath>
                            </m:oMathPara>
                          </a14:m>
                          <a:endParaRPr sz="1000"/>
                        </a:p>
                      </a:txBody>
                      <a:tcPr marL="54864" marR="54864" marT="22860" marB="22860" anchor="ctr"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sz="1100">
                              <a:solidFill>
                                <a:srgbClr val="1E293B"/>
                              </a:solidFill>
                              <a:latin typeface="微软雅黑" panose="020B0503020204020204" charset="-122"/>
                              <a:ea typeface="微软雅黑" panose="020B0503020204020204" charset="-122"/>
                              <a:cs typeface="微软雅黑" panose="020B0503020204020204" charset="-122"/>
                            </a:rPr>
                            <a:t>主定理（情况 3）</a:t>
                          </a:r>
                          <a:endParaRPr sz="1100">
                            <a:solidFill>
                              <a:srgbClr val="1E293B"/>
                            </a:solidFill>
                            <a:latin typeface="微软雅黑" panose="020B0503020204020204" charset="-122"/>
                            <a:ea typeface="微软雅黑" panose="020B0503020204020204" charset="-122"/>
                            <a:cs typeface="微软雅黑" panose="020B0503020204020204" charset="-122"/>
                          </a:endParaRPr>
                        </a:p>
                      </a:txBody>
                      <a:tcPr marL="54864" marR="54864" marT="22860" marB="22860" anchor="ctr"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sz="1100" b="1" i="0">
                                    <a:solidFill>
                                      <a:srgbClr val="2563EB"/>
                                    </a:solidFill>
                                    <a:latin typeface="Cambria Math" panose="02040503050406030204"/>
                                    <a:ea typeface="Cambria Math" panose="02040503050406030204"/>
                                    <a:cs typeface="微软雅黑" panose="020B0503020204020204" charset="-122"/>
                                  </a:rPr>
                                  <m:t>Θ</m:t>
                                </m:r>
                                <m:d>
                                  <m:dPr>
                                    <m:ctrlPr>
                                      <a:rPr sz="1100" b="1">
                                        <a:solidFill>
                                          <a:srgbClr val="2563EB"/>
                                        </a:solidFill>
                                        <a:latin typeface="Cambria Math" panose="02040503050406030204"/>
                                        <a:ea typeface="微软雅黑" panose="020B0503020204020204" charset="-122"/>
                                        <a:cs typeface="微软雅黑" panose="020B0503020204020204" charset="-122"/>
                                      </a:rPr>
                                    </m:ctrlPr>
                                  </m:dPr>
                                  <m:e>
                                    <m:sSup>
                                      <m:sSupPr>
                                        <m:ctrlPr>
                                          <a:rPr sz="1100" b="1">
                                            <a:solidFill>
                                              <a:srgbClr val="2563EB"/>
                                            </a:solidFill>
                                            <a:latin typeface="Cambria Math" panose="02040503050406030204"/>
                                            <a:ea typeface="微软雅黑" panose="020B0503020204020204" charset="-122"/>
                                            <a:cs typeface="微软雅黑" panose="020B0503020204020204" charset="-122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sz="1100" b="1" i="1">
                                            <a:solidFill>
                                              <a:srgbClr val="2563EB"/>
                                            </a:solidFill>
                                            <a:latin typeface="Cambria Math" panose="02040503050406030204"/>
                                            <a:ea typeface="Cambria Math" panose="02040503050406030204"/>
                                            <a:cs typeface="微软雅黑" panose="020B0503020204020204" charset="-122"/>
                                          </a:rPr>
                                          <m:t>𝑛</m:t>
                                        </m:r>
                                      </m:e>
                                      <m:sup>
                                        <m:f>
                                          <m:fPr>
                                            <m:ctrlPr>
                                              <a:rPr sz="1100" b="1">
                                                <a:solidFill>
                                                  <a:srgbClr val="2563EB"/>
                                                </a:solidFill>
                                                <a:latin typeface="Cambria Math" panose="02040503050406030204"/>
                                                <a:ea typeface="微软雅黑" panose="020B0503020204020204" charset="-122"/>
                                                <a:cs typeface="微软雅黑" panose="020B0503020204020204" charset="-122"/>
                                              </a:rPr>
                                            </m:ctrlPr>
                                          </m:fPr>
                                          <m:num>
                                            <m:r>
                                              <a:rPr sz="1100" b="1" i="0">
                                                <a:solidFill>
                                                  <a:srgbClr val="2563EB"/>
                                                </a:solidFill>
                                                <a:latin typeface="Cambria Math" panose="02040503050406030204"/>
                                                <a:ea typeface="Cambria Math" panose="02040503050406030204"/>
                                                <a:cs typeface="微软雅黑" panose="020B0503020204020204" charset="-122"/>
                                              </a:rPr>
                                              <m:t>7</m:t>
                                            </m:r>
                                          </m:num>
                                          <m:den>
                                            <m:r>
                                              <a:rPr sz="1100" b="1" i="0">
                                                <a:solidFill>
                                                  <a:srgbClr val="2563EB"/>
                                                </a:solidFill>
                                                <a:latin typeface="Cambria Math" panose="02040503050406030204"/>
                                                <a:ea typeface="Cambria Math" panose="02040503050406030204"/>
                                                <a:cs typeface="微软雅黑" panose="020B0503020204020204" charset="-122"/>
                                              </a:rPr>
                                              <m:t>2</m:t>
                                            </m:r>
                                          </m:den>
                                        </m:f>
                                      </m:sup>
                                    </m:sSup>
                                  </m:e>
                                </m:d>
                              </m:oMath>
                            </m:oMathPara>
                          </a14:m>
                          <a:endParaRPr sz="1100"/>
                        </a:p>
                      </a:txBody>
                      <a:tcPr marL="54864" marR="54864" marT="22860" marB="22860" anchor="ctr">
                        <a:solidFill>
                          <a:srgbClr val="FFFFFF"/>
                        </a:solidFill>
                      </a:tcPr>
                    </a:tc>
                  </a:tr>
                  <a:tr h="489204"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sz="1100">
                              <a:solidFill>
                                <a:srgbClr val="1E293B"/>
                              </a:solidFill>
                              <a:latin typeface="微软雅黑" panose="020B0503020204020204" charset="-122"/>
                              <a:ea typeface="微软雅黑" panose="020B0503020204020204" charset="-122"/>
                              <a:cs typeface="微软雅黑" panose="020B0503020204020204" charset="-122"/>
                            </a:rPr>
                            <a:t>d</a:t>
                          </a:r>
                          <a:endParaRPr sz="1100">
                            <a:solidFill>
                              <a:srgbClr val="1E293B"/>
                            </a:solidFill>
                            <a:latin typeface="微软雅黑" panose="020B0503020204020204" charset="-122"/>
                            <a:ea typeface="微软雅黑" panose="020B0503020204020204" charset="-122"/>
                            <a:cs typeface="微软雅黑" panose="020B0503020204020204" charset="-122"/>
                          </a:endParaRPr>
                        </a:p>
                      </a:txBody>
                      <a:tcPr marL="54864" marR="54864" marT="22860" marB="22860" anchor="ctr">
                        <a:solidFill>
                          <a:srgbClr val="F1F5F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sz="1000" i="0">
                                    <a:solidFill>
                                      <a:srgbClr val="1E293B"/>
                                    </a:solidFill>
                                    <a:latin typeface="Cambria Math" panose="02040503050406030204"/>
                                    <a:ea typeface="Cambria Math" panose="02040503050406030204"/>
                                    <a:cs typeface="微软雅黑" panose="020B0503020204020204" charset="-122"/>
                                  </a:rPr>
                                  <m:t>2</m:t>
                                </m:r>
                                <m:r>
                                  <a:rPr sz="1000" i="1">
                                    <a:solidFill>
                                      <a:srgbClr val="1E293B"/>
                                    </a:solidFill>
                                    <a:latin typeface="Cambria Math" panose="02040503050406030204"/>
                                    <a:ea typeface="Cambria Math" panose="02040503050406030204"/>
                                    <a:cs typeface="微软雅黑" panose="020B0503020204020204" charset="-122"/>
                                  </a:rPr>
                                  <m:t>𝑇</m:t>
                                </m:r>
                                <m:d>
                                  <m:dPr>
                                    <m:ctrlPr>
                                      <a:rPr sz="1000">
                                        <a:solidFill>
                                          <a:srgbClr val="1E293B"/>
                                        </a:solidFill>
                                        <a:latin typeface="Cambria Math" panose="02040503050406030204"/>
                                        <a:ea typeface="微软雅黑" panose="020B0503020204020204" charset="-122"/>
                                        <a:cs typeface="微软雅黑" panose="020B0503020204020204" charset="-122"/>
                                      </a:rPr>
                                    </m:ctrlPr>
                                  </m:dPr>
                                  <m:e>
                                    <m:f>
                                      <m:fPr>
                                        <m:ctrlPr>
                                          <a:rPr sz="1000">
                                            <a:solidFill>
                                              <a:srgbClr val="1E293B"/>
                                            </a:solidFill>
                                            <a:latin typeface="Cambria Math" panose="02040503050406030204"/>
                                            <a:ea typeface="微软雅黑" panose="020B0503020204020204" charset="-122"/>
                                            <a:cs typeface="微软雅黑" panose="020B0503020204020204" charset="-122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sz="1000" i="1">
                                            <a:solidFill>
                                              <a:srgbClr val="1E293B"/>
                                            </a:solidFill>
                                            <a:latin typeface="Cambria Math" panose="02040503050406030204"/>
                                            <a:ea typeface="Cambria Math" panose="02040503050406030204"/>
                                            <a:cs typeface="微软雅黑" panose="020B0503020204020204" charset="-122"/>
                                          </a:rPr>
                                          <m:t>𝑛</m:t>
                                        </m:r>
                                      </m:num>
                                      <m:den>
                                        <m:r>
                                          <a:rPr sz="1000" i="0">
                                            <a:solidFill>
                                              <a:srgbClr val="1E293B"/>
                                            </a:solidFill>
                                            <a:latin typeface="Cambria Math" panose="02040503050406030204"/>
                                            <a:ea typeface="Cambria Math" panose="02040503050406030204"/>
                                            <a:cs typeface="微软雅黑" panose="020B0503020204020204" charset="-122"/>
                                          </a:rPr>
                                          <m:t>2</m:t>
                                        </m:r>
                                      </m:den>
                                    </m:f>
                                    <m:r>
                                      <a:rPr sz="1000" i="0">
                                        <a:solidFill>
                                          <a:srgbClr val="1E293B"/>
                                        </a:solidFill>
                                        <a:latin typeface="Cambria Math" panose="02040503050406030204"/>
                                        <a:ea typeface="Cambria Math" panose="02040503050406030204"/>
                                        <a:cs typeface="微软雅黑" panose="020B0503020204020204" charset="-122"/>
                                      </a:rPr>
                                      <m:t>−</m:t>
                                    </m:r>
                                    <m:r>
                                      <a:rPr sz="1000" i="0">
                                        <a:solidFill>
                                          <a:srgbClr val="1E293B"/>
                                        </a:solidFill>
                                        <a:latin typeface="Cambria Math" panose="02040503050406030204"/>
                                        <a:ea typeface="Cambria Math" panose="02040503050406030204"/>
                                        <a:cs typeface="微软雅黑" panose="020B0503020204020204" charset="-122"/>
                                      </a:rPr>
                                      <m:t>2</m:t>
                                    </m:r>
                                  </m:e>
                                </m:d>
                                <m:r>
                                  <a:rPr sz="1000" i="0">
                                    <a:solidFill>
                                      <a:srgbClr val="1E293B"/>
                                    </a:solidFill>
                                    <a:latin typeface="Cambria Math" panose="02040503050406030204"/>
                                    <a:ea typeface="Cambria Math" panose="02040503050406030204"/>
                                    <a:cs typeface="微软雅黑" panose="020B0503020204020204" charset="-122"/>
                                  </a:rPr>
                                  <m:t>+</m:t>
                                </m:r>
                                <m:f>
                                  <m:fPr>
                                    <m:ctrlPr>
                                      <a:rPr sz="1000">
                                        <a:solidFill>
                                          <a:srgbClr val="1E293B"/>
                                        </a:solidFill>
                                        <a:latin typeface="Cambria Math" panose="02040503050406030204"/>
                                        <a:ea typeface="微软雅黑" panose="020B0503020204020204" charset="-122"/>
                                        <a:cs typeface="微软雅黑" panose="020B0503020204020204" charset="-122"/>
                                      </a:rPr>
                                    </m:ctrlPr>
                                  </m:fPr>
                                  <m:num>
                                    <m:r>
                                      <a:rPr sz="1000" i="1">
                                        <a:solidFill>
                                          <a:srgbClr val="1E293B"/>
                                        </a:solidFill>
                                        <a:latin typeface="Cambria Math" panose="02040503050406030204"/>
                                        <a:ea typeface="Cambria Math" panose="02040503050406030204"/>
                                        <a:cs typeface="微软雅黑" panose="020B0503020204020204" charset="-122"/>
                                      </a:rPr>
                                      <m:t>𝑛</m:t>
                                    </m:r>
                                  </m:num>
                                  <m:den>
                                    <m:r>
                                      <a:rPr sz="1000" i="0">
                                        <a:solidFill>
                                          <a:srgbClr val="1E293B"/>
                                        </a:solidFill>
                                        <a:latin typeface="Cambria Math" panose="02040503050406030204"/>
                                        <a:ea typeface="Cambria Math" panose="02040503050406030204"/>
                                        <a:cs typeface="微软雅黑" panose="020B0503020204020204" charset="-122"/>
                                      </a:rPr>
                                      <m:t>2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sz="1000"/>
                        </a:p>
                      </a:txBody>
                      <a:tcPr marL="54864" marR="54864" marT="22860" marB="22860" anchor="ctr">
                        <a:solidFill>
                          <a:srgbClr val="F1F5F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sz="1100">
                              <a:solidFill>
                                <a:srgbClr val="1E293B"/>
                              </a:solidFill>
                              <a:latin typeface="微软雅黑" panose="020B0503020204020204" charset="-122"/>
                              <a:ea typeface="微软雅黑" panose="020B0503020204020204" charset="-122"/>
                              <a:cs typeface="微软雅黑" panose="020B0503020204020204" charset="-122"/>
                            </a:rPr>
                            <a:t>变量代换</a:t>
                          </a:r>
                          <a:endParaRPr sz="1100">
                            <a:solidFill>
                              <a:srgbClr val="1E293B"/>
                            </a:solidFill>
                            <a:latin typeface="微软雅黑" panose="020B0503020204020204" charset="-122"/>
                            <a:ea typeface="微软雅黑" panose="020B0503020204020204" charset="-122"/>
                            <a:cs typeface="微软雅黑" panose="020B0503020204020204" charset="-122"/>
                          </a:endParaRPr>
                        </a:p>
                      </a:txBody>
                      <a:tcPr marL="54864" marR="54864" marT="22860" marB="22860" anchor="ctr">
                        <a:solidFill>
                          <a:srgbClr val="F1F5F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sz="1100" b="1" i="0">
                                    <a:solidFill>
                                      <a:srgbClr val="2563EB"/>
                                    </a:solidFill>
                                    <a:latin typeface="Cambria Math" panose="02040503050406030204"/>
                                    <a:ea typeface="Cambria Math" panose="02040503050406030204"/>
                                    <a:cs typeface="微软雅黑" panose="020B0503020204020204" charset="-122"/>
                                  </a:rPr>
                                  <m:t>Θ</m:t>
                                </m:r>
                                <m:d>
                                  <m:dPr>
                                    <m:ctrlPr>
                                      <a:rPr sz="1100" b="1">
                                        <a:solidFill>
                                          <a:srgbClr val="2563EB"/>
                                        </a:solidFill>
                                        <a:latin typeface="Cambria Math" panose="02040503050406030204"/>
                                        <a:ea typeface="微软雅黑" panose="020B0503020204020204" charset="-122"/>
                                        <a:cs typeface="微软雅黑" panose="020B0503020204020204" charset="-122"/>
                                      </a:rPr>
                                    </m:ctrlPr>
                                  </m:dPr>
                                  <m:e>
                                    <m:r>
                                      <a:rPr sz="1100" b="1" i="1">
                                        <a:solidFill>
                                          <a:srgbClr val="2563EB"/>
                                        </a:solidFill>
                                        <a:latin typeface="Cambria Math" panose="02040503050406030204"/>
                                        <a:ea typeface="Cambria Math" panose="02040503050406030204"/>
                                        <a:cs typeface="微软雅黑" panose="020B0503020204020204" charset="-122"/>
                                      </a:rPr>
                                      <m:t>𝑛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sz="1100" b="1" i="0">
                                        <a:solidFill>
                                          <a:srgbClr val="2563EB"/>
                                        </a:solidFill>
                                        <a:latin typeface="Cambria Math" panose="02040503050406030204"/>
                                        <a:ea typeface="Cambria Math" panose="02040503050406030204"/>
                                        <a:cs typeface="微软雅黑" panose="020B0503020204020204" charset="-122"/>
                                      </a:rPr>
                                      <m:t>lg</m:t>
                                    </m:r>
                                    <m:r>
                                      <a:rPr sz="1100" b="1" i="1">
                                        <a:solidFill>
                                          <a:srgbClr val="2563EB"/>
                                        </a:solidFill>
                                        <a:latin typeface="Cambria Math" panose="02040503050406030204"/>
                                        <a:ea typeface="Cambria Math" panose="02040503050406030204"/>
                                        <a:cs typeface="微软雅黑" panose="020B0503020204020204" charset="-122"/>
                                      </a:rPr>
                                      <m:t>𝑛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sz="1100"/>
                        </a:p>
                      </a:txBody>
                      <a:tcPr marL="54864" marR="54864" marT="22860" marB="22860" anchor="ctr">
                        <a:solidFill>
                          <a:srgbClr val="F1F5F9"/>
                        </a:solidFill>
                      </a:tcPr>
                    </a:tc>
                  </a:tr>
                  <a:tr h="489204"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sz="1100">
                              <a:solidFill>
                                <a:srgbClr val="1E293B"/>
                              </a:solidFill>
                              <a:latin typeface="微软雅黑" panose="020B0503020204020204" charset="-122"/>
                              <a:ea typeface="微软雅黑" panose="020B0503020204020204" charset="-122"/>
                              <a:cs typeface="微软雅黑" panose="020B0503020204020204" charset="-122"/>
                            </a:rPr>
                            <a:t>e</a:t>
                          </a:r>
                          <a:endParaRPr sz="1100">
                            <a:solidFill>
                              <a:srgbClr val="1E293B"/>
                            </a:solidFill>
                            <a:latin typeface="微软雅黑" panose="020B0503020204020204" charset="-122"/>
                            <a:ea typeface="微软雅黑" panose="020B0503020204020204" charset="-122"/>
                            <a:cs typeface="微软雅黑" panose="020B0503020204020204" charset="-122"/>
                          </a:endParaRPr>
                        </a:p>
                      </a:txBody>
                      <a:tcPr marL="54864" marR="54864" marT="22860" marB="22860" anchor="ctr"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sz="1000" i="0">
                                    <a:solidFill>
                                      <a:srgbClr val="1E293B"/>
                                    </a:solidFill>
                                    <a:latin typeface="Cambria Math" panose="02040503050406030204"/>
                                    <a:ea typeface="Cambria Math" panose="02040503050406030204"/>
                                    <a:cs typeface="微软雅黑" panose="020B0503020204020204" charset="-122"/>
                                  </a:rPr>
                                  <m:t>2</m:t>
                                </m:r>
                                <m:r>
                                  <a:rPr sz="1000" i="1">
                                    <a:solidFill>
                                      <a:srgbClr val="1E293B"/>
                                    </a:solidFill>
                                    <a:latin typeface="Cambria Math" panose="02040503050406030204"/>
                                    <a:ea typeface="Cambria Math" panose="02040503050406030204"/>
                                    <a:cs typeface="微软雅黑" panose="020B0503020204020204" charset="-122"/>
                                  </a:rPr>
                                  <m:t>𝑇</m:t>
                                </m:r>
                                <m:d>
                                  <m:dPr>
                                    <m:ctrlPr>
                                      <a:rPr sz="1000">
                                        <a:solidFill>
                                          <a:srgbClr val="1E293B"/>
                                        </a:solidFill>
                                        <a:latin typeface="Cambria Math" panose="02040503050406030204"/>
                                        <a:ea typeface="微软雅黑" panose="020B0503020204020204" charset="-122"/>
                                        <a:cs typeface="微软雅黑" panose="020B0503020204020204" charset="-122"/>
                                      </a:rPr>
                                    </m:ctrlPr>
                                  </m:dPr>
                                  <m:e>
                                    <m:f>
                                      <m:fPr>
                                        <m:ctrlPr>
                                          <a:rPr sz="1000">
                                            <a:solidFill>
                                              <a:srgbClr val="1E293B"/>
                                            </a:solidFill>
                                            <a:latin typeface="Cambria Math" panose="02040503050406030204"/>
                                            <a:ea typeface="微软雅黑" panose="020B0503020204020204" charset="-122"/>
                                            <a:cs typeface="微软雅黑" panose="020B0503020204020204" charset="-122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sz="1000" i="1">
                                            <a:solidFill>
                                              <a:srgbClr val="1E293B"/>
                                            </a:solidFill>
                                            <a:latin typeface="Cambria Math" panose="02040503050406030204"/>
                                            <a:ea typeface="Cambria Math" panose="02040503050406030204"/>
                                            <a:cs typeface="微软雅黑" panose="020B0503020204020204" charset="-122"/>
                                          </a:rPr>
                                          <m:t>𝑛</m:t>
                                        </m:r>
                                      </m:num>
                                      <m:den>
                                        <m:r>
                                          <a:rPr sz="1000" i="0">
                                            <a:solidFill>
                                              <a:srgbClr val="1E293B"/>
                                            </a:solidFill>
                                            <a:latin typeface="Cambria Math" panose="02040503050406030204"/>
                                            <a:ea typeface="Cambria Math" panose="02040503050406030204"/>
                                            <a:cs typeface="微软雅黑" panose="020B0503020204020204" charset="-122"/>
                                          </a:rPr>
                                          <m:t>2</m:t>
                                        </m:r>
                                      </m:den>
                                    </m:f>
                                  </m:e>
                                </m:d>
                                <m:r>
                                  <a:rPr sz="1000" i="0">
                                    <a:solidFill>
                                      <a:srgbClr val="1E293B"/>
                                    </a:solidFill>
                                    <a:latin typeface="Cambria Math" panose="02040503050406030204"/>
                                    <a:ea typeface="Cambria Math" panose="02040503050406030204"/>
                                    <a:cs typeface="微软雅黑" panose="020B0503020204020204" charset="-122"/>
                                  </a:rPr>
                                  <m:t>+</m:t>
                                </m:r>
                                <m:f>
                                  <m:fPr>
                                    <m:ctrlPr>
                                      <a:rPr sz="1000">
                                        <a:solidFill>
                                          <a:srgbClr val="1E293B"/>
                                        </a:solidFill>
                                        <a:latin typeface="Cambria Math" panose="02040503050406030204"/>
                                        <a:ea typeface="微软雅黑" panose="020B0503020204020204" charset="-122"/>
                                        <a:cs typeface="微软雅黑" panose="020B0503020204020204" charset="-122"/>
                                      </a:rPr>
                                    </m:ctrlPr>
                                  </m:fPr>
                                  <m:num>
                                    <m:r>
                                      <a:rPr sz="1000" i="1">
                                        <a:solidFill>
                                          <a:srgbClr val="1E293B"/>
                                        </a:solidFill>
                                        <a:latin typeface="Cambria Math" panose="02040503050406030204"/>
                                        <a:ea typeface="Cambria Math" panose="02040503050406030204"/>
                                        <a:cs typeface="微软雅黑" panose="020B0503020204020204" charset="-122"/>
                                      </a:rPr>
                                      <m:t>𝑛</m:t>
                                    </m:r>
                                  </m:num>
                                  <m:den>
                                    <m:r>
                                      <m:rPr>
                                        <m:sty m:val="p"/>
                                      </m:rPr>
                                      <a:rPr sz="1000" i="0">
                                        <a:solidFill>
                                          <a:srgbClr val="1E293B"/>
                                        </a:solidFill>
                                        <a:latin typeface="Cambria Math" panose="02040503050406030204"/>
                                        <a:ea typeface="Cambria Math" panose="02040503050406030204"/>
                                        <a:cs typeface="微软雅黑" panose="020B0503020204020204" charset="-122"/>
                                      </a:rPr>
                                      <m:t>lg</m:t>
                                    </m:r>
                                    <m:r>
                                      <a:rPr sz="1000" i="1">
                                        <a:solidFill>
                                          <a:srgbClr val="1E293B"/>
                                        </a:solidFill>
                                        <a:latin typeface="Cambria Math" panose="02040503050406030204"/>
                                        <a:ea typeface="Cambria Math" panose="02040503050406030204"/>
                                        <a:cs typeface="微软雅黑" panose="020B0503020204020204" charset="-122"/>
                                      </a:rPr>
                                      <m:t>𝑛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sz="1000"/>
                        </a:p>
                      </a:txBody>
                      <a:tcPr marL="54864" marR="54864" marT="22860" marB="22860" anchor="ctr"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sz="1100">
                              <a:solidFill>
                                <a:srgbClr val="1E293B"/>
                              </a:solidFill>
                              <a:latin typeface="微软雅黑" panose="020B0503020204020204" charset="-122"/>
                              <a:ea typeface="微软雅黑" panose="020B0503020204020204" charset="-122"/>
                              <a:cs typeface="微软雅黑" panose="020B0503020204020204" charset="-122"/>
                            </a:rPr>
                            <a:t>递归树 / 调和级数</a:t>
                          </a:r>
                          <a:endParaRPr sz="1100">
                            <a:solidFill>
                              <a:srgbClr val="1E293B"/>
                            </a:solidFill>
                            <a:latin typeface="微软雅黑" panose="020B0503020204020204" charset="-122"/>
                            <a:ea typeface="微软雅黑" panose="020B0503020204020204" charset="-122"/>
                            <a:cs typeface="微软雅黑" panose="020B0503020204020204" charset="-122"/>
                          </a:endParaRPr>
                        </a:p>
                      </a:txBody>
                      <a:tcPr marL="54864" marR="54864" marT="22860" marB="22860" anchor="ctr"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sz="1100" b="1" i="0">
                                    <a:solidFill>
                                      <a:srgbClr val="2563EB"/>
                                    </a:solidFill>
                                    <a:latin typeface="Cambria Math" panose="02040503050406030204"/>
                                    <a:ea typeface="Cambria Math" panose="02040503050406030204"/>
                                    <a:cs typeface="微软雅黑" panose="020B0503020204020204" charset="-122"/>
                                  </a:rPr>
                                  <m:t>Θ</m:t>
                                </m:r>
                                <m:d>
                                  <m:dPr>
                                    <m:ctrlPr>
                                      <a:rPr sz="1100" b="1">
                                        <a:solidFill>
                                          <a:srgbClr val="2563EB"/>
                                        </a:solidFill>
                                        <a:latin typeface="Cambria Math" panose="02040503050406030204"/>
                                        <a:ea typeface="微软雅黑" panose="020B0503020204020204" charset="-122"/>
                                        <a:cs typeface="微软雅黑" panose="020B0503020204020204" charset="-122"/>
                                      </a:rPr>
                                    </m:ctrlPr>
                                  </m:dPr>
                                  <m:e>
                                    <m:r>
                                      <a:rPr sz="1100" b="1" i="1">
                                        <a:solidFill>
                                          <a:srgbClr val="2563EB"/>
                                        </a:solidFill>
                                        <a:latin typeface="Cambria Math" panose="02040503050406030204"/>
                                        <a:ea typeface="Cambria Math" panose="02040503050406030204"/>
                                        <a:cs typeface="微软雅黑" panose="020B0503020204020204" charset="-122"/>
                                      </a:rPr>
                                      <m:t>𝑛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sz="1100" b="1" i="0">
                                        <a:solidFill>
                                          <a:srgbClr val="2563EB"/>
                                        </a:solidFill>
                                        <a:latin typeface="Cambria Math" panose="02040503050406030204"/>
                                        <a:ea typeface="Cambria Math" panose="02040503050406030204"/>
                                        <a:cs typeface="微软雅黑" panose="020B0503020204020204" charset="-122"/>
                                      </a:rPr>
                                      <m:t>lg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sz="1100" b="1" i="0">
                                        <a:solidFill>
                                          <a:srgbClr val="2563EB"/>
                                        </a:solidFill>
                                        <a:latin typeface="Cambria Math" panose="02040503050406030204"/>
                                        <a:ea typeface="Cambria Math" panose="02040503050406030204"/>
                                        <a:cs typeface="微软雅黑" panose="020B0503020204020204" charset="-122"/>
                                      </a:rPr>
                                      <m:t>lg</m:t>
                                    </m:r>
                                    <m:r>
                                      <a:rPr sz="1100" b="1" i="1">
                                        <a:solidFill>
                                          <a:srgbClr val="2563EB"/>
                                        </a:solidFill>
                                        <a:latin typeface="Cambria Math" panose="02040503050406030204"/>
                                        <a:ea typeface="Cambria Math" panose="02040503050406030204"/>
                                        <a:cs typeface="微软雅黑" panose="020B0503020204020204" charset="-122"/>
                                      </a:rPr>
                                      <m:t>𝑛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sz="1100"/>
                        </a:p>
                      </a:txBody>
                      <a:tcPr marL="54864" marR="54864" marT="22860" marB="22860" anchor="ctr">
                        <a:solidFill>
                          <a:srgbClr val="FFFFFF"/>
                        </a:solidFill>
                      </a:tcPr>
                    </a:tc>
                  </a:tr>
                  <a:tr h="489204"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sz="1100">
                              <a:solidFill>
                                <a:srgbClr val="1E293B"/>
                              </a:solidFill>
                              <a:latin typeface="微软雅黑" panose="020B0503020204020204" charset="-122"/>
                              <a:ea typeface="微软雅黑" panose="020B0503020204020204" charset="-122"/>
                              <a:cs typeface="微软雅黑" panose="020B0503020204020204" charset="-122"/>
                            </a:rPr>
                            <a:t>f</a:t>
                          </a:r>
                          <a:endParaRPr sz="1100">
                            <a:solidFill>
                              <a:srgbClr val="1E293B"/>
                            </a:solidFill>
                            <a:latin typeface="微软雅黑" panose="020B0503020204020204" charset="-122"/>
                            <a:ea typeface="微软雅黑" panose="020B0503020204020204" charset="-122"/>
                            <a:cs typeface="微软雅黑" panose="020B0503020204020204" charset="-122"/>
                          </a:endParaRPr>
                        </a:p>
                      </a:txBody>
                      <a:tcPr marL="54864" marR="54864" marT="22860" marB="22860" anchor="ctr">
                        <a:solidFill>
                          <a:srgbClr val="F1F5F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sz="1000" i="1">
                                    <a:solidFill>
                                      <a:srgbClr val="1E293B"/>
                                    </a:solidFill>
                                    <a:latin typeface="Cambria Math" panose="02040503050406030204"/>
                                    <a:ea typeface="Cambria Math" panose="02040503050406030204"/>
                                    <a:cs typeface="微软雅黑" panose="020B0503020204020204" charset="-122"/>
                                  </a:rPr>
                                  <m:t>𝑇</m:t>
                                </m:r>
                                <m:d>
                                  <m:dPr>
                                    <m:ctrlPr>
                                      <a:rPr sz="1000">
                                        <a:solidFill>
                                          <a:srgbClr val="1E293B"/>
                                        </a:solidFill>
                                        <a:latin typeface="Cambria Math" panose="02040503050406030204"/>
                                        <a:ea typeface="微软雅黑" panose="020B0503020204020204" charset="-122"/>
                                        <a:cs typeface="微软雅黑" panose="020B0503020204020204" charset="-122"/>
                                      </a:rPr>
                                    </m:ctrlPr>
                                  </m:dPr>
                                  <m:e>
                                    <m:f>
                                      <m:fPr>
                                        <m:ctrlPr>
                                          <a:rPr sz="1000">
                                            <a:solidFill>
                                              <a:srgbClr val="1E293B"/>
                                            </a:solidFill>
                                            <a:latin typeface="Cambria Math" panose="02040503050406030204"/>
                                            <a:ea typeface="微软雅黑" panose="020B0503020204020204" charset="-122"/>
                                            <a:cs typeface="微软雅黑" panose="020B0503020204020204" charset="-122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sz="1000" i="1">
                                            <a:solidFill>
                                              <a:srgbClr val="1E293B"/>
                                            </a:solidFill>
                                            <a:latin typeface="Cambria Math" panose="02040503050406030204"/>
                                            <a:ea typeface="Cambria Math" panose="02040503050406030204"/>
                                            <a:cs typeface="微软雅黑" panose="020B0503020204020204" charset="-122"/>
                                          </a:rPr>
                                          <m:t>𝑛</m:t>
                                        </m:r>
                                      </m:num>
                                      <m:den>
                                        <m:r>
                                          <a:rPr sz="1000" i="0">
                                            <a:solidFill>
                                              <a:srgbClr val="1E293B"/>
                                            </a:solidFill>
                                            <a:latin typeface="Cambria Math" panose="02040503050406030204"/>
                                            <a:ea typeface="Cambria Math" panose="02040503050406030204"/>
                                            <a:cs typeface="微软雅黑" panose="020B0503020204020204" charset="-122"/>
                                          </a:rPr>
                                          <m:t>2</m:t>
                                        </m:r>
                                      </m:den>
                                    </m:f>
                                  </m:e>
                                </m:d>
                                <m:r>
                                  <a:rPr sz="1000" i="0">
                                    <a:solidFill>
                                      <a:srgbClr val="1E293B"/>
                                    </a:solidFill>
                                    <a:latin typeface="Cambria Math" panose="02040503050406030204"/>
                                    <a:ea typeface="Cambria Math" panose="02040503050406030204"/>
                                    <a:cs typeface="微软雅黑" panose="020B0503020204020204" charset="-122"/>
                                  </a:rPr>
                                  <m:t>+</m:t>
                                </m:r>
                                <m:r>
                                  <a:rPr sz="1000" i="1">
                                    <a:solidFill>
                                      <a:srgbClr val="1E293B"/>
                                    </a:solidFill>
                                    <a:latin typeface="Cambria Math" panose="02040503050406030204"/>
                                    <a:ea typeface="Cambria Math" panose="02040503050406030204"/>
                                    <a:cs typeface="微软雅黑" panose="020B0503020204020204" charset="-122"/>
                                  </a:rPr>
                                  <m:t>𝑇</m:t>
                                </m:r>
                                <m:d>
                                  <m:dPr>
                                    <m:ctrlPr>
                                      <a:rPr sz="1000">
                                        <a:solidFill>
                                          <a:srgbClr val="1E293B"/>
                                        </a:solidFill>
                                        <a:latin typeface="Cambria Math" panose="02040503050406030204"/>
                                        <a:ea typeface="微软雅黑" panose="020B0503020204020204" charset="-122"/>
                                        <a:cs typeface="微软雅黑" panose="020B0503020204020204" charset="-122"/>
                                      </a:rPr>
                                    </m:ctrlPr>
                                  </m:dPr>
                                  <m:e>
                                    <m:f>
                                      <m:fPr>
                                        <m:ctrlPr>
                                          <a:rPr sz="1000">
                                            <a:solidFill>
                                              <a:srgbClr val="1E293B"/>
                                            </a:solidFill>
                                            <a:latin typeface="Cambria Math" panose="02040503050406030204"/>
                                            <a:ea typeface="微软雅黑" panose="020B0503020204020204" charset="-122"/>
                                            <a:cs typeface="微软雅黑" panose="020B0503020204020204" charset="-122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sz="1000" i="1">
                                            <a:solidFill>
                                              <a:srgbClr val="1E293B"/>
                                            </a:solidFill>
                                            <a:latin typeface="Cambria Math" panose="02040503050406030204"/>
                                            <a:ea typeface="Cambria Math" panose="02040503050406030204"/>
                                            <a:cs typeface="微软雅黑" panose="020B0503020204020204" charset="-122"/>
                                          </a:rPr>
                                          <m:t>𝑛</m:t>
                                        </m:r>
                                      </m:num>
                                      <m:den>
                                        <m:r>
                                          <a:rPr sz="1000" i="0">
                                            <a:solidFill>
                                              <a:srgbClr val="1E293B"/>
                                            </a:solidFill>
                                            <a:latin typeface="Cambria Math" panose="02040503050406030204"/>
                                            <a:ea typeface="Cambria Math" panose="02040503050406030204"/>
                                            <a:cs typeface="微软雅黑" panose="020B0503020204020204" charset="-122"/>
                                          </a:rPr>
                                          <m:t>4</m:t>
                                        </m:r>
                                      </m:den>
                                    </m:f>
                                  </m:e>
                                </m:d>
                                <m:r>
                                  <a:rPr sz="1000" i="0">
                                    <a:solidFill>
                                      <a:srgbClr val="1E293B"/>
                                    </a:solidFill>
                                    <a:latin typeface="Cambria Math" panose="02040503050406030204"/>
                                    <a:ea typeface="Cambria Math" panose="02040503050406030204"/>
                                    <a:cs typeface="微软雅黑" panose="020B0503020204020204" charset="-122"/>
                                  </a:rPr>
                                  <m:t>+</m:t>
                                </m:r>
                                <m:r>
                                  <a:rPr sz="1000" i="1">
                                    <a:solidFill>
                                      <a:srgbClr val="1E293B"/>
                                    </a:solidFill>
                                    <a:latin typeface="Cambria Math" panose="02040503050406030204"/>
                                    <a:ea typeface="Cambria Math" panose="02040503050406030204"/>
                                    <a:cs typeface="微软雅黑" panose="020B0503020204020204" charset="-122"/>
                                  </a:rPr>
                                  <m:t>𝑇</m:t>
                                </m:r>
                                <m:d>
                                  <m:dPr>
                                    <m:ctrlPr>
                                      <a:rPr sz="1000">
                                        <a:solidFill>
                                          <a:srgbClr val="1E293B"/>
                                        </a:solidFill>
                                        <a:latin typeface="Cambria Math" panose="02040503050406030204"/>
                                        <a:ea typeface="微软雅黑" panose="020B0503020204020204" charset="-122"/>
                                        <a:cs typeface="微软雅黑" panose="020B0503020204020204" charset="-122"/>
                                      </a:rPr>
                                    </m:ctrlPr>
                                  </m:dPr>
                                  <m:e>
                                    <m:f>
                                      <m:fPr>
                                        <m:ctrlPr>
                                          <a:rPr sz="1000">
                                            <a:solidFill>
                                              <a:srgbClr val="1E293B"/>
                                            </a:solidFill>
                                            <a:latin typeface="Cambria Math" panose="02040503050406030204"/>
                                            <a:ea typeface="微软雅黑" panose="020B0503020204020204" charset="-122"/>
                                            <a:cs typeface="微软雅黑" panose="020B0503020204020204" charset="-122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sz="1000" i="1">
                                            <a:solidFill>
                                              <a:srgbClr val="1E293B"/>
                                            </a:solidFill>
                                            <a:latin typeface="Cambria Math" panose="02040503050406030204"/>
                                            <a:ea typeface="Cambria Math" panose="02040503050406030204"/>
                                            <a:cs typeface="微软雅黑" panose="020B0503020204020204" charset="-122"/>
                                          </a:rPr>
                                          <m:t>𝑛</m:t>
                                        </m:r>
                                      </m:num>
                                      <m:den>
                                        <m:r>
                                          <a:rPr sz="1000" i="0">
                                            <a:solidFill>
                                              <a:srgbClr val="1E293B"/>
                                            </a:solidFill>
                                            <a:latin typeface="Cambria Math" panose="02040503050406030204"/>
                                            <a:ea typeface="Cambria Math" panose="02040503050406030204"/>
                                            <a:cs typeface="微软雅黑" panose="020B0503020204020204" charset="-122"/>
                                          </a:rPr>
                                          <m:t>8</m:t>
                                        </m:r>
                                      </m:den>
                                    </m:f>
                                  </m:e>
                                </m:d>
                                <m:r>
                                  <a:rPr sz="1000" i="0">
                                    <a:solidFill>
                                      <a:srgbClr val="1E293B"/>
                                    </a:solidFill>
                                    <a:latin typeface="Cambria Math" panose="02040503050406030204"/>
                                    <a:ea typeface="Cambria Math" panose="02040503050406030204"/>
                                    <a:cs typeface="微软雅黑" panose="020B0503020204020204" charset="-122"/>
                                  </a:rPr>
                                  <m:t>+</m:t>
                                </m:r>
                                <m:r>
                                  <a:rPr sz="1000" i="1">
                                    <a:solidFill>
                                      <a:srgbClr val="1E293B"/>
                                    </a:solidFill>
                                    <a:latin typeface="Cambria Math" panose="02040503050406030204"/>
                                    <a:ea typeface="Cambria Math" panose="02040503050406030204"/>
                                    <a:cs typeface="微软雅黑" panose="020B0503020204020204" charset="-122"/>
                                  </a:rPr>
                                  <m:t>𝑛</m:t>
                                </m:r>
                              </m:oMath>
                            </m:oMathPara>
                          </a14:m>
                          <a:endParaRPr sz="1000"/>
                        </a:p>
                      </a:txBody>
                      <a:tcPr marL="54864" marR="54864" marT="22860" marB="22860" anchor="ctr">
                        <a:solidFill>
                          <a:srgbClr val="F1F5F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sz="1100">
                              <a:solidFill>
                                <a:srgbClr val="1E293B"/>
                              </a:solidFill>
                              <a:latin typeface="微软雅黑" panose="020B0503020204020204" charset="-122"/>
                              <a:ea typeface="微软雅黑" panose="020B0503020204020204" charset="-122"/>
                              <a:cs typeface="微软雅黑" panose="020B0503020204020204" charset="-122"/>
                            </a:rPr>
                            <a:t>几何级数</a:t>
                          </a:r>
                          <a:endParaRPr sz="1100">
                            <a:solidFill>
                              <a:srgbClr val="1E293B"/>
                            </a:solidFill>
                            <a:latin typeface="微软雅黑" panose="020B0503020204020204" charset="-122"/>
                            <a:ea typeface="微软雅黑" panose="020B0503020204020204" charset="-122"/>
                            <a:cs typeface="微软雅黑" panose="020B0503020204020204" charset="-122"/>
                          </a:endParaRPr>
                        </a:p>
                      </a:txBody>
                      <a:tcPr marL="54864" marR="54864" marT="22860" marB="22860" anchor="ctr">
                        <a:solidFill>
                          <a:srgbClr val="F1F5F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sz="1100" b="1" i="0">
                                    <a:solidFill>
                                      <a:srgbClr val="2563EB"/>
                                    </a:solidFill>
                                    <a:latin typeface="Cambria Math" panose="02040503050406030204"/>
                                    <a:ea typeface="Cambria Math" panose="02040503050406030204"/>
                                    <a:cs typeface="微软雅黑" panose="020B0503020204020204" charset="-122"/>
                                  </a:rPr>
                                  <m:t>Θ</m:t>
                                </m:r>
                                <m:d>
                                  <m:dPr>
                                    <m:ctrlPr>
                                      <a:rPr sz="1100" b="1">
                                        <a:solidFill>
                                          <a:srgbClr val="2563EB"/>
                                        </a:solidFill>
                                        <a:latin typeface="Cambria Math" panose="02040503050406030204"/>
                                        <a:ea typeface="微软雅黑" panose="020B0503020204020204" charset="-122"/>
                                        <a:cs typeface="微软雅黑" panose="020B0503020204020204" charset="-122"/>
                                      </a:rPr>
                                    </m:ctrlPr>
                                  </m:dPr>
                                  <m:e>
                                    <m:r>
                                      <a:rPr sz="1100" b="1" i="1">
                                        <a:solidFill>
                                          <a:srgbClr val="2563EB"/>
                                        </a:solidFill>
                                        <a:latin typeface="Cambria Math" panose="02040503050406030204"/>
                                        <a:ea typeface="Cambria Math" panose="02040503050406030204"/>
                                        <a:cs typeface="微软雅黑" panose="020B0503020204020204" charset="-122"/>
                                      </a:rPr>
                                      <m:t>𝑛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sz="1100"/>
                        </a:p>
                      </a:txBody>
                      <a:tcPr marL="54864" marR="54864" marT="22860" marB="22860" anchor="ctr">
                        <a:solidFill>
                          <a:srgbClr val="F1F5F9"/>
                        </a:solidFill>
                      </a:tcPr>
                    </a:tc>
                  </a:tr>
                  <a:tr h="489204"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sz="1100">
                              <a:solidFill>
                                <a:srgbClr val="1E293B"/>
                              </a:solidFill>
                              <a:latin typeface="微软雅黑" panose="020B0503020204020204" charset="-122"/>
                              <a:ea typeface="微软雅黑" panose="020B0503020204020204" charset="-122"/>
                              <a:cs typeface="微软雅黑" panose="020B0503020204020204" charset="-122"/>
                            </a:rPr>
                            <a:t>g</a:t>
                          </a:r>
                          <a:endParaRPr sz="1100">
                            <a:solidFill>
                              <a:srgbClr val="1E293B"/>
                            </a:solidFill>
                            <a:latin typeface="微软雅黑" panose="020B0503020204020204" charset="-122"/>
                            <a:ea typeface="微软雅黑" panose="020B0503020204020204" charset="-122"/>
                            <a:cs typeface="微软雅黑" panose="020B0503020204020204" charset="-122"/>
                          </a:endParaRPr>
                        </a:p>
                      </a:txBody>
                      <a:tcPr marL="54864" marR="54864" marT="22860" marB="22860" anchor="ctr"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sz="1000" i="1">
                                    <a:solidFill>
                                      <a:srgbClr val="1E293B"/>
                                    </a:solidFill>
                                    <a:latin typeface="Cambria Math" panose="02040503050406030204"/>
                                    <a:ea typeface="Cambria Math" panose="02040503050406030204"/>
                                    <a:cs typeface="微软雅黑" panose="020B0503020204020204" charset="-122"/>
                                  </a:rPr>
                                  <m:t>𝑇</m:t>
                                </m:r>
                                <m:d>
                                  <m:dPr>
                                    <m:ctrlPr>
                                      <a:rPr sz="1000">
                                        <a:solidFill>
                                          <a:srgbClr val="1E293B"/>
                                        </a:solidFill>
                                        <a:latin typeface="Cambria Math" panose="02040503050406030204"/>
                                        <a:ea typeface="微软雅黑" panose="020B0503020204020204" charset="-122"/>
                                        <a:cs typeface="微软雅黑" panose="020B0503020204020204" charset="-122"/>
                                      </a:rPr>
                                    </m:ctrlPr>
                                  </m:dPr>
                                  <m:e>
                                    <m:r>
                                      <a:rPr sz="1000" i="1">
                                        <a:solidFill>
                                          <a:srgbClr val="1E293B"/>
                                        </a:solidFill>
                                        <a:latin typeface="Cambria Math" panose="02040503050406030204"/>
                                        <a:ea typeface="Cambria Math" panose="02040503050406030204"/>
                                        <a:cs typeface="微软雅黑" panose="020B0503020204020204" charset="-122"/>
                                      </a:rPr>
                                      <m:t>𝑛</m:t>
                                    </m:r>
                                    <m:r>
                                      <a:rPr sz="1000" i="0">
                                        <a:solidFill>
                                          <a:srgbClr val="1E293B"/>
                                        </a:solidFill>
                                        <a:latin typeface="Cambria Math" panose="02040503050406030204"/>
                                        <a:ea typeface="Cambria Math" panose="02040503050406030204"/>
                                        <a:cs typeface="微软雅黑" panose="020B0503020204020204" charset="-122"/>
                                      </a:rPr>
                                      <m:t>−</m:t>
                                    </m:r>
                                    <m:r>
                                      <a:rPr sz="1000" i="0">
                                        <a:solidFill>
                                          <a:srgbClr val="1E293B"/>
                                        </a:solidFill>
                                        <a:latin typeface="Cambria Math" panose="02040503050406030204"/>
                                        <a:ea typeface="Cambria Math" panose="02040503050406030204"/>
                                        <a:cs typeface="微软雅黑" panose="020B0503020204020204" charset="-122"/>
                                      </a:rPr>
                                      <m:t>1</m:t>
                                    </m:r>
                                  </m:e>
                                </m:d>
                                <m:r>
                                  <a:rPr sz="1000" i="0">
                                    <a:solidFill>
                                      <a:srgbClr val="1E293B"/>
                                    </a:solidFill>
                                    <a:latin typeface="Cambria Math" panose="02040503050406030204"/>
                                    <a:ea typeface="Cambria Math" panose="02040503050406030204"/>
                                    <a:cs typeface="微软雅黑" panose="020B0503020204020204" charset="-122"/>
                                  </a:rPr>
                                  <m:t>+</m:t>
                                </m:r>
                                <m:f>
                                  <m:fPr>
                                    <m:ctrlPr>
                                      <a:rPr sz="1000">
                                        <a:solidFill>
                                          <a:srgbClr val="1E293B"/>
                                        </a:solidFill>
                                        <a:latin typeface="Cambria Math" panose="02040503050406030204"/>
                                        <a:ea typeface="微软雅黑" panose="020B0503020204020204" charset="-122"/>
                                        <a:cs typeface="微软雅黑" panose="020B0503020204020204" charset="-122"/>
                                      </a:rPr>
                                    </m:ctrlPr>
                                  </m:fPr>
                                  <m:num>
                                    <m:r>
                                      <a:rPr sz="1000" i="0">
                                        <a:solidFill>
                                          <a:srgbClr val="1E293B"/>
                                        </a:solidFill>
                                        <a:latin typeface="Cambria Math" panose="02040503050406030204"/>
                                        <a:ea typeface="Cambria Math" panose="02040503050406030204"/>
                                        <a:cs typeface="微软雅黑" panose="020B0503020204020204" charset="-122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sz="1000" i="1">
                                        <a:solidFill>
                                          <a:srgbClr val="1E293B"/>
                                        </a:solidFill>
                                        <a:latin typeface="Cambria Math" panose="02040503050406030204"/>
                                        <a:ea typeface="Cambria Math" panose="02040503050406030204"/>
                                        <a:cs typeface="微软雅黑" panose="020B0503020204020204" charset="-122"/>
                                      </a:rPr>
                                      <m:t>𝑛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sz="1000"/>
                        </a:p>
                      </a:txBody>
                      <a:tcPr marL="54864" marR="54864" marT="22860" marB="22860" anchor="ctr"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sz="1100">
                              <a:solidFill>
                                <a:srgbClr val="1E293B"/>
                              </a:solidFill>
                              <a:latin typeface="微软雅黑" panose="020B0503020204020204" charset="-122"/>
                              <a:ea typeface="微软雅黑" panose="020B0503020204020204" charset="-122"/>
                              <a:cs typeface="微软雅黑" panose="020B0503020204020204" charset="-122"/>
                            </a:rPr>
                            <a:t>调和级数</a:t>
                          </a:r>
                          <a:endParaRPr sz="1100">
                            <a:solidFill>
                              <a:srgbClr val="1E293B"/>
                            </a:solidFill>
                            <a:latin typeface="微软雅黑" panose="020B0503020204020204" charset="-122"/>
                            <a:ea typeface="微软雅黑" panose="020B0503020204020204" charset="-122"/>
                            <a:cs typeface="微软雅黑" panose="020B0503020204020204" charset="-122"/>
                          </a:endParaRPr>
                        </a:p>
                      </a:txBody>
                      <a:tcPr marL="54864" marR="54864" marT="22860" marB="22860" anchor="ctr"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sz="1100" b="1" i="0">
                                    <a:solidFill>
                                      <a:srgbClr val="2563EB"/>
                                    </a:solidFill>
                                    <a:latin typeface="Cambria Math" panose="02040503050406030204"/>
                                    <a:ea typeface="Cambria Math" panose="02040503050406030204"/>
                                    <a:cs typeface="微软雅黑" panose="020B0503020204020204" charset="-122"/>
                                  </a:rPr>
                                  <m:t>Θ</m:t>
                                </m:r>
                                <m:d>
                                  <m:dPr>
                                    <m:ctrlPr>
                                      <a:rPr sz="1100" b="1">
                                        <a:solidFill>
                                          <a:srgbClr val="2563EB"/>
                                        </a:solidFill>
                                        <a:latin typeface="Cambria Math" panose="02040503050406030204"/>
                                        <a:ea typeface="微软雅黑" panose="020B0503020204020204" charset="-122"/>
                                        <a:cs typeface="微软雅黑" panose="020B0503020204020204" charset="-122"/>
                                      </a:rPr>
                                    </m:ctrlPr>
                                  </m:d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sz="1100" b="1" i="0">
                                        <a:solidFill>
                                          <a:srgbClr val="2563EB"/>
                                        </a:solidFill>
                                        <a:latin typeface="Cambria Math" panose="02040503050406030204"/>
                                        <a:ea typeface="Cambria Math" panose="02040503050406030204"/>
                                        <a:cs typeface="微软雅黑" panose="020B0503020204020204" charset="-122"/>
                                      </a:rPr>
                                      <m:t>lg</m:t>
                                    </m:r>
                                    <m:r>
                                      <a:rPr sz="1100" b="1" i="1">
                                        <a:solidFill>
                                          <a:srgbClr val="2563EB"/>
                                        </a:solidFill>
                                        <a:latin typeface="Cambria Math" panose="02040503050406030204"/>
                                        <a:ea typeface="Cambria Math" panose="02040503050406030204"/>
                                        <a:cs typeface="微软雅黑" panose="020B0503020204020204" charset="-122"/>
                                      </a:rPr>
                                      <m:t>𝑛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sz="1100"/>
                        </a:p>
                      </a:txBody>
                      <a:tcPr marL="54864" marR="54864" marT="22860" marB="22860" anchor="ctr">
                        <a:solidFill>
                          <a:srgbClr val="FFFFFF"/>
                        </a:solidFill>
                      </a:tcPr>
                    </a:tc>
                  </a:tr>
                  <a:tr h="489204"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sz="1100">
                              <a:solidFill>
                                <a:srgbClr val="1E293B"/>
                              </a:solidFill>
                              <a:latin typeface="微软雅黑" panose="020B0503020204020204" charset="-122"/>
                              <a:ea typeface="微软雅黑" panose="020B0503020204020204" charset="-122"/>
                              <a:cs typeface="微软雅黑" panose="020B0503020204020204" charset="-122"/>
                            </a:rPr>
                            <a:t>h</a:t>
                          </a:r>
                          <a:endParaRPr sz="1100">
                            <a:solidFill>
                              <a:srgbClr val="1E293B"/>
                            </a:solidFill>
                            <a:latin typeface="微软雅黑" panose="020B0503020204020204" charset="-122"/>
                            <a:ea typeface="微软雅黑" panose="020B0503020204020204" charset="-122"/>
                            <a:cs typeface="微软雅黑" panose="020B0503020204020204" charset="-122"/>
                          </a:endParaRPr>
                        </a:p>
                      </a:txBody>
                      <a:tcPr marL="54864" marR="54864" marT="22860" marB="22860" anchor="ctr">
                        <a:solidFill>
                          <a:srgbClr val="F1F5F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sz="1000" i="1">
                                    <a:solidFill>
                                      <a:srgbClr val="1E293B"/>
                                    </a:solidFill>
                                    <a:latin typeface="Cambria Math" panose="02040503050406030204"/>
                                    <a:ea typeface="Cambria Math" panose="02040503050406030204"/>
                                    <a:cs typeface="微软雅黑" panose="020B0503020204020204" charset="-122"/>
                                  </a:rPr>
                                  <m:t>𝑇</m:t>
                                </m:r>
                                <m:d>
                                  <m:dPr>
                                    <m:ctrlPr>
                                      <a:rPr sz="1000">
                                        <a:solidFill>
                                          <a:srgbClr val="1E293B"/>
                                        </a:solidFill>
                                        <a:latin typeface="Cambria Math" panose="02040503050406030204"/>
                                        <a:ea typeface="微软雅黑" panose="020B0503020204020204" charset="-122"/>
                                        <a:cs typeface="微软雅黑" panose="020B0503020204020204" charset="-122"/>
                                      </a:rPr>
                                    </m:ctrlPr>
                                  </m:dPr>
                                  <m:e>
                                    <m:r>
                                      <a:rPr sz="1000" i="1">
                                        <a:solidFill>
                                          <a:srgbClr val="1E293B"/>
                                        </a:solidFill>
                                        <a:latin typeface="Cambria Math" panose="02040503050406030204"/>
                                        <a:ea typeface="Cambria Math" panose="02040503050406030204"/>
                                        <a:cs typeface="微软雅黑" panose="020B0503020204020204" charset="-122"/>
                                      </a:rPr>
                                      <m:t>𝑛</m:t>
                                    </m:r>
                                    <m:r>
                                      <a:rPr sz="1000" i="0">
                                        <a:solidFill>
                                          <a:srgbClr val="1E293B"/>
                                        </a:solidFill>
                                        <a:latin typeface="Cambria Math" panose="02040503050406030204"/>
                                        <a:ea typeface="Cambria Math" panose="02040503050406030204"/>
                                        <a:cs typeface="微软雅黑" panose="020B0503020204020204" charset="-122"/>
                                      </a:rPr>
                                      <m:t>−</m:t>
                                    </m:r>
                                    <m:r>
                                      <a:rPr sz="1000" i="0">
                                        <a:solidFill>
                                          <a:srgbClr val="1E293B"/>
                                        </a:solidFill>
                                        <a:latin typeface="Cambria Math" panose="02040503050406030204"/>
                                        <a:ea typeface="Cambria Math" panose="02040503050406030204"/>
                                        <a:cs typeface="微软雅黑" panose="020B0503020204020204" charset="-122"/>
                                      </a:rPr>
                                      <m:t>1</m:t>
                                    </m:r>
                                  </m:e>
                                </m:d>
                                <m:r>
                                  <a:rPr sz="1000" i="0">
                                    <a:solidFill>
                                      <a:srgbClr val="1E293B"/>
                                    </a:solidFill>
                                    <a:latin typeface="Cambria Math" panose="02040503050406030204"/>
                                    <a:ea typeface="Cambria Math" panose="02040503050406030204"/>
                                    <a:cs typeface="微软雅黑" panose="020B0503020204020204" charset="-122"/>
                                  </a:rPr>
                                  <m:t>+</m:t>
                                </m:r>
                                <m:r>
                                  <m:rPr>
                                    <m:sty m:val="p"/>
                                  </m:rPr>
                                  <a:rPr sz="1000" i="0">
                                    <a:solidFill>
                                      <a:srgbClr val="1E293B"/>
                                    </a:solidFill>
                                    <a:latin typeface="Cambria Math" panose="02040503050406030204"/>
                                    <a:ea typeface="Cambria Math" panose="02040503050406030204"/>
                                    <a:cs typeface="微软雅黑" panose="020B0503020204020204" charset="-122"/>
                                  </a:rPr>
                                  <m:t>lg</m:t>
                                </m:r>
                                <m:r>
                                  <a:rPr sz="1000" i="1">
                                    <a:solidFill>
                                      <a:srgbClr val="1E293B"/>
                                    </a:solidFill>
                                    <a:latin typeface="Cambria Math" panose="02040503050406030204"/>
                                    <a:ea typeface="Cambria Math" panose="02040503050406030204"/>
                                    <a:cs typeface="微软雅黑" panose="020B0503020204020204" charset="-122"/>
                                  </a:rPr>
                                  <m:t>𝑛</m:t>
                                </m:r>
                              </m:oMath>
                            </m:oMathPara>
                          </a14:m>
                          <a:endParaRPr sz="1000"/>
                        </a:p>
                      </a:txBody>
                      <a:tcPr marL="54864" marR="54864" marT="22860" marB="22860" anchor="ctr">
                        <a:solidFill>
                          <a:srgbClr val="F1F5F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sz="1100">
                              <a:solidFill>
                                <a:srgbClr val="1E293B"/>
                              </a:solidFill>
                              <a:latin typeface="微软雅黑" panose="020B0503020204020204" charset="-122"/>
                              <a:ea typeface="微软雅黑" panose="020B0503020204020204" charset="-122"/>
                              <a:cs typeface="微软雅黑" panose="020B0503020204020204" charset="-122"/>
                            </a:rPr>
                            <a:t>对数求和</a:t>
                          </a:r>
                          <a:endParaRPr sz="1100">
                            <a:solidFill>
                              <a:srgbClr val="1E293B"/>
                            </a:solidFill>
                            <a:latin typeface="微软雅黑" panose="020B0503020204020204" charset="-122"/>
                            <a:ea typeface="微软雅黑" panose="020B0503020204020204" charset="-122"/>
                            <a:cs typeface="微软雅黑" panose="020B0503020204020204" charset="-122"/>
                          </a:endParaRPr>
                        </a:p>
                      </a:txBody>
                      <a:tcPr marL="54864" marR="54864" marT="22860" marB="22860" anchor="ctr">
                        <a:solidFill>
                          <a:srgbClr val="F1F5F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sz="1100" b="1" i="0">
                                    <a:solidFill>
                                      <a:srgbClr val="2563EB"/>
                                    </a:solidFill>
                                    <a:latin typeface="Cambria Math" panose="02040503050406030204"/>
                                    <a:ea typeface="Cambria Math" panose="02040503050406030204"/>
                                    <a:cs typeface="微软雅黑" panose="020B0503020204020204" charset="-122"/>
                                  </a:rPr>
                                  <m:t>Θ</m:t>
                                </m:r>
                                <m:d>
                                  <m:dPr>
                                    <m:ctrlPr>
                                      <a:rPr sz="1100" b="1">
                                        <a:solidFill>
                                          <a:srgbClr val="2563EB"/>
                                        </a:solidFill>
                                        <a:latin typeface="Cambria Math" panose="02040503050406030204"/>
                                        <a:ea typeface="微软雅黑" panose="020B0503020204020204" charset="-122"/>
                                        <a:cs typeface="微软雅黑" panose="020B0503020204020204" charset="-122"/>
                                      </a:rPr>
                                    </m:ctrlPr>
                                  </m:dPr>
                                  <m:e>
                                    <m:r>
                                      <a:rPr sz="1100" b="1" i="1">
                                        <a:solidFill>
                                          <a:srgbClr val="2563EB"/>
                                        </a:solidFill>
                                        <a:latin typeface="Cambria Math" panose="02040503050406030204"/>
                                        <a:ea typeface="Cambria Math" panose="02040503050406030204"/>
                                        <a:cs typeface="微软雅黑" panose="020B0503020204020204" charset="-122"/>
                                      </a:rPr>
                                      <m:t>𝑛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sz="1100" b="1" i="0">
                                        <a:solidFill>
                                          <a:srgbClr val="2563EB"/>
                                        </a:solidFill>
                                        <a:latin typeface="Cambria Math" panose="02040503050406030204"/>
                                        <a:ea typeface="Cambria Math" panose="02040503050406030204"/>
                                        <a:cs typeface="微软雅黑" panose="020B0503020204020204" charset="-122"/>
                                      </a:rPr>
                                      <m:t>lg</m:t>
                                    </m:r>
                                    <m:r>
                                      <a:rPr sz="1100" b="1" i="1">
                                        <a:solidFill>
                                          <a:srgbClr val="2563EB"/>
                                        </a:solidFill>
                                        <a:latin typeface="Cambria Math" panose="02040503050406030204"/>
                                        <a:ea typeface="Cambria Math" panose="02040503050406030204"/>
                                        <a:cs typeface="微软雅黑" panose="020B0503020204020204" charset="-122"/>
                                      </a:rPr>
                                      <m:t>𝑛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sz="1100"/>
                        </a:p>
                      </a:txBody>
                      <a:tcPr marL="54864" marR="54864" marT="22860" marB="22860" anchor="ctr">
                        <a:solidFill>
                          <a:srgbClr val="F1F5F9"/>
                        </a:solidFill>
                      </a:tcPr>
                    </a:tc>
                  </a:tr>
                  <a:tr h="489204"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sz="1100">
                              <a:solidFill>
                                <a:srgbClr val="1E293B"/>
                              </a:solidFill>
                              <a:latin typeface="微软雅黑" panose="020B0503020204020204" charset="-122"/>
                              <a:ea typeface="微软雅黑" panose="020B0503020204020204" charset="-122"/>
                              <a:cs typeface="微软雅黑" panose="020B0503020204020204" charset="-122"/>
                            </a:rPr>
                            <a:t>i</a:t>
                          </a:r>
                          <a:endParaRPr sz="1100">
                            <a:solidFill>
                              <a:srgbClr val="1E293B"/>
                            </a:solidFill>
                            <a:latin typeface="微软雅黑" panose="020B0503020204020204" charset="-122"/>
                            <a:ea typeface="微软雅黑" panose="020B0503020204020204" charset="-122"/>
                            <a:cs typeface="微软雅黑" panose="020B0503020204020204" charset="-122"/>
                          </a:endParaRPr>
                        </a:p>
                      </a:txBody>
                      <a:tcPr marL="54864" marR="54864" marT="22860" marB="22860" anchor="ctr"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sz="1000" i="1">
                                    <a:solidFill>
                                      <a:srgbClr val="1E293B"/>
                                    </a:solidFill>
                                    <a:latin typeface="Cambria Math" panose="02040503050406030204"/>
                                    <a:ea typeface="Cambria Math" panose="02040503050406030204"/>
                                    <a:cs typeface="微软雅黑" panose="020B0503020204020204" charset="-122"/>
                                  </a:rPr>
                                  <m:t>𝑇</m:t>
                                </m:r>
                                <m:d>
                                  <m:dPr>
                                    <m:ctrlPr>
                                      <a:rPr sz="1000">
                                        <a:solidFill>
                                          <a:srgbClr val="1E293B"/>
                                        </a:solidFill>
                                        <a:latin typeface="Cambria Math" panose="02040503050406030204"/>
                                        <a:ea typeface="微软雅黑" panose="020B0503020204020204" charset="-122"/>
                                        <a:cs typeface="微软雅黑" panose="020B0503020204020204" charset="-122"/>
                                      </a:rPr>
                                    </m:ctrlPr>
                                  </m:dPr>
                                  <m:e>
                                    <m:r>
                                      <a:rPr sz="1000" i="1">
                                        <a:solidFill>
                                          <a:srgbClr val="1E293B"/>
                                        </a:solidFill>
                                        <a:latin typeface="Cambria Math" panose="02040503050406030204"/>
                                        <a:ea typeface="Cambria Math" panose="02040503050406030204"/>
                                        <a:cs typeface="微软雅黑" panose="020B0503020204020204" charset="-122"/>
                                      </a:rPr>
                                      <m:t>𝑛</m:t>
                                    </m:r>
                                    <m:r>
                                      <a:rPr sz="1000" i="0">
                                        <a:solidFill>
                                          <a:srgbClr val="1E293B"/>
                                        </a:solidFill>
                                        <a:latin typeface="Cambria Math" panose="02040503050406030204"/>
                                        <a:ea typeface="Cambria Math" panose="02040503050406030204"/>
                                        <a:cs typeface="微软雅黑" panose="020B0503020204020204" charset="-122"/>
                                      </a:rPr>
                                      <m:t>−</m:t>
                                    </m:r>
                                    <m:r>
                                      <a:rPr sz="1000" i="0">
                                        <a:solidFill>
                                          <a:srgbClr val="1E293B"/>
                                        </a:solidFill>
                                        <a:latin typeface="Cambria Math" panose="02040503050406030204"/>
                                        <a:ea typeface="Cambria Math" panose="02040503050406030204"/>
                                        <a:cs typeface="微软雅黑" panose="020B0503020204020204" charset="-122"/>
                                      </a:rPr>
                                      <m:t>2</m:t>
                                    </m:r>
                                  </m:e>
                                </m:d>
                                <m:r>
                                  <a:rPr sz="1000" i="0">
                                    <a:solidFill>
                                      <a:srgbClr val="1E293B"/>
                                    </a:solidFill>
                                    <a:latin typeface="Cambria Math" panose="02040503050406030204"/>
                                    <a:ea typeface="Cambria Math" panose="02040503050406030204"/>
                                    <a:cs typeface="微软雅黑" panose="020B0503020204020204" charset="-122"/>
                                  </a:rPr>
                                  <m:t>+</m:t>
                                </m:r>
                                <m:f>
                                  <m:fPr>
                                    <m:ctrlPr>
                                      <a:rPr sz="1000">
                                        <a:solidFill>
                                          <a:srgbClr val="1E293B"/>
                                        </a:solidFill>
                                        <a:latin typeface="Cambria Math" panose="02040503050406030204"/>
                                        <a:ea typeface="微软雅黑" panose="020B0503020204020204" charset="-122"/>
                                        <a:cs typeface="微软雅黑" panose="020B0503020204020204" charset="-122"/>
                                      </a:rPr>
                                    </m:ctrlPr>
                                  </m:fPr>
                                  <m:num>
                                    <m:r>
                                      <a:rPr sz="1000" i="0">
                                        <a:solidFill>
                                          <a:srgbClr val="1E293B"/>
                                        </a:solidFill>
                                        <a:latin typeface="Cambria Math" panose="02040503050406030204"/>
                                        <a:ea typeface="Cambria Math" panose="02040503050406030204"/>
                                        <a:cs typeface="微软雅黑" panose="020B0503020204020204" charset="-122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m:rPr>
                                        <m:sty m:val="p"/>
                                      </m:rPr>
                                      <a:rPr sz="1000" i="0">
                                        <a:solidFill>
                                          <a:srgbClr val="1E293B"/>
                                        </a:solidFill>
                                        <a:latin typeface="Cambria Math" panose="02040503050406030204"/>
                                        <a:ea typeface="Cambria Math" panose="02040503050406030204"/>
                                        <a:cs typeface="微软雅黑" panose="020B0503020204020204" charset="-122"/>
                                      </a:rPr>
                                      <m:t>lg</m:t>
                                    </m:r>
                                    <m:r>
                                      <a:rPr sz="1000" i="1">
                                        <a:solidFill>
                                          <a:srgbClr val="1E293B"/>
                                        </a:solidFill>
                                        <a:latin typeface="Cambria Math" panose="02040503050406030204"/>
                                        <a:ea typeface="Cambria Math" panose="02040503050406030204"/>
                                        <a:cs typeface="微软雅黑" panose="020B0503020204020204" charset="-122"/>
                                      </a:rPr>
                                      <m:t>𝑛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sz="1000"/>
                        </a:p>
                      </a:txBody>
                      <a:tcPr marL="54864" marR="54864" marT="22860" marB="22860" anchor="ctr"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sz="1100">
                              <a:solidFill>
                                <a:srgbClr val="1E293B"/>
                              </a:solidFill>
                              <a:latin typeface="微软雅黑" panose="020B0503020204020204" charset="-122"/>
                              <a:ea typeface="微软雅黑" panose="020B0503020204020204" charset="-122"/>
                              <a:cs typeface="微软雅黑" panose="020B0503020204020204" charset="-122"/>
                            </a:rPr>
                            <a:t>求和上下界</a:t>
                          </a:r>
                          <a:endParaRPr sz="1100">
                            <a:solidFill>
                              <a:srgbClr val="1E293B"/>
                            </a:solidFill>
                            <a:latin typeface="微软雅黑" panose="020B0503020204020204" charset="-122"/>
                            <a:ea typeface="微软雅黑" panose="020B0503020204020204" charset="-122"/>
                            <a:cs typeface="微软雅黑" panose="020B0503020204020204" charset="-122"/>
                          </a:endParaRPr>
                        </a:p>
                      </a:txBody>
                      <a:tcPr marL="54864" marR="54864" marT="22860" marB="22860" anchor="ctr"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sz="1100" b="1" i="0">
                                    <a:solidFill>
                                      <a:srgbClr val="2563EB"/>
                                    </a:solidFill>
                                    <a:latin typeface="Cambria Math" panose="02040503050406030204"/>
                                    <a:ea typeface="Cambria Math" panose="02040503050406030204"/>
                                    <a:cs typeface="微软雅黑" panose="020B0503020204020204" charset="-122"/>
                                  </a:rPr>
                                  <m:t>Θ</m:t>
                                </m:r>
                                <m:d>
                                  <m:dPr>
                                    <m:ctrlPr>
                                      <a:rPr sz="1100" b="1">
                                        <a:solidFill>
                                          <a:srgbClr val="2563EB"/>
                                        </a:solidFill>
                                        <a:latin typeface="Cambria Math" panose="02040503050406030204"/>
                                        <a:ea typeface="微软雅黑" panose="020B0503020204020204" charset="-122"/>
                                        <a:cs typeface="微软雅黑" panose="020B0503020204020204" charset="-122"/>
                                      </a:rPr>
                                    </m:ctrlPr>
                                  </m:dPr>
                                  <m:e>
                                    <m:f>
                                      <m:fPr>
                                        <m:ctrlPr>
                                          <a:rPr sz="1100" b="1">
                                            <a:solidFill>
                                              <a:srgbClr val="2563EB"/>
                                            </a:solidFill>
                                            <a:latin typeface="Cambria Math" panose="02040503050406030204"/>
                                            <a:ea typeface="微软雅黑" panose="020B0503020204020204" charset="-122"/>
                                            <a:cs typeface="微软雅黑" panose="020B0503020204020204" charset="-122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sz="1100" b="1" i="1">
                                            <a:solidFill>
                                              <a:srgbClr val="2563EB"/>
                                            </a:solidFill>
                                            <a:latin typeface="Cambria Math" panose="02040503050406030204"/>
                                            <a:ea typeface="Cambria Math" panose="02040503050406030204"/>
                                            <a:cs typeface="微软雅黑" panose="020B0503020204020204" charset="-122"/>
                                          </a:rPr>
                                          <m:t>𝑛</m:t>
                                        </m:r>
                                      </m:num>
                                      <m:den>
                                        <m:r>
                                          <m:rPr>
                                            <m:sty m:val="p"/>
                                          </m:rPr>
                                          <a:rPr sz="1100" b="1" i="0">
                                            <a:solidFill>
                                              <a:srgbClr val="2563EB"/>
                                            </a:solidFill>
                                            <a:latin typeface="Cambria Math" panose="02040503050406030204"/>
                                            <a:ea typeface="Cambria Math" panose="02040503050406030204"/>
                                            <a:cs typeface="微软雅黑" panose="020B0503020204020204" charset="-122"/>
                                          </a:rPr>
                                          <m:t>lg</m:t>
                                        </m:r>
                                        <m:r>
                                          <a:rPr sz="1100" b="1" i="1">
                                            <a:solidFill>
                                              <a:srgbClr val="2563EB"/>
                                            </a:solidFill>
                                            <a:latin typeface="Cambria Math" panose="02040503050406030204"/>
                                            <a:ea typeface="Cambria Math" panose="02040503050406030204"/>
                                            <a:cs typeface="微软雅黑" panose="020B0503020204020204" charset="-122"/>
                                          </a:rPr>
                                          <m:t>𝑛</m:t>
                                        </m:r>
                                      </m:den>
                                    </m:f>
                                  </m:e>
                                </m:d>
                              </m:oMath>
                            </m:oMathPara>
                          </a14:m>
                          <a:endParaRPr sz="1100"/>
                        </a:p>
                      </a:txBody>
                      <a:tcPr marL="54864" marR="54864" marT="22860" marB="22860" anchor="ctr">
                        <a:solidFill>
                          <a:srgbClr val="FFFFFF"/>
                        </a:solidFill>
                      </a:tcPr>
                    </a:tc>
                  </a:tr>
                </a:tbl>
              </a:graphicData>
            </a:graphic>
          </p:graphicFrame>
        </mc:Choice>
        <mc:Fallback>
          <p:graphicFrame>
            <p:nvGraphicFramePr>
              <p:cNvPr id="7" name="Table 6"/>
              <p:cNvGraphicFramePr/>
              <p:nvPr/>
            </p:nvGraphicFramePr>
            <p:xfrm>
              <a:off x="502920" y="1325880"/>
              <a:ext cx="11155680" cy="489204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594360"/>
                    <a:gridCol w="3886200"/>
                    <a:gridCol w="2834640"/>
                    <a:gridCol w="3840480"/>
                  </a:tblGrid>
                  <a:tr h="488950"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sz="1200" b="1">
                              <a:solidFill>
                                <a:srgbClr val="FFFFFF"/>
                              </a:solidFill>
                              <a:latin typeface="微软雅黑" panose="020B0503020204020204" charset="-122"/>
                              <a:ea typeface="微软雅黑" panose="020B0503020204020204" charset="-122"/>
                              <a:cs typeface="微软雅黑" panose="020B0503020204020204" charset="-122"/>
                            </a:rPr>
                            <a:t>题号</a:t>
                          </a:r>
                          <a:endParaRPr sz="1200" b="1">
                            <a:solidFill>
                              <a:srgbClr val="FFFFFF"/>
                            </a:solidFill>
                            <a:latin typeface="微软雅黑" panose="020B0503020204020204" charset="-122"/>
                            <a:ea typeface="微软雅黑" panose="020B0503020204020204" charset="-122"/>
                            <a:cs typeface="微软雅黑" panose="020B0503020204020204" charset="-122"/>
                          </a:endParaRPr>
                        </a:p>
                      </a:txBody>
                      <a:tcPr anchor="ctr">
                        <a:solidFill>
                          <a:srgbClr val="172554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1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sz="1200" b="1">
                              <a:solidFill>
                                <a:srgbClr val="FFFFFF"/>
                              </a:solidFill>
                              <a:latin typeface="微软雅黑" panose="020B0503020204020204" charset="-122"/>
                              <a:ea typeface="微软雅黑" panose="020B0503020204020204" charset="-122"/>
                              <a:cs typeface="微软雅黑" panose="020B0503020204020204" charset="-122"/>
                            </a:rPr>
                            <a:t>主要方法</a:t>
                          </a:r>
                          <a:endParaRPr sz="1200" b="1">
                            <a:solidFill>
                              <a:srgbClr val="FFFFFF"/>
                            </a:solidFill>
                            <a:latin typeface="微软雅黑" panose="020B0503020204020204" charset="-122"/>
                            <a:ea typeface="微软雅黑" panose="020B0503020204020204" charset="-122"/>
                            <a:cs typeface="微软雅黑" panose="020B0503020204020204" charset="-122"/>
                          </a:endParaRPr>
                        </a:p>
                      </a:txBody>
                      <a:tcPr anchor="ctr">
                        <a:solidFill>
                          <a:srgbClr val="172554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sz="1200" b="1">
                              <a:solidFill>
                                <a:srgbClr val="FFFFFF"/>
                              </a:solidFill>
                              <a:latin typeface="微软雅黑" panose="020B0503020204020204" charset="-122"/>
                              <a:ea typeface="微软雅黑" panose="020B0503020204020204" charset="-122"/>
                              <a:cs typeface="微软雅黑" panose="020B0503020204020204" charset="-122"/>
                            </a:rPr>
                            <a:t>紧确渐近界</a:t>
                          </a:r>
                          <a:endParaRPr sz="1200" b="1">
                            <a:solidFill>
                              <a:srgbClr val="FFFFFF"/>
                            </a:solidFill>
                            <a:latin typeface="微软雅黑" panose="020B0503020204020204" charset="-122"/>
                            <a:ea typeface="微软雅黑" panose="020B0503020204020204" charset="-122"/>
                            <a:cs typeface="微软雅黑" panose="020B0503020204020204" charset="-122"/>
                          </a:endParaRPr>
                        </a:p>
                      </a:txBody>
                      <a:tcPr anchor="ctr">
                        <a:solidFill>
                          <a:srgbClr val="172554"/>
                        </a:solidFill>
                      </a:tcPr>
                    </a:tc>
                  </a:tr>
                  <a:tr h="489585"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sz="1100">
                              <a:solidFill>
                                <a:srgbClr val="1E293B"/>
                              </a:solidFill>
                              <a:latin typeface="微软雅黑" panose="020B0503020204020204" charset="-122"/>
                              <a:ea typeface="微软雅黑" panose="020B0503020204020204" charset="-122"/>
                              <a:cs typeface="微软雅黑" panose="020B0503020204020204" charset="-122"/>
                            </a:rPr>
                            <a:t>a</a:t>
                          </a:r>
                          <a:endParaRPr sz="1100">
                            <a:solidFill>
                              <a:srgbClr val="1E293B"/>
                            </a:solidFill>
                            <a:latin typeface="微软雅黑" panose="020B0503020204020204" charset="-122"/>
                            <a:ea typeface="微软雅黑" panose="020B0503020204020204" charset="-122"/>
                            <a:cs typeface="微软雅黑" panose="020B0503020204020204" charset="-122"/>
                          </a:endParaRPr>
                        </a:p>
                      </a:txBody>
                      <a:tcPr marL="54864" marR="54864" marT="22860" marB="22860" anchor="ctr"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54864" marR="54864" marT="22860" marB="22860" anchor="ctr">
                        <a:blipFill>
                          <a:blip r:embed="rId1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sz="1100">
                              <a:solidFill>
                                <a:srgbClr val="1E293B"/>
                              </a:solidFill>
                              <a:latin typeface="微软雅黑" panose="020B0503020204020204" charset="-122"/>
                              <a:ea typeface="微软雅黑" panose="020B0503020204020204" charset="-122"/>
                              <a:cs typeface="微软雅黑" panose="020B0503020204020204" charset="-122"/>
                            </a:rPr>
                            <a:t>主定理（情况 1）</a:t>
                          </a:r>
                          <a:endParaRPr sz="1100">
                            <a:solidFill>
                              <a:srgbClr val="1E293B"/>
                            </a:solidFill>
                            <a:latin typeface="微软雅黑" panose="020B0503020204020204" charset="-122"/>
                            <a:ea typeface="微软雅黑" panose="020B0503020204020204" charset="-122"/>
                            <a:cs typeface="微软雅黑" panose="020B0503020204020204" charset="-122"/>
                          </a:endParaRPr>
                        </a:p>
                      </a:txBody>
                      <a:tcPr marL="54864" marR="54864" marT="22860" marB="22860" anchor="ctr"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54864" marR="54864" marT="22860" marB="22860" anchor="ctr">
                        <a:blipFill>
                          <a:blip r:embed="rId1"/>
                        </a:blipFill>
                      </a:tcPr>
                    </a:tc>
                  </a:tr>
                  <a:tr h="488950"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sz="1100">
                              <a:solidFill>
                                <a:srgbClr val="1E293B"/>
                              </a:solidFill>
                              <a:latin typeface="微软雅黑" panose="020B0503020204020204" charset="-122"/>
                              <a:ea typeface="微软雅黑" panose="020B0503020204020204" charset="-122"/>
                              <a:cs typeface="微软雅黑" panose="020B0503020204020204" charset="-122"/>
                            </a:rPr>
                            <a:t>b</a:t>
                          </a:r>
                          <a:endParaRPr sz="1100">
                            <a:solidFill>
                              <a:srgbClr val="1E293B"/>
                            </a:solidFill>
                            <a:latin typeface="微软雅黑" panose="020B0503020204020204" charset="-122"/>
                            <a:ea typeface="微软雅黑" panose="020B0503020204020204" charset="-122"/>
                            <a:cs typeface="微软雅黑" panose="020B0503020204020204" charset="-122"/>
                          </a:endParaRPr>
                        </a:p>
                      </a:txBody>
                      <a:tcPr marL="54864" marR="54864" marT="22860" marB="22860" anchor="ctr">
                        <a:solidFill>
                          <a:srgbClr val="F1F5F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54864" marR="54864" marT="22860" marB="22860" anchor="ctr">
                        <a:blipFill>
                          <a:blip r:embed="rId1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sz="1100">
                              <a:solidFill>
                                <a:srgbClr val="1E293B"/>
                              </a:solidFill>
                              <a:latin typeface="微软雅黑" panose="020B0503020204020204" charset="-122"/>
                              <a:ea typeface="微软雅黑" panose="020B0503020204020204" charset="-122"/>
                              <a:cs typeface="微软雅黑" panose="020B0503020204020204" charset="-122"/>
                            </a:rPr>
                            <a:t>递归树 / 调和级数</a:t>
                          </a:r>
                          <a:endParaRPr sz="1100">
                            <a:solidFill>
                              <a:srgbClr val="1E293B"/>
                            </a:solidFill>
                            <a:latin typeface="微软雅黑" panose="020B0503020204020204" charset="-122"/>
                            <a:ea typeface="微软雅黑" panose="020B0503020204020204" charset="-122"/>
                            <a:cs typeface="微软雅黑" panose="020B0503020204020204" charset="-122"/>
                          </a:endParaRPr>
                        </a:p>
                      </a:txBody>
                      <a:tcPr marL="54864" marR="54864" marT="22860" marB="22860" anchor="ctr">
                        <a:solidFill>
                          <a:srgbClr val="F1F5F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54864" marR="54864" marT="22860" marB="22860" anchor="ctr">
                        <a:blipFill>
                          <a:blip r:embed="rId1"/>
                        </a:blipFill>
                      </a:tcPr>
                    </a:tc>
                  </a:tr>
                  <a:tr h="489585"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sz="1100">
                              <a:solidFill>
                                <a:srgbClr val="1E293B"/>
                              </a:solidFill>
                              <a:latin typeface="微软雅黑" panose="020B0503020204020204" charset="-122"/>
                              <a:ea typeface="微软雅黑" panose="020B0503020204020204" charset="-122"/>
                              <a:cs typeface="微软雅黑" panose="020B0503020204020204" charset="-122"/>
                            </a:rPr>
                            <a:t>c</a:t>
                          </a:r>
                          <a:endParaRPr sz="1100">
                            <a:solidFill>
                              <a:srgbClr val="1E293B"/>
                            </a:solidFill>
                            <a:latin typeface="微软雅黑" panose="020B0503020204020204" charset="-122"/>
                            <a:ea typeface="微软雅黑" panose="020B0503020204020204" charset="-122"/>
                            <a:cs typeface="微软雅黑" panose="020B0503020204020204" charset="-122"/>
                          </a:endParaRPr>
                        </a:p>
                      </a:txBody>
                      <a:tcPr marL="54864" marR="54864" marT="22860" marB="22860" anchor="ctr"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54864" marR="54864" marT="22860" marB="22860" anchor="ctr">
                        <a:blipFill>
                          <a:blip r:embed="rId1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sz="1100">
                              <a:solidFill>
                                <a:srgbClr val="1E293B"/>
                              </a:solidFill>
                              <a:latin typeface="微软雅黑" panose="020B0503020204020204" charset="-122"/>
                              <a:ea typeface="微软雅黑" panose="020B0503020204020204" charset="-122"/>
                              <a:cs typeface="微软雅黑" panose="020B0503020204020204" charset="-122"/>
                            </a:rPr>
                            <a:t>主定理（情况 3）</a:t>
                          </a:r>
                          <a:endParaRPr sz="1100">
                            <a:solidFill>
                              <a:srgbClr val="1E293B"/>
                            </a:solidFill>
                            <a:latin typeface="微软雅黑" panose="020B0503020204020204" charset="-122"/>
                            <a:ea typeface="微软雅黑" panose="020B0503020204020204" charset="-122"/>
                            <a:cs typeface="微软雅黑" panose="020B0503020204020204" charset="-122"/>
                          </a:endParaRPr>
                        </a:p>
                      </a:txBody>
                      <a:tcPr marL="54864" marR="54864" marT="22860" marB="22860" anchor="ctr"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54864" marR="54864" marT="22860" marB="22860" anchor="ctr">
                        <a:blipFill>
                          <a:blip r:embed="rId1"/>
                        </a:blipFill>
                      </a:tcPr>
                    </a:tc>
                  </a:tr>
                  <a:tr h="488950"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sz="1100">
                              <a:solidFill>
                                <a:srgbClr val="1E293B"/>
                              </a:solidFill>
                              <a:latin typeface="微软雅黑" panose="020B0503020204020204" charset="-122"/>
                              <a:ea typeface="微软雅黑" panose="020B0503020204020204" charset="-122"/>
                              <a:cs typeface="微软雅黑" panose="020B0503020204020204" charset="-122"/>
                            </a:rPr>
                            <a:t>d</a:t>
                          </a:r>
                          <a:endParaRPr sz="1100">
                            <a:solidFill>
                              <a:srgbClr val="1E293B"/>
                            </a:solidFill>
                            <a:latin typeface="微软雅黑" panose="020B0503020204020204" charset="-122"/>
                            <a:ea typeface="微软雅黑" panose="020B0503020204020204" charset="-122"/>
                            <a:cs typeface="微软雅黑" panose="020B0503020204020204" charset="-122"/>
                          </a:endParaRPr>
                        </a:p>
                      </a:txBody>
                      <a:tcPr marL="54864" marR="54864" marT="22860" marB="22860" anchor="ctr">
                        <a:solidFill>
                          <a:srgbClr val="F1F5F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54864" marR="54864" marT="22860" marB="22860" anchor="ctr">
                        <a:blipFill>
                          <a:blip r:embed="rId1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sz="1100">
                              <a:solidFill>
                                <a:srgbClr val="1E293B"/>
                              </a:solidFill>
                              <a:latin typeface="微软雅黑" panose="020B0503020204020204" charset="-122"/>
                              <a:ea typeface="微软雅黑" panose="020B0503020204020204" charset="-122"/>
                              <a:cs typeface="微软雅黑" panose="020B0503020204020204" charset="-122"/>
                            </a:rPr>
                            <a:t>变量代换</a:t>
                          </a:r>
                          <a:endParaRPr sz="1100">
                            <a:solidFill>
                              <a:srgbClr val="1E293B"/>
                            </a:solidFill>
                            <a:latin typeface="微软雅黑" panose="020B0503020204020204" charset="-122"/>
                            <a:ea typeface="微软雅黑" panose="020B0503020204020204" charset="-122"/>
                            <a:cs typeface="微软雅黑" panose="020B0503020204020204" charset="-122"/>
                          </a:endParaRPr>
                        </a:p>
                      </a:txBody>
                      <a:tcPr marL="54864" marR="54864" marT="22860" marB="22860" anchor="ctr">
                        <a:solidFill>
                          <a:srgbClr val="F1F5F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54864" marR="54864" marT="22860" marB="22860" anchor="ctr">
                        <a:blipFill>
                          <a:blip r:embed="rId1"/>
                        </a:blipFill>
                      </a:tcPr>
                    </a:tc>
                  </a:tr>
                  <a:tr h="488950"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sz="1100">
                              <a:solidFill>
                                <a:srgbClr val="1E293B"/>
                              </a:solidFill>
                              <a:latin typeface="微软雅黑" panose="020B0503020204020204" charset="-122"/>
                              <a:ea typeface="微软雅黑" panose="020B0503020204020204" charset="-122"/>
                              <a:cs typeface="微软雅黑" panose="020B0503020204020204" charset="-122"/>
                            </a:rPr>
                            <a:t>e</a:t>
                          </a:r>
                          <a:endParaRPr sz="1100">
                            <a:solidFill>
                              <a:srgbClr val="1E293B"/>
                            </a:solidFill>
                            <a:latin typeface="微软雅黑" panose="020B0503020204020204" charset="-122"/>
                            <a:ea typeface="微软雅黑" panose="020B0503020204020204" charset="-122"/>
                            <a:cs typeface="微软雅黑" panose="020B0503020204020204" charset="-122"/>
                          </a:endParaRPr>
                        </a:p>
                      </a:txBody>
                      <a:tcPr marL="54864" marR="54864" marT="22860" marB="22860" anchor="ctr"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54864" marR="54864" marT="22860" marB="22860" anchor="ctr">
                        <a:blipFill>
                          <a:blip r:embed="rId1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sz="1100">
                              <a:solidFill>
                                <a:srgbClr val="1E293B"/>
                              </a:solidFill>
                              <a:latin typeface="微软雅黑" panose="020B0503020204020204" charset="-122"/>
                              <a:ea typeface="微软雅黑" panose="020B0503020204020204" charset="-122"/>
                              <a:cs typeface="微软雅黑" panose="020B0503020204020204" charset="-122"/>
                            </a:rPr>
                            <a:t>递归树 / 调和级数</a:t>
                          </a:r>
                          <a:endParaRPr sz="1100">
                            <a:solidFill>
                              <a:srgbClr val="1E293B"/>
                            </a:solidFill>
                            <a:latin typeface="微软雅黑" panose="020B0503020204020204" charset="-122"/>
                            <a:ea typeface="微软雅黑" panose="020B0503020204020204" charset="-122"/>
                            <a:cs typeface="微软雅黑" panose="020B0503020204020204" charset="-122"/>
                          </a:endParaRPr>
                        </a:p>
                      </a:txBody>
                      <a:tcPr marL="54864" marR="54864" marT="22860" marB="22860" anchor="ctr"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54864" marR="54864" marT="22860" marB="22860" anchor="ctr">
                        <a:blipFill>
                          <a:blip r:embed="rId1"/>
                        </a:blipFill>
                      </a:tcPr>
                    </a:tc>
                  </a:tr>
                  <a:tr h="489585"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sz="1100">
                              <a:solidFill>
                                <a:srgbClr val="1E293B"/>
                              </a:solidFill>
                              <a:latin typeface="微软雅黑" panose="020B0503020204020204" charset="-122"/>
                              <a:ea typeface="微软雅黑" panose="020B0503020204020204" charset="-122"/>
                              <a:cs typeface="微软雅黑" panose="020B0503020204020204" charset="-122"/>
                            </a:rPr>
                            <a:t>f</a:t>
                          </a:r>
                          <a:endParaRPr sz="1100">
                            <a:solidFill>
                              <a:srgbClr val="1E293B"/>
                            </a:solidFill>
                            <a:latin typeface="微软雅黑" panose="020B0503020204020204" charset="-122"/>
                            <a:ea typeface="微软雅黑" panose="020B0503020204020204" charset="-122"/>
                            <a:cs typeface="微软雅黑" panose="020B0503020204020204" charset="-122"/>
                          </a:endParaRPr>
                        </a:p>
                      </a:txBody>
                      <a:tcPr marL="54864" marR="54864" marT="22860" marB="22860" anchor="ctr">
                        <a:solidFill>
                          <a:srgbClr val="F1F5F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54864" marR="54864" marT="22860" marB="22860" anchor="ctr">
                        <a:blipFill>
                          <a:blip r:embed="rId1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sz="1100">
                              <a:solidFill>
                                <a:srgbClr val="1E293B"/>
                              </a:solidFill>
                              <a:latin typeface="微软雅黑" panose="020B0503020204020204" charset="-122"/>
                              <a:ea typeface="微软雅黑" panose="020B0503020204020204" charset="-122"/>
                              <a:cs typeface="微软雅黑" panose="020B0503020204020204" charset="-122"/>
                            </a:rPr>
                            <a:t>几何级数</a:t>
                          </a:r>
                          <a:endParaRPr sz="1100">
                            <a:solidFill>
                              <a:srgbClr val="1E293B"/>
                            </a:solidFill>
                            <a:latin typeface="微软雅黑" panose="020B0503020204020204" charset="-122"/>
                            <a:ea typeface="微软雅黑" panose="020B0503020204020204" charset="-122"/>
                            <a:cs typeface="微软雅黑" panose="020B0503020204020204" charset="-122"/>
                          </a:endParaRPr>
                        </a:p>
                      </a:txBody>
                      <a:tcPr marL="54864" marR="54864" marT="22860" marB="22860" anchor="ctr">
                        <a:solidFill>
                          <a:srgbClr val="F1F5F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54864" marR="54864" marT="22860" marB="22860" anchor="ctr">
                        <a:blipFill>
                          <a:blip r:embed="rId1"/>
                        </a:blipFill>
                      </a:tcPr>
                    </a:tc>
                  </a:tr>
                  <a:tr h="488950"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sz="1100">
                              <a:solidFill>
                                <a:srgbClr val="1E293B"/>
                              </a:solidFill>
                              <a:latin typeface="微软雅黑" panose="020B0503020204020204" charset="-122"/>
                              <a:ea typeface="微软雅黑" panose="020B0503020204020204" charset="-122"/>
                              <a:cs typeface="微软雅黑" panose="020B0503020204020204" charset="-122"/>
                            </a:rPr>
                            <a:t>g</a:t>
                          </a:r>
                          <a:endParaRPr sz="1100">
                            <a:solidFill>
                              <a:srgbClr val="1E293B"/>
                            </a:solidFill>
                            <a:latin typeface="微软雅黑" panose="020B0503020204020204" charset="-122"/>
                            <a:ea typeface="微软雅黑" panose="020B0503020204020204" charset="-122"/>
                            <a:cs typeface="微软雅黑" panose="020B0503020204020204" charset="-122"/>
                          </a:endParaRPr>
                        </a:p>
                      </a:txBody>
                      <a:tcPr marL="54864" marR="54864" marT="22860" marB="22860" anchor="ctr"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54864" marR="54864" marT="22860" marB="22860" anchor="ctr">
                        <a:blipFill>
                          <a:blip r:embed="rId1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sz="1100">
                              <a:solidFill>
                                <a:srgbClr val="1E293B"/>
                              </a:solidFill>
                              <a:latin typeface="微软雅黑" panose="020B0503020204020204" charset="-122"/>
                              <a:ea typeface="微软雅黑" panose="020B0503020204020204" charset="-122"/>
                              <a:cs typeface="微软雅黑" panose="020B0503020204020204" charset="-122"/>
                            </a:rPr>
                            <a:t>调和级数</a:t>
                          </a:r>
                          <a:endParaRPr sz="1100">
                            <a:solidFill>
                              <a:srgbClr val="1E293B"/>
                            </a:solidFill>
                            <a:latin typeface="微软雅黑" panose="020B0503020204020204" charset="-122"/>
                            <a:ea typeface="微软雅黑" panose="020B0503020204020204" charset="-122"/>
                            <a:cs typeface="微软雅黑" panose="020B0503020204020204" charset="-122"/>
                          </a:endParaRPr>
                        </a:p>
                      </a:txBody>
                      <a:tcPr marL="54864" marR="54864" marT="22860" marB="22860" anchor="ctr"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54864" marR="54864" marT="22860" marB="22860" anchor="ctr">
                        <a:blipFill>
                          <a:blip r:embed="rId1"/>
                        </a:blipFill>
                      </a:tcPr>
                    </a:tc>
                  </a:tr>
                  <a:tr h="489585"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sz="1100">
                              <a:solidFill>
                                <a:srgbClr val="1E293B"/>
                              </a:solidFill>
                              <a:latin typeface="微软雅黑" panose="020B0503020204020204" charset="-122"/>
                              <a:ea typeface="微软雅黑" panose="020B0503020204020204" charset="-122"/>
                              <a:cs typeface="微软雅黑" panose="020B0503020204020204" charset="-122"/>
                            </a:rPr>
                            <a:t>h</a:t>
                          </a:r>
                          <a:endParaRPr sz="1100">
                            <a:solidFill>
                              <a:srgbClr val="1E293B"/>
                            </a:solidFill>
                            <a:latin typeface="微软雅黑" panose="020B0503020204020204" charset="-122"/>
                            <a:ea typeface="微软雅黑" panose="020B0503020204020204" charset="-122"/>
                            <a:cs typeface="微软雅黑" panose="020B0503020204020204" charset="-122"/>
                          </a:endParaRPr>
                        </a:p>
                      </a:txBody>
                      <a:tcPr marL="54864" marR="54864" marT="22860" marB="22860" anchor="ctr">
                        <a:solidFill>
                          <a:srgbClr val="F1F5F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54864" marR="54864" marT="22860" marB="22860" anchor="ctr">
                        <a:blipFill>
                          <a:blip r:embed="rId1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sz="1100">
                              <a:solidFill>
                                <a:srgbClr val="1E293B"/>
                              </a:solidFill>
                              <a:latin typeface="微软雅黑" panose="020B0503020204020204" charset="-122"/>
                              <a:ea typeface="微软雅黑" panose="020B0503020204020204" charset="-122"/>
                              <a:cs typeface="微软雅黑" panose="020B0503020204020204" charset="-122"/>
                            </a:rPr>
                            <a:t>对数求和</a:t>
                          </a:r>
                          <a:endParaRPr sz="1100">
                            <a:solidFill>
                              <a:srgbClr val="1E293B"/>
                            </a:solidFill>
                            <a:latin typeface="微软雅黑" panose="020B0503020204020204" charset="-122"/>
                            <a:ea typeface="微软雅黑" panose="020B0503020204020204" charset="-122"/>
                            <a:cs typeface="微软雅黑" panose="020B0503020204020204" charset="-122"/>
                          </a:endParaRPr>
                        </a:p>
                      </a:txBody>
                      <a:tcPr marL="54864" marR="54864" marT="22860" marB="22860" anchor="ctr">
                        <a:solidFill>
                          <a:srgbClr val="F1F5F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54864" marR="54864" marT="22860" marB="22860" anchor="ctr">
                        <a:blipFill>
                          <a:blip r:embed="rId1"/>
                        </a:blipFill>
                      </a:tcPr>
                    </a:tc>
                  </a:tr>
                  <a:tr h="488950"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sz="1100">
                              <a:solidFill>
                                <a:srgbClr val="1E293B"/>
                              </a:solidFill>
                              <a:latin typeface="微软雅黑" panose="020B0503020204020204" charset="-122"/>
                              <a:ea typeface="微软雅黑" panose="020B0503020204020204" charset="-122"/>
                              <a:cs typeface="微软雅黑" panose="020B0503020204020204" charset="-122"/>
                            </a:rPr>
                            <a:t>i</a:t>
                          </a:r>
                          <a:endParaRPr sz="1100">
                            <a:solidFill>
                              <a:srgbClr val="1E293B"/>
                            </a:solidFill>
                            <a:latin typeface="微软雅黑" panose="020B0503020204020204" charset="-122"/>
                            <a:ea typeface="微软雅黑" panose="020B0503020204020204" charset="-122"/>
                            <a:cs typeface="微软雅黑" panose="020B0503020204020204" charset="-122"/>
                          </a:endParaRPr>
                        </a:p>
                      </a:txBody>
                      <a:tcPr marL="54864" marR="54864" marT="22860" marB="22860" anchor="ctr"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54864" marR="54864" marT="22860" marB="22860" anchor="ctr">
                        <a:blipFill>
                          <a:blip r:embed="rId1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sz="1100">
                              <a:solidFill>
                                <a:srgbClr val="1E293B"/>
                              </a:solidFill>
                              <a:latin typeface="微软雅黑" panose="020B0503020204020204" charset="-122"/>
                              <a:ea typeface="微软雅黑" panose="020B0503020204020204" charset="-122"/>
                              <a:cs typeface="微软雅黑" panose="020B0503020204020204" charset="-122"/>
                            </a:rPr>
                            <a:t>求和上下界</a:t>
                          </a:r>
                          <a:endParaRPr sz="1100">
                            <a:solidFill>
                              <a:srgbClr val="1E293B"/>
                            </a:solidFill>
                            <a:latin typeface="微软雅黑" panose="020B0503020204020204" charset="-122"/>
                            <a:ea typeface="微软雅黑" panose="020B0503020204020204" charset="-122"/>
                            <a:cs typeface="微软雅黑" panose="020B0503020204020204" charset="-122"/>
                          </a:endParaRPr>
                        </a:p>
                      </a:txBody>
                      <a:tcPr marL="54864" marR="54864" marT="22860" marB="22860" anchor="ctr"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54864" marR="54864" marT="22860" marB="22860" anchor="ctr">
                        <a:blipFill>
                          <a:blip r:embed="rId1"/>
                        </a:blipFill>
                      </a:tcPr>
                    </a:tc>
                  </a:tr>
                </a:tbl>
              </a:graphicData>
            </a:graphic>
          </p:graphicFrame>
        </mc:Fallback>
      </mc:AlternateContent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>
            <a:spLocks noGrp="1"/>
          </p:cNvSpPr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3" name="TextBox 2"/>
          <p:cNvSpPr>
            <a:spLocks noGrp="1"/>
          </p:cNvSpPr>
          <p:nvPr/>
        </p:nvSpPr>
        <p:spPr>
          <a:xfrm>
            <a:off x="502920" y="292608"/>
            <a:ext cx="10881360" cy="557784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500"/>
              </a:spcAft>
              <a:buNone/>
            </a:pPr>
            <a:r>
              <a:rPr sz="2375" b="1" i="0">
                <a:solidFill>
                  <a:srgbClr val="1725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总结：方法选择</a:t>
            </a:r>
            <a:endParaRPr sz="2375" b="1" i="0">
              <a:solidFill>
                <a:srgbClr val="17255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TextBox 3"/>
          <p:cNvSpPr>
            <a:spLocks noGrp="1"/>
          </p:cNvSpPr>
          <p:nvPr/>
        </p:nvSpPr>
        <p:spPr>
          <a:xfrm>
            <a:off x="530352" y="804672"/>
            <a:ext cx="10972800" cy="329184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500"/>
              </a:spcAft>
              <a:buNone/>
            </a:pPr>
            <a:r>
              <a:rPr sz="1200" b="0" i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先看子问题规模如何变化</a:t>
            </a:r>
            <a:endParaRPr sz="1200" b="0" i="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TextBox 4"/>
          <p:cNvSpPr>
            <a:spLocks noGrp="1"/>
          </p:cNvSpPr>
          <p:nvPr/>
        </p:nvSpPr>
        <p:spPr>
          <a:xfrm>
            <a:off x="9555480" y="6510528"/>
            <a:ext cx="2103120" cy="18288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r">
              <a:spcAft>
                <a:spcPts val="500"/>
              </a:spcAft>
              <a:buNone/>
            </a:pPr>
            <a:r>
              <a:rPr sz="900" b="0" i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递推式与渐近分析</a:t>
            </a:r>
            <a:endParaRPr sz="900" b="0" i="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extBox 5"/>
          <p:cNvSpPr>
            <a:spLocks noGrp="1"/>
          </p:cNvSpPr>
          <p:nvPr/>
        </p:nvSpPr>
        <p:spPr>
          <a:xfrm>
            <a:off x="502920" y="6510528"/>
            <a:ext cx="1371600" cy="18288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500"/>
              </a:spcAft>
              <a:buNone/>
            </a:pPr>
            <a:r>
              <a:rPr sz="900" b="0" i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算法设计 · 16</a:t>
            </a:r>
            <a:endParaRPr sz="900" b="0" i="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Rounded Rectangle 6"/>
          <p:cNvSpPr>
            <a:spLocks noGrp="1"/>
          </p:cNvSpPr>
          <p:nvPr/>
        </p:nvSpPr>
        <p:spPr>
          <a:xfrm>
            <a:off x="685800" y="1325880"/>
            <a:ext cx="5303520" cy="1143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8" name="Rectangle 7"/>
          <p:cNvSpPr>
            <a:spLocks noGrp="1"/>
          </p:cNvSpPr>
          <p:nvPr/>
        </p:nvSpPr>
        <p:spPr>
          <a:xfrm>
            <a:off x="685800" y="1325880"/>
            <a:ext cx="73152" cy="1143000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9" name="TextBox 8"/>
          <p:cNvSpPr>
            <a:spLocks noGrp="1"/>
          </p:cNvSpPr>
          <p:nvPr/>
        </p:nvSpPr>
        <p:spPr>
          <a:xfrm>
            <a:off x="886968" y="1472184"/>
            <a:ext cx="4919472" cy="34747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500"/>
              </a:spcAft>
              <a:buNone/>
            </a:pPr>
            <a:r>
              <a:rPr sz="1600" b="1" i="0">
                <a:solidFill>
                  <a:srgbClr val="1725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标准分治形式</a:t>
            </a:r>
            <a:endParaRPr sz="1600" b="1" i="0">
              <a:solidFill>
                <a:srgbClr val="17255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9"/>
              <p:cNvSpPr>
                <a:spLocks noGrp="1"/>
              </p:cNvSpPr>
              <p:nvPr/>
            </p:nvSpPr>
            <p:spPr>
              <a:xfrm>
                <a:off x="886968" y="1892807"/>
                <a:ext cx="4919472" cy="374904"/>
              </a:xfrm>
              <a:prstGeom prst="rect">
                <a:avLst/>
              </a:prstGeom>
              <a:noFill/>
            </p:spPr>
            <p:txBody>
              <a:bodyPr wrap="square" lIns="73152" tIns="73152" rIns="73152" bIns="73152" anchor="t">
                <a:spAutoFit/>
              </a:bodyPr>
              <a:lstStyle/>
              <a:p>
                <a:pPr algn="l">
                  <a:spcAft>
                    <a:spcPts val="500"/>
                  </a:spcAft>
                  <a:buNone/>
                </a:pPr>
                <a:r>
                  <a:rPr sz="1500" b="0" i="0">
                    <a:solidFill>
                      <a:srgbClr val="1E293B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优先用主定理，比较</a:t>
                </a:r>
                <a14:m>
                  <m:oMath xmlns:m="http://schemas.openxmlformats.org/officeDocument/2006/math">
                    <m:r>
                      <a:rPr sz="1500" b="0" i="1">
                        <a:solidFill>
                          <a:srgbClr val="1E293B"/>
                        </a:solidFill>
                        <a:latin typeface="Cambria Math" panose="02040503050406030204"/>
                        <a:ea typeface="Cambria Math" panose="02040503050406030204"/>
                        <a:cs typeface="微软雅黑" panose="020B0503020204020204" charset="-122"/>
                      </a:rPr>
                      <m:t>𝑓</m:t>
                    </m:r>
                    <m:d>
                      <m:dPr>
                        <m:ctrlPr>
                          <a:rPr sz="1500" b="0" i="0">
                            <a:solidFill>
                              <a:srgbClr val="1E293B"/>
                            </a:solidFill>
                            <a:latin typeface="Cambria Math" panose="02040503050406030204"/>
                            <a:ea typeface="微软雅黑" panose="020B0503020204020204" charset="-122"/>
                            <a:cs typeface="微软雅黑" panose="020B0503020204020204" charset="-122"/>
                          </a:rPr>
                        </m:ctrlPr>
                      </m:dPr>
                      <m:e>
                        <m:r>
                          <a:rPr sz="1500" b="0" i="1">
                            <a:solidFill>
                              <a:srgbClr val="1E293B"/>
                            </a:solidFill>
                            <a:latin typeface="Cambria Math" panose="02040503050406030204"/>
                            <a:ea typeface="Cambria Math" panose="02040503050406030204"/>
                            <a:cs typeface="微软雅黑" panose="020B0503020204020204" charset="-122"/>
                          </a:rPr>
                          <m:t>𝑛</m:t>
                        </m:r>
                      </m:e>
                    </m:d>
                  </m:oMath>
                </a14:m>
                <a:r>
                  <a:rPr sz="1500" b="0" i="0">
                    <a:solidFill>
                      <a:srgbClr val="1E293B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与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sz="1500" b="0" i="0">
                            <a:solidFill>
                              <a:srgbClr val="1E293B"/>
                            </a:solidFill>
                            <a:latin typeface="Cambria Math" panose="02040503050406030204"/>
                            <a:ea typeface="微软雅黑" panose="020B0503020204020204" charset="-122"/>
                            <a:cs typeface="微软雅黑" panose="020B0503020204020204" charset="-122"/>
                          </a:rPr>
                        </m:ctrlPr>
                      </m:sSupPr>
                      <m:e>
                        <m:r>
                          <a:rPr sz="1500" b="0" i="1">
                            <a:solidFill>
                              <a:srgbClr val="1E293B"/>
                            </a:solidFill>
                            <a:latin typeface="Cambria Math" panose="02040503050406030204"/>
                            <a:ea typeface="Cambria Math" panose="02040503050406030204"/>
                            <a:cs typeface="微软雅黑" panose="020B0503020204020204" charset="-122"/>
                          </a:rPr>
                          <m:t>𝑛</m:t>
                        </m:r>
                      </m:e>
                      <m:sup>
                        <m:r>
                          <a:rPr sz="1500" b="0" i="0">
                            <a:solidFill>
                              <a:srgbClr val="1E293B"/>
                            </a:solidFill>
                            <a:latin typeface="Cambria Math" panose="02040503050406030204"/>
                            <a:ea typeface="Cambria Math" panose="02040503050406030204"/>
                            <a:cs typeface="微软雅黑" panose="020B0503020204020204" charset="-122"/>
                          </a:rPr>
                          <m:t>\</m:t>
                        </m:r>
                        <m:r>
                          <a:rPr sz="1500" b="0" i="1">
                            <a:solidFill>
                              <a:srgbClr val="1E293B"/>
                            </a:solidFill>
                            <a:latin typeface="Cambria Math" panose="02040503050406030204"/>
                            <a:ea typeface="Cambria Math" panose="02040503050406030204"/>
                            <a:cs typeface="微软雅黑" panose="020B0503020204020204" charset="-122"/>
                          </a:rPr>
                          <m:t>𝑙</m:t>
                        </m:r>
                        <m:r>
                          <a:rPr sz="1500" b="0" i="1">
                            <a:solidFill>
                              <a:srgbClr val="1E293B"/>
                            </a:solidFill>
                            <a:latin typeface="Cambria Math" panose="02040503050406030204"/>
                            <a:ea typeface="Cambria Math" panose="02040503050406030204"/>
                            <a:cs typeface="微软雅黑" panose="020B0503020204020204" charset="-122"/>
                          </a:rPr>
                          <m:t>𝑜</m:t>
                        </m:r>
                        <m:sSub>
                          <m:sSubPr>
                            <m:ctrlPr>
                              <a:rPr sz="1500" b="0" i="0">
                                <a:solidFill>
                                  <a:srgbClr val="1E293B"/>
                                </a:solidFill>
                                <a:latin typeface="Cambria Math" panose="02040503050406030204"/>
                                <a:ea typeface="微软雅黑" panose="020B0503020204020204" charset="-122"/>
                                <a:cs typeface="微软雅黑" panose="020B0503020204020204" charset="-122"/>
                              </a:rPr>
                            </m:ctrlPr>
                          </m:sSubPr>
                          <m:e>
                            <m:r>
                              <a:rPr sz="1500" b="0" i="1">
                                <a:solidFill>
                                  <a:srgbClr val="1E293B"/>
                                </a:solidFill>
                                <a:latin typeface="Cambria Math" panose="02040503050406030204"/>
                                <a:ea typeface="Cambria Math" panose="02040503050406030204"/>
                                <a:cs typeface="微软雅黑" panose="020B0503020204020204" charset="-122"/>
                              </a:rPr>
                              <m:t>𝑔</m:t>
                            </m:r>
                          </m:e>
                          <m:sub>
                            <m:r>
                              <a:rPr sz="1500" b="0" i="1">
                                <a:solidFill>
                                  <a:srgbClr val="1E293B"/>
                                </a:solidFill>
                                <a:latin typeface="Cambria Math" panose="02040503050406030204"/>
                                <a:ea typeface="Cambria Math" panose="02040503050406030204"/>
                                <a:cs typeface="微软雅黑" panose="020B0503020204020204" charset="-122"/>
                              </a:rPr>
                              <m:t>𝑏</m:t>
                            </m:r>
                          </m:sub>
                        </m:sSub>
                        <m:r>
                          <a:rPr sz="1500" b="0" i="1">
                            <a:solidFill>
                              <a:srgbClr val="1E293B"/>
                            </a:solidFill>
                            <a:latin typeface="Cambria Math" panose="02040503050406030204"/>
                            <a:ea typeface="Cambria Math" panose="02040503050406030204"/>
                            <a:cs typeface="微软雅黑" panose="020B0503020204020204" charset="-122"/>
                          </a:rPr>
                          <m:t>𝑎</m:t>
                        </m:r>
                      </m:sup>
                    </m:sSup>
                  </m:oMath>
                </a14:m>
                <a:endParaRPr sz="1500"/>
              </a:p>
            </p:txBody>
          </p:sp>
        </mc:Choice>
        <mc:Fallback>
          <p:sp>
            <p:nvSpPr>
              <p:cNvPr id="10" name="TextBox 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6968" y="1892807"/>
                <a:ext cx="4919472" cy="374904"/>
              </a:xfrm>
              <a:prstGeom prst="rect">
                <a:avLst/>
              </a:prstGeom>
              <a:blipFill rotWithShape="1">
                <a:blip r:embed="rId1"/>
                <a:stretch>
                  <a:fillRect l="-10" t="-135" b="3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Rounded Rectangle 10"/>
          <p:cNvSpPr>
            <a:spLocks noGrp="1"/>
          </p:cNvSpPr>
          <p:nvPr/>
        </p:nvSpPr>
        <p:spPr>
          <a:xfrm>
            <a:off x="6217920" y="1325880"/>
            <a:ext cx="5303520" cy="1143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12" name="Rectangle 11"/>
          <p:cNvSpPr>
            <a:spLocks noGrp="1"/>
          </p:cNvSpPr>
          <p:nvPr/>
        </p:nvSpPr>
        <p:spPr>
          <a:xfrm>
            <a:off x="6217920" y="1325880"/>
            <a:ext cx="73152" cy="1143000"/>
          </a:xfrm>
          <a:prstGeom prst="rect">
            <a:avLst/>
          </a:prstGeom>
          <a:solidFill>
            <a:srgbClr val="0D9488"/>
          </a:solidFill>
          <a:ln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13" name="TextBox 12"/>
          <p:cNvSpPr>
            <a:spLocks noGrp="1"/>
          </p:cNvSpPr>
          <p:nvPr/>
        </p:nvSpPr>
        <p:spPr>
          <a:xfrm>
            <a:off x="6419088" y="1472184"/>
            <a:ext cx="4919472" cy="34747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500"/>
              </a:spcAft>
              <a:buNone/>
            </a:pPr>
            <a:r>
              <a:rPr sz="1600" b="1" i="0">
                <a:solidFill>
                  <a:srgbClr val="1725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每层工作量变化明显</a:t>
            </a:r>
            <a:endParaRPr sz="1600" b="1" i="0">
              <a:solidFill>
                <a:srgbClr val="17255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TextBox 13"/>
          <p:cNvSpPr>
            <a:spLocks noGrp="1"/>
          </p:cNvSpPr>
          <p:nvPr/>
        </p:nvSpPr>
        <p:spPr>
          <a:xfrm>
            <a:off x="6419088" y="1892807"/>
            <a:ext cx="4919472" cy="374904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500"/>
              </a:spcAft>
              <a:buNone/>
            </a:pPr>
            <a:r>
              <a:rPr sz="1500" b="0" i="0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递归树：计算每层工作量，再求和</a:t>
            </a:r>
            <a:endParaRPr sz="1500" b="0" i="0">
              <a:solidFill>
                <a:srgbClr val="1E293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Rounded Rectangle 14"/>
          <p:cNvSpPr>
            <a:spLocks noGrp="1"/>
          </p:cNvSpPr>
          <p:nvPr/>
        </p:nvSpPr>
        <p:spPr>
          <a:xfrm>
            <a:off x="685800" y="2743200"/>
            <a:ext cx="5303520" cy="1143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16" name="Rectangle 15"/>
          <p:cNvSpPr>
            <a:spLocks noGrp="1"/>
          </p:cNvSpPr>
          <p:nvPr/>
        </p:nvSpPr>
        <p:spPr>
          <a:xfrm>
            <a:off x="685800" y="2743200"/>
            <a:ext cx="73152" cy="1143000"/>
          </a:xfrm>
          <a:prstGeom prst="rect">
            <a:avLst/>
          </a:prstGeom>
          <a:solidFill>
            <a:srgbClr val="EA580C"/>
          </a:solidFill>
          <a:ln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17" name="TextBox 16"/>
          <p:cNvSpPr>
            <a:spLocks noGrp="1"/>
          </p:cNvSpPr>
          <p:nvPr/>
        </p:nvSpPr>
        <p:spPr>
          <a:xfrm>
            <a:off x="886968" y="2889504"/>
            <a:ext cx="4919472" cy="34747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500"/>
              </a:spcAft>
              <a:buNone/>
            </a:pPr>
            <a:r>
              <a:rPr sz="1600" b="1" i="0">
                <a:solidFill>
                  <a:srgbClr val="1725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规模每次减少常数</a:t>
            </a:r>
            <a:endParaRPr sz="1600" b="1" i="0">
              <a:solidFill>
                <a:srgbClr val="17255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TextBox 17"/>
          <p:cNvSpPr>
            <a:spLocks noGrp="1"/>
          </p:cNvSpPr>
          <p:nvPr/>
        </p:nvSpPr>
        <p:spPr>
          <a:xfrm>
            <a:off x="886968" y="3310128"/>
            <a:ext cx="4919472" cy="374904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500"/>
              </a:spcAft>
              <a:buNone/>
            </a:pPr>
            <a:r>
              <a:rPr sz="1500" b="0" i="0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递推展开：转化为求和</a:t>
            </a:r>
            <a:endParaRPr sz="1500" b="0" i="0">
              <a:solidFill>
                <a:srgbClr val="1E293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Rounded Rectangle 18"/>
          <p:cNvSpPr>
            <a:spLocks noGrp="1"/>
          </p:cNvSpPr>
          <p:nvPr/>
        </p:nvSpPr>
        <p:spPr>
          <a:xfrm>
            <a:off x="6217920" y="2743200"/>
            <a:ext cx="5303520" cy="1143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20" name="Rectangle 19"/>
          <p:cNvSpPr>
            <a:spLocks noGrp="1"/>
          </p:cNvSpPr>
          <p:nvPr/>
        </p:nvSpPr>
        <p:spPr>
          <a:xfrm>
            <a:off x="6217920" y="2743200"/>
            <a:ext cx="73152" cy="1143000"/>
          </a:xfrm>
          <a:prstGeom prst="rect">
            <a:avLst/>
          </a:prstGeom>
          <a:solidFill>
            <a:srgbClr val="16A34A"/>
          </a:solidFill>
          <a:ln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21" name="TextBox 20"/>
          <p:cNvSpPr>
            <a:spLocks noGrp="1"/>
          </p:cNvSpPr>
          <p:nvPr/>
        </p:nvSpPr>
        <p:spPr>
          <a:xfrm>
            <a:off x="6419088" y="2889504"/>
            <a:ext cx="4919472" cy="34747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500"/>
              </a:spcAft>
              <a:buNone/>
            </a:pPr>
            <a:r>
              <a:rPr sz="1600" b="1" i="0">
                <a:solidFill>
                  <a:srgbClr val="1725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有常数偏移</a:t>
            </a:r>
            <a:endParaRPr sz="1600" b="1" i="0">
              <a:solidFill>
                <a:srgbClr val="17255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TextBox 21"/>
          <p:cNvSpPr>
            <a:spLocks noGrp="1"/>
          </p:cNvSpPr>
          <p:nvPr/>
        </p:nvSpPr>
        <p:spPr>
          <a:xfrm>
            <a:off x="6419088" y="3310128"/>
            <a:ext cx="4919472" cy="374904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500"/>
              </a:spcAft>
              <a:buNone/>
            </a:pPr>
            <a:r>
              <a:rPr sz="1500" b="0" i="0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变量代换：消除规模中的常数偏移</a:t>
            </a:r>
            <a:endParaRPr sz="1500" b="0" i="0">
              <a:solidFill>
                <a:srgbClr val="1E293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Rounded Rectangle 22"/>
          <p:cNvSpPr>
            <a:spLocks noGrp="1"/>
          </p:cNvSpPr>
          <p:nvPr/>
        </p:nvSpPr>
        <p:spPr>
          <a:xfrm>
            <a:off x="1051560" y="4434840"/>
            <a:ext cx="10058400" cy="1051560"/>
          </a:xfrm>
          <a:prstGeom prst="roundRect">
            <a:avLst>
              <a:gd name="adj" fmla="val 12000"/>
            </a:avLst>
          </a:prstGeom>
          <a:solidFill>
            <a:srgbClr val="172554"/>
          </a:solidFill>
          <a:ln>
            <a:solidFill>
              <a:srgbClr val="172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4" name="TextBox 23"/>
              <p:cNvSpPr>
                <a:spLocks noGrp="1"/>
              </p:cNvSpPr>
              <p:nvPr/>
            </p:nvSpPr>
            <p:spPr>
              <a:xfrm>
                <a:off x="1325880" y="4681728"/>
                <a:ext cx="9509760" cy="481584"/>
              </a:xfrm>
              <a:prstGeom prst="rect">
                <a:avLst/>
              </a:prstGeom>
              <a:noFill/>
            </p:spPr>
            <p:txBody>
              <a:bodyPr wrap="square" lIns="73152" tIns="73152" rIns="73152" bIns="73152" anchor="ctr">
                <a:spAutoFit/>
              </a:bodyPr>
              <a:lstStyle/>
              <a:p>
                <a:pPr algn="ctr">
                  <a:spcAft>
                    <a:spcPts val="500"/>
                  </a:spcAft>
                  <a:buNone/>
                </a:pPr>
                <a:r>
                  <a:rPr sz="1935" b="1" i="0">
                    <a:solidFill>
                      <a:srgbClr val="FFFFFF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解题表达：方法</a:t>
                </a:r>
                <a:r>
                  <a:rPr sz="1935" b="1" i="0">
                    <a:solidFill>
                      <a:srgbClr val="FFFFFF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 + </a:t>
                </a:r>
                <a:r>
                  <a:rPr sz="1935" b="1" i="0">
                    <a:solidFill>
                      <a:srgbClr val="FFFFFF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关键推导</a:t>
                </a:r>
                <a14:m>
                  <m:oMath xmlns:m="http://schemas.openxmlformats.org/officeDocument/2006/math">
                    <m:r>
                      <a:rPr sz="1935" b="1" i="0">
                        <a:solidFill>
                          <a:srgbClr val="FFFFFF"/>
                        </a:solidFill>
                        <a:latin typeface="Cambria Math" panose="02040503050406030204"/>
                        <a:ea typeface="Cambria Math" panose="02040503050406030204"/>
                        <a:cs typeface="微软雅黑" panose="020B0503020204020204" charset="-122"/>
                      </a:rPr>
                      <m:t>+</m:t>
                    </m:r>
                    <m:r>
                      <m:rPr>
                        <m:sty m:val="p"/>
                      </m:rPr>
                      <a:rPr sz="1935" b="1" i="0">
                        <a:solidFill>
                          <a:srgbClr val="FFFFFF"/>
                        </a:solidFill>
                        <a:latin typeface="Cambria Math" panose="02040503050406030204"/>
                        <a:ea typeface="Cambria Math" panose="02040503050406030204"/>
                        <a:cs typeface="微软雅黑" panose="020B0503020204020204" charset="-122"/>
                      </a:rPr>
                      <m:t>Θ</m:t>
                    </m:r>
                  </m:oMath>
                </a14:m>
                <a:r>
                  <a:rPr sz="1935" b="1" i="0">
                    <a:solidFill>
                      <a:srgbClr val="FFFFFF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结果</a:t>
                </a:r>
                <a:endParaRPr sz="1935"/>
              </a:p>
            </p:txBody>
          </p:sp>
        </mc:Choice>
        <mc:Fallback>
          <p:sp>
            <p:nvSpPr>
              <p:cNvPr id="24" name="TextBox 2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25880" y="4681728"/>
                <a:ext cx="9509760" cy="481584"/>
              </a:xfrm>
              <a:prstGeom prst="rect">
                <a:avLst/>
              </a:prstGeom>
              <a:blipFill rotWithShape="1">
                <a:blip r:embed="rId2"/>
                <a:stretch>
                  <a:fillRect t="-105" b="2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" name="TextBox 24"/>
          <p:cNvSpPr>
            <a:spLocks noGrp="1"/>
          </p:cNvSpPr>
          <p:nvPr/>
        </p:nvSpPr>
        <p:spPr>
          <a:xfrm>
            <a:off x="914400" y="5806440"/>
            <a:ext cx="10332720" cy="32004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ctr">
              <a:spcAft>
                <a:spcPts val="500"/>
              </a:spcAft>
              <a:buNone/>
            </a:pPr>
            <a:r>
              <a:rPr sz="1600" b="0" i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谢谢聆听</a:t>
            </a:r>
            <a:endParaRPr sz="1600" b="0" i="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4947</Words>
  <Application>WPS 演示</Application>
  <PresentationFormat>Converted Presentation</PresentationFormat>
  <Paragraphs>619</Paragraphs>
  <Slides>16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16</vt:i4>
      </vt:variant>
    </vt:vector>
  </HeadingPairs>
  <TitlesOfParts>
    <vt:vector size="26" baseType="lpstr">
      <vt:lpstr>Arial</vt:lpstr>
      <vt:lpstr>宋体</vt:lpstr>
      <vt:lpstr>Wingdings</vt:lpstr>
      <vt:lpstr>Arial</vt:lpstr>
      <vt:lpstr>微软雅黑</vt:lpstr>
      <vt:lpstr>Cambria Math</vt:lpstr>
      <vt:lpstr>Cambria Math</vt:lpstr>
      <vt:lpstr>Arial Unicode MS</vt:lpstr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11</cp:lastModifiedBy>
  <cp:revision>2</cp:revision>
  <dcterms:created xsi:type="dcterms:W3CDTF">2026-10-25T20:29:04Z</dcterms:created>
  <dcterms:modified xsi:type="dcterms:W3CDTF">2026-10-25T20:29:28Z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2052-12.1.0.29161</vt:lpwstr>
  </property>
  <property fmtid="{D5CDD505-2E9C-101B-9397-08002B2CF9AE}" pid="3" name="ICV">
    <vt:lpwstr>57BEFD5C06D446D0BBF7B81C71057C9F_13</vt:lpwstr>
  </property>
</Properties>
</file>