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大家好，今天我要给大家分享的是算法导论第三版第13章的思考题13-2，关于红黑树的连接操作。这个操作是红黑树动态集合中一个非常重要的扩展操作，和我们熟悉的分裂操作SPLIT配对使用。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今天的分享分为四个部分：首先回顾问题背景和红黑树的基本性质，然后逐一解析a到f六个小问，接着总结整个算法的核心思想，最后留一点时间讨论常见问题。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首先明确问题：Join操作就是把两棵有序的红黑树和一个中间元素合并成一棵。前提条件是T1所有元素都小于x，T2所有元素都大于x。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我们先回顾红黑树的五条性质，这是后面所有修复操作的依据。特别要记住第五条黑高度性质，这是整个Join算法的核心支点。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总结一下整个算法：第一步比较两棵树的黑高度，第二步在高树里找到匹配的结点，第三步把x插进去当枢纽，第四步染红然后调用标准插入修复。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整个算法的精髓就是三句话：对齐黑高度，插入红色枢纽，复用插入修复。这样就把一个复杂的合并问题，转化成了我们已经非常熟悉的红黑树插入问题。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a问的核心有两点：第一，黑高度只存在树根上，不用给每个结点加额外字段。插入的时候只有根从红变黑，整树黑高度才加一；删除的时候只有双重黑传到根、去掉一重黑，整树黑高度才减一。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第二，向下遍历的时候，我们维护一个cur_bh变量，每经过一个黑结点就减一，红结点不减，这样走到每个结点都能O(1)算出它的黑高度。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b问假设T1的黑高度大于等于T2，我们要在T1里找一个黑结点y，它的黑高度刚好等于T2的黑高度，而且是满足这个条件的结点里关键字最大的。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怎么做呢？从根出发沿着右链往下走，用a问里的方法边走边算cur_bh，遇到黑结点就减一，直到cur_bh等于T2.bh，这个结点就是y。因为走的是一条单路径，所以复杂度是O(lg n)。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c问是一个纯指针操作。我们把x放到中间，左孩子是y，右孩子是T2的根，然后把原来指向y的父指针改成指向x。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为什么BST性质不会破？因为Ty里所有元素都小于x，T2里所有元素都大于x，完全符合二叉搜索树的有序要求。整个过程就是改几根指针，没有循环，所以是O(1)。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d问是整个算法的核心。x必须染成红色，不能染黑。为什么？因为y和T2的黑高度本来就是相等的，x染黑的话两边同时加一，但是和树的其他分支比起来黑高度就不对了，直接破坏性质五。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染红的好处是红色不贡献黑高度，性质五自动保住。剩下的问题只有可能出现连续红，或者新根是红，这和我们普通插入一个红色结点遇到的情况一模一样，直接调用标准的插入修复函数就行，不需要新写修复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问说b的假设不失一般性，因为两棵树是对称的。如果反过来T2的黑高度更高怎么办？很简单，我们在T2的左链往下走，找黑高度等于T1.bh的最小关键字黑结点y，然后把T1挂在x左边，y挂在x右边，剩下的染色和修复步骤完全一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记住这个规律：谁的黑高度高，就在谁的那一侧找匹配结点。T1高就走T1的右链，T2高就走T2的左链。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f问就是把整个Join操作拆成三步算复杂度。第一步找y，走一条路径O(lg n)；第二步拼接指针，O(1)；第三步红黑修复，最多三次旋转，也是O(lg n)。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加起来就是O(lg n)，对比普通BST合并要逐个插入O(n)，红黑树的Join操作效率高非常多。这个操作和SPLIT配对，就可以实现有序集合的高效合并与分裂。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我的分享就到这里，这个算法的核心就是利用黑高度对齐，把两棵树的合并转化为一个普通的红黑插入问题。大家有什么问题欢迎提问。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177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算法导论 思考题13-2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红黑树的连接（Join）操作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80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1015999" y="432435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算法设计</a:t>
            </a:r>
            <a:r>
              <a:rPr lang="en-US" sz="16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6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小班讨论课报</a:t>
            </a:r>
            <a:r>
              <a:rPr lang="zh-CN" altLang="en-US" sz="1600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告</a:t>
            </a:r>
            <a:endParaRPr lang="en-US" altLang="zh-CN" sz="1600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组员：及靖涵、宋自信、曹伟科</a:t>
            </a:r>
            <a:endParaRPr lang="en-US" altLang="zh-CN" sz="16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汇报：曹伟科</a:t>
            </a:r>
            <a:endParaRPr lang="en-US" sz="16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第三版 · 第13章 红黑树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90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905000" y="1905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题干</a:t>
            </a:r>
            <a:r>
              <a:rPr lang="en-US" sz="1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与红黑树性质回顾</a:t>
            </a:r>
            <a:endParaRPr lang="en-US" sz="1100" dirty="0"/>
          </a:p>
        </p:txBody>
      </p:sp>
      <p:sp>
        <p:nvSpPr>
          <p:cNvPr id="6" name="AutoShape 6"/>
          <p:cNvSpPr txBox="1"/>
          <p:nvPr/>
        </p:nvSpPr>
        <p:spPr>
          <a:xfrm>
            <a:off x="1905000" y="2286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Join操作定义、红黑树五条基本性质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278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016000" y="304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905000" y="304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分问解析：a 至 f 六部分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905000" y="3429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黑高度维护、查找匹配结点、子树替换、染色修复、对称情况、复杂度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393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419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 dirty="0"/>
          </a:p>
        </p:txBody>
      </p:sp>
      <p:sp>
        <p:nvSpPr>
          <p:cNvPr id="13" name="AutoShape 13"/>
          <p:cNvSpPr txBox="1"/>
          <p:nvPr/>
        </p:nvSpPr>
        <p:spPr>
          <a:xfrm>
            <a:off x="1905000" y="4191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整体算法流程与核心思想总结</a:t>
            </a:r>
            <a:endParaRPr lang="en-US" sz="1100" dirty="0"/>
          </a:p>
        </p:txBody>
      </p:sp>
      <p:sp>
        <p:nvSpPr>
          <p:cNvPr id="14" name="AutoShape 14"/>
          <p:cNvSpPr txBox="1"/>
          <p:nvPr/>
        </p:nvSpPr>
        <p:spPr>
          <a:xfrm>
            <a:off x="1905000" y="4572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对齐黑高度、插入红色枢纽、复用插入修复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5334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905000" y="533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思考与讨论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905000" y="5715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常见问题、与SPLIT的配合、复杂度对比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题干与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背景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26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utoShape 4"/>
              <p:cNvSpPr txBox="1"/>
              <p:nvPr/>
            </p:nvSpPr>
            <p:spPr>
              <a:xfrm>
                <a:off x="1016000" y="1524000"/>
                <a:ext cx="10160000" cy="1143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给定两棵红黑树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,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 和一个关键字 </a:t>
                </a:r>
                <a14:m>
                  <m:oMath xmlns:m="http://schemas.openxmlformats.org/officeDocument/2006/math"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𝑥</m:t>
                    </m:r>
                  </m:oMath>
                </a14:m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，满足：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对任意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𝑥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∈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𝑥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∈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，有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𝑥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1.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𝑘𝑒𝑦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≤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𝑥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.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𝑘𝑒𝑦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≤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𝑥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2.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𝑘𝑒𝑦</m:t>
                    </m:r>
                  </m:oMath>
                </a14:m>
                <a:endParaRPr lang="en-US" sz="1600" b="0" i="0" u="none" strike="noStrike">
                  <a:solidFill>
                    <a:srgbClr val="4D5A53"/>
                  </a:solidFill>
                  <a:latin typeface="Noto Serif SC"/>
                  <a:ea typeface="Noto Serif SC"/>
                  <a:cs typeface="Noto Serif SC"/>
                  <a:sym typeface="Noto Serif SC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返回合并后的红黑树 </a:t>
                </a:r>
                <a14:m>
                  <m:oMath xmlns:m="http://schemas.openxmlformats.org/officeDocument/2006/math"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𝑇</m:t>
                    </m:r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=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</m:t>
                        </m:r>
                      </m:sub>
                    </m:sSub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d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𝑥</m:t>
                        </m:r>
                      </m:e>
                    </m:d>
                    <m:r>
                      <a:rPr sz="16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∪</m:t>
                    </m:r>
                    <m:sSub>
                      <m:sSubPr>
                        <m:ctrlP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6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，销毁原树。</a:t>
                </a:r>
              </a:p>
            </p:txBody>
          </p:sp>
        </mc:Choice>
        <mc:Fallback xmlns="">
          <p:sp>
            <p:nvSpPr>
              <p:cNvPr id="4" name="AutoShap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524000"/>
                <a:ext cx="10160000" cy="1143000"/>
              </a:xfrm>
              <a:prstGeom prst="rect">
                <a:avLst/>
              </a:prstGeom>
              <a:blipFill>
                <a:blip r:embed="rId3"/>
                <a:stretch>
                  <a:fillRect l="-1261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5"/>
          <p:cNvSpPr txBox="1"/>
          <p:nvPr/>
        </p:nvSpPr>
        <p:spPr>
          <a:xfrm>
            <a:off x="1016000" y="304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红黑树五条基本性质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556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33333"/>
              </a:lnSpc>
              <a:buClr>
                <a:srgbClr val="4D5A53"/>
              </a:buClr>
              <a:buFont typeface="+mj-lt"/>
              <a:buAutoNum type="arabicPeriod"/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每个结点或是红色，或是黑色</a:t>
            </a:r>
            <a:endParaRPr lang="en-US" sz="1100"/>
          </a:p>
          <a:p>
            <a:pPr marL="190500" indent="-190500" algn="l">
              <a:lnSpc>
                <a:spcPct val="133333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根结点是黑色</a:t>
            </a:r>
          </a:p>
          <a:p>
            <a:pPr marL="190500" indent="-190500" algn="l">
              <a:lnSpc>
                <a:spcPct val="133333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所有 NIL 叶子结点都是黑色</a:t>
            </a:r>
          </a:p>
          <a:p>
            <a:pPr marL="190500" indent="-190500" algn="l">
              <a:lnSpc>
                <a:spcPct val="133333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红结点的两个子结点都是黑色（不能连续红）</a:t>
            </a:r>
          </a:p>
          <a:p>
            <a:pPr marL="190500" indent="-190500" algn="l">
              <a:lnSpc>
                <a:spcPct val="133333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从任意结点到其后代 NIL 的所有路径，黑结点数量相同（黑高度相等）</a:t>
            </a:r>
          </a:p>
        </p:txBody>
      </p:sp>
      <p:sp>
        <p:nvSpPr>
          <p:cNvPr id="7" name="AutoShape 7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定义：黑高度 bh(T) = 从根到叶子路径上黑色结点的数量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整体算法流程与核心思想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26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651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RB-JOIN 完整流程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86000"/>
            <a:ext cx="1016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50000"/>
              </a:lnSpc>
              <a:buClr>
                <a:srgbClr val="4D5A53"/>
              </a:buClr>
              <a:buFont typeface="+mj-lt"/>
              <a:buAutoNum type="arabicPeriod"/>
              <a:defRPr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比较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T1.bh 和 T2.bh，判断哪棵树更高</a:t>
            </a:r>
            <a:endParaRPr lang="en-US" sz="1100" dirty="0"/>
          </a:p>
          <a:p>
            <a:pPr marL="177800" indent="-177800" algn="l">
              <a:lnSpc>
                <a:spcPct val="150000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在更高的树里沿对应链（T1高走右链，T2高走左链）找到匹配黑高度的黑结点 y</a:t>
            </a:r>
          </a:p>
          <a:p>
            <a:pPr marL="177800" indent="-177800" algn="l">
              <a:lnSpc>
                <a:spcPct val="150000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 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作为枢纽</a:t>
            </a:r>
            <a:r>
              <a:rPr lang="zh-CN" alt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替换原来黑节点</a:t>
            </a:r>
            <a:r>
              <a:rPr lang="en-US" altLang="zh-CN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y</a:t>
            </a:r>
            <a:r>
              <a:rPr lang="zh-CN" alt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的位置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左右分别挂上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y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子树和另一棵整树</a:t>
            </a:r>
            <a:endParaRPr lang="en-US" sz="14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177800" indent="-177800" algn="l">
              <a:lnSpc>
                <a:spcPct val="150000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染成红色，调用标准红黑插入修复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RB-INSERT-FIXUP</a:t>
            </a:r>
          </a:p>
          <a:p>
            <a:pPr marL="177800" indent="-177800" algn="l">
              <a:lnSpc>
                <a:spcPct val="150000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更新根的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bh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属性，返回合并后的新树</a:t>
            </a:r>
            <a:endParaRPr lang="en-US" sz="14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495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核心思想三句话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46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1.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对齐黑高度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：在高树里找到黑高度和矮树相等的结点，保证插入后黑高度平衡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2.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红色枢纽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：插入点染红，不破坏黑高度性质，只可能引入连续红问题</a:t>
            </a:r>
          </a:p>
          <a:p>
            <a:pPr marL="0" indent="0" algn="l">
              <a:lnSpc>
                <a:spcPct val="141666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3.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复用修复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：直接用标准插入修复解决连续红，不发明新的修复逻辑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A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a.黑高度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bh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的维护与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O(1)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计算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问题：不需要结点额外空间，如何维护 T.bh？</a:t>
            </a:r>
            <a:endParaRPr 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utoShape 6"/>
              <p:cNvSpPr txBox="1"/>
              <p:nvPr/>
            </p:nvSpPr>
            <p:spPr>
              <a:xfrm>
                <a:off x="1016000" y="2413000"/>
                <a:ext cx="4826000" cy="152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33333"/>
                  </a:lnSpc>
                  <a:defRPr/>
                </a:pPr>
                <a:r>
                  <a:rPr lang="en-US" sz="1400" b="1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核心思路：</a:t>
                </a:r>
                <a:r>
                  <a:rPr lang="en-US" sz="14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bh 只存放在树根上</a:t>
                </a:r>
                <a:endParaRPr lang="en-US" sz="1100"/>
              </a:p>
              <a:p>
                <a:pPr marL="177800" indent="-177800" algn="l">
                  <a:lnSpc>
                    <a:spcPct val="133333"/>
                  </a:lnSpc>
                  <a:buClr>
                    <a:srgbClr val="4D5A53"/>
                  </a:buClr>
                  <a:buChar char="•"/>
                </a:pPr>
                <a:r>
                  <a:rPr lang="en-US" sz="14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插入修复结束后：仅当根从红变黑时，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𝑇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.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𝑏ℎ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+=1</m:t>
                    </m:r>
                  </m:oMath>
                </a14:m>
                <a:endParaRPr lang="en-US" sz="1400" b="0" i="0" u="none" strike="noStrike">
                  <a:solidFill>
                    <a:srgbClr val="4D5A53"/>
                  </a:solidFill>
                  <a:latin typeface="Noto Serif SC"/>
                  <a:ea typeface="Noto Serif SC"/>
                  <a:cs typeface="Noto Serif SC"/>
                  <a:sym typeface="Noto Serif SC"/>
                </a:endParaRPr>
              </a:p>
              <a:p>
                <a:pPr marL="177800" indent="-177800" algn="l">
                  <a:lnSpc>
                    <a:spcPct val="133333"/>
                  </a:lnSpc>
                  <a:buClr>
                    <a:srgbClr val="4D5A53"/>
                  </a:buClr>
                  <a:buChar char="•"/>
                </a:pPr>
                <a:r>
                  <a:rPr lang="en-US" sz="14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删除修复结束后：仅当双重黑传到根、根去掉一重黑时，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𝑇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.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𝑏ℎ</m:t>
                    </m:r>
                    <m:r>
                      <a:rPr sz="14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−=1</m:t>
                    </m:r>
                  </m:oMath>
                </a14:m>
                <a:endParaRPr lang="en-US" sz="1400" b="0" i="0" u="none" strike="noStrike">
                  <a:solidFill>
                    <a:srgbClr val="4D5A53"/>
                  </a:solidFill>
                  <a:latin typeface="Noto Serif SC"/>
                  <a:ea typeface="Noto Serif SC"/>
                  <a:cs typeface="Noto Serif SC"/>
                  <a:sym typeface="Noto Serif SC"/>
                </a:endParaRPr>
              </a:p>
            </p:txBody>
          </p:sp>
        </mc:Choice>
        <mc:Fallback xmlns="">
          <p:sp>
            <p:nvSpPr>
              <p:cNvPr id="6" name="AutoShap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13000"/>
                <a:ext cx="4826000" cy="1524000"/>
              </a:xfrm>
              <a:prstGeom prst="rect">
                <a:avLst/>
              </a:prstGeom>
              <a:blipFill>
                <a:blip r:embed="rId3"/>
                <a:stretch>
                  <a:fillRect l="-2276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/>
          <p:cNvSpPr txBox="1"/>
          <p:nvPr/>
        </p:nvSpPr>
        <p:spPr>
          <a:xfrm>
            <a:off x="6350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从根节点</a:t>
            </a: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向下遍历时如何</a:t>
            </a:r>
            <a:r>
              <a:rPr lang="en-US" sz="17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 O(1) </a:t>
            </a: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得子结点</a:t>
            </a:r>
            <a:r>
              <a:rPr lang="en-US" sz="17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bh</a:t>
            </a:r>
            <a:r>
              <a:rPr lang="en-US" sz="17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？</a:t>
            </a:r>
            <a:endParaRPr lang="en-US" sz="1100" dirty="0"/>
          </a:p>
        </p:txBody>
      </p:sp>
      <p:sp>
        <p:nvSpPr>
          <p:cNvPr id="8" name="AutoShape 8"/>
          <p:cNvSpPr txBox="1"/>
          <p:nvPr/>
        </p:nvSpPr>
        <p:spPr>
          <a:xfrm>
            <a:off x="6350000" y="2413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边走边算：</a:t>
            </a: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维护变量 cur_bh</a:t>
            </a:r>
            <a:endParaRPr lang="en-US" sz="1100"/>
          </a:p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初始：cur_bh = T.bh（根的黑高度）</a:t>
            </a:r>
          </a:p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从父走到子：父是黑结点 → cur_bh -= 1</a:t>
            </a:r>
          </a:p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父是红结点 → cur_bh 不变</a:t>
            </a: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457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关键结论</a:t>
            </a:r>
            <a:r>
              <a:rPr lang="en-US" sz="15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每个结点不需要存</a:t>
            </a:r>
            <a:r>
              <a:rPr lang="en-US" sz="1500" b="0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500" b="0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bh，黑高度是向下走的时候沿途算出来的；插入、删除本身就是</a:t>
            </a:r>
            <a:r>
              <a:rPr lang="en-US" sz="1500" b="0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O(lg n)，</a:t>
            </a:r>
            <a:r>
              <a:rPr lang="en-US" sz="1500" b="0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判断根颜色只需要</a:t>
            </a:r>
            <a:r>
              <a:rPr lang="en-US" sz="1500" b="0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O(1)，</a:t>
            </a:r>
            <a:r>
              <a:rPr lang="en-US" sz="1500" b="0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不增加渐进复杂度</a:t>
            </a:r>
            <a:r>
              <a:rPr lang="en-US" sz="1500" b="0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B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b.O</a:t>
            </a:r>
            <a:r>
              <a:rPr lang="zh-CN" alt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</a:t>
            </a:r>
            <a:r>
              <a:rPr lang="en-US" altLang="zh-CN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lg(n)</a:t>
            </a:r>
            <a:r>
              <a:rPr lang="zh-CN" alt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）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查找黑高度匹配的最大关键字黑结点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y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AutoShape 5"/>
              <p:cNvSpPr txBox="1"/>
              <p:nvPr/>
            </p:nvSpPr>
            <p:spPr>
              <a:xfrm>
                <a:off x="1016000" y="1905000"/>
                <a:ext cx="101600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5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1.</m:t>
                        </m:r>
                      </m:sub>
                    </m:sSub>
                    <m:r>
                      <a:rPr sz="15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𝑏ℎ</m:t>
                    </m:r>
                    <m:r>
                      <a:rPr sz="15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≥</m:t>
                    </m:r>
                    <m:sSub>
                      <m:sSubPr>
                        <m:ctrlP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</m:ctrlPr>
                      </m:sSubPr>
                      <m:e>
                        <m: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𝑇</m:t>
                        </m:r>
                      </m:e>
                      <m:sub>
                        <m:r>
                          <a:rPr sz="1500">
                            <a:solidFill>
                              <a:srgbClr val="4D5A53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2.</m:t>
                        </m:r>
                      </m:sub>
                    </m:sSub>
                    <m:r>
                      <a:rPr sz="1500">
                        <a:solidFill>
                          <a:srgbClr val="4D5A53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𝑏ℎ</m:t>
                    </m:r>
                  </m:oMath>
                </a14:m>
                <a:r>
                  <a:rPr lang="en-US" sz="1500" b="0" i="0" u="none" strike="noStrike">
                    <a:solidFill>
                      <a:srgbClr val="4D5A53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a:t>，在 T1 中找到黑高度 = T2.bh、关键字最大的黑结点 y</a:t>
                </a:r>
                <a:endParaRPr lang="en-US" sz="1100"/>
              </a:p>
            </p:txBody>
          </p:sp>
        </mc:Choice>
        <mc:Fallback xmlns="">
          <p:sp>
            <p:nvSpPr>
              <p:cNvPr id="5" name="AutoShap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905000"/>
                <a:ext cx="10160000" cy="508000"/>
              </a:xfrm>
              <a:prstGeom prst="rect">
                <a:avLst/>
              </a:prstGeom>
              <a:blipFill>
                <a:blip r:embed="rId3"/>
                <a:stretch>
                  <a:fillRect l="-1140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/>
          <p:cNvSpPr txBox="1"/>
          <p:nvPr/>
        </p:nvSpPr>
        <p:spPr>
          <a:xfrm>
            <a:off x="1016000" y="266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算法思路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175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  <a:defRPr/>
            </a:pP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 T1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根出发，cur_bh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= T1.bh</a:t>
            </a:r>
            <a:endParaRPr lang="en-US" sz="1100" dirty="0"/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优先沿右链向下走（保证关键字最大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）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每经过一个黑结点，cur_bh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-= 1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直到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cur_bh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== T2.bh，返回当前结点 y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右子树为空时走左子树继续找</a:t>
            </a:r>
            <a:endParaRPr lang="en-US" sz="14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604000" y="2667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为什么沿右链找？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3175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T1 所有元素都小于 x，最大关键字在最右侧。我们要找的是"最大的、黑高度刚好等于 T2.bh 的黑结点"，这样拼接的时候不会打乱 BST 顺序。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4953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DCE6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6858000" y="5080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复杂度：</a:t>
            </a:r>
            <a:r>
              <a:rPr lang="en-US" sz="14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沿一条根到叶子路径，O(lg n)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C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c. O(1)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子树替换，保持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BST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性质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 Ty 是以 y 为根的子树，用 Ty ∪ {x} ∪ T2 取代 Ty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905000" y="2794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x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8059487">
            <a:off x="1747158" y="3676676"/>
            <a:ext cx="10776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2398791">
            <a:off x="2526085" y="3676672"/>
            <a:ext cx="11708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1270000" y="4064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y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048000" y="4064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T2.root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715000" y="2540000"/>
            <a:ext cx="546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操作步骤：</a:t>
            </a:r>
            <a:endParaRPr lang="en-US" sz="1100"/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的左孩子 = y（y 原来的子树全部保留）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的右孩子 = T2.root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替换 y 在原父结点 p 中的位置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若 y 是原 T1 根，则 x 成为新根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55880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DCE6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 txBox="1"/>
          <p:nvPr/>
        </p:nvSpPr>
        <p:spPr>
          <a:xfrm>
            <a:off x="1270000" y="5715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BST 性质验证：</a:t>
            </a:r>
            <a:r>
              <a:rPr lang="en-US" sz="14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Ty 所有 key &lt; x.key，T2 所有 key &gt; x.key，有序性完全满足，仅修改指针，O(1) 完成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D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d.</a:t>
            </a:r>
            <a:r>
              <a:rPr lang="zh-CN" altLang="en-US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不违反红黑树性质</a:t>
            </a:r>
            <a:r>
              <a:rPr lang="en-US" altLang="zh-CN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r>
              <a:rPr lang="zh-CN" altLang="en-US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、</a:t>
            </a:r>
            <a:r>
              <a:rPr lang="en-US" altLang="zh-CN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r>
              <a:rPr lang="zh-CN" altLang="en-US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、</a:t>
            </a:r>
            <a:r>
              <a:rPr lang="en-US" altLang="zh-CN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5</a:t>
            </a:r>
            <a:r>
              <a:rPr lang="zh-CN" altLang="en-US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x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的颜色选择与</a:t>
            </a:r>
            <a:r>
              <a:rPr lang="en-US" altLang="zh-CN" sz="2400" b="1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O</a:t>
            </a:r>
            <a:r>
              <a:rPr lang="en-US" altLang="zh-CN" sz="2400" b="1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(lg(n))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红黑性质修复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结论：x</a:t>
            </a:r>
            <a:r>
              <a:rPr lang="en-US" sz="17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初始染红色</a:t>
            </a:r>
            <a:endParaRPr lang="en-US" sz="1100" dirty="0"/>
          </a:p>
        </p:txBody>
      </p:sp>
      <p:sp>
        <p:nvSpPr>
          <p:cNvPr id="6" name="AutoShape 6"/>
          <p:cNvSpPr txBox="1"/>
          <p:nvPr/>
        </p:nvSpPr>
        <p:spPr>
          <a:xfrm>
            <a:off x="1016000" y="2540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为什么不染黑</a:t>
            </a:r>
            <a:r>
              <a:rPr lang="en-US" sz="1400" b="1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？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y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的黑高度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= T2.bh，左右子树本来黑高度相等。x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染黑会让所有穿过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的路径黑高度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+1，直接破坏性质 5。</a:t>
            </a:r>
          </a:p>
        </p:txBody>
      </p:sp>
      <p:sp>
        <p:nvSpPr>
          <p:cNvPr id="7" name="AutoShape 7"/>
          <p:cNvSpPr txBox="1"/>
          <p:nvPr/>
        </p:nvSpPr>
        <p:spPr>
          <a:xfrm>
            <a:off x="6350000" y="2540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为什么染红可以</a:t>
            </a:r>
            <a:r>
              <a:rPr lang="en-US" sz="1400" b="1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？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红色结点不贡献黑高度，穿过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的路径黑高度不变，性质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1、3、5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自动满足。只可能违反性质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4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和性质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2。</a:t>
            </a:r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457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修复方案：直接调用</a:t>
            </a:r>
            <a:r>
              <a:rPr lang="en-US" sz="16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 RB-INSERT-FIXUP</a:t>
            </a:r>
            <a:endParaRPr lang="en-US" sz="1100" dirty="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5080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可能违规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1：连续红（y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是红，或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T2.root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是红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）→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标准插入修复的变色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+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旋转</a:t>
            </a:r>
            <a:endParaRPr lang="en-US" sz="1100" dirty="0"/>
          </a:p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可能违规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2：x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是新根且为红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→ FIXUP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最后把根置黑即可</a:t>
            </a:r>
            <a:endParaRPr lang="en-US" sz="1400" b="0" i="0" u="none" strike="noStrike" dirty="0">
              <a:solidFill>
                <a:srgbClr val="4D5A53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177800" indent="-177800" algn="l">
              <a:lnSpc>
                <a:spcPct val="133333"/>
              </a:lnSpc>
              <a:buClr>
                <a:srgbClr val="4D5A53"/>
              </a:buClr>
              <a:buChar char="•"/>
            </a:pP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最多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 3 </a:t>
            </a:r>
            <a:r>
              <a:rPr lang="en-US" sz="1400" b="0" i="0" u="none" strike="noStrike" dirty="0" err="1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次旋转，向上传播一条路径，O</a:t>
            </a:r>
            <a:r>
              <a:rPr lang="en-US" sz="1400" b="0" i="0" u="none" strike="noStrike" dirty="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(lg 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e.对称情况与一般性论证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3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b 假设 T1.bh ≥ T2.bh 不失一般性，因为两棵树地位完全对称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92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 T1.bh ≤ T2.bh 时：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556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 T2 的</a:t>
            </a:r>
            <a:r>
              <a:rPr lang="en-US" sz="1400" b="1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左链</a:t>
            </a: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向下走</a:t>
            </a:r>
            <a:endParaRPr lang="en-US" sz="1100"/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找黑高度 = T1.bh 的最小关键字黑结点 y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的左孩子 = T1.root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的右孩子 = y</a:t>
            </a:r>
          </a:p>
          <a:p>
            <a:pPr marL="177800" indent="-177800" algn="l">
              <a:lnSpc>
                <a:spcPct val="141666"/>
              </a:lnSpc>
              <a:buClr>
                <a:srgbClr val="4D5A5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x 依然染红，调用插入修复</a:t>
            </a:r>
          </a:p>
        </p:txBody>
      </p:sp>
      <p:sp>
        <p:nvSpPr>
          <p:cNvPr id="8" name="AutoShape 8"/>
          <p:cNvSpPr/>
          <p:nvPr/>
        </p:nvSpPr>
        <p:spPr>
          <a:xfrm>
            <a:off x="6604000" y="3048000"/>
            <a:ext cx="4572000" cy="2286000"/>
          </a:xfrm>
          <a:prstGeom prst="roundRect">
            <a:avLst>
              <a:gd name="adj" fmla="val 0"/>
            </a:avLst>
          </a:prstGeom>
          <a:solidFill>
            <a:srgbClr val="DCE6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6858000" y="3302000"/>
            <a:ext cx="406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核心规律：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谁黑高度更高，就在谁里面找匹配结点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T1 高 → 沿 T1 右链找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T2 高 → 沿 T2 左链找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PART F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f.RB</a:t>
            </a:r>
            <a:r>
              <a:rPr lang="en-US" sz="24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-JOIN </a:t>
            </a:r>
            <a:r>
              <a:rPr lang="en-US" sz="24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运行时间复杂度分析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28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整个 Join 操作拆分为三步，分别计算复杂度：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3048000"/>
          <a:ext cx="1016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步骤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复杂度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查找匹配结点 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O(lg n)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沿一条根到叶子路径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指针拼接替换子树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O(1)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仅修改几个指针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红黑插入修复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O(lg n)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最多 3 次旋转，向上传播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5715000"/>
            <a:ext cx="10160000" cy="762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270000" y="5842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总时间复杂度：O(lg n)，n 为两棵树结点总数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Q &amp; A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80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419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感谢聆听，欢迎提问讨论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27D"/>
                </a:solidFill>
                <a:latin typeface="Noto Serif SC"/>
                <a:ea typeface="Noto Serif SC"/>
                <a:cs typeface="Noto Serif SC"/>
                <a:sym typeface="Noto Serif SC"/>
              </a:rPr>
              <a:t>算法导论 第三版 · 第13章 思考题13-2 · 红黑树 Join 操作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1162</Words>
  <Application>Microsoft Office PowerPoint</Application>
  <PresentationFormat>宽屏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伟科 曹</cp:lastModifiedBy>
  <cp:revision>13</cp:revision>
  <dcterms:modified xsi:type="dcterms:W3CDTF">2026-10-26T02:49:04Z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{"Label":"1","ContentProducer":"001191110102MACQD9K64010000","ProduceID":"7700617012665945368","ReservedCode1":"","ContentPropagator":"","PropagateID":"","ReservedCode2":""}</vt:lpwstr>
  </property>
</Properties>
</file>