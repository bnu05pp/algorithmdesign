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7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8" r:id="rId24"/>
    <p:sldId id="275" r:id="rId25"/>
    <p:sldId id="276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白：大家好，我今天讲的是《算法导论》第4章思考题4-2，题目叫“参数传递代价”。我们知道，整本书都默认“过程调用时传参数花常量时间”，但如果传数组/矩阵时真的发生了数据拷贝，分治算法的递推式会怎么变？这道题让我们把二分搜索、归并排序、递归矩阵乘法这三个经典分治算法，分别放在三种不同的传参方式下，推出9个递推式并求出紧确界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白：大家好，我今天讲的是《算法导论》第4章思考题4-2，题目叫“参数传递代价”。我们知道，整本书都默认“过程调用时传参数花常量时间”，但如果传数组/矩阵时真的发生了数据拷贝，分治算法的递推式会怎么变？这道题让我们把二分搜索、归并排序、递归矩阵乘法这三个经典分治算法，分别放在三种不同的传参方式下，推出9个递推式并求出紧确界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今天的汇报分六块。先讲清楚题目到底在问什么；然后把三种传参方式和三种算法分别回顾一遍；核心是第四块——9 个递推式的推导；最后用一张汇总表把结论摆出来，并谈一谈工程上的启示。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这一页是全题的“题眼”。整本书默认传参是 O(1)，因为传的是指针。但题目反问：如果真的拷贝数据呢？大家一定要先记住两个字母：N 是原始规模，从始至终不变；n 是当前递归这一层手头的子问题规模，每层都在减半。后面 9 个递推式全是围绕“每递归一次，到底拷了多少数据”来写的。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三种策略并排看：策略1只传地址，代价 Θ(1)，这就是我们平时默认的情况；策略2是“每次都把整个原始数据拷一遍”，数组代价 Θ(N)、N×N 矩阵代价 Θ(N²)；策略3更聪明，只拷当前递归真正会用到的那一小块，数组代价 Θ(n)、子矩阵代价 Θ(n²)。注意策略2里 N 是常数（不随递归变），策略3里 n 是随递归减半的——这个差别是后面所有复杂度分叉的根源。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先把三个算法的“原生”递推式摆出来，这是后面所有推导的基线。二分搜索：1 个子问题 + Θ(1)，解 Θ(log N)；归并排序：2 个子问题 + Θ(n)，解 Θ(N log N)；递归矩阵乘法：8 个子问题 + Θ(n²)，由主方法 case 1 得 Θ(N³)。后面我们要做的，就是把每种策略带来的传参代价，作为一个新的项加到递推式里，再重新求解。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二分搜索的递归树很简单——不是一棵分叉的树，而是一条链。因为每次只在左半或右半中选一个继续，所以每层只有一个节点，一共有 log N 层。原生递推 T(n)=T(n/2)+Θ(1) 的解就是 Θ(log N)。记住这棵“单链树”，后面三种策略下我们要在这条链的每一层上叠加上不同的传参代价。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a1 最直观：传指针，每层代价还是 Θ(1)，一共 log N 层，加起来就是 Θ(log N)。这跟我们平时说的二分搜索复杂度一模一样——因为平时默认的就是指针传递。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a2 是第一个“坑”：每次递归虽然只搜一半，但传参时却把整个长度 N 的数组完整拷了一遍。所以递推式里加的是 Θ(N)，不是 Θ(n)=Θ(N/2)。一共 log N 层，每层都是 Θ(N)，加起来 Θ(N log N)。一个本来 Θ(log N) 的算法，因为传参方式不对，退化到 Θ(N log N)——这就是题目想让我们看到的代价。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a3 是三种里最“省”的传参方式，但因为第一次调用还是要拷 N 个元素，所以总代价不会回到 Θ(log N)。关键是看递归树逐层加的代价：N + N/2 + N/4 + …，这是公比 1/2 的等比数列，和收敛到 2N，所以是 Θ(N)。三个 a 子问题放一起对比：a1=Θ(log N)，a2=Θ(N log N)，a3=Θ(N)。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归并排序的递归树是一棵满二叉树，共 log N 层。它最关键的性质是：每一层上所有节点的合并代价加起来都是 Θ(N)——根节点合并 N 个，第二层两个节点各合并 N/2 个，第三层四个节点各合并 N/4 个……每层总和都是 N。所以原生复杂度是 N × log N = Θ(N log N)。后面看传参代价时，我们要看的是：在每一层上，传参代价加起来是多少。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b1 就是大家最熟的归并排序复杂度。用主方法：a=2, b=2，n^(log_b a)=n，f(n)=Θ(n)，同阶，走 case 2，所以是 Θ(n log n)。传指针的 Θ(1) 相对 Θ(n) 可以忽略。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b2 是归并排序最惨的一种情况。注意递推式非递归项是 Θ(N) 而不是 Θ(n)——每个节点拿到的都是长度 N 的整份拷贝。递归树第 i 层有 2^i 个节点，每个节点都花 Θ(N)，所以第 i 层总代价是 2^i·N。从 i=0 加到 i=log N：N(1+2+4+…+N) = N·(2N−1) = Θ(N²)。本来 Θ(N log N) 的归并排序，因为全量拷贝退化成 Θ(N²)。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b3 跟 b1 结果一样，都是 Θ(N log N)。为什么？因为第 i 层有 2^i 个节点，每个节点只拷自己那个大小 N/2^i 的子数组，乘起来 2^i · N/2^i = N，每层还是 N，log N 层就是 N log N。对比 b2 就清楚了：b2 每个节点拷的是 N（不随层变），所以 2^i·N 会爆炸；b3 每个节点拷的是 N/2^i（随层缩小），乘积不爆炸。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递归矩阵乘法的关键：分块后要做 8 次递归乘法（不是 4 次！因为每个 C_ij 都由两个乘积相加得到），合并时做 4 次矩阵加法，每次加 (n/2)² = n²/4 个元素，4 次就是 n²，所以合并代价 Θ(n²)。用主方法：a=8, b=2，n^(log₂8)=n³，f(n)=n² 被 n³ 主导，case 1，得 Θ(n³)。递归树是一棵 8 叉树。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c1 就是递归矩阵乘法的原生复杂度 Θ(N³)，传指针不影响。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c2 是全题最震撼的结果。8 叉树第 i 层有 8^i 个节点，每个节点都要拷 N² 个元素，所以第 i 层代价是 8^i·N²。等比数列公比是 8，加到最后一层 8^(log₂N) = N^(log₂8) = N³。总和就是 N²·(N³)/7 = Θ(N⁵)。本来 Θ(N³) 的矩阵乘法，因为每次都全量拷贝，暴涨到 Θ(N⁵)。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c3 与 c1 同阶 Θ(N³)。道理和 b3 一样：第 i 层 8^i 个节点，每个节点只拷自己那个 (N/2^i)×(N/2^i) 子矩阵，大小是 (N/2^i)² = N²/4^i，乘上节点数 8^i，等于 2^i·N²，被最后一层主导，仍是 Θ(N³)。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这张表是全题的结论。大家先看策略1和策略3两列——它们跟原生复杂度一模一样，没有任何退化。再看策略2那一列红框：a 从 Θ(log N) 变 Θ(N log N)，b 从 Θ(N log N) 变 Θ(N²)，c 从 Θ(N³) 变 Θ(N⁵)。为什么策略2这么毒？因为它让递归树里每个节点都背着同一个不随层缩小的 N（或 N²），节点数一爆炸，代价就跟着爆炸。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这一页是把本质讲透。左边策略2：每个节点拷的都是整份 N，不随层缩小；节点数 a^i 爆炸，总代价就是 a^i·N 的等比数列。右边策略3：每个节点拷的是 N/b^i，跟节点数 a^i 相乘时，a^i/b^i 这一项决定了最终阶——a/b = 1/2 时收敛（二分搜索），a/b = 1 时是 Θ(N log N)（归并排序），a/b = 2 时被最后一层主导（矩阵乘法）。一句话：整体复制让“包袱”不随递归减半，所以递归树的节点爆炸直接变成代价爆炸。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最后落到工程上：C++ 里传大数组一定要用 const 引用，不然函数按值调用会偷偷拷一份；Java/Python 虽然默认传引用，但跨进程、网络传输、分布式计算时仍会序列化整份数据；MATLAB/NumPy 的切片是视图，靠写时复制省拷贝。这道题的深层意义是：算法分析里的 Θ(n) 递推式，是建立在“传参真的是 O(1)”这个前提上的——这个前提不成立时，复杂度要重新算。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最后落到工程上：C++ 里传大数组一定要用 const 引用，不然函数按值调用会偷偷拷一份；Java/Python 虽然默认传引用，但跨进程、网络传输、分布式计算时仍会序列化整份数据；MATLAB/NumPy 的切片是视图，靠写时复制省拷贝。这道题的深层意义是：算法分析里的 Θ(n) 递推式，是建立在“传参真的是 O(1)”这个前提上的——这个前提不成立时，复杂度要重新算。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总结一句话：传指针或传子范围，理论复杂度不变；传整份拷贝，二分搜索变 N log N、归并排序变 N²、矩阵乘法变 N⁵。谢谢大家。</a:t>
            </a:r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14:cpLocks xmlns:a14="http://schemas.microsoft.com/office/drawing/2010/main"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14:cpLocks xmlns:a14="http://schemas.microsoft.com/office/drawing/2010/main"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14:cpLocks xmlns:a14="http://schemas.microsoft.com/office/drawing/2010/main"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14:cpLocks xmlns:a14="http://schemas.microsoft.com/office/drawing/2010/main"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14:cpLocks xmlns:a14="http://schemas.microsoft.com/office/drawing/2010/main"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14:cpLocks xmlns:a14="http://schemas.microsoft.com/office/drawing/2010/main"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14:cpLocks xmlns:a14="http://schemas.microsoft.com/office/drawing/2010/main"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14:cpLocks xmlns:a14="http://schemas.microsoft.com/office/drawing/2010/main"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14:cpLocks xmlns:a14="http://schemas.microsoft.com/office/drawing/2010/main"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14:cpLocks xmlns:a14="http://schemas.microsoft.com/office/drawing/2010/main"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14:cpLocks xmlns:a14="http://schemas.microsoft.com/office/drawing/2010/main"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14:cpLocks xmlns:a14="http://schemas.microsoft.com/office/drawing/2010/main"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14:cpLocks xmlns:a14="http://schemas.microsoft.com/office/drawing/2010/main"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76200">
            <a:solidFill>
              <a:srgbClr val="A61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10972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2000" b="1">
                <a:solidFill>
                  <a:srgbClr val="EEDDDD"/>
                </a:solidFill>
                <a:latin typeface="微软雅黑" charset="-122"/>
                <a:ea typeface="微软雅黑" charset="-122"/>
              </a:rPr>
              <a:t>H U N A N   U N I V E R S I T Y</a:t>
            </a:r>
            <a:endParaRPr sz="2000" b="1">
              <a:solidFill>
                <a:srgbClr val="EEDDDD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34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算法导论 · 思考题 4-2</a:t>
            </a:r>
            <a:endParaRPr sz="34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26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参数传递代价（Parameter-Passing Cost）</a:t>
            </a:r>
            <a:endParaRPr sz="26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—— 九种递推式的建立与渐近界求解</a:t>
            </a:r>
            <a:endParaRPr sz="18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29654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lang="zh-CN"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国贸数据</a:t>
            </a:r>
            <a:r>
              <a:rPr lang="en-US" altLang="zh-CN"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2501</a:t>
            </a:r>
            <a:r>
              <a:rPr lang="zh-CN" altLang="en-US"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班</a:t>
            </a: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·  算法</a:t>
            </a:r>
            <a:r>
              <a:rPr lang="zh-CN"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设计与分析</a:t>
            </a: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小班讨论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26606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汇报人：</a:t>
            </a:r>
            <a:r>
              <a:rPr lang="zh-CN" sz="14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张笑语，卢悠然</a:t>
            </a:r>
            <a:r>
              <a:rPr sz="14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      日期：2026.10</a:t>
            </a:r>
            <a:endParaRPr sz="14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76200">
            <a:solidFill>
              <a:srgbClr val="A61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548640"/>
            <a:ext cx="7315200" cy="10972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2000" b="1">
                <a:solidFill>
                  <a:srgbClr val="EEDDDD"/>
                </a:solidFill>
                <a:latin typeface="微软雅黑" charset="-122"/>
                <a:ea typeface="微软雅黑" charset="-122"/>
              </a:rPr>
              <a:t>H U N A N   U N I V E R S I T Y</a:t>
            </a:r>
            <a:endParaRPr sz="2000" b="1">
              <a:solidFill>
                <a:srgbClr val="EEDDDD"/>
              </a:solidFill>
              <a:latin typeface="微软雅黑" charset="-122"/>
              <a:ea typeface="微软雅黑" charset="-122"/>
            </a:endParaRPr>
          </a:p>
        </p:txBody>
      </p:sp>
      <p:pic>
        <p:nvPicPr>
          <p:cNvPr id="9" name="图片 8" descr="4-2题目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315" y="1136650"/>
            <a:ext cx="10198735" cy="4584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501890" y="5853430"/>
            <a:ext cx="369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版教材</a:t>
            </a:r>
            <a:r>
              <a:rPr lang="en-US" altLang="zh-CN"/>
              <a:t>p75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汇报目录 / Outline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0" y="22860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r"/>
            <a:r>
              <a:rPr sz="1300" b="0">
                <a:solidFill>
                  <a:srgbClr val="F0D8D8"/>
                </a:solidFill>
                <a:latin typeface="微软雅黑" charset="-122"/>
                <a:ea typeface="微软雅黑" charset="-122"/>
              </a:rPr>
              <a:t>思考题 4-2</a:t>
            </a:r>
            <a:endParaRPr sz="1300" b="0">
              <a:solidFill>
                <a:srgbClr val="F0D8D8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>
            <p:custDataLst>
              <p:tags r:id="rId1"/>
            </p:custDataLst>
          </p:nvPr>
        </p:nvSpPr>
        <p:spPr>
          <a:xfrm>
            <a:off x="1097280" y="1188720"/>
            <a:ext cx="777240" cy="548640"/>
          </a:xfrm>
          <a:prstGeom prst="round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097280" y="1188720"/>
            <a:ext cx="7772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01</a:t>
            </a:r>
            <a:endParaRPr sz="18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103120" y="1188720"/>
            <a:ext cx="9144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问题背景：为什么要重新审视“传参 O(1)”的假设？</a:t>
            </a:r>
            <a:endParaRPr sz="19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Rounded Rectangle 9"/>
          <p:cNvSpPr/>
          <p:nvPr>
            <p:custDataLst>
              <p:tags r:id="rId4"/>
            </p:custDataLst>
          </p:nvPr>
        </p:nvSpPr>
        <p:spPr>
          <a:xfrm>
            <a:off x="1097280" y="1965960"/>
            <a:ext cx="777240" cy="548640"/>
          </a:xfrm>
          <a:prstGeom prst="round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1097280" y="1965960"/>
            <a:ext cx="7772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02</a:t>
            </a:r>
            <a:endParaRPr sz="18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2103120" y="1965960"/>
            <a:ext cx="9144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三种参数传递策略：指针 / 整体复制 / 子范围复制</a:t>
            </a:r>
            <a:endParaRPr sz="19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7"/>
            </p:custDataLst>
          </p:nvPr>
        </p:nvSpPr>
        <p:spPr>
          <a:xfrm>
            <a:off x="1097280" y="2743200"/>
            <a:ext cx="777240" cy="548640"/>
          </a:xfrm>
          <a:prstGeom prst="round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1097280" y="2743200"/>
            <a:ext cx="7772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03</a:t>
            </a:r>
            <a:endParaRPr sz="18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9"/>
            </p:custDataLst>
          </p:nvPr>
        </p:nvSpPr>
        <p:spPr>
          <a:xfrm>
            <a:off x="2103120" y="2743200"/>
            <a:ext cx="9144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三种算法回顾：二分搜索 · 归并排序 · 递归矩阵乘法</a:t>
            </a:r>
            <a:endParaRPr sz="19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Rounded Rectangle 15"/>
          <p:cNvSpPr/>
          <p:nvPr>
            <p:custDataLst>
              <p:tags r:id="rId10"/>
            </p:custDataLst>
          </p:nvPr>
        </p:nvSpPr>
        <p:spPr>
          <a:xfrm>
            <a:off x="1097280" y="3520440"/>
            <a:ext cx="777240" cy="548640"/>
          </a:xfrm>
          <a:prstGeom prst="round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1"/>
            </p:custDataLst>
          </p:nvPr>
        </p:nvSpPr>
        <p:spPr>
          <a:xfrm>
            <a:off x="1097280" y="3520440"/>
            <a:ext cx="7772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04</a:t>
            </a:r>
            <a:endParaRPr sz="18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12"/>
            </p:custDataLst>
          </p:nvPr>
        </p:nvSpPr>
        <p:spPr>
          <a:xfrm>
            <a:off x="2103120" y="3520440"/>
            <a:ext cx="9144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九种组合的递推式推导与求解（a1…c3）</a:t>
            </a:r>
            <a:endParaRPr sz="19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13"/>
            </p:custDataLst>
          </p:nvPr>
        </p:nvSpPr>
        <p:spPr>
          <a:xfrm>
            <a:off x="1097280" y="4297680"/>
            <a:ext cx="777240" cy="548640"/>
          </a:xfrm>
          <a:prstGeom prst="round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4"/>
            </p:custDataLst>
          </p:nvPr>
        </p:nvSpPr>
        <p:spPr>
          <a:xfrm>
            <a:off x="1097280" y="4297680"/>
            <a:ext cx="7772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05</a:t>
            </a:r>
            <a:endParaRPr sz="18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1" name="TextBox 20"/>
          <p:cNvSpPr txBox="1"/>
          <p:nvPr>
            <p:custDataLst>
              <p:tags r:id="rId15"/>
            </p:custDataLst>
          </p:nvPr>
        </p:nvSpPr>
        <p:spPr>
          <a:xfrm>
            <a:off x="2103120" y="4297680"/>
            <a:ext cx="91440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九格汇总表与“为什么整体复制这么贵”</a:t>
            </a:r>
            <a:endParaRPr sz="19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2" name="Rounded Rectangle 21"/>
          <p:cNvSpPr/>
          <p:nvPr>
            <p:custDataLst>
              <p:tags r:id="rId16"/>
            </p:custDataLst>
          </p:nvPr>
        </p:nvSpPr>
        <p:spPr>
          <a:xfrm>
            <a:off x="1097280" y="5074920"/>
            <a:ext cx="777240" cy="548640"/>
          </a:xfrm>
          <a:prstGeom prst="round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7"/>
            </p:custDataLst>
          </p:nvPr>
        </p:nvSpPr>
        <p:spPr>
          <a:xfrm>
            <a:off x="1097280" y="5074920"/>
            <a:ext cx="77724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06</a:t>
            </a:r>
            <a:endParaRPr sz="18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8"/>
            </p:custDataLst>
          </p:nvPr>
        </p:nvSpPr>
        <p:spPr>
          <a:xfrm>
            <a:off x="2103120" y="5177790"/>
            <a:ext cx="9144000" cy="3429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9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工程启示</a:t>
            </a:r>
            <a:r>
              <a:rPr lang="zh-CN" sz="19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与改进优化</a:t>
            </a:r>
            <a:r>
              <a:rPr sz="19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：写代码时到底该怎么传大数组？</a:t>
            </a:r>
            <a:endParaRPr sz="19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01  问题背景：一个贯穿全书的“默认假设”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18288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本书假设：</a:t>
            </a:r>
            <a:r>
              <a:rPr sz="20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过程调用中的参数传递花费 </a:t>
            </a:r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常量时间 Θ(1)</a:t>
            </a:r>
            <a:r>
              <a:rPr sz="20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，即使传递一个包含 N 个元素的数组也是如此。</a:t>
            </a:r>
            <a:endParaRPr sz="20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这个假设为什么成立？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因为在大多数系统里，传给被调过程的只是一个</a:t>
            </a:r>
            <a:r>
              <a:rPr sz="18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指向数组的指针</a:t>
            </a: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（8 字节的地址），而不是把整个数组挨个拷过去。</a:t>
            </a:r>
            <a:endParaRPr sz="18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11064240" cy="2926080"/>
          </a:xfrm>
          <a:prstGeom prst="roundRect">
            <a:avLst/>
          </a:prstGeom>
          <a:solidFill>
            <a:srgbClr val="FBF3F3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607040" cy="27432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本题要做的事：</a:t>
            </a:r>
            <a:endParaRPr sz="20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如果传参时</a:t>
            </a:r>
            <a:r>
              <a:rPr sz="18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真的发生了数据拷贝</a:t>
            </a: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，那么参数传递就不再是 Θ(1)，而是随数据规模线性（甚至平方）增长。</a:t>
            </a:r>
            <a:endParaRPr sz="18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我们要重新建立分治算法的递推式，并问：</a:t>
            </a:r>
            <a:endParaRPr sz="18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    ① 递推式长什么样？    ② 用递归树 / 主方法求出紧确渐近界。</a:t>
            </a:r>
            <a:endParaRPr sz="18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B56A00"/>
                </a:solidFill>
                <a:latin typeface="微软雅黑" charset="-122"/>
                <a:ea typeface="微软雅黑" charset="-122"/>
              </a:rPr>
              <a:t>关键记号（务必先分清这两个字母）：</a:t>
            </a:r>
            <a:endParaRPr sz="1800" b="1">
              <a:solidFill>
                <a:srgbClr val="B56A00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N = 最开始那个数组 / 矩阵的规模（固定不变）</a:t>
            </a:r>
            <a:endParaRPr sz="18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n = 当前这一层递归调用，手头正在处理的子问题规模（每层减半）</a:t>
            </a:r>
            <a:endParaRPr sz="18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02  三种参数传递策略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97280"/>
            <a:ext cx="365760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3657600" cy="7315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97280"/>
            <a:ext cx="365760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策略 1</a:t>
            </a:r>
            <a:endParaRPr sz="14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36576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指针传递</a:t>
            </a:r>
            <a:endParaRPr sz="2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1920240"/>
            <a:ext cx="34747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Array passed by pointer</a:t>
            </a:r>
            <a:endParaRPr sz="12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只传数组 / 矩阵的内存地址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不发生任何数据拷贝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3200400" cy="100584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32004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时间 = Θ(1)</a:t>
            </a:r>
            <a:endParaRPr sz="20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与 N、n 都无关</a:t>
            </a:r>
            <a:endParaRPr sz="13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9120" y="1097280"/>
            <a:ext cx="365760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097280"/>
            <a:ext cx="3657600" cy="73152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1097280"/>
            <a:ext cx="365760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策略 2</a:t>
            </a:r>
            <a:endParaRPr sz="14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389120" y="1417320"/>
            <a:ext cx="36576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整体复制</a:t>
            </a:r>
            <a:endParaRPr sz="2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480560" y="1920240"/>
            <a:ext cx="34747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Array passed by copy</a:t>
            </a:r>
            <a:endParaRPr sz="12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0" y="246888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每次递归调用，都把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0" y="288036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整个原始数组 / 矩阵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0" y="329184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完整拷贝一份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617720" y="3886200"/>
            <a:ext cx="3200400" cy="100584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17720" y="3977640"/>
            <a:ext cx="32004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数组：Θ(N)</a:t>
            </a:r>
            <a:endParaRPr sz="20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617720" y="4434840"/>
            <a:ext cx="3200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N×N 矩阵：Θ(N²)</a:t>
            </a:r>
            <a:endParaRPr sz="13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75320" y="1097280"/>
            <a:ext cx="3657600" cy="49377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E6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75320" y="1097280"/>
            <a:ext cx="3657600" cy="731520"/>
          </a:xfrm>
          <a:prstGeom prst="rect">
            <a:avLst/>
          </a:prstGeom>
          <a:solidFill>
            <a:srgbClr val="2E6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097280"/>
            <a:ext cx="365760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策略 3</a:t>
            </a:r>
            <a:endParaRPr sz="14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75320" y="1417320"/>
            <a:ext cx="36576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子范围复制</a:t>
            </a:r>
            <a:endParaRPr sz="22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66760" y="1920240"/>
            <a:ext cx="34747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Copy only accessed subrange</a:t>
            </a:r>
            <a:endParaRPr sz="12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58200" y="246888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只拷贝被调过程真正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58200" y="288036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会访问到的那一段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58200" y="3291840"/>
            <a:ext cx="329184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子数组 / 子矩阵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503920" y="3886200"/>
            <a:ext cx="3200400" cy="1005840"/>
          </a:xfrm>
          <a:prstGeom prst="roundRect">
            <a:avLst/>
          </a:prstGeom>
          <a:solidFill>
            <a:srgbClr val="F5F5F5"/>
          </a:solidFill>
          <a:ln w="15875">
            <a:solidFill>
              <a:srgbClr val="2E6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3977640"/>
            <a:ext cx="320040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20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数组：Θ(n)</a:t>
            </a:r>
            <a:endParaRPr sz="20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03920" y="4434840"/>
            <a:ext cx="32004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n×n 子矩阵：Θ(n²)</a:t>
            </a:r>
            <a:endParaRPr sz="13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03  三种待分析算法的“原生”递推式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7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在不考虑传参代价（即策略1）时，这三个经典分治算法各自的递推式是：</a:t>
            </a:r>
            <a:endParaRPr sz="17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1463040"/>
          </a:xfrm>
          <a:prstGeom prst="roundRect">
            <a:avLst/>
          </a:prstGeom>
          <a:solidFill>
            <a:srgbClr val="F7F2F2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607040" cy="13716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a.  递归二分搜索 BINARY-SEARCH</a:t>
            </a: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    </a:t>
            </a:r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T(n/2) + Θ(1)</a:t>
            </a:r>
            <a:endParaRPr sz="20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每次只在左半或右半中选一个继续搜，只产生 1 个规模为 n/2 的子问题；非递归代价是常数（比较一次、取中点）。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解：T(N) = Θ(log N)</a:t>
            </a:r>
            <a:endParaRPr sz="15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11064240" cy="1463040"/>
          </a:xfrm>
          <a:prstGeom prst="roundRect">
            <a:avLst/>
          </a:prstGeom>
          <a:solidFill>
            <a:srgbClr val="F7F2F2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108960"/>
            <a:ext cx="10607040" cy="13716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b.  归并排序 MERGE-SORT</a:t>
            </a: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    </a:t>
            </a:r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2T(n/2) + Θ(n)</a:t>
            </a:r>
            <a:endParaRPr sz="20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分成两个 n/2 的子问题递归排；非递归代价是 MERGE 合并，要扫两个有序子数组合并成一个，代价 Θ(n)。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解：T(N) = Θ(N log N)</a:t>
            </a:r>
            <a:endParaRPr sz="15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617720"/>
            <a:ext cx="11064240" cy="1463040"/>
          </a:xfrm>
          <a:prstGeom prst="roundRect">
            <a:avLst/>
          </a:prstGeom>
          <a:solidFill>
            <a:srgbClr val="F7F2F2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709160"/>
            <a:ext cx="10607040" cy="13716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c.  递归矩阵乘法 MATRIX-MULTIPLY-RECURSIVE</a:t>
            </a:r>
            <a:r>
              <a:rPr sz="18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    </a:t>
            </a:r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8T(n/2) + Θ(n²)</a:t>
            </a:r>
            <a:endParaRPr sz="20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把 n×n 矩阵四分成 4 个 (n/2)×(n/2)，要做 8 次子矩阵乘法；非递归代价是 4 次矩阵加法，共 Θ(n²)。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解：T(N) = Θ(N³)  （主方法 case 1：n^(log₂8)=n³ 主导 n²）</a:t>
            </a:r>
            <a:endParaRPr sz="15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04-a  算法回顾：递归二分搜索是怎么工作的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18288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在已排序数组 A[1..N] 中找 x：</a:t>
            </a:r>
            <a:endParaRPr sz="18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① 取中点 mid = ⌊(low+high)/2⌋；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② 比较 A[mid] 与 x：</a:t>
            </a: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相等 → 返回；  A[mid] &gt; x → 只在左半 [low, mid-1] 继续；  A[mid] &lt; x → 只在右半 [mid+1, high] 继续。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③ 最坏情况下，每递归一次，搜索范围</a:t>
            </a:r>
            <a:r>
              <a:rPr sz="17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只缩小一半</a:t>
            </a: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，所以递归树是一条“单链”：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3017520"/>
            <a:ext cx="10332720" cy="3017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递归树（每次只走一个分支，树高 = log₂N）</a:t>
            </a:r>
            <a:endParaRPr sz="15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1417320" y="3840480"/>
            <a:ext cx="1371600" cy="5943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17320" y="3840480"/>
            <a:ext cx="137160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 = N</a:t>
            </a:r>
            <a:endParaRPr sz="14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3429000" y="3840480"/>
            <a:ext cx="1371600" cy="5943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3840480"/>
            <a:ext cx="137160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 = N/2</a:t>
            </a:r>
            <a:endParaRPr sz="14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788920" y="4137660"/>
            <a:ext cx="6400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440680" y="3840480"/>
            <a:ext cx="1371600" cy="5943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3840480"/>
            <a:ext cx="137160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 = N/4</a:t>
            </a:r>
            <a:endParaRPr sz="14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4800600" y="4137660"/>
            <a:ext cx="6400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452360" y="3840480"/>
            <a:ext cx="1371600" cy="5943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840480"/>
            <a:ext cx="137160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…</a:t>
            </a:r>
            <a:endParaRPr sz="14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6812280" y="4137660"/>
            <a:ext cx="6400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9464040" y="3840480"/>
            <a:ext cx="1371600" cy="59436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64040" y="3840480"/>
            <a:ext cx="1371600" cy="5943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 = 1</a:t>
            </a:r>
            <a:endParaRPr sz="14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8823960" y="4137660"/>
            <a:ext cx="640080" cy="0"/>
          </a:xfrm>
          <a:prstGeom prst="bentConnector3">
            <a:avLst/>
          </a:prstGeom>
          <a:ln w="254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4937760"/>
            <a:ext cx="10332720" cy="9144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每层只有 1 个节点 → 递归深度 = ⌈log₂N⌉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ctr"/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原生递推：T(n) = T(n/2) + Θ(1)  ⟹  T(N) = Θ(log N)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Tₐ₁：二分搜索 × 指针传递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28016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T(n/2) + Θ(1)，    边界 T(1) = Θ(1)</a:t>
            </a:r>
            <a:endParaRPr sz="20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解释：指针传递只传一个地址，代价 Θ(1)；与“原生代价 Θ(1)”合并后仍是 Θ(1)。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1064240" cy="32004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求解（递归树逐层加）：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0 层（n=N）：Θ(1)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1 层（n=N/2）：Θ(1)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2 层（n=N/4）：Θ(1)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…… 一共 log₂N 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总和 = Θ(1) + Θ(1) + …（共 log N 项）= Θ(log N)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紧确界：Tₐ₁(N) = Θ(log N)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（这就是大家熟悉的二分搜索复杂度，传指针完全不影响它。）</a:t>
            </a:r>
            <a:endParaRPr sz="15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Tₐ₂：二分搜索 × 整体复制（每次都拷整个原始数组！）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554480"/>
          </a:xfrm>
          <a:prstGeom prst="roundRect">
            <a:avLst/>
          </a:prstGeom>
          <a:solidFill>
            <a:srgbClr val="FBEEEE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22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T(n/2) + Θ(N)</a:t>
            </a:r>
            <a:endParaRPr sz="22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解释：注意这里是 </a:t>
            </a:r>
            <a:r>
              <a:rPr sz="17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Θ(N) 而不是 Θ(n)</a:t>
            </a: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—— 虽然这次只在 n=N/2 的半区里搜，但被调过程拿到的是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一份完整拷贝下来的、长度为 N 的原始数组。每递归一次就要拷一遍 N 个数。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2918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求解（递归树逐层加）：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0 层（n=N）：   1 个节点，代价 = Θ(N)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    第 1 层（n=N/2）：1 个节点，代价 = Θ(N)   ←  注意不是 Θ(N/2)！</a:t>
            </a:r>
            <a:endParaRPr sz="17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2 层（n=N/4）：1 个节点，代价 = Θ(N)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…… 一共 log₂N 层，每层都背着同样的 N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总和 = Θ(N) + Θ(N) + …（共 log N 项）= Θ(N · log N)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紧确界：Tₐ₂(N) = Θ(N log N)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B56A00"/>
                </a:solidFill>
                <a:latin typeface="微软雅黑" charset="-122"/>
                <a:ea typeface="微软雅黑" charset="-122"/>
              </a:rPr>
              <a:t>对比：本来二分搜索是 Θ(log N)，因为每层都白白拷了一遍长度 N 的数组，退化了整整一个 N 倍。</a:t>
            </a:r>
            <a:endParaRPr sz="1500" b="1">
              <a:solidFill>
                <a:srgbClr val="B56A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Tₐ₃：二分搜索 × 子范围复制（只拷真正要搜的那半）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554480"/>
          </a:xfrm>
          <a:prstGeom prst="roundRect">
            <a:avLst/>
          </a:prstGeom>
          <a:solidFill>
            <a:srgbClr val="EEF7EE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22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T(n/2) + Θ(n)</a:t>
            </a:r>
            <a:endParaRPr sz="22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解释：这次聪明了——只把被调过程真正会访问的子范围（大小为 n 的那一段）拷过去，所以代价是 Θ(n)。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2918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求解（递归树逐层加）：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0 层（n=N）：   代价 = Θ(N)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1 层（n=N/2）：代价 = Θ(N/2)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2 层（n=N/4）：代价 = Θ(N/4)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…… 形成公比为 1/2 的等比数列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总和 = Θ(N)·(1 + 1/2 + 1/4 + 1/8 + …) = Θ(N · 2) = Θ(N)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紧确界：Tₐ₃(N) = Θ(N)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B56A00"/>
                </a:solidFill>
                <a:latin typeface="微软雅黑" charset="-122"/>
                <a:ea typeface="微软雅黑" charset="-122"/>
              </a:rPr>
              <a:t>直观理解：第一下就拷了 N，后面每层减半，等比数列收敛到 2N，所以总量是 Θ(N)，不是 Θ(log N) 也不是 Θ(N log N)。</a:t>
            </a:r>
            <a:endParaRPr sz="1500" b="1">
              <a:solidFill>
                <a:srgbClr val="B56A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04-b  算法回顾：归并排序的递归树（满二叉树）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14630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归并排序 = 分两半 → 递归排两半 → MERGE 合并两个有序段。</a:t>
            </a:r>
            <a:endParaRPr sz="18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分：Θ(1)（只算个中点）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治：2 个规模为 n/2 的子问题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合：MERGE 要把两个长度 n/2 的有序段扫一遍拼成一个长度 n 的有序段，代价 Θ(n)。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10698480" cy="3200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907792"/>
            <a:ext cx="106984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4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递归树：满二叉树，共 log₂N 层；关键性质——每一层所有节点的“合并代价”加起来恰好 = Θ(N)</a:t>
            </a:r>
            <a:endParaRPr sz="14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 flipH="1">
            <a:off x="2926080" y="3931920"/>
            <a:ext cx="1554480" cy="502920"/>
          </a:xfrm>
          <a:prstGeom prst="bentConnector3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480560" y="3931920"/>
            <a:ext cx="1554480" cy="502920"/>
          </a:xfrm>
          <a:prstGeom prst="bentConnector3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331720" y="4846320"/>
            <a:ext cx="594360" cy="502920"/>
          </a:xfrm>
          <a:prstGeom prst="bentConnector3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926080" y="4846320"/>
            <a:ext cx="594360" cy="502920"/>
          </a:xfrm>
          <a:prstGeom prst="bentConnector3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40680" y="4846320"/>
            <a:ext cx="594360" cy="502920"/>
          </a:xfrm>
          <a:prstGeom prst="bentConnector3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4846320"/>
            <a:ext cx="594360" cy="502920"/>
          </a:xfrm>
          <a:prstGeom prst="bentConnector3">
            <a:avLst/>
          </a:prstGeom>
          <a:ln w="19050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3520440"/>
            <a:ext cx="1280160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3520440"/>
            <a:ext cx="128016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n=N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286000" y="4434840"/>
            <a:ext cx="1280160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434840"/>
            <a:ext cx="128016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n=N/2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394960" y="4434840"/>
            <a:ext cx="1280160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4434840"/>
            <a:ext cx="128016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n=N/2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1691640" y="5349240"/>
            <a:ext cx="1280160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91640" y="5349240"/>
            <a:ext cx="128016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n=N/4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880360" y="5349240"/>
            <a:ext cx="1280160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5349240"/>
            <a:ext cx="128016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n=N/4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800600" y="5349240"/>
            <a:ext cx="1280160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5349240"/>
            <a:ext cx="128016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n=N/4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989320" y="5349240"/>
            <a:ext cx="1280160" cy="4114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5349240"/>
            <a:ext cx="128016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n=N/4</a:t>
            </a:r>
            <a:endParaRPr sz="11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38160" y="3520440"/>
            <a:ext cx="32004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2E6B2E"/>
                </a:solidFill>
                <a:latin typeface="微软雅黑" charset="-122"/>
                <a:ea typeface="微软雅黑" charset="-122"/>
              </a:rPr>
              <a:t>该层合并代价 = Θ(N)</a:t>
            </a:r>
            <a:endParaRPr sz="1300" b="0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38160" y="4434840"/>
            <a:ext cx="32004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2E6B2E"/>
                </a:solidFill>
                <a:latin typeface="微软雅黑" charset="-122"/>
                <a:ea typeface="微软雅黑" charset="-122"/>
              </a:rPr>
              <a:t>该层 = 2·Θ(N/2) = Θ(N)</a:t>
            </a:r>
            <a:endParaRPr sz="1300" b="0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38160" y="5349240"/>
            <a:ext cx="32004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300" b="0">
                <a:solidFill>
                  <a:srgbClr val="2E6B2E"/>
                </a:solidFill>
                <a:latin typeface="微软雅黑" charset="-122"/>
                <a:ea typeface="微软雅黑" charset="-122"/>
              </a:rPr>
              <a:t>该层 = 4·Θ(N/4) = Θ(N)</a:t>
            </a:r>
            <a:endParaRPr sz="1300" b="0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原生递推：T(n) = 2T(n/2) + Θ(n)   ⟹   每层 Θ(N) × log N 层 = Θ(N log N)</a:t>
            </a:r>
            <a:endParaRPr sz="15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Tᵦ₁：归并排序 × 指针传递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28016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22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2T(n/2) + Θ(n)</a:t>
            </a:r>
            <a:endParaRPr sz="22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解释：指针传递代价 Θ(1)，而该层的非递归代价本来就是 MERGE 的 Θ(n)，Θ(1) 被 Θ(n) “吸收”，不改变阶。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1064240" cy="32004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求解：这就是主方法 case 2。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a = 2, b = 2  ⟹  n^(log_b a) = n^(log₂2) = n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f(n) = Θ(n)，正好与 n^(log_b a) 同阶 → case 2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T(n) = Θ(n^(log_b a) · log n) = Θ(n log n)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紧确界：Tᵦ₁(N) = Θ(N log N)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（经典归并排序的复杂度，传指针完全不影响。）</a:t>
            </a:r>
            <a:endParaRPr sz="15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Tᵦ₂：归并排序 × 整体复制（每递归一次都拷整个原始数组！）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737360"/>
          </a:xfrm>
          <a:prstGeom prst="roundRect">
            <a:avLst/>
          </a:prstGeom>
          <a:solidFill>
            <a:srgbClr val="FBEEEE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55448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2T(n/2) + Θ(N) + Θ(n) = 2T(n/2) + Θ(N)</a:t>
            </a:r>
            <a:endParaRPr sz="20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解释：每次递归调用都要把整个长度 N 的原始数组拷一份（Θ(N)）。因为 n ≤ N，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Θ(N) 在每个节点都 dominates 本来的合并代价 Θ(n)，所以非递归项只剩 Θ(N)。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1064240" cy="32918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求解（按层求和，注意节点数在爆炸）：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0 层：1 个节点 × Θ(N) = Θ(N)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1 层：2 个节点 × Θ(N) = Θ(2N)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2 层：4 个节点 × Θ(N) = Θ(4N)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    第 i 层：2^i 个节点 × Θ(N) = Θ(2^i · N)</a:t>
            </a:r>
            <a:endParaRPr sz="17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求和 = N·(1 + 2 + 4 + … + N) = N·(2N − 1) = Θ(N²)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紧确界：Tᵦ₂(N) = Θ(N²)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B56A00"/>
                </a:solidFill>
                <a:latin typeface="微软雅黑" charset="-122"/>
                <a:ea typeface="微软雅黑" charset="-122"/>
              </a:rPr>
              <a:t>退化原因：递归树的节点数按 2^i 爆炸，但每个节点都背着同样大小的 N，两者相乘就是 N²。</a:t>
            </a:r>
            <a:endParaRPr sz="1500" b="1">
              <a:solidFill>
                <a:srgbClr val="B56A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Tᵦ₃：归并排序 × 子范围复制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554480"/>
          </a:xfrm>
          <a:prstGeom prst="roundRect">
            <a:avLst/>
          </a:prstGeom>
          <a:solidFill>
            <a:srgbClr val="EEF7EE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2T(n/2) + Θ(n) + Θ(n) = 2T(n/2) + Θ(n)</a:t>
            </a:r>
            <a:endParaRPr sz="20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解释：子范围拷贝代价是 Θ(n)，而合并代价本来就是 Θ(n)，两者同阶相加仍是 Θ(n)。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2918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求解：与 b1 完全相同，走主方法 case 2。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i 层总拷贝代价 = 2^i · Θ(N/2^i) = Θ(N)（与合并代价同阶）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每层 Θ(N)，共 log N 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总和 = Θ(N log N)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紧确界：Tᵦ₃(N) = Θ(N log N)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B56A00"/>
                </a:solidFill>
                <a:latin typeface="微软雅黑" charset="-122"/>
                <a:ea typeface="微软雅黑" charset="-122"/>
              </a:rPr>
              <a:t>关键直觉：节点数虽然按 2^i 爆炸，但每个节点只拷自己那一小块 Θ(n)=Θ(N/2^i)，乘起来每层还是 Θ(N)，不爆炸。</a:t>
            </a:r>
            <a:endParaRPr sz="1500" b="1">
              <a:solidFill>
                <a:srgbClr val="B56A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04-c  算法回顾：递归矩阵乘法（8 子问题）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1064240" cy="201168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把 n×n 矩阵 A、B 各四分成 4 个 (n/2)×(n/2) 子块：</a:t>
            </a:r>
            <a:endParaRPr sz="18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C₁₁ = A₁₁B₁₁ + A₁₂B₂₁      C₁₂ = A₁₁B₁₂ + A₁₂B₂₂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C₂₁ = A₂₁B₁₁ + A₂₂B₂₁      C₂₂ = A₂₁B₁₂ + A₂₂B₂₂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治：共 </a:t>
            </a:r>
            <a:r>
              <a:rPr sz="17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8 次</a:t>
            </a: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(n/2)×(n/2) 子矩阵乘法 → 8T(n/2)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合：共 </a:t>
            </a:r>
            <a:r>
              <a:rPr sz="17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4 次</a:t>
            </a: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矩阵加法，每次加 (n/2)×(n/2) 个元素 → Θ(n²)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3291840"/>
            <a:ext cx="11064240" cy="2651760"/>
          </a:xfrm>
          <a:prstGeom prst="roundRect">
            <a:avLst/>
          </a:prstGeom>
          <a:solidFill>
            <a:srgbClr val="F7F2F2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10607040" cy="246888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原生递推：</a:t>
            </a:r>
            <a:r>
              <a:rPr sz="22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8T(n/2) + Θ(n²)</a:t>
            </a:r>
            <a:endParaRPr sz="22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主方法：a=8, b=2 ⟹ n^(log_b a) = n^(log₂8) = n³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f(n) = Θ(n²) = O(n^(3−ε))（取 ε=1）→ case 1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T(n) = Θ(n^(log_b a)) = Θ(n³)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紧确界：T(N) = Θ(N³)（与朴素三重循环同阶）</a:t>
            </a:r>
            <a:endParaRPr sz="18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注：Strassen 把 8 次乘法减到 7 次，得到 Θ(N^(log₂7))≈Θ(N^(2.81))，本题不涉及。</a:t>
            </a:r>
            <a:endParaRPr sz="14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T𝒸₁：递归矩阵乘法 × 指针传递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463040"/>
          </a:xfrm>
          <a:prstGeom prst="roundRect">
            <a:avLst/>
          </a:prstGeom>
          <a:solidFill>
            <a:srgbClr val="EEF3FA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28016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22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8T(n/2) + Θ(n²)</a:t>
            </a:r>
            <a:endParaRPr sz="22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解释：指针传递 Θ(1) 与合并代价 Θ(n²) 相比可忽略，不改变阶。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1064240" cy="32004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求解：主方法 case 1。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n^(log_b a) = n^(log₂8) = n³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f(n) = Θ(n²) = O(n^(3−1))，被 n³ 主导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T(n) = Θ(n³)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紧确界：T𝒸₁(N) = Θ(N³)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（即矩阵乘法本身的复杂度，传指针无影响。）</a:t>
            </a:r>
            <a:endParaRPr sz="15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T𝒸₂：递归矩阵乘法 × 整体复制（最惨的情况）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737360"/>
          </a:xfrm>
          <a:prstGeom prst="roundRect">
            <a:avLst/>
          </a:prstGeom>
          <a:solidFill>
            <a:srgbClr val="FBEEEE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55448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18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8T(n/2) + Θ(N²) + Θ(n²) = 8T(n/2) + Θ(N²)</a:t>
            </a:r>
            <a:endParaRPr sz="18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解释：每次递归都要把 N×N 的原始矩阵完整拷一份，代价 Θ(N²)；n ≤ N 时 dominates 合并代价 Θ(n²)。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11064240" cy="32918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求解（按层求和，8 叉树节点爆炸 + 每层背着 N²）：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0 层：1 个节点 × Θ(N²) = Θ(N²)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1 层：8 个节点 × Θ(N²) = Θ(8N²)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2 层：8² = 64 个节点 × Θ(N²) = Θ(64N²)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    第 i 层：8^i 个节点 × Θ(N²) = Θ(8^i · N²)</a:t>
            </a:r>
            <a:endParaRPr sz="17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求和 = N²·(1 + 8 + 8² + … + 8^(log₂N))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         = N² · (N³ − 1)/7     （因为 8^(log₂N) = N^(log₂8) = N³）</a:t>
            </a:r>
            <a:endParaRPr sz="17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     = Θ(N⁵)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紧确界：T𝒸₂(N) = Θ(N⁵)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B56A00"/>
                </a:solidFill>
                <a:latin typeface="微软雅黑" charset="-122"/>
                <a:ea typeface="微软雅黑" charset="-122"/>
              </a:rPr>
              <a:t>从 Θ(N³) 暴涨到 Θ(N⁵)——整整高了两个数量级！这是 9 个结果里最坏的一个。</a:t>
            </a:r>
            <a:endParaRPr sz="1500" b="1">
              <a:solidFill>
                <a:srgbClr val="B56A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T𝒸₃：递归矩阵乘法 × 子范围复制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1554480"/>
          </a:xfrm>
          <a:prstGeom prst="roundRect">
            <a:avLst/>
          </a:prstGeom>
          <a:solidFill>
            <a:srgbClr val="EEF7EE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97280"/>
            <a:ext cx="10607040" cy="137160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递推式：</a:t>
            </a:r>
            <a:r>
              <a:rPr sz="20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T(n) = 8T(n/2) + Θ(n²) + Θ(n²) = 8T(n/2) + Θ(n²)</a:t>
            </a:r>
            <a:endParaRPr sz="20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解释：子矩阵拷贝代价是 Θ(n²)，与合并代价 Θ(n²) 同阶，加起来仍是 Θ(n²)。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11064240" cy="32918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求解：与 c1 完全相同，主方法 case 1。</a:t>
            </a:r>
            <a:endParaRPr sz="19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第 i 层总代价 = 8^i · Θ((N/2^i)²) = 8^i · Θ(N²/4^i) = Θ(2^i · N²)（被最后一层主导）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    等价于主方法直接判定：n³ 主导 n²</a:t>
            </a:r>
            <a:endParaRPr sz="17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8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    T(n) = Θ(n³)</a:t>
            </a:r>
            <a:endParaRPr sz="18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22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紧确界：T𝒸₃(N) = Θ(N³)</a:t>
            </a:r>
            <a:endParaRPr sz="22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B56A00"/>
                </a:solidFill>
                <a:latin typeface="微软雅黑" charset="-122"/>
                <a:ea typeface="微软雅黑" charset="-122"/>
              </a:rPr>
              <a:t>关键直觉：8^i 个节点虽然爆炸，但每个节点只拷 n²=(N/2^i)² 个元素，两者相乘不爆炸，阶不变。</a:t>
            </a:r>
            <a:endParaRPr sz="1500" b="1">
              <a:solidFill>
                <a:srgbClr val="B56A00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05  九种组合渐近界汇总表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88720"/>
          <a:ext cx="10981944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624328"/>
                <a:gridCol w="2624328"/>
                <a:gridCol w="2624328"/>
              </a:tblGrid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算法 ＼ 策略</a:t>
                      </a:r>
                      <a:endParaRPr sz="16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策略1：指针传递</a:t>
                      </a:r>
                      <a:endParaRPr sz="16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策略2：整体复制</a:t>
                      </a:r>
                      <a:endParaRPr sz="16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A61B2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策略3：子范围复制</a:t>
                      </a:r>
                      <a:endParaRPr sz="16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A61B2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a. 递归二分搜索
T(n)=T(n/2)+f(n)</a:t>
                      </a:r>
                      <a:endParaRPr sz="14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7A1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微软雅黑" charset="-122"/>
                          <a:ea typeface="微软雅黑" charset="-122"/>
                        </a:rPr>
                        <a:t>Θ(log N)</a:t>
                      </a:r>
                      <a:endParaRPr sz="1800" b="1">
                        <a:solidFill>
                          <a:srgbClr val="22222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A61B29"/>
                          </a:solidFill>
                          <a:latin typeface="微软雅黑" charset="-122"/>
                          <a:ea typeface="微软雅黑" charset="-122"/>
                        </a:rPr>
                        <a:t>Θ(N log N)</a:t>
                      </a:r>
                      <a:endParaRPr sz="1800" b="1">
                        <a:solidFill>
                          <a:srgbClr val="A61B29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B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微软雅黑" charset="-122"/>
                          <a:ea typeface="微软雅黑" charset="-122"/>
                        </a:rPr>
                        <a:t>Θ(N)</a:t>
                      </a:r>
                      <a:endParaRPr sz="1800" b="1">
                        <a:solidFill>
                          <a:srgbClr val="22222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b. 归并排序
T(n)=2T(n/2)+f(n)</a:t>
                      </a:r>
                      <a:endParaRPr sz="14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7A1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微软雅黑" charset="-122"/>
                          <a:ea typeface="微软雅黑" charset="-122"/>
                        </a:rPr>
                        <a:t>Θ(N log N)</a:t>
                      </a:r>
                      <a:endParaRPr sz="1800" b="1">
                        <a:solidFill>
                          <a:srgbClr val="22222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A61B29"/>
                          </a:solidFill>
                          <a:latin typeface="微软雅黑" charset="-122"/>
                          <a:ea typeface="微软雅黑" charset="-122"/>
                        </a:rPr>
                        <a:t>Θ(N²)</a:t>
                      </a:r>
                      <a:endParaRPr sz="1800" b="1">
                        <a:solidFill>
                          <a:srgbClr val="A61B29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B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微软雅黑" charset="-122"/>
                          <a:ea typeface="微软雅黑" charset="-122"/>
                        </a:rPr>
                        <a:t>Θ(N log N)</a:t>
                      </a:r>
                      <a:endParaRPr sz="1800" b="1">
                        <a:solidFill>
                          <a:srgbClr val="22222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</a:rPr>
                        <a:t>c. 递归矩阵乘法
T(n)=8T(n/2)+f(n)</a:t>
                      </a:r>
                      <a:endParaRPr sz="14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7A121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微软雅黑" charset="-122"/>
                          <a:ea typeface="微软雅黑" charset="-122"/>
                        </a:rPr>
                        <a:t>Θ(N³)</a:t>
                      </a:r>
                      <a:endParaRPr sz="1800" b="1">
                        <a:solidFill>
                          <a:srgbClr val="22222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A61B29"/>
                          </a:solidFill>
                          <a:latin typeface="微软雅黑" charset="-122"/>
                          <a:ea typeface="微软雅黑" charset="-122"/>
                        </a:rPr>
                        <a:t>Θ(N⁵)</a:t>
                      </a:r>
                      <a:endParaRPr sz="1800" b="1">
                        <a:solidFill>
                          <a:srgbClr val="A61B29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BEE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222222"/>
                          </a:solidFill>
                          <a:latin typeface="微软雅黑" charset="-122"/>
                          <a:ea typeface="微软雅黑" charset="-122"/>
                        </a:rPr>
                        <a:t>Θ(N³)</a:t>
                      </a:r>
                      <a:endParaRPr sz="1800" b="1">
                        <a:solidFill>
                          <a:srgbClr val="222222"/>
                        </a:solidFill>
                        <a:latin typeface="微软雅黑" charset="-122"/>
                        <a:ea typeface="微软雅黑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54880"/>
            <a:ext cx="10972800" cy="1554480"/>
          </a:xfrm>
          <a:prstGeom prst="roundRect">
            <a:avLst/>
          </a:prstGeom>
          <a:solidFill>
            <a:srgbClr val="FBF3F3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46320"/>
            <a:ext cx="10607040" cy="146304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一眼看出的规律：</a:t>
            </a:r>
            <a:endParaRPr sz="18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策略1（指针）和策略3（子范围）在所有算法上都与原生复杂度一致——传参代价没有破坏渐近行为。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· 策略2（整体复制）让所有算法都严重退化：二分搜索 ×N、归并排序 ×N、矩阵乘法 ×N²。</a:t>
            </a:r>
            <a:endParaRPr sz="16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05  为什么“整体复制”这么贵？—— 一个直观对比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097280"/>
            <a:ext cx="5486400" cy="5029200"/>
          </a:xfrm>
          <a:prstGeom prst="roundRect">
            <a:avLst/>
          </a:prstGeom>
          <a:solidFill>
            <a:srgbClr val="FBEEEE"/>
          </a:solidFill>
          <a:ln w="15875">
            <a:solidFill>
              <a:srgbClr val="A61B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5120640" cy="48463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策略2：整体复制</a:t>
            </a:r>
            <a:endParaRPr sz="20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每个递归节点都拷贝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整份原始数据 N（或 N²）</a:t>
            </a:r>
            <a:endParaRPr sz="16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第 i 层代价 = 节点数 × N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            = a^i × N</a:t>
            </a:r>
            <a:endParaRPr sz="16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二分搜索（a=1）：1^i·N = N，共 log N 层 → N log N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归并排序（a=2）：2^i·N，等比公比 2 → N²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矩阵乘法（a=8）：8^i·N²，等比公比 8 → N⁵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节点数爆炸 × 包袱不缩小 = 灾难</a:t>
            </a:r>
            <a:endParaRPr sz="16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486400" cy="5029200"/>
          </a:xfrm>
          <a:prstGeom prst="roundRect">
            <a:avLst/>
          </a:prstGeom>
          <a:solidFill>
            <a:srgbClr val="EEF7EE"/>
          </a:solidFill>
          <a:ln w="15875">
            <a:solidFill>
              <a:srgbClr val="2E6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846320"/>
          </a:xfrm>
          <a:prstGeom prst="rect">
            <a:avLst/>
          </a:prstGeom>
          <a:noFill/>
        </p:spPr>
        <p:txBody>
          <a:bodyPr wrap="square" lIns="76200" rIns="762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策略3：子范围复制</a:t>
            </a:r>
            <a:endParaRPr sz="20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每个节点只拷贝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自己那一小块 n = N/b^i</a:t>
            </a:r>
            <a:endParaRPr sz="16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6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第 i 层代价 = 节点数 × n</a:t>
            </a:r>
            <a:endParaRPr sz="16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1F4E79"/>
                </a:solidFill>
                <a:latin typeface="微软雅黑" charset="-122"/>
                <a:ea typeface="微软雅黑" charset="-122"/>
              </a:rPr>
              <a:t>            = a^i × (N/b^i)</a:t>
            </a:r>
            <a:endParaRPr sz="1600" b="1">
              <a:solidFill>
                <a:srgbClr val="1F4E79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二分搜索：(1/2)^i·N 收敛 → N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归并排序：(2/2)^i·N = N，每层 N → N log N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· 矩阵乘法：(8/4)^i·N² = 2^i·N² → N³</a:t>
            </a:r>
            <a:endParaRPr sz="1500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25000"/>
              </a:lnSpc>
            </a:pP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E6B2E"/>
                </a:solidFill>
                <a:latin typeface="微软雅黑" charset="-122"/>
                <a:ea typeface="微软雅黑" charset="-122"/>
              </a:rPr>
              <a:t>节点数爆炸 × 包袱同比例缩小 = 阶不变</a:t>
            </a:r>
            <a:endParaRPr sz="1600" b="1">
              <a:solidFill>
                <a:srgbClr val="2E6B2E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0515600" cy="5486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06  工程启示：写代码时到底该怎么传大数组？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2" name="组合 21"/>
          <p:cNvGrpSpPr/>
          <p:nvPr/>
        </p:nvGrpSpPr>
        <p:grpSpPr>
          <a:xfrm>
            <a:off x="548640" y="1097280"/>
            <a:ext cx="2011680" cy="1257300"/>
            <a:chOff x="864" y="1728"/>
            <a:chExt cx="3168" cy="1584"/>
          </a:xfrm>
        </p:grpSpPr>
        <p:sp>
          <p:nvSpPr>
            <p:cNvPr id="6" name="Rounded Rectangle 5"/>
            <p:cNvSpPr/>
            <p:nvPr/>
          </p:nvSpPr>
          <p:spPr>
            <a:xfrm>
              <a:off x="864" y="1728"/>
              <a:ext cx="3168" cy="1584"/>
            </a:xfrm>
            <a:prstGeom prst="roundRect">
              <a:avLst/>
            </a:prstGeom>
            <a:solidFill>
              <a:srgbClr val="1F4E79"/>
            </a:solidFill>
            <a:ln w="15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4" y="2314"/>
              <a:ext cx="3168" cy="413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 C++</a:t>
              </a:r>
              <a:endParaRPr sz="1800" b="1">
                <a:solidFill>
                  <a:srgbClr val="FFFFFF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2743200" y="1097280"/>
            <a:ext cx="8869680" cy="1247775"/>
            <a:chOff x="4320" y="1728"/>
            <a:chExt cx="13968" cy="1584"/>
          </a:xfrm>
        </p:grpSpPr>
        <p:sp>
          <p:nvSpPr>
            <p:cNvPr id="8" name="Rounded Rectangle 7"/>
            <p:cNvSpPr/>
            <p:nvPr/>
          </p:nvSpPr>
          <p:spPr>
            <a:xfrm>
              <a:off x="4320" y="1728"/>
              <a:ext cx="13968" cy="1584"/>
            </a:xfrm>
            <a:prstGeom prst="roundRect">
              <a:avLst/>
            </a:prstGeom>
            <a:solidFill>
              <a:srgbClr val="F7F2F2"/>
            </a:solidFill>
            <a:ln w="15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08" y="2377"/>
              <a:ext cx="13536" cy="357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l"/>
              <a:r>
                <a:rPr sz="1500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传数组时用指针或 const 引用（const T&amp;），从语法上</a:t>
              </a:r>
              <a:r>
                <a:rPr lang="zh-CN" sz="1500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尽量避免</a:t>
              </a:r>
              <a:r>
                <a:rPr sz="1500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按值拷贝大数组/大矩阵。</a:t>
              </a:r>
              <a:endParaRPr sz="1500" b="0">
                <a:solidFill>
                  <a:srgbClr val="222222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548640" y="2778125"/>
            <a:ext cx="2011680" cy="1301750"/>
            <a:chOff x="864" y="3672"/>
            <a:chExt cx="3168" cy="1584"/>
          </a:xfrm>
        </p:grpSpPr>
        <p:sp>
          <p:nvSpPr>
            <p:cNvPr id="10" name="Rounded Rectangle 9"/>
            <p:cNvSpPr/>
            <p:nvPr/>
          </p:nvSpPr>
          <p:spPr>
            <a:xfrm>
              <a:off x="864" y="3672"/>
              <a:ext cx="3168" cy="1584"/>
            </a:xfrm>
            <a:prstGeom prst="roundRect">
              <a:avLst/>
            </a:prstGeom>
            <a:solidFill>
              <a:srgbClr val="A61B29"/>
            </a:solidFill>
            <a:ln w="15875">
              <a:solidFill>
                <a:srgbClr val="A61B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4" y="4265"/>
              <a:ext cx="3168" cy="399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 Python</a:t>
              </a:r>
              <a:endParaRPr sz="1800" b="1">
                <a:solidFill>
                  <a:srgbClr val="FFFFFF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2743200" y="2778125"/>
            <a:ext cx="8869680" cy="1301750"/>
            <a:chOff x="4320" y="3672"/>
            <a:chExt cx="13968" cy="1584"/>
          </a:xfrm>
        </p:grpSpPr>
        <p:sp>
          <p:nvSpPr>
            <p:cNvPr id="12" name="Rounded Rectangle 11"/>
            <p:cNvSpPr/>
            <p:nvPr/>
          </p:nvSpPr>
          <p:spPr>
            <a:xfrm>
              <a:off x="4320" y="3672"/>
              <a:ext cx="13968" cy="1584"/>
            </a:xfrm>
            <a:prstGeom prst="roundRect">
              <a:avLst/>
            </a:prstGeom>
            <a:solidFill>
              <a:srgbClr val="F7F2F2"/>
            </a:solidFill>
            <a:ln w="15875">
              <a:solidFill>
                <a:srgbClr val="A61B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08" y="4293"/>
              <a:ext cx="13536" cy="342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l"/>
              <a:r>
                <a:rPr sz="1500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对象本身就是按引用传递，不会自动拷贝数组；但要警惕</a:t>
              </a:r>
              <a:r>
                <a:rPr lang="zh-CN" sz="1500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某些复杂任务</a:t>
              </a:r>
              <a:r>
                <a:rPr sz="1500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仍可能发生整体拷贝。</a:t>
              </a:r>
              <a:endParaRPr sz="1500" b="0">
                <a:solidFill>
                  <a:srgbClr val="222222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548640" y="4504690"/>
            <a:ext cx="2011680" cy="1301750"/>
            <a:chOff x="864" y="7560"/>
            <a:chExt cx="3168" cy="1584"/>
          </a:xfrm>
        </p:grpSpPr>
        <p:sp>
          <p:nvSpPr>
            <p:cNvPr id="18" name="Rounded Rectangle 17"/>
            <p:cNvSpPr/>
            <p:nvPr/>
          </p:nvSpPr>
          <p:spPr>
            <a:xfrm>
              <a:off x="864" y="7560"/>
              <a:ext cx="3168" cy="1584"/>
            </a:xfrm>
            <a:prstGeom prst="roundRect">
              <a:avLst/>
            </a:prstGeom>
            <a:solidFill>
              <a:srgbClr val="7A121D"/>
            </a:solidFill>
            <a:ln w="15875">
              <a:solidFill>
                <a:srgbClr val="7A12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864" y="8153"/>
              <a:ext cx="3168" cy="399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算法设计</a:t>
              </a:r>
              <a:endParaRPr sz="1800" b="1">
                <a:solidFill>
                  <a:srgbClr val="FFFFFF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2743200" y="4504690"/>
            <a:ext cx="8869680" cy="1301750"/>
            <a:chOff x="4320" y="7560"/>
            <a:chExt cx="13968" cy="1584"/>
          </a:xfrm>
        </p:grpSpPr>
        <p:sp>
          <p:nvSpPr>
            <p:cNvPr id="20" name="Rounded Rectangle 19"/>
            <p:cNvSpPr/>
            <p:nvPr/>
          </p:nvSpPr>
          <p:spPr>
            <a:xfrm>
              <a:off x="4320" y="7560"/>
              <a:ext cx="13968" cy="1584"/>
            </a:xfrm>
            <a:prstGeom prst="roundRect">
              <a:avLst/>
            </a:prstGeom>
            <a:solidFill>
              <a:srgbClr val="F7F2F2"/>
            </a:solidFill>
            <a:ln w="15875">
              <a:solidFill>
                <a:srgbClr val="7A12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608" y="8076"/>
              <a:ext cx="13536" cy="624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l"/>
              <a:r>
                <a:rPr sz="1500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本题的核心不是“选哪种语言”，而是提醒我们：分治算法的渐近复杂度，只有在“传参代价被 Θ(n) 及更低项吸收”的前提下才成立；一旦底层发生了整份拷贝，理论复杂度就要重算。</a:t>
              </a:r>
              <a:endParaRPr sz="1500" b="0">
                <a:solidFill>
                  <a:srgbClr val="222222"/>
                </a:solidFill>
                <a:latin typeface="微软雅黑" charset="-122"/>
                <a:ea typeface="微软雅黑" charset="-122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"/>
            <a:ext cx="109728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58623"/>
            <a:ext cx="10515600" cy="45085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06  </a:t>
            </a:r>
            <a:r>
              <a:rPr lang="zh-CN"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改进与优化</a:t>
            </a:r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：</a:t>
            </a:r>
            <a:r>
              <a:rPr lang="zh-CN"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如果不得不拷贝</a:t>
            </a:r>
            <a:r>
              <a:rPr sz="2600" b="1">
                <a:solidFill>
                  <a:srgbClr val="FFFFFF"/>
                </a:solidFill>
                <a:latin typeface="微软雅黑" charset="-122"/>
                <a:ea typeface="微软雅黑" charset="-122"/>
              </a:rPr>
              <a:t>？</a:t>
            </a:r>
            <a:endParaRPr sz="2600" b="1">
              <a:solidFill>
                <a:srgbClr val="FFFFFF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A61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3" name="组合 22"/>
          <p:cNvGrpSpPr/>
          <p:nvPr/>
        </p:nvGrpSpPr>
        <p:grpSpPr>
          <a:xfrm>
            <a:off x="548640" y="1259840"/>
            <a:ext cx="2011680" cy="1743710"/>
            <a:chOff x="864" y="1728"/>
            <a:chExt cx="3168" cy="1584"/>
          </a:xfrm>
        </p:grpSpPr>
        <p:sp>
          <p:nvSpPr>
            <p:cNvPr id="6" name="Rounded Rectangle 5"/>
            <p:cNvSpPr/>
            <p:nvPr/>
          </p:nvSpPr>
          <p:spPr>
            <a:xfrm>
              <a:off x="864" y="1728"/>
              <a:ext cx="3168" cy="1584"/>
            </a:xfrm>
            <a:prstGeom prst="roundRect">
              <a:avLst/>
            </a:prstGeom>
            <a:solidFill>
              <a:srgbClr val="1F4E79"/>
            </a:solidFill>
            <a:ln w="15875">
              <a:solidFill>
                <a:srgbClr val="1F4E7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4" y="2119"/>
              <a:ext cx="3168" cy="801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lang="zh-CN"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方案一：</a:t>
              </a:r>
              <a:r>
                <a:rPr lang="zh-CN" altLang="en-US"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子范围拷贝替代整体拷贝（题目策略</a:t>
              </a:r>
              <a:r>
                <a:rPr lang="en-US" altLang="zh-CN"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3</a:t>
              </a:r>
              <a:r>
                <a:rPr lang="zh-CN" altLang="en-US"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）</a:t>
              </a:r>
              <a:endParaRPr lang="zh-CN" altLang="en-US" sz="1800" b="1">
                <a:solidFill>
                  <a:srgbClr val="FFFFFF"/>
                </a:solidFill>
                <a:latin typeface="微软雅黑" charset="-122"/>
                <a:ea typeface="微软雅黑" charset="-122"/>
              </a:endParaRP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2743200" y="1097280"/>
            <a:ext cx="8869680" cy="1972945"/>
          </a:xfrm>
          <a:prstGeom prst="roundRect">
            <a:avLst/>
          </a:prstGeom>
          <a:solidFill>
            <a:srgbClr val="F7F2F2"/>
          </a:solidFill>
          <a:ln w="1587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227138"/>
            <a:ext cx="8595360" cy="1544955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>
              <a:lnSpc>
                <a:spcPct val="180000"/>
              </a:lnSpc>
            </a:pPr>
            <a:r>
              <a:rPr lang="zh-CN" altLang="en-US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- 万不得已必须拷贝时，只拷贝当前子问题需要的片段，不要拷贝完整原始数组。</a:t>
            </a:r>
            <a:endParaRPr lang="zh-CN" altLang="en-US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80000"/>
              </a:lnSpc>
            </a:pPr>
            <a:r>
              <a:rPr lang="zh-CN" altLang="en-US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- 代价：开销</a:t>
            </a:r>
            <a:r>
              <a:rPr lang="en-US" altLang="zh-CN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Θ(n)（</a:t>
            </a:r>
            <a:r>
              <a:rPr lang="zh-CN" altLang="en-US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子问题大小），而不是</a:t>
            </a:r>
            <a:r>
              <a:rPr lang="en-US" altLang="zh-CN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Θ(N)（</a:t>
            </a:r>
            <a:r>
              <a:rPr lang="zh-CN" altLang="en-US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原始全部）。</a:t>
            </a:r>
            <a:endParaRPr lang="zh-CN" altLang="en-US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  <a:p>
            <a:pPr algn="l">
              <a:lnSpc>
                <a:spcPct val="180000"/>
              </a:lnSpc>
            </a:pPr>
            <a:r>
              <a:rPr lang="zh-CN" altLang="en-US" b="0">
                <a:solidFill>
                  <a:srgbClr val="222222"/>
                </a:solidFill>
                <a:latin typeface="微软雅黑" charset="-122"/>
                <a:ea typeface="微软雅黑" charset="-122"/>
              </a:rPr>
              <a:t>- 效果：不会改变原算法渐近时间复杂度。</a:t>
            </a:r>
            <a:endParaRPr lang="zh-CN" altLang="en-US" b="0">
              <a:solidFill>
                <a:srgbClr val="222222"/>
              </a:solidFill>
              <a:latin typeface="微软雅黑" charset="-122"/>
              <a:ea typeface="微软雅黑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48640" y="3815715"/>
            <a:ext cx="2011680" cy="1953260"/>
            <a:chOff x="864" y="3672"/>
            <a:chExt cx="3168" cy="1584"/>
          </a:xfrm>
        </p:grpSpPr>
        <p:sp>
          <p:nvSpPr>
            <p:cNvPr id="10" name="Rounded Rectangle 9"/>
            <p:cNvSpPr/>
            <p:nvPr/>
          </p:nvSpPr>
          <p:spPr>
            <a:xfrm>
              <a:off x="864" y="3672"/>
              <a:ext cx="3168" cy="1584"/>
            </a:xfrm>
            <a:prstGeom prst="roundRect">
              <a:avLst/>
            </a:prstGeom>
            <a:solidFill>
              <a:srgbClr val="A61B29"/>
            </a:solidFill>
            <a:ln w="15875">
              <a:solidFill>
                <a:srgbClr val="A61B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64" y="4107"/>
              <a:ext cx="3168" cy="715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ctr"/>
              <a:r>
                <a:rPr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 </a:t>
              </a:r>
              <a:r>
                <a:rPr lang="zh-CN"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方案二：</a:t>
              </a:r>
              <a:r>
                <a:rPr lang="zh-CN" altLang="en-US" sz="1800" b="1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预分配全局缓冲区，递归复用内存</a:t>
              </a:r>
              <a:endParaRPr lang="zh-CN" altLang="en-US" sz="1800" b="1">
                <a:solidFill>
                  <a:srgbClr val="FFFFFF"/>
                </a:solidFill>
                <a:latin typeface="微软雅黑" charset="-122"/>
                <a:ea typeface="微软雅黑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2743200" y="3739515"/>
            <a:ext cx="8869680" cy="2029460"/>
            <a:chOff x="4320" y="7180"/>
            <a:chExt cx="13968" cy="1584"/>
          </a:xfrm>
        </p:grpSpPr>
        <p:sp>
          <p:nvSpPr>
            <p:cNvPr id="12" name="Rounded Rectangle 11"/>
            <p:cNvSpPr/>
            <p:nvPr/>
          </p:nvSpPr>
          <p:spPr>
            <a:xfrm>
              <a:off x="4320" y="7180"/>
              <a:ext cx="13968" cy="1584"/>
            </a:xfrm>
            <a:prstGeom prst="roundRect">
              <a:avLst/>
            </a:prstGeom>
            <a:solidFill>
              <a:srgbClr val="F7F2F2"/>
            </a:solidFill>
            <a:ln w="15875">
              <a:solidFill>
                <a:srgbClr val="A61B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08" y="7344"/>
              <a:ext cx="13536" cy="1162"/>
            </a:xfrm>
            <a:prstGeom prst="rect">
              <a:avLst/>
            </a:prstGeom>
            <a:noFill/>
          </p:spPr>
          <p:txBody>
            <a:bodyPr wrap="square" lIns="50800" tIns="25400" rIns="50800" bIns="25400" anchor="ctr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lang="zh-CN" altLang="en-US" sz="1500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- </a:t>
              </a:r>
              <a:r>
                <a:rPr lang="zh-CN" altLang="en-US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一次性开辟一块大内存缓冲区，所有递归子问题复用这块内存，递归过程不再反复分配、拷贝。</a:t>
              </a:r>
              <a:endParaRPr lang="zh-CN" altLang="en-US" b="0">
                <a:solidFill>
                  <a:srgbClr val="222222"/>
                </a:solidFill>
                <a:latin typeface="微软雅黑" charset="-122"/>
                <a:ea typeface="微软雅黑" charset="-122"/>
              </a:endParaRPr>
            </a:p>
            <a:p>
              <a:pPr algn="l">
                <a:lnSpc>
                  <a:spcPct val="130000"/>
                </a:lnSpc>
              </a:pPr>
              <a:r>
                <a:rPr lang="zh-CN" altLang="en-US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- 减少频繁内存分配与拷贝次数，降低常数开销。</a:t>
              </a:r>
              <a:endParaRPr lang="zh-CN" altLang="en-US" b="0">
                <a:solidFill>
                  <a:srgbClr val="222222"/>
                </a:solidFill>
                <a:latin typeface="微软雅黑" charset="-122"/>
                <a:ea typeface="微软雅黑" charset="-122"/>
              </a:endParaRPr>
            </a:p>
            <a:p>
              <a:pPr algn="l">
                <a:lnSpc>
                  <a:spcPct val="130000"/>
                </a:lnSpc>
              </a:pPr>
              <a:r>
                <a:rPr lang="zh-CN" altLang="en-US" b="0">
                  <a:solidFill>
                    <a:srgbClr val="222222"/>
                  </a:solidFill>
                  <a:latin typeface="微软雅黑" charset="-122"/>
                  <a:ea typeface="微软雅黑" charset="-122"/>
                </a:rPr>
                <a:t>- 注意：这只降低常数因子，不改变渐近复杂度阶数。</a:t>
              </a:r>
              <a:endParaRPr lang="zh-CN" altLang="en-US" b="0">
                <a:solidFill>
                  <a:srgbClr val="222222"/>
                </a:solidFill>
                <a:latin typeface="微软雅黑" charset="-122"/>
                <a:ea typeface="微软雅黑" charset="-122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76200">
            <a:solidFill>
              <a:srgbClr val="A61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666115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4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谢谢</a:t>
            </a:r>
            <a:r>
              <a:rPr lang="zh-CN" sz="4000" b="1">
                <a:solidFill>
                  <a:srgbClr val="A61B29"/>
                </a:solidFill>
                <a:latin typeface="微软雅黑" charset="-122"/>
                <a:ea typeface="微软雅黑" charset="-122"/>
              </a:rPr>
              <a:t>大家！</a:t>
            </a:r>
            <a:endParaRPr lang="zh-CN" sz="4000" b="1">
              <a:solidFill>
                <a:srgbClr val="A61B29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  <a:latin typeface="微软雅黑" charset="-122"/>
                <a:ea typeface="微软雅黑" charset="-122"/>
              </a:rPr>
              <a:t>算法导论 思考题 4-2  参数传递代价</a:t>
            </a:r>
            <a:endParaRPr sz="1800" b="0">
              <a:solidFill>
                <a:srgbClr val="555555"/>
              </a:solidFill>
              <a:latin typeface="微软雅黑" charset="-122"/>
              <a:ea typeface="微软雅黑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00" b="1">
                <a:solidFill>
                  <a:srgbClr val="7A121D"/>
                </a:solidFill>
                <a:latin typeface="微软雅黑" charset="-122"/>
                <a:ea typeface="微软雅黑" charset="-122"/>
              </a:rPr>
              <a:t>核心结论：指针传递与子范围复制不改变分治算法的渐近界；整体复制会让递归树的节点爆炸直接变成代价爆炸。</a:t>
            </a:r>
            <a:endParaRPr sz="1500" b="1">
              <a:solidFill>
                <a:srgbClr val="7A121D"/>
              </a:solidFill>
              <a:latin typeface="微软雅黑" charset="-122"/>
              <a:ea typeface="微软雅黑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502920"/>
            <a:ext cx="57607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E6CDD0"/>
                </a:solidFill>
                <a:latin typeface="微软雅黑" charset="-122"/>
              </a:rPr>
              <a:t>H U N A N   U N I V E R S I T Y</a:t>
            </a:r>
            <a:endParaRPr sz="1400" b="1" i="0">
              <a:solidFill>
                <a:srgbClr val="E6CDD0"/>
              </a:solidFill>
              <a:latin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996696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3100" b="1" i="0">
                <a:solidFill>
                  <a:srgbClr val="AE1B2F"/>
                </a:solidFill>
                <a:latin typeface="微软雅黑" charset="-122"/>
              </a:rPr>
              <a:t>算法导论 · 思考题 12-1</a:t>
            </a:r>
            <a:endParaRPr sz="31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2267712"/>
            <a:ext cx="1033272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500" b="1" i="0">
                <a:solidFill>
                  <a:srgbClr val="891324"/>
                </a:solidFill>
                <a:latin typeface="微软雅黑" charset="-122"/>
              </a:rPr>
              <a:t>带有相等关键字的二叉搜索树</a:t>
            </a:r>
            <a:endParaRPr sz="2500" b="1" i="0">
              <a:solidFill>
                <a:srgbClr val="891324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103327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 i="0">
                <a:solidFill>
                  <a:srgbClr val="646469"/>
                </a:solidFill>
                <a:latin typeface="微软雅黑" charset="-122"/>
              </a:rPr>
              <a:t>重复关键字如何影响树形结构与渐近性能？</a:t>
            </a:r>
            <a:endParaRPr sz="1800" b="0" i="0">
              <a:solidFill>
                <a:srgbClr val="646469"/>
              </a:solidFill>
              <a:latin typeface="微软雅黑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3977639"/>
            <a:ext cx="6720840" cy="749808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4133087"/>
            <a:ext cx="64465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AE1B2F"/>
                </a:solidFill>
                <a:latin typeface="微软雅黑" charset="-122"/>
              </a:rPr>
              <a:t>四种策略 · 树形分析 · 复杂度推导 · 方案比较</a:t>
            </a:r>
            <a:endParaRPr sz="17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28800" y="5166360"/>
            <a:ext cx="8503920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国贸数据 2501 班  ·  算法设计与分析小班讨论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42770" y="5628958"/>
            <a:ext cx="8503920" cy="309245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0" i="0">
                <a:solidFill>
                  <a:srgbClr val="646469"/>
                </a:solidFill>
                <a:latin typeface="微软雅黑" charset="-122"/>
              </a:rPr>
              <a:t>汇报人：</a:t>
            </a:r>
            <a:r>
              <a:rPr lang="zh-CN" sz="1300" b="0" i="0">
                <a:solidFill>
                  <a:srgbClr val="646469"/>
                </a:solidFill>
                <a:latin typeface="微软雅黑" charset="-122"/>
              </a:rPr>
              <a:t>王紫睿</a:t>
            </a:r>
            <a:r>
              <a:rPr sz="1300" b="0" i="0">
                <a:solidFill>
                  <a:srgbClr val="646469"/>
                </a:solidFill>
                <a:latin typeface="微软雅黑" charset="-122"/>
              </a:rPr>
              <a:t>        日期：2026.10</a:t>
            </a:r>
            <a:r>
              <a:rPr lang="en-US" sz="1300" b="0" i="0">
                <a:solidFill>
                  <a:srgbClr val="646469"/>
                </a:solidFill>
                <a:latin typeface="微软雅黑" charset="-122"/>
              </a:rPr>
              <a:t>.26</a:t>
            </a:r>
            <a:endParaRPr lang="en-US" sz="1300" b="0" i="0">
              <a:solidFill>
                <a:srgbClr val="646469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汇报目录 / Outline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960120"/>
            <a:ext cx="749808" cy="475488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charset="-122"/>
              </a:rPr>
              <a:t>01</a:t>
            </a:r>
            <a:endParaRPr sz="15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65960" y="996696"/>
            <a:ext cx="89611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D2D30"/>
                </a:solidFill>
                <a:latin typeface="微软雅黑" charset="-122"/>
              </a:rPr>
              <a:t>问题背景：相等关键字为什么会带来麻烦？</a:t>
            </a:r>
            <a:endParaRPr sz="18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60120" y="1764792"/>
            <a:ext cx="749808" cy="475488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charset="-122"/>
              </a:rPr>
              <a:t>02</a:t>
            </a:r>
            <a:endParaRPr sz="15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1801368"/>
            <a:ext cx="89611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D2D30"/>
                </a:solidFill>
                <a:latin typeface="微软雅黑" charset="-122"/>
              </a:rPr>
              <a:t>基准方案：直接使用 TREE-INSERT</a:t>
            </a:r>
            <a:endParaRPr sz="18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60120" y="2569464"/>
            <a:ext cx="749808" cy="475488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charset="-122"/>
              </a:rPr>
              <a:t>03</a:t>
            </a:r>
            <a:endParaRPr sz="15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965960" y="2606040"/>
            <a:ext cx="89611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D2D30"/>
                </a:solidFill>
                <a:latin typeface="微软雅黑" charset="-122"/>
              </a:rPr>
              <a:t>策略 b：布尔标志交替选择左右子树</a:t>
            </a:r>
            <a:endParaRPr sz="18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60120" y="3374136"/>
            <a:ext cx="749808" cy="475488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charset="-122"/>
              </a:rPr>
              <a:t>04</a:t>
            </a:r>
            <a:endParaRPr sz="15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965960" y="3410712"/>
            <a:ext cx="89611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D2D30"/>
                </a:solidFill>
                <a:latin typeface="微软雅黑" charset="-122"/>
              </a:rPr>
              <a:t>策略 c：把相等关键字组织成链表</a:t>
            </a:r>
            <a:endParaRPr sz="18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60120" y="4178808"/>
            <a:ext cx="749808" cy="475488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charset="-122"/>
              </a:rPr>
              <a:t>05</a:t>
            </a:r>
            <a:endParaRPr sz="15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65960" y="4215384"/>
            <a:ext cx="89611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D2D30"/>
                </a:solidFill>
                <a:latin typeface="微软雅黑" charset="-122"/>
              </a:rPr>
              <a:t>策略 d：随机选择左子树或右子树</a:t>
            </a:r>
            <a:endParaRPr sz="18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60120" y="4983480"/>
            <a:ext cx="749808" cy="475488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charset="-122"/>
              </a:rPr>
              <a:t>06</a:t>
            </a:r>
            <a:endParaRPr sz="15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965960" y="5020056"/>
            <a:ext cx="896112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D2D30"/>
                </a:solidFill>
                <a:latin typeface="微软雅黑" charset="-122"/>
              </a:rPr>
              <a:t>复杂度总表、策略比较与结论</a:t>
            </a:r>
            <a:endParaRPr sz="1800" b="0" i="0">
              <a:solidFill>
                <a:srgbClr val="2D2D30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01  问题背景：相等关键字会破坏树的平衡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22960"/>
            <a:ext cx="1097280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 i="0">
                <a:solidFill>
                  <a:srgbClr val="2D2D30"/>
                </a:solidFill>
                <a:latin typeface="微软雅黑" charset="-122"/>
              </a:rPr>
              <a:t>二叉搜索树的基本性质：左子树关键字 ≤ / &lt; 当前节点，右子树关键字 ≥ / &gt; 当前节点（取决于实现约定）。</a:t>
            </a:r>
            <a:endParaRPr sz="17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03520" cy="182880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4846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36649E"/>
                </a:solidFill>
                <a:latin typeface="微软雅黑" charset="-122"/>
              </a:rPr>
              <a:t>当所有关键字都相等时</a:t>
            </a:r>
            <a:endParaRPr sz="18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084831"/>
            <a:ext cx="4800600" cy="1051560"/>
          </a:xfrm>
          <a:prstGeom prst="rect">
            <a:avLst/>
          </a:prstGeom>
          <a:noFill/>
        </p:spPr>
        <p:txBody>
          <a:bodyPr wrap="square" lIns="109728" rIns="7315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36649E"/>
                </a:solidFill>
                <a:latin typeface="微软雅黑" charset="-122"/>
              </a:rPr>
              <a:t>● </a:t>
            </a:r>
            <a:r>
              <a:rPr sz="1500" b="0" i="0">
                <a:solidFill>
                  <a:srgbClr val="2D2D30"/>
                </a:solidFill>
                <a:latin typeface="微软雅黑" charset="-122"/>
              </a:rPr>
              <a:t>比较结果无法区分不同数据项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36649E"/>
                </a:solidFill>
                <a:latin typeface="微软雅黑" charset="-122"/>
              </a:rPr>
              <a:t>● </a:t>
            </a:r>
            <a:r>
              <a:rPr sz="1500" b="0" i="0">
                <a:solidFill>
                  <a:srgbClr val="2D2D30"/>
                </a:solidFill>
                <a:latin typeface="微软雅黑" charset="-122"/>
              </a:rPr>
              <a:t>TREE-INSERT 必须规定相等时往哪边走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  <a:p>
            <a:pPr>
              <a:spcAft>
                <a:spcPts val="900"/>
              </a:spcAft>
            </a:pPr>
            <a:r>
              <a:rPr sz="1200" b="1" i="0">
                <a:solidFill>
                  <a:srgbClr val="36649E"/>
                </a:solidFill>
                <a:latin typeface="微软雅黑" charset="-122"/>
              </a:rPr>
              <a:t>● </a:t>
            </a:r>
            <a:r>
              <a:rPr sz="1500" b="0" i="0">
                <a:solidFill>
                  <a:srgbClr val="2D2D30"/>
                </a:solidFill>
                <a:latin typeface="微软雅黑" charset="-122"/>
              </a:rPr>
              <a:t>如果规则总是固定走同一边，树可能退化为链表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48463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AE1B2F"/>
                </a:solidFill>
                <a:latin typeface="微软雅黑" charset="-122"/>
              </a:rPr>
              <a:t>退化后的形态（示意）</a:t>
            </a:r>
            <a:endParaRPr sz="17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503920" y="1764792"/>
            <a:ext cx="640080" cy="347472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823960" y="2112264"/>
            <a:ext cx="0" cy="155448"/>
          </a:xfrm>
          <a:prstGeom prst="line">
            <a:avLst/>
          </a:prstGeom>
          <a:ln w="2286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503920" y="2267712"/>
            <a:ext cx="640080" cy="347472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823960" y="2615184"/>
            <a:ext cx="0" cy="155448"/>
          </a:xfrm>
          <a:prstGeom prst="line">
            <a:avLst/>
          </a:prstGeom>
          <a:ln w="2286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503920" y="2770632"/>
            <a:ext cx="640080" cy="347472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823960" y="3118104"/>
            <a:ext cx="0" cy="155448"/>
          </a:xfrm>
          <a:prstGeom prst="line">
            <a:avLst/>
          </a:prstGeom>
          <a:ln w="2286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503920" y="3273552"/>
            <a:ext cx="640080" cy="347472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372600" y="2331720"/>
            <a:ext cx="164592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891324"/>
                </a:solidFill>
                <a:latin typeface="微软雅黑" charset="-122"/>
              </a:rPr>
              <a:t>高度可能达到 n−1</a:t>
            </a:r>
            <a:endParaRPr sz="1500" b="1" i="0">
              <a:solidFill>
                <a:srgbClr val="891324"/>
              </a:solidFill>
              <a:latin typeface="微软雅黑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3886200"/>
            <a:ext cx="10835640" cy="14173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14800"/>
            <a:ext cx="1033272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E1B2F"/>
                </a:solidFill>
                <a:latin typeface="微软雅黑" charset="-122"/>
              </a:rPr>
              <a:t>本题的核心问题</a:t>
            </a:r>
            <a:endParaRPr sz="17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4526280"/>
            <a:ext cx="10287000" cy="5943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D2D30"/>
                </a:solidFill>
                <a:latin typeface="微软雅黑" charset="-122"/>
              </a:rPr>
              <a:t>插入 n 个关键字相同的数据项时，怎样处理“相等”分支，才能避免树高线性增长？四种策略分别会带来什么渐近性能？</a:t>
            </a:r>
            <a:endParaRPr sz="1800" b="0" i="0">
              <a:solidFill>
                <a:srgbClr val="2D2D30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02  基准方案：直接使用 TREE-INSERT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512064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AE1B2F"/>
                </a:solidFill>
                <a:latin typeface="微软雅黑" charset="-122"/>
              </a:rPr>
              <a:t>标准插入逻辑（相等时走右边）</a:t>
            </a:r>
            <a:endParaRPr sz="18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298448"/>
            <a:ext cx="5074920" cy="22860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408176"/>
            <a:ext cx="4745736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AE1B2F"/>
                </a:solidFill>
                <a:latin typeface="微软雅黑" charset="-122"/>
              </a:rPr>
              <a:t>伪代码关键判断</a:t>
            </a:r>
            <a:endParaRPr sz="16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671" y="1783080"/>
            <a:ext cx="4764024" cy="17190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while x ≠ NIL: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    y = x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    if z.key &lt; x.key: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        x = x.left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    else: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        x = x.right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# 相等时进入 else，持续向右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868680"/>
            <a:ext cx="502920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AE1B2F"/>
                </a:solidFill>
                <a:latin typeface="微软雅黑" charset="-122"/>
              </a:rPr>
              <a:t>连续插入相同关键字 k</a:t>
            </a:r>
            <a:endParaRPr sz="18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083296" y="1298448"/>
            <a:ext cx="658368" cy="365760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0" y="1664208"/>
            <a:ext cx="0" cy="164592"/>
          </a:xfrm>
          <a:prstGeom prst="line">
            <a:avLst/>
          </a:prstGeom>
          <a:ln w="2286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083296" y="1956815"/>
            <a:ext cx="658368" cy="365760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412480" y="2322576"/>
            <a:ext cx="0" cy="164592"/>
          </a:xfrm>
          <a:prstGeom prst="line">
            <a:avLst/>
          </a:prstGeom>
          <a:ln w="2286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083296" y="2615184"/>
            <a:ext cx="658368" cy="365760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412480" y="2980944"/>
            <a:ext cx="0" cy="164592"/>
          </a:xfrm>
          <a:prstGeom prst="line">
            <a:avLst/>
          </a:prstGeom>
          <a:ln w="2286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083296" y="3273552"/>
            <a:ext cx="658368" cy="365760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8412480" y="3639312"/>
            <a:ext cx="0" cy="164592"/>
          </a:xfrm>
          <a:prstGeom prst="line">
            <a:avLst/>
          </a:prstGeom>
          <a:ln w="2286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083296" y="3931920"/>
            <a:ext cx="658368" cy="365760"/>
          </a:xfrm>
          <a:prstGeom prst="ellipse">
            <a:avLst/>
          </a:prstGeom>
          <a:solidFill>
            <a:srgbClr val="F9EBEE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0" y="2286000"/>
            <a:ext cx="1920240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2D30"/>
                </a:solidFill>
                <a:latin typeface="微软雅黑" charset="-122"/>
              </a:rPr>
              <a:t>每次新插入都要走到当前链尾</a:t>
            </a:r>
            <a:endParaRPr sz="14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15620" y="4389755"/>
            <a:ext cx="10835640" cy="1325880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855" y="4457700"/>
            <a:ext cx="1024128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E1B2F"/>
                </a:solidFill>
                <a:latin typeface="微软雅黑" charset="-122"/>
              </a:rPr>
              <a:t>复杂度推导</a:t>
            </a:r>
            <a:endParaRPr sz="17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1855" y="4878705"/>
            <a:ext cx="10241280" cy="53035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 i="0">
                <a:solidFill>
                  <a:srgbClr val="2D2D30"/>
                </a:solidFill>
                <a:latin typeface="微软雅黑" charset="-122"/>
              </a:rPr>
              <a:t>第 i 个节点插入时，最坏需要比较 Θ(i) 次；总时间为 1 + 2 + … + (n−1) = Θ(n²)。</a:t>
            </a:r>
            <a:endParaRPr sz="18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15400" y="5623560"/>
            <a:ext cx="2057400" cy="438912"/>
          </a:xfrm>
          <a:prstGeom prst="roundRect">
            <a:avLst/>
          </a:prstGeom>
          <a:solidFill>
            <a:srgbClr val="891324"/>
          </a:solidFill>
          <a:ln>
            <a:solidFill>
              <a:srgbClr val="891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charset="-122"/>
              </a:rPr>
              <a:t>基准：Θ(n²)</a:t>
            </a:r>
            <a:endParaRPr sz="1500" b="1" i="0">
              <a:solidFill>
                <a:srgbClr val="FFFFFF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03  四种处理方式：先看规则，再看树形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2286000" cy="3246120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52728"/>
            <a:ext cx="2066543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AE1B2F"/>
                </a:solidFill>
                <a:latin typeface="微软雅黑" charset="-122"/>
              </a:rPr>
              <a:t>基准：固定走右边</a:t>
            </a:r>
            <a:endParaRPr sz="16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4671" y="2011680"/>
            <a:ext cx="1956816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相等时一律进入右子树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96112" y="3383279"/>
            <a:ext cx="1783080" cy="438912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charset="-122"/>
              </a:rPr>
              <a:t>退化链</a:t>
            </a:r>
            <a:endParaRPr sz="1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20440" y="1051560"/>
            <a:ext cx="2286000" cy="324612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252728"/>
            <a:ext cx="2066543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36649E"/>
                </a:solidFill>
                <a:latin typeface="微软雅黑" charset="-122"/>
              </a:rPr>
              <a:t>策略 b：布尔标志</a:t>
            </a:r>
            <a:endParaRPr sz="16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85032" y="2011680"/>
            <a:ext cx="1956816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访问节点时交替选择左 / 右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776472" y="3383279"/>
            <a:ext cx="1783080" cy="438912"/>
          </a:xfrm>
          <a:prstGeom prst="roundRect">
            <a:avLst/>
          </a:prstGeom>
          <a:solidFill>
            <a:srgbClr val="36649E"/>
          </a:solidFill>
          <a:ln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charset="-122"/>
              </a:rPr>
              <a:t>近似均衡</a:t>
            </a:r>
            <a:endParaRPr sz="1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1051560"/>
            <a:ext cx="2286000" cy="3246120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252728"/>
            <a:ext cx="2066543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307E5B"/>
                </a:solidFill>
                <a:latin typeface="微软雅黑" charset="-122"/>
              </a:rPr>
              <a:t>策略 c：相等键链表</a:t>
            </a:r>
            <a:endParaRPr sz="16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65392" y="2011680"/>
            <a:ext cx="1956816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相同关键字不再新增树节点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56832" y="3383279"/>
            <a:ext cx="1783080" cy="438912"/>
          </a:xfrm>
          <a:prstGeom prst="roundRect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charset="-122"/>
              </a:rPr>
              <a:t>单树节点 + 链表</a:t>
            </a:r>
            <a:endParaRPr sz="1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281160" y="1051560"/>
            <a:ext cx="2286000" cy="3246120"/>
          </a:xfrm>
          <a:prstGeom prst="roundRect">
            <a:avLst/>
          </a:prstGeom>
          <a:solidFill>
            <a:srgbClr val="FAF4E2"/>
          </a:solidFill>
          <a:ln w="12700">
            <a:solidFill>
              <a:srgbClr val="FA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252728"/>
            <a:ext cx="2066543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BC821E"/>
                </a:solidFill>
                <a:latin typeface="微软雅黑" charset="-122"/>
              </a:rPr>
              <a:t>策略 d：随机方向</a:t>
            </a:r>
            <a:endParaRPr sz="1600" b="1" i="0">
              <a:solidFill>
                <a:srgbClr val="BC821E"/>
              </a:solidFill>
              <a:latin typeface="微软雅黑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445752" y="2011680"/>
            <a:ext cx="1956816" cy="9144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相等时随机选左或右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537192" y="3383279"/>
            <a:ext cx="1783080" cy="438912"/>
          </a:xfrm>
          <a:prstGeom prst="roundRect">
            <a:avLst/>
          </a:prstGeom>
          <a:solidFill>
            <a:srgbClr val="BC821E"/>
          </a:solidFill>
          <a:ln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charset="-122"/>
              </a:rPr>
              <a:t>形态不确定</a:t>
            </a:r>
            <a:endParaRPr sz="1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 i="0">
                <a:solidFill>
                  <a:srgbClr val="646469"/>
                </a:solidFill>
                <a:latin typeface="微软雅黑" charset="-122"/>
              </a:rPr>
              <a:t>分析口径：题目要求比较插入 n 个相等关键字的数据项后的渐近性能；策略 d 特别要求给出最坏情况，不必正式推导期望时间。</a:t>
            </a:r>
            <a:endParaRPr sz="1600" b="0" i="0">
              <a:solidFill>
                <a:srgbClr val="646469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04  策略 b：用布尔标志交替选择左右子树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53035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36649E"/>
                </a:solidFill>
                <a:latin typeface="微软雅黑" charset="-122"/>
              </a:rPr>
              <a:t>规则</a:t>
            </a:r>
            <a:endParaRPr sz="18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029200" cy="1508760"/>
          </a:xfrm>
          <a:prstGeom prst="rect">
            <a:avLst/>
          </a:prstGeom>
          <a:noFill/>
        </p:spPr>
        <p:txBody>
          <a:bodyPr wrap="square" lIns="109728" rIns="7315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36649E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在每个节点 x 保存标志 x.b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6649E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遇到与 x.key 相等的 z.key 时，按 x.b 决定走左或走右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6649E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每次访问 x 后翻转 x.b，使下次访问选择另一侧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127248"/>
            <a:ext cx="4983480" cy="109728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10128"/>
            <a:ext cx="4572000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36649E"/>
                </a:solidFill>
                <a:latin typeface="微软雅黑" charset="-122"/>
              </a:rPr>
              <a:t>每个节点接收到的相等键插入次数，会被近似均分到左右子树。</a:t>
            </a:r>
            <a:endParaRPr sz="17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896112"/>
            <a:ext cx="4937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36649E"/>
                </a:solidFill>
                <a:latin typeface="微软雅黑" charset="-122"/>
              </a:rPr>
              <a:t>近似均衡的树形（示意）</a:t>
            </a:r>
            <a:endParaRPr sz="17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421624" y="1417320"/>
            <a:ext cx="621792" cy="365760"/>
          </a:xfrm>
          <a:prstGeom prst="ellipse">
            <a:avLst/>
          </a:prstGeom>
          <a:solidFill>
            <a:srgbClr val="E8F0FA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2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2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324344" y="2286000"/>
            <a:ext cx="621792" cy="365760"/>
          </a:xfrm>
          <a:prstGeom prst="ellipse">
            <a:avLst/>
          </a:prstGeom>
          <a:solidFill>
            <a:srgbClr val="E8F0FA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2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2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9518904" y="2286000"/>
            <a:ext cx="621792" cy="365760"/>
          </a:xfrm>
          <a:prstGeom prst="ellipse">
            <a:avLst/>
          </a:prstGeom>
          <a:solidFill>
            <a:srgbClr val="E8F0FA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2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2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775704" y="3154679"/>
            <a:ext cx="621792" cy="365760"/>
          </a:xfrm>
          <a:prstGeom prst="ellipse">
            <a:avLst/>
          </a:prstGeom>
          <a:solidFill>
            <a:srgbClr val="E8F0FA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2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2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872983" y="3154679"/>
            <a:ext cx="621792" cy="365760"/>
          </a:xfrm>
          <a:prstGeom prst="ellipse">
            <a:avLst/>
          </a:prstGeom>
          <a:solidFill>
            <a:srgbClr val="E8F0FA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2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2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970264" y="3154679"/>
            <a:ext cx="621792" cy="365760"/>
          </a:xfrm>
          <a:prstGeom prst="ellipse">
            <a:avLst/>
          </a:prstGeom>
          <a:solidFill>
            <a:srgbClr val="E8F0FA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2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2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0067544" y="3154679"/>
            <a:ext cx="621792" cy="365760"/>
          </a:xfrm>
          <a:prstGeom prst="ellipse">
            <a:avLst/>
          </a:prstGeom>
          <a:solidFill>
            <a:srgbClr val="E8F0FA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2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2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 flipH="1">
            <a:off x="7635240" y="1764792"/>
            <a:ext cx="1097280" cy="539496"/>
          </a:xfrm>
          <a:prstGeom prst="line">
            <a:avLst/>
          </a:prstGeom>
          <a:ln w="1778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732520" y="1764792"/>
            <a:ext cx="1097280" cy="539496"/>
          </a:xfrm>
          <a:prstGeom prst="line">
            <a:avLst/>
          </a:prstGeom>
          <a:ln w="1778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086600" y="2633472"/>
            <a:ext cx="548640" cy="539496"/>
          </a:xfrm>
          <a:prstGeom prst="line">
            <a:avLst/>
          </a:prstGeom>
          <a:ln w="1778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35240" y="2633472"/>
            <a:ext cx="548639" cy="539496"/>
          </a:xfrm>
          <a:prstGeom prst="line">
            <a:avLst/>
          </a:prstGeom>
          <a:ln w="1778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9281160" y="2633472"/>
            <a:ext cx="548640" cy="539496"/>
          </a:xfrm>
          <a:prstGeom prst="line">
            <a:avLst/>
          </a:prstGeom>
          <a:ln w="1778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829800" y="2633472"/>
            <a:ext cx="548640" cy="539496"/>
          </a:xfrm>
          <a:prstGeom prst="line">
            <a:avLst/>
          </a:prstGeom>
          <a:ln w="1778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63640" y="4069080"/>
            <a:ext cx="5212080" cy="10515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4224528"/>
            <a:ext cx="4800600" cy="6858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2D2D30"/>
                </a:solidFill>
                <a:latin typeface="微软雅黑" charset="-122"/>
              </a:rPr>
              <a:t>高度为 Θ(log n)，单次插入 Θ(log n)，n 次插入总计 Θ(n log n)。</a:t>
            </a:r>
            <a:endParaRPr sz="17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5619115"/>
            <a:ext cx="10149840" cy="457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 i="0">
                <a:solidFill>
                  <a:srgbClr val="646469"/>
                </a:solidFill>
                <a:latin typeface="微软雅黑" charset="-122"/>
              </a:rPr>
              <a:t>关键理由：每个节点交替分流，左右子树规模相差至多常数级；递归地看，树高为对数级。</a:t>
            </a:r>
            <a:endParaRPr sz="1600" b="0" i="0">
              <a:solidFill>
                <a:srgbClr val="646469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05  策略 c：把相同关键字的数据项放进链表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50292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307E5B"/>
                </a:solidFill>
                <a:latin typeface="微软雅黑" charset="-122"/>
              </a:rPr>
              <a:t>数据结构改造</a:t>
            </a:r>
            <a:endParaRPr sz="18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846320" cy="1737360"/>
          </a:xfrm>
          <a:prstGeom prst="rect">
            <a:avLst/>
          </a:prstGeom>
          <a:noFill/>
        </p:spPr>
        <p:txBody>
          <a:bodyPr wrap="square" lIns="109728" rIns="7315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307E5B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每个树节点代表一个不同的关键字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07E5B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节点 x 额外维护一个“相同关键字节点链表”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307E5B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若 z.key = x.key，则把 z 插入该链表，而不是继续向下建树节点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4800600" cy="1005840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4434840" cy="5943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307E5B"/>
                </a:solidFill>
                <a:latin typeface="微软雅黑" charset="-122"/>
              </a:rPr>
              <a:t>若采用链表头插入（或维护尾指针），插入链表本身为 Θ(1)。</a:t>
            </a:r>
            <a:endParaRPr sz="16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0" y="868680"/>
            <a:ext cx="53949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307E5B"/>
                </a:solidFill>
                <a:latin typeface="微软雅黑" charset="-122"/>
              </a:rPr>
              <a:t>相等关键字的存储形态</a:t>
            </a:r>
            <a:endParaRPr sz="17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254496" y="1746504"/>
            <a:ext cx="749808" cy="438912"/>
          </a:xfrm>
          <a:prstGeom prst="ellipse">
            <a:avLst/>
          </a:prstGeom>
          <a:solidFill>
            <a:srgbClr val="E7F4ED"/>
          </a:solidFill>
          <a:ln w="1778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5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5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53328" y="2423160"/>
            <a:ext cx="1188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 i="0">
                <a:solidFill>
                  <a:srgbClr val="646469"/>
                </a:solidFill>
                <a:latin typeface="微软雅黑" charset="-122"/>
              </a:rPr>
              <a:t>树节点 x</a:t>
            </a:r>
            <a:endParaRPr sz="1200" b="0" i="0">
              <a:solidFill>
                <a:srgbClr val="646469"/>
              </a:solidFill>
              <a:latin typeface="微软雅黑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818120" y="1764792"/>
            <a:ext cx="658368" cy="402336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20" y="1792224"/>
            <a:ext cx="6583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307E5B"/>
                </a:solidFill>
                <a:latin typeface="微软雅黑" charset="-122"/>
              </a:rPr>
              <a:t>k</a:t>
            </a:r>
            <a:endParaRPr sz="1400" b="1" i="0">
              <a:solidFill>
                <a:srgbClr val="307E5B"/>
              </a:solidFill>
              <a:latin typeface="微软雅黑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7022592" y="1965960"/>
            <a:ext cx="795528" cy="0"/>
          </a:xfrm>
          <a:prstGeom prst="line">
            <a:avLst/>
          </a:prstGeom>
          <a:ln w="21590">
            <a:solidFill>
              <a:srgbClr val="30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86800" y="1764792"/>
            <a:ext cx="658368" cy="402336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792224"/>
            <a:ext cx="6583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307E5B"/>
                </a:solidFill>
                <a:latin typeface="微软雅黑" charset="-122"/>
              </a:rPr>
              <a:t>k</a:t>
            </a:r>
            <a:endParaRPr sz="1400" b="1" i="0">
              <a:solidFill>
                <a:srgbClr val="307E5B"/>
              </a:solidFill>
              <a:latin typeface="微软雅黑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8467344" y="1965960"/>
            <a:ext cx="219456" cy="0"/>
          </a:xfrm>
          <a:prstGeom prst="line">
            <a:avLst/>
          </a:prstGeom>
          <a:ln w="21590">
            <a:solidFill>
              <a:srgbClr val="30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555480" y="1764792"/>
            <a:ext cx="658368" cy="402336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55480" y="1792224"/>
            <a:ext cx="6583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307E5B"/>
                </a:solidFill>
                <a:latin typeface="微软雅黑" charset="-122"/>
              </a:rPr>
              <a:t>k</a:t>
            </a:r>
            <a:endParaRPr sz="1400" b="1" i="0">
              <a:solidFill>
                <a:srgbClr val="307E5B"/>
              </a:solidFill>
              <a:latin typeface="微软雅黑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9336024" y="1965960"/>
            <a:ext cx="219456" cy="0"/>
          </a:xfrm>
          <a:prstGeom prst="line">
            <a:avLst/>
          </a:prstGeom>
          <a:ln w="21590">
            <a:solidFill>
              <a:srgbClr val="30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424160" y="1764792"/>
            <a:ext cx="658368" cy="402336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1792224"/>
            <a:ext cx="658368" cy="31089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307E5B"/>
                </a:solidFill>
                <a:latin typeface="微软雅黑" charset="-122"/>
              </a:rPr>
              <a:t>…</a:t>
            </a:r>
            <a:endParaRPr sz="14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00800" y="2514600"/>
            <a:ext cx="48463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n 个相等数据项：1 个 BST 节点 + n−1 个链表元素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080760" y="3337560"/>
            <a:ext cx="5120640" cy="91440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520440"/>
            <a:ext cx="4663440" cy="56692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2D2D30"/>
                </a:solidFill>
                <a:latin typeface="微软雅黑" charset="-122"/>
              </a:rPr>
              <a:t>总时间：第一次建立树节点 Θ(1)，之后每次链表插入 Θ(1)，合计 Θ(n)。</a:t>
            </a:r>
            <a:endParaRPr sz="16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14400" y="4983480"/>
            <a:ext cx="1005840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 i="0">
                <a:solidFill>
                  <a:srgbClr val="646469"/>
                </a:solidFill>
                <a:latin typeface="微软雅黑" charset="-122"/>
              </a:rPr>
              <a:t>注意：这里的 Θ(n) 是 n 次插入的总时间；对后续每个相等关键字，插入代价为 Θ(1)。</a:t>
            </a:r>
            <a:endParaRPr sz="1600" b="0" i="0">
              <a:solidFill>
                <a:srgbClr val="646469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06  策略 d：相等时随机选择左子树或右子树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521208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BC821E"/>
                </a:solidFill>
                <a:latin typeface="微软雅黑" charset="-122"/>
              </a:rPr>
              <a:t>策略规则</a:t>
            </a:r>
            <a:endParaRPr sz="1800" b="1" i="0">
              <a:solidFill>
                <a:srgbClr val="BC821E"/>
              </a:solidFill>
              <a:latin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4846320" cy="1508760"/>
          </a:xfrm>
          <a:prstGeom prst="rect">
            <a:avLst/>
          </a:prstGeom>
          <a:noFill/>
        </p:spPr>
        <p:txBody>
          <a:bodyPr wrap="square" lIns="109728" rIns="73152" bIns="27432">
            <a:spAutoFit/>
          </a:bodyPr>
          <a:lstStyle/>
          <a:p>
            <a:pPr>
              <a:spcAft>
                <a:spcPts val="900"/>
              </a:spcAft>
            </a:pPr>
            <a:r>
              <a:rPr sz="1300" b="1" i="0">
                <a:solidFill>
                  <a:srgbClr val="BC821E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当 z.key = x.key 时，随机选择 x.left 或 x.right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BC821E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不同插入序列可能形成不同形态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BC821E"/>
                </a:solidFill>
                <a:latin typeface="微软雅黑" charset="-122"/>
              </a:rPr>
              <a:t>● </a:t>
            </a:r>
            <a:r>
              <a:rPr sz="1600" b="0" i="0">
                <a:solidFill>
                  <a:srgbClr val="2D2D30"/>
                </a:solidFill>
                <a:latin typeface="微软雅黑" charset="-122"/>
              </a:rPr>
              <a:t>随机选择不能保证每次都把节点均匀分开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154680"/>
            <a:ext cx="4800600" cy="1051560"/>
          </a:xfrm>
          <a:prstGeom prst="roundRect">
            <a:avLst/>
          </a:prstGeom>
          <a:solidFill>
            <a:srgbClr val="FAF4E2"/>
          </a:solidFill>
          <a:ln w="12700">
            <a:solidFill>
              <a:srgbClr val="FA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4480560" cy="65836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 i="0">
                <a:solidFill>
                  <a:srgbClr val="BC821E"/>
                </a:solidFill>
                <a:latin typeface="微软雅黑" charset="-122"/>
              </a:rPr>
              <a:t>题目要求的是最坏情况：只要存在连续选择同一侧的可能，就仍可能退化。</a:t>
            </a:r>
            <a:endParaRPr sz="1600" b="1" i="0">
              <a:solidFill>
                <a:srgbClr val="BC821E"/>
              </a:solidFill>
              <a:latin typeface="微软雅黑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17920" y="896112"/>
            <a:ext cx="493776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BC821E"/>
                </a:solidFill>
                <a:latin typeface="微软雅黑" charset="-122"/>
              </a:rPr>
              <a:t>最坏情况下仍可能形成单链</a:t>
            </a:r>
            <a:endParaRPr sz="1700" b="1" i="0">
              <a:solidFill>
                <a:srgbClr val="BC821E"/>
              </a:solidFill>
              <a:latin typeface="微软雅黑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8129016" y="1298448"/>
            <a:ext cx="658368" cy="365760"/>
          </a:xfrm>
          <a:prstGeom prst="ellipse">
            <a:avLst/>
          </a:prstGeom>
          <a:solidFill>
            <a:srgbClr val="FAF4E2"/>
          </a:solidFill>
          <a:ln w="17780"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58200" y="1664208"/>
            <a:ext cx="0" cy="146304"/>
          </a:xfrm>
          <a:prstGeom prst="line">
            <a:avLst/>
          </a:prstGeom>
          <a:ln w="21590">
            <a:solidFill>
              <a:srgbClr val="BC8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129016" y="1920240"/>
            <a:ext cx="658368" cy="365760"/>
          </a:xfrm>
          <a:prstGeom prst="ellipse">
            <a:avLst/>
          </a:prstGeom>
          <a:solidFill>
            <a:srgbClr val="FAF4E2"/>
          </a:solidFill>
          <a:ln w="17780"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8458200" y="2286000"/>
            <a:ext cx="0" cy="146304"/>
          </a:xfrm>
          <a:prstGeom prst="line">
            <a:avLst/>
          </a:prstGeom>
          <a:ln w="21590">
            <a:solidFill>
              <a:srgbClr val="BC8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129016" y="2542032"/>
            <a:ext cx="658368" cy="365760"/>
          </a:xfrm>
          <a:prstGeom prst="ellipse">
            <a:avLst/>
          </a:prstGeom>
          <a:solidFill>
            <a:srgbClr val="FAF4E2"/>
          </a:solidFill>
          <a:ln w="17780"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907792"/>
            <a:ext cx="0" cy="146304"/>
          </a:xfrm>
          <a:prstGeom prst="line">
            <a:avLst/>
          </a:prstGeom>
          <a:ln w="21590">
            <a:solidFill>
              <a:srgbClr val="BC8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8129016" y="3163824"/>
            <a:ext cx="658368" cy="365760"/>
          </a:xfrm>
          <a:prstGeom prst="ellipse">
            <a:avLst/>
          </a:prstGeom>
          <a:solidFill>
            <a:srgbClr val="FAF4E2"/>
          </a:solidFill>
          <a:ln w="17780"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8458200" y="3529584"/>
            <a:ext cx="0" cy="146303"/>
          </a:xfrm>
          <a:prstGeom prst="line">
            <a:avLst/>
          </a:prstGeom>
          <a:ln w="21590">
            <a:solidFill>
              <a:srgbClr val="BC8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129016" y="3785615"/>
            <a:ext cx="658368" cy="365760"/>
          </a:xfrm>
          <a:prstGeom prst="ellipse">
            <a:avLst/>
          </a:prstGeom>
          <a:solidFill>
            <a:srgbClr val="FAF4E2"/>
          </a:solidFill>
          <a:ln w="17780"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0" y="2194560"/>
            <a:ext cx="2011680" cy="82296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2D2D30"/>
                </a:solidFill>
                <a:latin typeface="微软雅黑" charset="-122"/>
              </a:rPr>
              <a:t>某次随机结果连续落在同一侧</a:t>
            </a:r>
            <a:endParaRPr sz="14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4023360"/>
            <a:ext cx="5029200" cy="96012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4206240"/>
            <a:ext cx="4617720" cy="56692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2D2D30"/>
                </a:solidFill>
                <a:latin typeface="微软雅黑" charset="-122"/>
              </a:rPr>
              <a:t>最坏情况：第 i 次插入可能耗时 Θ(i)，总时间 Θ(n²)。</a:t>
            </a:r>
            <a:endParaRPr sz="17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4983480"/>
            <a:ext cx="100584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 i="0">
                <a:solidFill>
                  <a:srgbClr val="646469"/>
                </a:solidFill>
                <a:latin typeface="微软雅黑" charset="-122"/>
              </a:rPr>
              <a:t>本题不要求正式推导期望运行时间，因此不把“可能更平衡”误写成“最坏情况更优”。</a:t>
            </a:r>
            <a:endParaRPr sz="1600" b="0" i="0">
              <a:solidFill>
                <a:srgbClr val="646469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07  四种策略的树形对比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914400"/>
            <a:ext cx="5303520" cy="2240280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024128"/>
            <a:ext cx="49377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AE1B2F"/>
                </a:solidFill>
                <a:latin typeface="微软雅黑" charset="-122"/>
              </a:rPr>
              <a:t>基准：固定向右</a:t>
            </a:r>
            <a:endParaRPr sz="16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2811780" y="1554480"/>
            <a:ext cx="5029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0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0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3063240" y="1828800"/>
            <a:ext cx="0" cy="109728"/>
          </a:xfrm>
          <a:prstGeom prst="line">
            <a:avLst/>
          </a:prstGeom>
          <a:ln w="1524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811780" y="1938528"/>
            <a:ext cx="5029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0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0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2212848"/>
            <a:ext cx="0" cy="109728"/>
          </a:xfrm>
          <a:prstGeom prst="line">
            <a:avLst/>
          </a:prstGeom>
          <a:ln w="15240">
            <a:solidFill>
              <a:srgbClr val="AE1B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811780" y="2322576"/>
            <a:ext cx="5029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0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0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63640" y="914400"/>
            <a:ext cx="5303520" cy="224028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1024128"/>
            <a:ext cx="49377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36649E"/>
                </a:solidFill>
                <a:latin typeface="微软雅黑" charset="-122"/>
              </a:rPr>
              <a:t>策略 b：交替分流</a:t>
            </a:r>
            <a:endParaRPr sz="16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695944" y="1499616"/>
            <a:ext cx="43891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9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9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010144" y="2020824"/>
            <a:ext cx="43891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9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9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381744" y="2020824"/>
            <a:ext cx="43891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9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9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7690104" y="2569464"/>
            <a:ext cx="43891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9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9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8330183" y="2569464"/>
            <a:ext cx="43891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9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9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061703" y="2569464"/>
            <a:ext cx="43891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9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9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9701784" y="2569464"/>
            <a:ext cx="438912" cy="25603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9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9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 flipH="1">
            <a:off x="8229600" y="1737360"/>
            <a:ext cx="685800" cy="301752"/>
          </a:xfrm>
          <a:prstGeom prst="line">
            <a:avLst/>
          </a:prstGeom>
          <a:ln w="1270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15400" y="1737360"/>
            <a:ext cx="685800" cy="301752"/>
          </a:xfrm>
          <a:prstGeom prst="line">
            <a:avLst/>
          </a:prstGeom>
          <a:ln w="1270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7909560" y="2258568"/>
            <a:ext cx="320040" cy="329184"/>
          </a:xfrm>
          <a:prstGeom prst="line">
            <a:avLst/>
          </a:prstGeom>
          <a:ln w="1270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229600" y="2258568"/>
            <a:ext cx="320040" cy="329184"/>
          </a:xfrm>
          <a:prstGeom prst="line">
            <a:avLst/>
          </a:prstGeom>
          <a:ln w="1270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9281159" y="2258568"/>
            <a:ext cx="320041" cy="329184"/>
          </a:xfrm>
          <a:prstGeom prst="line">
            <a:avLst/>
          </a:prstGeom>
          <a:ln w="1270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01200" y="2258568"/>
            <a:ext cx="320040" cy="329184"/>
          </a:xfrm>
          <a:prstGeom prst="line">
            <a:avLst/>
          </a:prstGeom>
          <a:ln w="12700">
            <a:solidFill>
              <a:srgbClr val="366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4360" y="3657600"/>
            <a:ext cx="5303520" cy="2240280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767328"/>
            <a:ext cx="49377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307E5B"/>
                </a:solidFill>
                <a:latin typeface="微软雅黑" charset="-122"/>
              </a:rPr>
              <a:t>策略 c：链表存重复项</a:t>
            </a:r>
            <a:endParaRPr sz="16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88136" y="4672583"/>
            <a:ext cx="566928" cy="347472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1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1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2240280" y="4681728"/>
            <a:ext cx="6400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0280" y="4690872"/>
            <a:ext cx="640080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307E5B"/>
                </a:solidFill>
                <a:latin typeface="微软雅黑" charset="-122"/>
              </a:rPr>
              <a:t>k</a:t>
            </a:r>
            <a:endParaRPr sz="1100" b="1" i="0">
              <a:solidFill>
                <a:srgbClr val="307E5B"/>
              </a:solidFill>
              <a:latin typeface="微软雅黑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655064" y="4846320"/>
            <a:ext cx="585216" cy="0"/>
          </a:xfrm>
          <a:prstGeom prst="line">
            <a:avLst/>
          </a:prstGeom>
          <a:ln w="15240">
            <a:solidFill>
              <a:srgbClr val="30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154680" y="4681728"/>
            <a:ext cx="6400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4690872"/>
            <a:ext cx="640080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307E5B"/>
                </a:solidFill>
                <a:latin typeface="微软雅黑" charset="-122"/>
              </a:rPr>
              <a:t>k</a:t>
            </a:r>
            <a:endParaRPr sz="1100" b="1" i="0">
              <a:solidFill>
                <a:srgbClr val="307E5B"/>
              </a:solidFill>
              <a:latin typeface="微软雅黑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2880360" y="4846320"/>
            <a:ext cx="274320" cy="0"/>
          </a:xfrm>
          <a:prstGeom prst="line">
            <a:avLst/>
          </a:prstGeom>
          <a:ln w="15240">
            <a:solidFill>
              <a:srgbClr val="30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069080" y="4681728"/>
            <a:ext cx="64008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69080" y="4690872"/>
            <a:ext cx="640080" cy="29260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 i="0">
                <a:solidFill>
                  <a:srgbClr val="307E5B"/>
                </a:solidFill>
                <a:latin typeface="微软雅黑" charset="-122"/>
              </a:rPr>
              <a:t>k</a:t>
            </a:r>
            <a:endParaRPr sz="1100" b="1" i="0">
              <a:solidFill>
                <a:srgbClr val="307E5B"/>
              </a:solidFill>
              <a:latin typeface="微软雅黑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3794760" y="4846320"/>
            <a:ext cx="274320" cy="0"/>
          </a:xfrm>
          <a:prstGeom prst="line">
            <a:avLst/>
          </a:prstGeom>
          <a:ln w="15240">
            <a:solidFill>
              <a:srgbClr val="307E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263640" y="3657600"/>
            <a:ext cx="5303520" cy="2240280"/>
          </a:xfrm>
          <a:prstGeom prst="roundRect">
            <a:avLst/>
          </a:prstGeom>
          <a:solidFill>
            <a:srgbClr val="FAF4E2"/>
          </a:solidFill>
          <a:ln w="12700">
            <a:solidFill>
              <a:srgbClr val="FA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1" y="3767328"/>
            <a:ext cx="493776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BC821E"/>
                </a:solidFill>
                <a:latin typeface="微软雅黑" charset="-122"/>
              </a:rPr>
              <a:t>策略 d：随机方向（最坏）</a:t>
            </a:r>
            <a:endParaRPr sz="1600" b="1" i="0">
              <a:solidFill>
                <a:srgbClr val="BC821E"/>
              </a:solidFill>
              <a:latin typeface="微软雅黑" charset="-122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481060" y="4297679"/>
            <a:ext cx="5029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0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0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8732520" y="4572000"/>
            <a:ext cx="0" cy="109728"/>
          </a:xfrm>
          <a:prstGeom prst="line">
            <a:avLst/>
          </a:prstGeom>
          <a:ln w="15240">
            <a:solidFill>
              <a:srgbClr val="BC8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8481060" y="4681727"/>
            <a:ext cx="5029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0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000" b="1" i="0">
              <a:solidFill>
                <a:srgbClr val="2D2D30"/>
              </a:solidFill>
              <a:latin typeface="微软雅黑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8732520" y="4956048"/>
            <a:ext cx="0" cy="109728"/>
          </a:xfrm>
          <a:prstGeom prst="line">
            <a:avLst/>
          </a:prstGeom>
          <a:ln w="15240">
            <a:solidFill>
              <a:srgbClr val="BC82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8481060" y="5065775"/>
            <a:ext cx="502920" cy="274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0" rIns="9144" bIns="0" rtlCol="0" anchor="ctr"/>
          <a:lstStyle/>
          <a:p>
            <a:pPr algn="ctr"/>
            <a:r>
              <a:rPr sz="1000" b="1" i="0">
                <a:solidFill>
                  <a:srgbClr val="2D2D30"/>
                </a:solidFill>
                <a:latin typeface="微软雅黑" charset="-122"/>
              </a:rPr>
              <a:t>k</a:t>
            </a:r>
            <a:endParaRPr sz="10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14400" y="6080760"/>
            <a:ext cx="102412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646469"/>
                </a:solidFill>
                <a:latin typeface="微软雅黑" charset="-122"/>
              </a:rPr>
              <a:t>树高决定查找 / 插入路径长度；重复关键字的存储方式决定是否新增树节点。</a:t>
            </a:r>
            <a:endParaRPr sz="1500" b="0" i="0">
              <a:solidFill>
                <a:srgbClr val="646469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08  复杂度推导：把单次代价累加起来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291840" cy="3474720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30175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AE1B2F"/>
                </a:solidFill>
                <a:latin typeface="微软雅黑" charset="-122"/>
              </a:rPr>
              <a:t>基准</a:t>
            </a:r>
            <a:endParaRPr sz="20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283464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第 i 个插入走过 i 层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292608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1 + 2 + … + (n−1)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188720" y="3822191"/>
            <a:ext cx="2286000" cy="502920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charset="-122"/>
              </a:rPr>
              <a:t>Θ(n²)</a:t>
            </a:r>
            <a:endParaRPr sz="16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34840" y="1143000"/>
            <a:ext cx="3291840" cy="3474720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53312"/>
            <a:ext cx="30175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36649E"/>
                </a:solidFill>
                <a:latin typeface="微软雅黑" charset="-122"/>
              </a:rPr>
              <a:t>策略 b</a:t>
            </a:r>
            <a:endParaRPr sz="20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63440" y="1965960"/>
            <a:ext cx="283464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高度为 Θ(log n)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17720" y="2788920"/>
            <a:ext cx="292608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n 次插入，每次 O(log n)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37759" y="3822191"/>
            <a:ext cx="2286000" cy="502920"/>
          </a:xfrm>
          <a:prstGeom prst="roundRect">
            <a:avLst/>
          </a:prstGeom>
          <a:solidFill>
            <a:srgbClr val="36649E"/>
          </a:solidFill>
          <a:ln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charset="-122"/>
              </a:rPr>
              <a:t>Θ(n log n)</a:t>
            </a:r>
            <a:endParaRPr sz="16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83879" y="1143000"/>
            <a:ext cx="3291840" cy="3474720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353312"/>
            <a:ext cx="301752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000" b="1" i="0">
                <a:solidFill>
                  <a:srgbClr val="307E5B"/>
                </a:solidFill>
                <a:latin typeface="微软雅黑" charset="-122"/>
              </a:rPr>
              <a:t>策略 c</a:t>
            </a:r>
            <a:endParaRPr sz="20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80" y="1965960"/>
            <a:ext cx="283464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相等项进入链表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6759" y="2788920"/>
            <a:ext cx="292608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2D2D30"/>
                </a:solidFill>
                <a:latin typeface="微软雅黑" charset="-122"/>
              </a:rPr>
              <a:t>每次 O(1)，共 n 次</a:t>
            </a:r>
            <a:endParaRPr sz="15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686800" y="3822191"/>
            <a:ext cx="2286000" cy="502920"/>
          </a:xfrm>
          <a:prstGeom prst="roundRect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charset="-122"/>
              </a:rPr>
              <a:t>Θ(n)</a:t>
            </a:r>
            <a:endParaRPr sz="16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400" y="5074920"/>
            <a:ext cx="10332720" cy="822960"/>
          </a:xfrm>
          <a:prstGeom prst="roundRect">
            <a:avLst/>
          </a:prstGeom>
          <a:solidFill>
            <a:srgbClr val="F6F7F9"/>
          </a:solidFill>
          <a:ln w="1270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5257800"/>
            <a:ext cx="98755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 i="0">
                <a:solidFill>
                  <a:srgbClr val="2D2D30"/>
                </a:solidFill>
                <a:latin typeface="微软雅黑" charset="-122"/>
              </a:rPr>
              <a:t>策略 d：最坏情况下仍可形成高度 Θ(n) 的树，因此总插入时间仍为 Θ(n²)。</a:t>
            </a:r>
            <a:endParaRPr sz="1700" b="1" i="0">
              <a:solidFill>
                <a:srgbClr val="2D2D30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09  四种方案的渐近性能汇总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2148840" cy="658368"/>
          </a:xfrm>
          <a:prstGeom prst="rect">
            <a:avLst/>
          </a:prstGeom>
          <a:solidFill>
            <a:srgbClr val="AE1B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charset="-122"/>
              </a:rPr>
              <a:t>方案</a:t>
            </a:r>
            <a:endParaRPr sz="13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880360" y="1143000"/>
            <a:ext cx="2331720" cy="658368"/>
          </a:xfrm>
          <a:prstGeom prst="rect">
            <a:avLst/>
          </a:prstGeom>
          <a:solidFill>
            <a:srgbClr val="AE1B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charset="-122"/>
              </a:rPr>
              <a:t>相等键处理规则</a:t>
            </a:r>
            <a:endParaRPr sz="13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12080" y="1143000"/>
            <a:ext cx="2331720" cy="658368"/>
          </a:xfrm>
          <a:prstGeom prst="rect">
            <a:avLst/>
          </a:prstGeom>
          <a:solidFill>
            <a:srgbClr val="AE1B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charset="-122"/>
              </a:rPr>
              <a:t>可能树高</a:t>
            </a:r>
            <a:endParaRPr sz="13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43800" y="1143000"/>
            <a:ext cx="2331720" cy="658368"/>
          </a:xfrm>
          <a:prstGeom prst="rect">
            <a:avLst/>
          </a:prstGeom>
          <a:solidFill>
            <a:srgbClr val="AE1B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charset="-122"/>
              </a:rPr>
              <a:t>单次插入（最坏）</a:t>
            </a:r>
            <a:endParaRPr sz="13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75520" y="1143000"/>
            <a:ext cx="2331720" cy="658368"/>
          </a:xfrm>
          <a:prstGeom prst="rect">
            <a:avLst/>
          </a:prstGeom>
          <a:solidFill>
            <a:srgbClr val="AE1B2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charset="-122"/>
              </a:rPr>
              <a:t>n 次插入总时间</a:t>
            </a:r>
            <a:endParaRPr sz="13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31520" y="1801368"/>
            <a:ext cx="21488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基准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80360" y="1801368"/>
            <a:ext cx="2331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固定走右边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212080" y="1801368"/>
            <a:ext cx="2331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Θ(n)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543800" y="1801368"/>
            <a:ext cx="2331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Θ(n)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875520" y="1801368"/>
            <a:ext cx="2331720" cy="749808"/>
          </a:xfrm>
          <a:prstGeom prst="rect">
            <a:avLst/>
          </a:prstGeom>
          <a:solidFill>
            <a:srgbClr val="F9EBEE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i="0">
                <a:solidFill>
                  <a:srgbClr val="AE1B2F"/>
                </a:solidFill>
                <a:latin typeface="微软雅黑" charset="-122"/>
              </a:rPr>
              <a:t>Θ(n²)</a:t>
            </a:r>
            <a:endParaRPr sz="13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2551176"/>
            <a:ext cx="2148840" cy="749808"/>
          </a:xfrm>
          <a:prstGeom prst="rect">
            <a:avLst/>
          </a:prstGeom>
          <a:solidFill>
            <a:srgbClr val="F6F7F9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b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80360" y="2551176"/>
            <a:ext cx="2331720" cy="749808"/>
          </a:xfrm>
          <a:prstGeom prst="rect">
            <a:avLst/>
          </a:prstGeom>
          <a:solidFill>
            <a:srgbClr val="F6F7F9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布尔标志交替分流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212080" y="2551176"/>
            <a:ext cx="2331720" cy="749808"/>
          </a:xfrm>
          <a:prstGeom prst="rect">
            <a:avLst/>
          </a:prstGeom>
          <a:solidFill>
            <a:srgbClr val="F6F7F9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Θ(log n)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543800" y="2551176"/>
            <a:ext cx="2331720" cy="749808"/>
          </a:xfrm>
          <a:prstGeom prst="rect">
            <a:avLst/>
          </a:prstGeom>
          <a:solidFill>
            <a:srgbClr val="F6F7F9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Θ(log n)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875520" y="2551176"/>
            <a:ext cx="2331720" cy="749808"/>
          </a:xfrm>
          <a:prstGeom prst="rect">
            <a:avLst/>
          </a:prstGeom>
          <a:solidFill>
            <a:srgbClr val="E8F0FA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i="0">
                <a:solidFill>
                  <a:srgbClr val="36649E"/>
                </a:solidFill>
                <a:latin typeface="微软雅黑" charset="-122"/>
              </a:rPr>
              <a:t>Θ(n log n)</a:t>
            </a:r>
            <a:endParaRPr sz="13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31520" y="3300984"/>
            <a:ext cx="214884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c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80360" y="3300984"/>
            <a:ext cx="2331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相等项放入链表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212080" y="3300984"/>
            <a:ext cx="2331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Θ(1)（仅一个树键）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543800" y="3300984"/>
            <a:ext cx="2331720" cy="749808"/>
          </a:xfrm>
          <a:prstGeom prst="rect">
            <a:avLst/>
          </a:prstGeom>
          <a:solidFill>
            <a:srgbClr val="FFFFFF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Θ(1)（链表头插）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9875520" y="3300984"/>
            <a:ext cx="2331720" cy="749808"/>
          </a:xfrm>
          <a:prstGeom prst="rect">
            <a:avLst/>
          </a:prstGeom>
          <a:solidFill>
            <a:srgbClr val="E7F4ED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i="0">
                <a:solidFill>
                  <a:srgbClr val="307E5B"/>
                </a:solidFill>
                <a:latin typeface="微软雅黑" charset="-122"/>
              </a:rPr>
              <a:t>Θ(n)</a:t>
            </a:r>
            <a:endParaRPr sz="13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31520" y="4050791"/>
            <a:ext cx="2148840" cy="749808"/>
          </a:xfrm>
          <a:prstGeom prst="rect">
            <a:avLst/>
          </a:prstGeom>
          <a:solidFill>
            <a:srgbClr val="F6F7F9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i="0">
                <a:solidFill>
                  <a:srgbClr val="2D2D30"/>
                </a:solidFill>
                <a:latin typeface="微软雅黑" charset="-122"/>
              </a:rPr>
              <a:t>d</a:t>
            </a:r>
            <a:endParaRPr sz="1300" b="1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80360" y="4050791"/>
            <a:ext cx="2331720" cy="749808"/>
          </a:xfrm>
          <a:prstGeom prst="rect">
            <a:avLst/>
          </a:prstGeom>
          <a:solidFill>
            <a:srgbClr val="F6F7F9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随机选左 / 右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212080" y="4050791"/>
            <a:ext cx="2331720" cy="749808"/>
          </a:xfrm>
          <a:prstGeom prst="rect">
            <a:avLst/>
          </a:prstGeom>
          <a:solidFill>
            <a:srgbClr val="F6F7F9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最坏 Θ(n)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543800" y="4050791"/>
            <a:ext cx="2331720" cy="749808"/>
          </a:xfrm>
          <a:prstGeom prst="rect">
            <a:avLst/>
          </a:prstGeom>
          <a:solidFill>
            <a:srgbClr val="F6F7F9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0" i="0">
                <a:solidFill>
                  <a:srgbClr val="2D2D30"/>
                </a:solidFill>
                <a:latin typeface="微软雅黑" charset="-122"/>
              </a:rPr>
              <a:t>最坏 Θ(n)</a:t>
            </a:r>
            <a:endParaRPr sz="13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875520" y="4050791"/>
            <a:ext cx="2331720" cy="749808"/>
          </a:xfrm>
          <a:prstGeom prst="rect">
            <a:avLst/>
          </a:prstGeom>
          <a:solidFill>
            <a:srgbClr val="F9EBEE"/>
          </a:solidFill>
          <a:ln w="10160"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sz="1300" b="1" i="0">
                <a:solidFill>
                  <a:srgbClr val="AE1B2F"/>
                </a:solidFill>
                <a:latin typeface="微软雅黑" charset="-122"/>
              </a:rPr>
              <a:t>最坏 Θ(n²)</a:t>
            </a:r>
            <a:endParaRPr sz="13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0" i="0">
                <a:solidFill>
                  <a:srgbClr val="646469"/>
                </a:solidFill>
                <a:latin typeface="微软雅黑" charset="-122"/>
              </a:rPr>
              <a:t>比较口径统一为：插入 n 个相等关键字的数据项的总时间；随机策略只给最坏情况界。</a:t>
            </a:r>
            <a:endParaRPr sz="1500" b="0" i="0">
              <a:solidFill>
                <a:srgbClr val="646469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10  为什么复杂度差别这么大？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5257800" cy="3383280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4800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AE1B2F"/>
                </a:solidFill>
                <a:latin typeface="微软雅黑" charset="-122"/>
              </a:rPr>
              <a:t>重复项全部变成树节点</a:t>
            </a:r>
            <a:endParaRPr sz="18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4572000" cy="10972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0" i="0">
                <a:solidFill>
                  <a:srgbClr val="2D2D30"/>
                </a:solidFill>
                <a:latin typeface="微软雅黑" charset="-122"/>
              </a:rPr>
              <a:t>若每个相等关键字都继续插入 BST，且方向固定或最坏时持续偏向同一侧，树高会随 n 线性增长。</a:t>
            </a:r>
            <a:endParaRPr sz="17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965960" y="3794760"/>
            <a:ext cx="2651760" cy="475488"/>
          </a:xfrm>
          <a:prstGeom prst="round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 charset="-122"/>
              </a:rPr>
              <a:t>路径成本累加 → Θ(n²)</a:t>
            </a:r>
            <a:endParaRPr sz="14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257800" cy="3383280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325880"/>
            <a:ext cx="4800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307E5B"/>
                </a:solidFill>
                <a:latin typeface="微软雅黑" charset="-122"/>
              </a:rPr>
              <a:t>避免重复建树节点 / 控制分流</a:t>
            </a:r>
            <a:endParaRPr sz="18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0" y="1965960"/>
            <a:ext cx="4572000" cy="10972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0" i="0">
                <a:solidFill>
                  <a:srgbClr val="2D2D30"/>
                </a:solidFill>
                <a:latin typeface="微软雅黑" charset="-122"/>
              </a:rPr>
              <a:t>策略 b 把路径高度压到对数级；策略 c 则把相等数据项收纳到同一节点的链表中。</a:t>
            </a:r>
            <a:endParaRPr sz="17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52360" y="3794760"/>
            <a:ext cx="2651760" cy="475488"/>
          </a:xfrm>
          <a:prstGeom prst="roundRect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 charset="-122"/>
              </a:rPr>
              <a:t>结构改变 → 成本下降</a:t>
            </a:r>
            <a:endParaRPr sz="14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102412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 i="0">
                <a:solidFill>
                  <a:srgbClr val="646469"/>
                </a:solidFill>
                <a:latin typeface="微软雅黑" charset="-122"/>
              </a:rPr>
              <a:t>关键启示：复杂度不只由“有多少数据”决定，也取决于数据结构如何表示重复值，以及插入规则如何塑造树高。</a:t>
            </a:r>
            <a:endParaRPr sz="1600" b="0" i="0">
              <a:solidFill>
                <a:srgbClr val="646469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11  工程启示：重复关键字应该怎样处理？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502920" cy="502920"/>
          </a:xfrm>
          <a:prstGeom prst="roundRect">
            <a:avLst/>
          </a:prstGeom>
          <a:solidFill>
            <a:srgbClr val="307E5B"/>
          </a:solidFill>
          <a:ln>
            <a:solidFill>
              <a:srgbClr val="307E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charset="-122"/>
              </a:rPr>
              <a:t>1</a:t>
            </a:r>
            <a:endParaRPr sz="16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133856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307E5B"/>
                </a:solidFill>
                <a:latin typeface="微软雅黑" charset="-122"/>
              </a:rPr>
              <a:t>若必须保留每条记录</a:t>
            </a:r>
            <a:endParaRPr sz="17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1133856"/>
            <a:ext cx="6492240" cy="7132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用“关键字 → 记录集合 / 链表”的方式，将相同关键字映射到同一棵树节点。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54480" y="2130552"/>
            <a:ext cx="9509760" cy="10972"/>
          </a:xfrm>
          <a:prstGeom prst="rect">
            <a:avLst/>
          </a:prstGeom>
          <a:solidFill>
            <a:srgbClr val="DEE0E4"/>
          </a:solidFill>
          <a:ln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514600"/>
            <a:ext cx="502920" cy="502920"/>
          </a:xfrm>
          <a:prstGeom prst="roundRect">
            <a:avLst/>
          </a:prstGeom>
          <a:solidFill>
            <a:srgbClr val="36649E"/>
          </a:solidFill>
          <a:ln>
            <a:solidFill>
              <a:srgbClr val="366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charset="-122"/>
              </a:rPr>
              <a:t>2</a:t>
            </a:r>
            <a:endParaRPr sz="16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554480" y="2505456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36649E"/>
                </a:solidFill>
                <a:latin typeface="微软雅黑" charset="-122"/>
              </a:rPr>
              <a:t>若重复值仍作为独立树节点</a:t>
            </a:r>
            <a:endParaRPr sz="17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2505456"/>
            <a:ext cx="6492240" cy="7132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不要假定固定方向插入天然高效；可考虑平衡树或其他能保证高度的结构。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54480" y="3502152"/>
            <a:ext cx="9509760" cy="10972"/>
          </a:xfrm>
          <a:prstGeom prst="rect">
            <a:avLst/>
          </a:prstGeom>
          <a:solidFill>
            <a:srgbClr val="DEE0E4"/>
          </a:solidFill>
          <a:ln>
            <a:solidFill>
              <a:srgbClr val="DE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886200"/>
            <a:ext cx="502920" cy="502920"/>
          </a:xfrm>
          <a:prstGeom prst="roundRect">
            <a:avLst/>
          </a:prstGeom>
          <a:solidFill>
            <a:srgbClr val="BC821E"/>
          </a:solidFill>
          <a:ln>
            <a:solidFill>
              <a:srgbClr val="BC82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9144" rIns="36576" bIns="914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charset="-122"/>
              </a:rPr>
              <a:t>3</a:t>
            </a:r>
            <a:endParaRPr sz="16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4480" y="3877056"/>
            <a:ext cx="310896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BC821E"/>
                </a:solidFill>
                <a:latin typeface="微软雅黑" charset="-122"/>
              </a:rPr>
              <a:t>若采用随机方向</a:t>
            </a:r>
            <a:endParaRPr sz="1700" b="1" i="0">
              <a:solidFill>
                <a:srgbClr val="BC821E"/>
              </a:solidFill>
              <a:latin typeface="微软雅黑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3877056"/>
            <a:ext cx="6492240" cy="71323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随机化不等于最坏情况保证；需要明确分析口径，区分最坏时间与期望时间。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4400" y="5440680"/>
            <a:ext cx="10332720" cy="566928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532120"/>
            <a:ext cx="996696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500" b="1" i="0">
                <a:solidFill>
                  <a:srgbClr val="AE1B2F"/>
                </a:solidFill>
                <a:latin typeface="微软雅黑" charset="-122"/>
              </a:rPr>
              <a:t>本题推荐的思路：若业务语义允许，把相同关键字作为同一节点的重复记录集合来维护。</a:t>
            </a:r>
            <a:endParaRPr sz="1500" b="1" i="0">
              <a:solidFill>
                <a:srgbClr val="AE1B2F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73152"/>
            <a:ext cx="99669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 i="0">
                <a:solidFill>
                  <a:srgbClr val="FFFFFF"/>
                </a:solidFill>
                <a:latin typeface="微软雅黑" charset="-122"/>
              </a:rPr>
              <a:t>12  总结：处理“相等”分支，就是在设计树的形态</a:t>
            </a:r>
            <a:endParaRPr sz="2200" b="1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332720" y="91440"/>
            <a:ext cx="15087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 i="0">
                <a:solidFill>
                  <a:srgbClr val="FFFFFF"/>
                </a:solidFill>
                <a:latin typeface="微软雅黑" charset="-122"/>
              </a:rPr>
              <a:t>思考题 12-1</a:t>
            </a:r>
            <a:endParaRPr sz="1000" b="0" i="0">
              <a:solidFill>
                <a:srgbClr val="FFFFFF"/>
              </a:solidFill>
              <a:latin typeface="微软雅黑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960120"/>
            <a:ext cx="10424160" cy="713232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078992"/>
            <a:ext cx="18288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AE1B2F"/>
                </a:solidFill>
                <a:latin typeface="微软雅黑" charset="-122"/>
              </a:rPr>
              <a:t>基准方案</a:t>
            </a:r>
            <a:endParaRPr sz="17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80360" y="1078992"/>
            <a:ext cx="80924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相等时固定走一侧 → 退化链 → Θ(n²)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68680" y="1920240"/>
            <a:ext cx="10424160" cy="713232"/>
          </a:xfrm>
          <a:prstGeom prst="roundRect">
            <a:avLst/>
          </a:prstGeom>
          <a:solidFill>
            <a:srgbClr val="E8F0FA"/>
          </a:solidFill>
          <a:ln w="12700">
            <a:solidFill>
              <a:srgbClr val="E8F0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39112"/>
            <a:ext cx="18288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36649E"/>
                </a:solidFill>
                <a:latin typeface="微软雅黑" charset="-122"/>
              </a:rPr>
              <a:t>策略 b</a:t>
            </a:r>
            <a:endParaRPr sz="1700" b="1" i="0">
              <a:solidFill>
                <a:srgbClr val="36649E"/>
              </a:solidFill>
              <a:latin typeface="微软雅黑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80360" y="2039112"/>
            <a:ext cx="80924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布尔标志交替分流 → 高度 Θ(log n) → Θ(n log n)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" y="2880360"/>
            <a:ext cx="10424160" cy="713232"/>
          </a:xfrm>
          <a:prstGeom prst="roundRect">
            <a:avLst/>
          </a:prstGeom>
          <a:solidFill>
            <a:srgbClr val="E7F4ED"/>
          </a:solidFill>
          <a:ln w="12700">
            <a:solidFill>
              <a:srgbClr val="E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99232"/>
            <a:ext cx="18288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307E5B"/>
                </a:solidFill>
                <a:latin typeface="微软雅黑" charset="-122"/>
              </a:rPr>
              <a:t>策略 c</a:t>
            </a:r>
            <a:endParaRPr sz="1700" b="1" i="0">
              <a:solidFill>
                <a:srgbClr val="307E5B"/>
              </a:solidFill>
              <a:latin typeface="微软雅黑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0360" y="2999232"/>
            <a:ext cx="80924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相等项放入链表 → 树中仅保留一个该关键字节点 → Θ(n)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3840480"/>
            <a:ext cx="10424160" cy="713232"/>
          </a:xfrm>
          <a:prstGeom prst="roundRect">
            <a:avLst/>
          </a:prstGeom>
          <a:solidFill>
            <a:srgbClr val="FAF4E2"/>
          </a:solidFill>
          <a:ln w="12700">
            <a:solidFill>
              <a:srgbClr val="FAF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59352"/>
            <a:ext cx="182880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 i="0">
                <a:solidFill>
                  <a:srgbClr val="BC821E"/>
                </a:solidFill>
                <a:latin typeface="微软雅黑" charset="-122"/>
              </a:rPr>
              <a:t>策略 d</a:t>
            </a:r>
            <a:endParaRPr sz="1700" b="1" i="0">
              <a:solidFill>
                <a:srgbClr val="BC821E"/>
              </a:solidFill>
              <a:latin typeface="微软雅黑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80360" y="3959352"/>
            <a:ext cx="8092440" cy="4114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 i="0">
                <a:solidFill>
                  <a:srgbClr val="2D2D30"/>
                </a:solidFill>
                <a:latin typeface="微软雅黑" charset="-122"/>
              </a:rPr>
              <a:t>随机方向可能改善形态，但最坏情况仍是 Θ(n²)</a:t>
            </a:r>
            <a:endParaRPr sz="1600" b="0" i="0">
              <a:solidFill>
                <a:srgbClr val="2D2D30"/>
              </a:solidFill>
              <a:latin typeface="微软雅黑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1024128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 i="0">
                <a:solidFill>
                  <a:srgbClr val="AE1B2F"/>
                </a:solidFill>
                <a:latin typeface="微软雅黑" charset="-122"/>
              </a:rPr>
              <a:t>一句话结论：重复关键字不是小细节；若处理规则不当，它会让二叉搜索树从高效的查找结构退化成线性链表。</a:t>
            </a:r>
            <a:endParaRPr sz="1800" b="1" i="0">
              <a:solidFill>
                <a:srgbClr val="AE1B2F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AE1B2F"/>
          </a:solidFill>
          <a:ln>
            <a:solidFill>
              <a:srgbClr val="AE1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914400"/>
            <a:ext cx="8503920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 i="0">
                <a:solidFill>
                  <a:srgbClr val="E6CDD0"/>
                </a:solidFill>
                <a:latin typeface="微软雅黑" charset="-122"/>
              </a:rPr>
              <a:t>H U N A N   U N I V E R S I T Y</a:t>
            </a:r>
            <a:endParaRPr sz="1400" b="1" i="0">
              <a:solidFill>
                <a:srgbClr val="E6CDD0"/>
              </a:solidFill>
              <a:latin typeface="微软雅黑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71600" y="2011680"/>
            <a:ext cx="9418320" cy="7772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3600" b="1" i="0">
                <a:solidFill>
                  <a:srgbClr val="AE1B2F"/>
                </a:solidFill>
                <a:latin typeface="微软雅黑" charset="-122"/>
              </a:rPr>
              <a:t>谢谢大家！</a:t>
            </a:r>
            <a:endParaRPr sz="3600" b="1" i="0">
              <a:solidFill>
                <a:srgbClr val="AE1B2F"/>
              </a:solidFill>
              <a:latin typeface="微软雅黑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941832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 i="0">
                <a:solidFill>
                  <a:srgbClr val="891324"/>
                </a:solidFill>
                <a:latin typeface="微软雅黑" charset="-122"/>
              </a:rPr>
              <a:t>算法导论 · 思考题 12-1</a:t>
            </a:r>
            <a:endParaRPr sz="2100" b="1" i="0">
              <a:solidFill>
                <a:srgbClr val="891324"/>
              </a:solidFill>
              <a:latin typeface="微软雅黑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54480" y="3886200"/>
            <a:ext cx="905256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0" i="0">
                <a:solidFill>
                  <a:srgbClr val="646469"/>
                </a:solidFill>
                <a:latin typeface="微软雅黑" charset="-122"/>
              </a:rPr>
              <a:t>核心结论：树的插入规则决定树高，树高决定最坏时间复杂度。</a:t>
            </a:r>
            <a:endParaRPr sz="1800" b="0" i="0">
              <a:solidFill>
                <a:srgbClr val="646469"/>
              </a:solidFill>
              <a:latin typeface="微软雅黑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34640" y="5074920"/>
            <a:ext cx="6492240" cy="566928"/>
          </a:xfrm>
          <a:prstGeom prst="roundRect">
            <a:avLst/>
          </a:prstGeom>
          <a:solidFill>
            <a:srgbClr val="F9EBEE"/>
          </a:solidFill>
          <a:ln w="12700">
            <a:solidFill>
              <a:srgbClr val="F9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5175504"/>
            <a:ext cx="6217920" cy="329184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 i="0">
                <a:solidFill>
                  <a:srgbClr val="AE1B2F"/>
                </a:solidFill>
                <a:latin typeface="微软雅黑" charset="-122"/>
              </a:rPr>
              <a:t>欢迎老师和同学们提问交流</a:t>
            </a:r>
            <a:endParaRPr sz="1600" b="1" i="0">
              <a:solidFill>
                <a:srgbClr val="AE1B2F"/>
              </a:solidFill>
              <a:latin typeface="微软雅黑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2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3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4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5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6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7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8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9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0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1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2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3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4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5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6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7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ags/tag18.xml><?xml version="1.0" encoding="utf-8"?>
<p:tagLst xmlns:p="http://schemas.openxmlformats.org/presentationml/2006/main">
  <p:tag name="KSO_WM_DIAGRAM_VIRTUALLY_FRAME" val="{&quot;height&quot;:349.2,&quot;left&quot;:86.4,&quot;top&quot;:93.6,&quot;width&quot;:799.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(4:3)</PresentationFormat>
  <Paragraphs>421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3" baseType="lpstr">
      <vt:lpstr>Arial</vt:lpstr>
      <vt:lpstr>宋体</vt:lpstr>
      <vt:lpstr>Wingdings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iPad</cp:lastModifiedBy>
  <cp:revision>2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2052-26.9.2</vt:lpwstr>
  </property>
  <property fmtid="{D5CDD505-2E9C-101B-9397-08002B2CF9AE}" pid="3" name="ICV">
    <vt:lpwstr>1E3470628B38BE0ED525DE6A2E050B6F_33</vt:lpwstr>
  </property>
</Properties>
</file>