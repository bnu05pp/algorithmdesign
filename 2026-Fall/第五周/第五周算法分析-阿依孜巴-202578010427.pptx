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6" r:id="rId14"/>
    <p:sldId id="269" r:id="rId15"/>
    <p:sldId id="271" r:id="rId16"/>
    <p:sldId id="273" r:id="rId17"/>
    <p:sldId id="275" r:id="rId18"/>
    <p:sldId id="277" r:id="rId19"/>
    <p:sldId id="279" r:id="rId20"/>
    <p:sldId id="281" r:id="rId21"/>
    <p:sldId id="283" r:id="rId22"/>
    <p:sldId id="285" r:id="rId23"/>
    <p:sldId id="287" r:id="rId24"/>
    <p:sldId id="289" r:id="rId25"/>
    <p:sldId id="291" r:id="rId26"/>
    <p:sldId id="293" r:id="rId2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4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4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0" Type="http://schemas.openxmlformats.org/officeDocument/2006/relationships/tableStyles" Target="tableStyles.xml"/><Relationship Id="rId3" Type="http://schemas.openxmlformats.org/officeDocument/2006/relationships/slideMaster" Target="slideMasters/slideMaster2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大家好，今天我们要讨论的是算法导论第6章的思考题6-2，关于d叉堆的问题。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这道题是对二叉堆的一个推广——每个节点不再只有2个子节点，而是有d个子节点。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我们会从数组表示、高度、三个核心操作以及复杂度分析这几个方面来完整地拆解这道题。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这道题一共五个小问，a到e，从基础的数组表示到高度分析，再到三个核心操作。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最后我们会做一个复杂度的总结，和大家熟悉的二叉堆做一个对比。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大家可以先思考一下，d从2变成更大的数，会对各个操作的效率产生什么影响。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首先我们来明确一下概念。大家熟悉的二叉堆，每个节点有2个子节点，左孩子和右孩子。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那d叉堆就是把这个2推广成了任意的d，比如d等于3就是三叉堆，每个节点有3个子节点。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它仍然是一棵完全树，仍然用数组存储，也仍然保持堆的性质——最大堆的话父节点比所有子节点都大。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大家可以先猜一下，d变大之后，堆会变高还是变矮？对操作效率有什么影响？带着这个问题我们继续往下看。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好，现在我们来看第一小问，a问：数组表示。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大家先回忆一下二叉堆的公式，父节点是floor(i/2)，左孩子是2i，右孩子是2i+1，这个我们都很熟了。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那d叉堆怎么推广呢？这里给大家两个公式：父节点是floor((i-2)/d)+1，第k个子节点是d(i-1)+k+1。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我们可以验证一下，根节点i=1，它的第一个子节点应该是下标2，代入公式：d(1-1)+1+1 = 2，对的。它的第d个子节点就是d(1-1)+d+1 = d+1，所以根的孩子是从2到d+1，一共d个，完全正确。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这个公式大家不用死记硬背，理解推导思路就可以：第i个节点前面有i-1个节点，每个节点占d个孩子的位置，除以d向上取整就是父节点。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接下来是b问：n个元素的d叉堆高度是多少？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我们可以用等比数列来推导：高度为h的d叉树，最少有d^h - 1 / (d-1)个节点，最多有d^{h+1} - 1 / (d-1)个节点。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近似一下就是d^h约等于n，所以h约等于log以d为底的n，也就是Θ(log_d n)。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换成自然对数就是Θ(lg n / lg d)。大家可以看到，d越大，lg d越大，整个高度就越小——也就是说d越大，堆就越扁、越矮。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这个结论很重要，后面分析操作复杂度的时候会用到。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好，现在我们来看c问：EXTRACT-MAX操作。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算法思路和二叉堆其实很像：根节点就是最大值，把它取出来，然后用最后一个元素补上，再向下调整。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区别在于，二叉堆向下调整的时候只需要比较两个孩子，找出较大的那个；但d叉堆需要比较d个孩子，找出最大的那个。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所以MAX-HEAPIFY的循环从2次变成了d次。时间复杂度就是：每层比较d次，一共log_d n层，所以是O(d · log_d n)。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大家可以对比一下二叉堆的O(lg n)，d变大之后，这个操作是变快了还是变慢了？我们后面总结的时候会详细说。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接下来是d问：INCREASE-KEY操作。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这个操作是把某个节点的值增大，然后保持堆的性质。思路和二叉堆完全一样：更新值之后，向上冒泡。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因为只需要和父节点比较，每层只比较一次，所以时间复杂度就是堆的高度，也就是O(log_d n)。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大家可以注意到，这个操作和c问的EXTRACT-MAX有很大区别：EXTRACT-MAX是向下调整，每层要比较d个孩子；而INCREASE-KEY是向上调整，每层只比较1个父节点。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所以d变大之后，INCREASE-KEY会变快（因为堆变矮了），但EXTRACT-MAX不一定变快（因为每层要比较的d个孩子变多了）。这个trade-off我们最后总结的时候会详细说。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好，最后是e问：INSERT操作。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这个操作非常简单，就是在堆的末尾加一个新元素，然后调用INCREASE-KEY把它提升到正确的位置。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所以时间复杂度和INCREASE-KEY完全一样，都是O(log_d n)。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大家可以看到，INSERT其实就是INCREASE-KEY的一个封装，不需要额外写新的逻辑。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到这里，五个小问的核心操作我们就都讲完了。接下来我们做一个总结，把d叉堆和二叉堆的复杂度放在一起对比一下，看看d到底是怎么影响效率的。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好，现在我们来做一个总结，把d叉堆和二叉堆的复杂度放在一起对比。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首先看堆高度：d越大，log_d n越小，堆就越矮。这个我们之前推导过。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然后看INCREASE-KEY和INSERT：这两个操作都是向上冒泡，每层只比较一个父节点，所以时间复杂度就是堆的高度。d越大，堆越矮，这两个操作就越快。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但是EXTRACT-MAX不一样：它是向下调整，每层要比较d个孩子才能找到最大的那个。虽然层数少了，但是每层的工作量大了。所以总的时间复杂度是d乘以log_d n，不一定比二叉堆快。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这就是d叉堆的核心trade-off：如果你应用场景里插入和更新操作多、删除少，那就选大一点的d；如果删除操作多，那d太大反而不好。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好，我们来总结一下今天这道题。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核心知识点就是这些：数组表示的下标公式、堆高度是log以d为底的n、三个操作的时间复杂度、空间复杂度是O(n)。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最关键的结论就是d的trade-off：d变大，向上的操作（插入、更新）变快，但向下的操作（删除最大值）不一定变快，因为每层要比较的孩子多了。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最后留几个问题给大家讨论一下：第一，d到底取多少的时候EXTRACT-MAX最快？大家可以求个导试试。第二，什么实际场景适合用d叉堆？比如操作系统的调度器、优先级队列之类的。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好，我的讲解就到这里，谢谢大家，欢迎提问。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今天我们组汇报的是题目8-3变长数据项的排序。这道题分为a、b两小问，分别要求在O(n)时间内对整数数组和字符串数组进行排序。我们将从问题分析、算法设计、代码实现、复杂度分析和改进方向五个方面展开讲解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道题分为两小问。a问是整数数组排序，总数字位数为n，要求O(n)时间；b问是字符串数组按字典序排序，总字符数为n，同样要求O(n)时间。两题的共同点是数据项长度可变，但总规模n是固定的。我们的核心思路都是基数排序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为什么不能用快速排序、归并排序这些比较排序？因为它们的下界是n log n，达不到题目要求的O(n)。我们选择基数排序。从最低位开始，每一位做一次稳定的计数排序。注意这里的关键是：每一位只有部分数字有值（短数字高位补0），所以第i位处理的数字个数k_i加起来等于总位数n。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这是LSD基数排序的完整流程。从个位开始，每一位做一次稳定的计数排序。注意短数字的高位相当于0，所以在处理高位时，短数字自然会排在前面。比如两位数在百位排序时，百位是0，会排在所有三位数前面。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这是C++实现。外层循环控制位数，从个位exp=1开始，每次乘10。内层countingSortByDigit是标准的计数排序，按当前位的数字来排。注意从后往前遍历是为了保证排序的稳定性，这是基数排序正确的关键。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道题的关键在于理解n的定义——n不是数组元素个数，而是所有数字的总位数。每一位做一次计数排序，第i位处理的数字个数k_i加起来正好等于总位数n。所以总和就是n加上每轮的常数项10乘位数d。在题目设定下，这个复杂度就是O(n)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基数排序的主要瓶颈有四个：空间开销大、短数字浪费轮次、常数项偏大、不支持负数。改进方向包括原地计数排序、MSD基数排序、改用更大基数、以及分离正负数处理。其中MSD基数排序是最自然的改进，可以避免短数字在高位轮次中被重复处理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字符串排序和整数排序不同，字典序是从第一个字符开始比较的。所以不能用LSD基数排序，必须用MSD——最高位优先。先按首字符分组，组内递归按下一个字符排。注意短串是前缀的情况，比如a是ab的前缀，a排在ab前面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C++版本的MSD基数排序。核心思路：在第pos位，把每个字符串按该位置的字符分到对应桶里。如果字符串已结束，放到第0个桶（前缀组），因为字典序中短串是前缀时排在前面。然后对每个非空桶递归处理下一位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MSD基数排序的时间复杂度也是O(n)，因为每个字符恰好被访问一次。主要瓶颈是递归栈深度、小桶效率低、以及每层递归创建新桶的空间开销。改进方式包括：组内元素少时切换插入排序、改用迭代实现、以及原地分桶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总结一下：a题用LSD基数排序，从个位开始逐位排序；b题用MSD基数排序，从首字符开始递归分桶。两题的核心思想是一样的——利用数据的内部结构，把比较排序降为非比较排序，让每个基本单位只被处理一次，从而达到O(n)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6.xml"/><Relationship Id="rId5" Type="http://schemas.openxmlformats.org/officeDocument/2006/relationships/slideLayout" Target="../slideLayouts/slideLayout12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8.xml"/><Relationship Id="rId5" Type="http://schemas.openxmlformats.org/officeDocument/2006/relationships/slideLayout" Target="../slideLayouts/slideLayout12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tags" Target="../tags/tag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8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32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2032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CLRS 算法导论 · 第6章 思考题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1016000" y="2667000"/>
            <a:ext cx="10160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800" b="1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题目 6-2</a:t>
            </a:r>
            <a:r>
              <a:rPr lang="zh-CN" altLang="en-US" sz="4800" b="1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  <a:r>
              <a:rPr lang="en-US" sz="4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d叉堆（d-ary Heap）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28647">
            <a:off x="1016026" y="3943350"/>
            <a:ext cx="152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6" name="AutoShape 6"/>
          <p:cNvSpPr txBox="1"/>
          <p:nvPr/>
        </p:nvSpPr>
        <p:spPr>
          <a:xfrm>
            <a:off x="955675" y="4131945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小班讨论课 · </a:t>
            </a:r>
            <a:r>
              <a:rPr lang="zh-CN" alt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算法设计与</a:t>
            </a:r>
            <a:r>
              <a:rPr lang="zh-CN" alt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分析</a:t>
            </a:r>
            <a:endParaRPr lang="zh-CN" altLang="en-US" sz="13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635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本次讲解路线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1016000" y="1016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我们将从这五个方面拆解d叉堆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297">
            <a:off x="1016004" y="1898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 txBox="1"/>
          <p:nvPr/>
        </p:nvSpPr>
        <p:spPr>
          <a:xfrm>
            <a:off x="1016000" y="2286000"/>
            <a:ext cx="50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</a:t>
            </a:r>
            <a:endParaRPr lang="en-US" sz="1100"/>
          </a:p>
        </p:txBody>
      </p:sp>
      <p:sp>
        <p:nvSpPr>
          <p:cNvPr id="6" name="AutoShape 6"/>
          <p:cNvSpPr txBox="1"/>
          <p:nvPr/>
        </p:nvSpPr>
        <p:spPr>
          <a:xfrm>
            <a:off x="1651000" y="22860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数组表示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1651000" y="2667000"/>
            <a:ext cx="406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父节点与子节点的下标公式推导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1016000" y="3556000"/>
            <a:ext cx="50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</a:t>
            </a:r>
            <a:endParaRPr lang="en-US" sz="1100"/>
          </a:p>
        </p:txBody>
      </p:sp>
      <p:sp>
        <p:nvSpPr>
          <p:cNvPr id="9" name="AutoShape 9"/>
          <p:cNvSpPr txBox="1"/>
          <p:nvPr/>
        </p:nvSpPr>
        <p:spPr>
          <a:xfrm>
            <a:off x="1651000" y="35560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堆高度</a:t>
            </a:r>
            <a:endParaRPr lang="en-US" sz="1100"/>
          </a:p>
        </p:txBody>
      </p:sp>
      <p:sp>
        <p:nvSpPr>
          <p:cNvPr id="10" name="AutoShape 10"/>
          <p:cNvSpPr txBox="1"/>
          <p:nvPr/>
        </p:nvSpPr>
        <p:spPr>
          <a:xfrm>
            <a:off x="1651000" y="3937000"/>
            <a:ext cx="406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n个元素的d叉堆高度是多少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1016000" y="4826000"/>
            <a:ext cx="50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</a:t>
            </a:r>
            <a:endParaRPr lang="en-US" sz="1100"/>
          </a:p>
        </p:txBody>
      </p:sp>
      <p:sp>
        <p:nvSpPr>
          <p:cNvPr id="12" name="AutoShape 12"/>
          <p:cNvSpPr txBox="1"/>
          <p:nvPr/>
        </p:nvSpPr>
        <p:spPr>
          <a:xfrm>
            <a:off x="1651000" y="48260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EXTRACT-MAX</a:t>
            </a:r>
            <a:endParaRPr lang="en-US" sz="1100"/>
          </a:p>
        </p:txBody>
      </p:sp>
      <p:sp>
        <p:nvSpPr>
          <p:cNvPr id="13" name="AutoShape 13"/>
          <p:cNvSpPr txBox="1"/>
          <p:nvPr/>
        </p:nvSpPr>
        <p:spPr>
          <a:xfrm>
            <a:off x="1651000" y="5207000"/>
            <a:ext cx="406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取出最大值并调整堆</a:t>
            </a:r>
            <a:endParaRPr lang="en-US" sz="1100"/>
          </a:p>
        </p:txBody>
      </p:sp>
      <p:sp>
        <p:nvSpPr>
          <p:cNvPr id="14" name="AutoShape 14"/>
          <p:cNvSpPr txBox="1"/>
          <p:nvPr/>
        </p:nvSpPr>
        <p:spPr>
          <a:xfrm>
            <a:off x="6604000" y="2286000"/>
            <a:ext cx="50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</a:t>
            </a:r>
            <a:endParaRPr lang="en-US" sz="1100"/>
          </a:p>
        </p:txBody>
      </p:sp>
      <p:sp>
        <p:nvSpPr>
          <p:cNvPr id="15" name="AutoShape 15"/>
          <p:cNvSpPr txBox="1"/>
          <p:nvPr/>
        </p:nvSpPr>
        <p:spPr>
          <a:xfrm>
            <a:off x="7239000" y="22860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INCREASE-KEY</a:t>
            </a:r>
            <a:endParaRPr lang="en-US" sz="1100"/>
          </a:p>
        </p:txBody>
      </p:sp>
      <p:sp>
        <p:nvSpPr>
          <p:cNvPr id="16" name="AutoShape 16"/>
          <p:cNvSpPr txBox="1"/>
          <p:nvPr/>
        </p:nvSpPr>
        <p:spPr>
          <a:xfrm>
            <a:off x="7239000" y="2667000"/>
            <a:ext cx="406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增大某个节点的值并向上调整</a:t>
            </a:r>
            <a:endParaRPr lang="en-US" sz="1100"/>
          </a:p>
        </p:txBody>
      </p:sp>
      <p:sp>
        <p:nvSpPr>
          <p:cNvPr id="17" name="AutoShape 17"/>
          <p:cNvSpPr txBox="1"/>
          <p:nvPr/>
        </p:nvSpPr>
        <p:spPr>
          <a:xfrm>
            <a:off x="6604000" y="3556000"/>
            <a:ext cx="50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e</a:t>
            </a:r>
            <a:endParaRPr lang="en-US" sz="1100"/>
          </a:p>
        </p:txBody>
      </p:sp>
      <p:sp>
        <p:nvSpPr>
          <p:cNvPr id="18" name="AutoShape 18"/>
          <p:cNvSpPr txBox="1"/>
          <p:nvPr/>
        </p:nvSpPr>
        <p:spPr>
          <a:xfrm>
            <a:off x="7239000" y="35560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INSERT</a:t>
            </a:r>
            <a:endParaRPr lang="en-US" sz="1100"/>
          </a:p>
        </p:txBody>
      </p:sp>
      <p:sp>
        <p:nvSpPr>
          <p:cNvPr id="19" name="AutoShape 19"/>
          <p:cNvSpPr txBox="1"/>
          <p:nvPr/>
        </p:nvSpPr>
        <p:spPr>
          <a:xfrm>
            <a:off x="7239000" y="3937000"/>
            <a:ext cx="406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插入新元素到堆中</a:t>
            </a:r>
            <a:endParaRPr lang="en-US" sz="1100"/>
          </a:p>
        </p:txBody>
      </p:sp>
      <p:sp>
        <p:nvSpPr>
          <p:cNvPr id="20" name="AutoShape 20"/>
          <p:cNvSpPr txBox="1"/>
          <p:nvPr/>
        </p:nvSpPr>
        <p:spPr>
          <a:xfrm>
            <a:off x="6604000" y="48260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复杂度总结</a:t>
            </a:r>
            <a:endParaRPr lang="en-US" sz="1100"/>
          </a:p>
        </p:txBody>
      </p:sp>
      <p:sp>
        <p:nvSpPr>
          <p:cNvPr id="21" name="AutoShape 21"/>
          <p:cNvSpPr txBox="1"/>
          <p:nvPr/>
        </p:nvSpPr>
        <p:spPr>
          <a:xfrm>
            <a:off x="7239000" y="5207000"/>
            <a:ext cx="406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时间复杂度与空间复杂度对比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635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概念引入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1016000" y="1016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什么是d叉堆？和二叉堆有什么区别？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1016000" y="2032000"/>
            <a:ext cx="444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二叉堆（d = 2）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2794000" y="2540000"/>
            <a:ext cx="762000" cy="762000"/>
          </a:xfrm>
          <a:prstGeom prst="ellipse">
            <a:avLst/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根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524000" y="3810000"/>
            <a:ext cx="762000" cy="762000"/>
          </a:xfrm>
          <a:prstGeom prst="ellipse">
            <a:avLst/>
          </a:prstGeom>
          <a:solidFill>
            <a:srgbClr val="6B72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左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064000" y="3810000"/>
            <a:ext cx="762000" cy="762000"/>
          </a:xfrm>
          <a:prstGeom prst="ellipse">
            <a:avLst/>
          </a:prstGeom>
          <a:solidFill>
            <a:srgbClr val="6B72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右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9459997">
            <a:off x="1856057" y="3549661"/>
            <a:ext cx="1367832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9CA3A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9" name="Connector 9"/>
          <p:cNvCxnSpPr/>
          <p:nvPr/>
        </p:nvCxnSpPr>
        <p:spPr>
          <a:xfrm rot="1276166">
            <a:off x="3126111" y="3549661"/>
            <a:ext cx="1367832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9CA3A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0" name="AutoShape 10"/>
          <p:cNvSpPr txBox="1"/>
          <p:nvPr/>
        </p:nvSpPr>
        <p:spPr>
          <a:xfrm>
            <a:off x="1016000" y="5080000"/>
            <a:ext cx="444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每个节点最多2个子节点</a:t>
            </a:r>
            <a:endParaRPr lang="en-US" sz="1100"/>
          </a:p>
        </p:txBody>
      </p:sp>
      <p:cxnSp>
        <p:nvCxnSpPr>
          <p:cNvPr id="11" name="Connector 11"/>
          <p:cNvCxnSpPr/>
          <p:nvPr/>
        </p:nvCxnSpPr>
        <p:spPr>
          <a:xfrm rot="5386777">
            <a:off x="4445000" y="3930662"/>
            <a:ext cx="330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 txBox="1"/>
          <p:nvPr/>
        </p:nvSpPr>
        <p:spPr>
          <a:xfrm>
            <a:off x="6604000" y="2032000"/>
            <a:ext cx="444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d叉堆（以d = 3为例）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382000" y="2540000"/>
            <a:ext cx="762000" cy="762000"/>
          </a:xfrm>
          <a:prstGeom prst="ellipse">
            <a:avLst/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根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858000" y="3810000"/>
            <a:ext cx="762000" cy="762000"/>
          </a:xfrm>
          <a:prstGeom prst="ellipse">
            <a:avLst/>
          </a:prstGeom>
          <a:solidFill>
            <a:srgbClr val="6B72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子1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382000" y="3810000"/>
            <a:ext cx="762000" cy="762000"/>
          </a:xfrm>
          <a:prstGeom prst="ellipse">
            <a:avLst/>
          </a:prstGeom>
          <a:solidFill>
            <a:srgbClr val="6B72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子2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9906000" y="3810000"/>
            <a:ext cx="762000" cy="762000"/>
          </a:xfrm>
          <a:prstGeom prst="ellipse">
            <a:avLst/>
          </a:prstGeom>
          <a:solidFill>
            <a:srgbClr val="6B72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子3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9666725">
            <a:off x="7197758" y="3549658"/>
            <a:ext cx="1606437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9CA3A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18" name="Connector 18"/>
          <p:cNvCxnSpPr/>
          <p:nvPr/>
        </p:nvCxnSpPr>
        <p:spPr>
          <a:xfrm rot="5314074">
            <a:off x="8509000" y="3549729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9CA3A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19" name="Connector 19"/>
          <p:cNvCxnSpPr/>
          <p:nvPr/>
        </p:nvCxnSpPr>
        <p:spPr>
          <a:xfrm rot="1078919">
            <a:off x="8721805" y="3549658"/>
            <a:ext cx="1606437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9CA3A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20" name="AutoShape 20"/>
          <p:cNvSpPr txBox="1"/>
          <p:nvPr/>
        </p:nvSpPr>
        <p:spPr>
          <a:xfrm>
            <a:off x="6604000" y="5080000"/>
            <a:ext cx="444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每个节点最多d个子节点</a:t>
            </a:r>
            <a:endParaRPr lang="en-US" sz="1100"/>
          </a:p>
        </p:txBody>
      </p:sp>
      <p:sp>
        <p:nvSpPr>
          <p:cNvPr id="21" name="AutoShape 21"/>
          <p:cNvSpPr txBox="1"/>
          <p:nvPr/>
        </p:nvSpPr>
        <p:spPr>
          <a:xfrm>
            <a:off x="1016000" y="5969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定义：</a:t>
            </a:r>
            <a:r>
              <a:rPr lang="en-US" sz="14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d叉堆仍然是一棵完全d叉树，用数组存储，保持堆性质（最大堆或最小堆）。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635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问题 a · 数组表示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1016000" y="1016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如何用数组表示d叉堆？</a:t>
            </a:r>
            <a:r>
              <a:rPr lang="zh-CN" altLang="en-US" sz="2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（</a:t>
            </a:r>
            <a:r>
              <a:rPr lang="en-US" sz="2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父节点和子节点的下标是什么？</a:t>
            </a:r>
            <a:r>
              <a:rPr lang="zh-CN" altLang="en-US" sz="2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）</a:t>
            </a:r>
            <a:endParaRPr lang="zh-CN" altLang="en-US" sz="2600" b="1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1016000" y="2032000"/>
            <a:ext cx="4572000" cy="3556000"/>
          </a:xfrm>
          <a:prstGeom prst="roundRect">
            <a:avLst>
              <a:gd name="adj" fmla="val 2857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 txBox="1"/>
          <p:nvPr/>
        </p:nvSpPr>
        <p:spPr>
          <a:xfrm>
            <a:off x="1270000" y="22225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二叉堆（d = 2）的下标公式</a:t>
            </a:r>
            <a:endParaRPr lang="en-US" sz="11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AutoShape 6"/>
              <p:cNvSpPr txBox="1"/>
              <p:nvPr/>
            </p:nvSpPr>
            <p:spPr>
              <a:xfrm>
                <a:off x="1270000" y="2794000"/>
                <a:ext cx="4064000" cy="5080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ctr" anchorCtr="0"/>
              <a:lstStyle/>
              <a:p>
                <a:pPr marL="0" indent="0" algn="l">
                  <a:lnSpc>
                    <a:spcPct val="125000"/>
                  </a:lnSpc>
                  <a:defRPr/>
                </a:pPr>
                <a:r>
                  <a:rPr lang="en-US" sz="1400" b="0" i="0" u="none" strike="noStrike">
                    <a:solidFill>
                      <a:srgbClr val="1F2937"/>
                    </a:solidFill>
                    <a:latin typeface="Noto Sans SC" panose="020B0200000000000000" charset="-122"/>
                    <a:ea typeface="Noto Sans SC" panose="020B0200000000000000" charset="-122"/>
                    <a:cs typeface="Noto Sans SC" panose="020B0200000000000000" charset="-122"/>
                    <a:sym typeface="Noto Sans SC" panose="020B0200000000000000" charset="-122"/>
                  </a:rPr>
                  <a:t>父节点：</a:t>
                </a:r>
                <a14:m>
                  <m:oMath xmlns:m="http://schemas.openxmlformats.org/officeDocument/2006/math">
                    <m:r>
                      <a:rPr sz="1400">
                        <a:solidFill>
                          <a:srgbClr val="1F2937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rPr>
                      <m:t>𝑝𝑎𝑟𝑒𝑛𝑡</m:t>
                    </m:r>
                    <m:d>
                      <m:dPr>
                        <m:sepChr m:val=","/>
                        <m:ctrlPr>
                          <a:rPr/>
                        </m:ctrlPr>
                      </m:dPr>
                      <m:e>
                        <m:r>
                          <a:rPr sz="1400">
                            <a:solidFill>
                              <a:srgbClr val="1F2937"/>
                            </a:solidFill>
                            <a:latin typeface="Noto Sans SC" panose="020B0200000000000000" charset="-122"/>
                            <a:ea typeface="Noto Sans SC" panose="020B0200000000000000" charset="-122"/>
                            <a:cs typeface="Noto Sans SC" panose="020B0200000000000000" charset="-122"/>
                            <a:sym typeface="Noto Sans SC" panose="020B0200000000000000" charset="-122"/>
                          </a:rPr>
                          <m:t>𝑖</m:t>
                        </m:r>
                      </m:e>
                    </m:d>
                    <m:r>
                      <a:rPr sz="1400">
                        <a:solidFill>
                          <a:srgbClr val="1F2937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rPr>
                      <m:t>=⌊</m:t>
                    </m:r>
                    <m:r>
                      <a:rPr sz="1400">
                        <a:solidFill>
                          <a:srgbClr val="1F2937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rPr>
                      <m:t>𝑖</m:t>
                    </m:r>
                    <m:r>
                      <a:rPr sz="1400">
                        <a:solidFill>
                          <a:srgbClr val="1F2937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rPr>
                      <m:t>/</m:t>
                    </m:r>
                    <m:r>
                      <a:rPr sz="1400">
                        <a:solidFill>
                          <a:srgbClr val="1F2937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rPr>
                      <m:t>2</m:t>
                    </m:r>
                    <m:r>
                      <a:rPr sz="1400">
                        <a:solidFill>
                          <a:srgbClr val="1F2937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rPr>
                      <m:t>⌋</m:t>
                    </m:r>
                  </m:oMath>
                </a14:m>
                <a:endParaRPr lang="en-US" sz="1100"/>
              </a:p>
            </p:txBody>
          </p:sp>
        </mc:Choice>
        <mc:Fallback>
          <p:sp>
            <p:nvSpPr>
              <p:cNvPr id="6" name="AutoShape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0000" y="2794000"/>
                <a:ext cx="4064000" cy="508000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  <a:ln w="12700" cap="flat" cmpd="sng">
                <a:noFill/>
                <a:prstDash val="solid"/>
                <a:rou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AutoShape 7"/>
              <p:cNvSpPr txBox="1"/>
              <p:nvPr/>
            </p:nvSpPr>
            <p:spPr>
              <a:xfrm>
                <a:off x="1270000" y="3429000"/>
                <a:ext cx="4064000" cy="5080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ctr" anchorCtr="0"/>
              <a:lstStyle/>
              <a:p>
                <a:pPr marL="0" indent="0" algn="l">
                  <a:lnSpc>
                    <a:spcPct val="125000"/>
                  </a:lnSpc>
                  <a:defRPr/>
                </a:pPr>
                <a:r>
                  <a:rPr lang="en-US" sz="1400" b="0" i="0" u="none" strike="noStrike">
                    <a:solidFill>
                      <a:srgbClr val="1F2937"/>
                    </a:solidFill>
                    <a:latin typeface="Noto Sans SC" panose="020B0200000000000000" charset="-122"/>
                    <a:ea typeface="Noto Sans SC" panose="020B0200000000000000" charset="-122"/>
                    <a:cs typeface="Noto Sans SC" panose="020B0200000000000000" charset="-122"/>
                    <a:sym typeface="Noto Sans SC" panose="020B0200000000000000" charset="-122"/>
                  </a:rPr>
                  <a:t>左孩子：</a:t>
                </a:r>
                <a14:m>
                  <m:oMath xmlns:m="http://schemas.openxmlformats.org/officeDocument/2006/math">
                    <m:r>
                      <a:rPr sz="1400">
                        <a:solidFill>
                          <a:srgbClr val="1F2937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rPr>
                      <m:t>𝑙𝑒𝑓𝑡</m:t>
                    </m:r>
                    <m:d>
                      <m:dPr>
                        <m:sepChr m:val=","/>
                        <m:ctrlPr>
                          <a:rPr/>
                        </m:ctrlPr>
                      </m:dPr>
                      <m:e>
                        <m:r>
                          <a:rPr sz="1400">
                            <a:solidFill>
                              <a:srgbClr val="1F2937"/>
                            </a:solidFill>
                            <a:latin typeface="Noto Sans SC" panose="020B0200000000000000" charset="-122"/>
                            <a:ea typeface="Noto Sans SC" panose="020B0200000000000000" charset="-122"/>
                            <a:cs typeface="Noto Sans SC" panose="020B0200000000000000" charset="-122"/>
                            <a:sym typeface="Noto Sans SC" panose="020B0200000000000000" charset="-122"/>
                          </a:rPr>
                          <m:t>𝑖</m:t>
                        </m:r>
                      </m:e>
                    </m:d>
                    <m:r>
                      <a:rPr sz="1400">
                        <a:solidFill>
                          <a:srgbClr val="1F2937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rPr>
                      <m:t>=</m:t>
                    </m:r>
                    <m:r>
                      <a:rPr sz="1400">
                        <a:solidFill>
                          <a:srgbClr val="1F2937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rPr>
                      <m:t>2</m:t>
                    </m:r>
                    <m:r>
                      <a:rPr sz="1400">
                        <a:solidFill>
                          <a:srgbClr val="1F2937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rPr>
                      <m:t>𝑖</m:t>
                    </m:r>
                  </m:oMath>
                </a14:m>
                <a:endParaRPr lang="en-US" sz="1100"/>
              </a:p>
            </p:txBody>
          </p:sp>
        </mc:Choice>
        <mc:Fallback>
          <p:sp>
            <p:nvSpPr>
              <p:cNvPr id="7" name="AutoShape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0000" y="3429000"/>
                <a:ext cx="4064000" cy="50800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  <a:ln w="12700" cap="flat" cmpd="sng">
                <a:noFill/>
                <a:prstDash val="solid"/>
                <a:rou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AutoShape 8"/>
              <p:cNvSpPr txBox="1"/>
              <p:nvPr/>
            </p:nvSpPr>
            <p:spPr>
              <a:xfrm>
                <a:off x="1270000" y="4064000"/>
                <a:ext cx="4064000" cy="5080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ctr" anchorCtr="0"/>
              <a:lstStyle/>
              <a:p>
                <a:pPr marL="0" indent="0" algn="l">
                  <a:lnSpc>
                    <a:spcPct val="125000"/>
                  </a:lnSpc>
                  <a:defRPr/>
                </a:pPr>
                <a:r>
                  <a:rPr lang="en-US" sz="1400" b="0" i="0" u="none" strike="noStrike">
                    <a:solidFill>
                      <a:srgbClr val="1F2937"/>
                    </a:solidFill>
                    <a:latin typeface="Noto Sans SC" panose="020B0200000000000000" charset="-122"/>
                    <a:ea typeface="Noto Sans SC" panose="020B0200000000000000" charset="-122"/>
                    <a:cs typeface="Noto Sans SC" panose="020B0200000000000000" charset="-122"/>
                    <a:sym typeface="Noto Sans SC" panose="020B0200000000000000" charset="-122"/>
                  </a:rPr>
                  <a:t>右孩子：</a:t>
                </a:r>
                <a14:m>
                  <m:oMath xmlns:m="http://schemas.openxmlformats.org/officeDocument/2006/math">
                    <m:r>
                      <a:rPr sz="1400">
                        <a:solidFill>
                          <a:srgbClr val="1F2937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rPr>
                      <m:t>𝑟𝑖𝑔ℎ𝑡</m:t>
                    </m:r>
                    <m:d>
                      <m:dPr>
                        <m:sepChr m:val=","/>
                        <m:ctrlPr>
                          <a:rPr/>
                        </m:ctrlPr>
                      </m:dPr>
                      <m:e>
                        <m:r>
                          <a:rPr sz="1400">
                            <a:solidFill>
                              <a:srgbClr val="1F2937"/>
                            </a:solidFill>
                            <a:latin typeface="Noto Sans SC" panose="020B0200000000000000" charset="-122"/>
                            <a:ea typeface="Noto Sans SC" panose="020B0200000000000000" charset="-122"/>
                            <a:cs typeface="Noto Sans SC" panose="020B0200000000000000" charset="-122"/>
                            <a:sym typeface="Noto Sans SC" panose="020B0200000000000000" charset="-122"/>
                          </a:rPr>
                          <m:t>𝑖</m:t>
                        </m:r>
                      </m:e>
                    </m:d>
                    <m:r>
                      <a:rPr sz="1400">
                        <a:solidFill>
                          <a:srgbClr val="1F2937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rPr>
                      <m:t>=</m:t>
                    </m:r>
                    <m:r>
                      <a:rPr sz="1400">
                        <a:solidFill>
                          <a:srgbClr val="1F2937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rPr>
                      <m:t>2</m:t>
                    </m:r>
                    <m:r>
                      <a:rPr sz="1400">
                        <a:solidFill>
                          <a:srgbClr val="1F2937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rPr>
                      <m:t>𝑖</m:t>
                    </m:r>
                    <m:r>
                      <a:rPr sz="1400">
                        <a:solidFill>
                          <a:srgbClr val="1F2937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rPr>
                      <m:t>+</m:t>
                    </m:r>
                    <m:r>
                      <a:rPr sz="1400">
                        <a:solidFill>
                          <a:srgbClr val="1F2937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rPr>
                      <m:t>1</m:t>
                    </m:r>
                  </m:oMath>
                </a14:m>
                <a:endParaRPr lang="en-US" sz="1100"/>
              </a:p>
            </p:txBody>
          </p:sp>
        </mc:Choice>
        <mc:Fallback>
          <p:sp>
            <p:nvSpPr>
              <p:cNvPr id="8" name="AutoShape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0000" y="4064000"/>
                <a:ext cx="4064000" cy="50800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  <a:ln w="12700" cap="flat" cmpd="sng">
                <a:noFill/>
                <a:prstDash val="solid"/>
                <a:rou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AutoShape 9"/>
          <p:cNvSpPr txBox="1"/>
          <p:nvPr/>
        </p:nvSpPr>
        <p:spPr>
          <a:xfrm>
            <a:off x="1270000" y="4826000"/>
            <a:ext cx="406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下标从1开始，根节点是A[1]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096000" y="2032000"/>
            <a:ext cx="5080000" cy="3556000"/>
          </a:xfrm>
          <a:prstGeom prst="roundRect">
            <a:avLst>
              <a:gd name="adj" fmla="val 2857"/>
            </a:avLst>
          </a:prstGeom>
          <a:solidFill>
            <a:srgbClr val="2563EB">
              <a:alpha val="5000"/>
            </a:srgbClr>
          </a:solidFill>
          <a:ln w="12700" cap="flat" cmpd="sng">
            <a:solidFill>
              <a:srgbClr val="2563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 txBox="1"/>
          <p:nvPr/>
        </p:nvSpPr>
        <p:spPr>
          <a:xfrm>
            <a:off x="6350000" y="22225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d叉堆的下标公式（推广）</a:t>
            </a:r>
            <a:endParaRPr lang="en-US" sz="11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AutoShape 12"/>
              <p:cNvSpPr txBox="1"/>
              <p:nvPr/>
            </p:nvSpPr>
            <p:spPr>
              <a:xfrm>
                <a:off x="6350000" y="2794000"/>
                <a:ext cx="4572000" cy="8890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ctr" anchorCtr="0"/>
              <a:lstStyle/>
              <a:p>
                <a:pPr marL="0" indent="0" algn="l">
                  <a:lnSpc>
                    <a:spcPct val="125000"/>
                  </a:lnSpc>
                  <a:defRPr/>
                </a:pPr>
                <a:r>
                  <a:rPr lang="en-US" sz="1400" b="0" i="0" u="none" strike="noStrike">
                    <a:solidFill>
                      <a:srgbClr val="1F2937"/>
                    </a:solidFill>
                    <a:latin typeface="Noto Sans SC" panose="020B0200000000000000" charset="-122"/>
                    <a:ea typeface="Noto Sans SC" panose="020B0200000000000000" charset="-122"/>
                    <a:cs typeface="Noto Sans SC" panose="020B0200000000000000" charset="-122"/>
                    <a:sym typeface="Noto Sans SC" panose="020B0200000000000000" charset="-122"/>
                  </a:rPr>
                  <a:t>父节点：</a:t>
                </a:r>
                <a:endParaRPr lang="en-US" sz="1100"/>
              </a:p>
              <a:p>
                <a:pPr marL="0" indent="0" algn="l">
                  <a:lnSpc>
                    <a:spcPct val="125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sz="1400">
                          <a:solidFill>
                            <a:srgbClr val="1F2937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m:t>𝑝𝑎𝑟𝑒𝑛𝑡</m:t>
                      </m:r>
                      <m:d>
                        <m:dPr>
                          <m:sepChr m:val=","/>
                          <m:ctrlPr>
                            <a:rPr/>
                          </m:ctrlPr>
                        </m:dPr>
                        <m:e>
                          <m:r>
                            <a:rPr sz="1400">
                              <a:solidFill>
                                <a:srgbClr val="1F2937"/>
                              </a:solidFill>
                              <a:latin typeface="Noto Sans SC" panose="020B0200000000000000" charset="-122"/>
                              <a:ea typeface="Noto Sans SC" panose="020B0200000000000000" charset="-122"/>
                              <a:cs typeface="Noto Sans SC" panose="020B0200000000000000" charset="-122"/>
                              <a:sym typeface="Noto Sans SC" panose="020B0200000000000000" charset="-122"/>
                            </a:rPr>
                            <m:t>𝑖</m:t>
                          </m:r>
                        </m:e>
                      </m:d>
                      <m:r>
                        <a:rPr sz="1400">
                          <a:solidFill>
                            <a:srgbClr val="1F2937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m:t>=⌊</m:t>
                      </m:r>
                      <m:f>
                        <m:fPr>
                          <m:ctrlPr>
                            <a:rPr/>
                          </m:ctrlPr>
                        </m:fPr>
                        <m:num>
                          <m:r>
                            <a:rPr sz="1400">
                              <a:solidFill>
                                <a:srgbClr val="1F2937"/>
                              </a:solidFill>
                              <a:latin typeface="Noto Sans SC" panose="020B0200000000000000" charset="-122"/>
                              <a:ea typeface="Noto Sans SC" panose="020B0200000000000000" charset="-122"/>
                              <a:cs typeface="Noto Sans SC" panose="020B0200000000000000" charset="-122"/>
                              <a:sym typeface="Noto Sans SC" panose="020B0200000000000000" charset="-122"/>
                            </a:rPr>
                            <m:t>𝑖</m:t>
                          </m:r>
                          <m:r>
                            <a:rPr sz="1400">
                              <a:solidFill>
                                <a:srgbClr val="1F2937"/>
                              </a:solidFill>
                              <a:latin typeface="Noto Sans SC" panose="020B0200000000000000" charset="-122"/>
                              <a:ea typeface="Noto Sans SC" panose="020B0200000000000000" charset="-122"/>
                              <a:cs typeface="Noto Sans SC" panose="020B0200000000000000" charset="-122"/>
                              <a:sym typeface="Noto Sans SC" panose="020B0200000000000000" charset="-122"/>
                            </a:rPr>
                            <m:t>−</m:t>
                          </m:r>
                          <m:r>
                            <a:rPr sz="1400">
                              <a:solidFill>
                                <a:srgbClr val="1F2937"/>
                              </a:solidFill>
                              <a:latin typeface="Noto Sans SC" panose="020B0200000000000000" charset="-122"/>
                              <a:ea typeface="Noto Sans SC" panose="020B0200000000000000" charset="-122"/>
                              <a:cs typeface="Noto Sans SC" panose="020B0200000000000000" charset="-122"/>
                              <a:sym typeface="Noto Sans SC" panose="020B0200000000000000" charset="-122"/>
                            </a:rPr>
                            <m:t>2</m:t>
                          </m:r>
                        </m:num>
                        <m:den>
                          <m:r>
                            <a:rPr sz="1400">
                              <a:solidFill>
                                <a:srgbClr val="1F2937"/>
                              </a:solidFill>
                              <a:latin typeface="Noto Sans SC" panose="020B0200000000000000" charset="-122"/>
                              <a:ea typeface="Noto Sans SC" panose="020B0200000000000000" charset="-122"/>
                              <a:cs typeface="Noto Sans SC" panose="020B0200000000000000" charset="-122"/>
                              <a:sym typeface="Noto Sans SC" panose="020B0200000000000000" charset="-122"/>
                            </a:rPr>
                            <m:t>𝑑</m:t>
                          </m:r>
                        </m:den>
                      </m:f>
                      <m:r>
                        <a:rPr sz="1400">
                          <a:solidFill>
                            <a:srgbClr val="1F2937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m:t>⌋+</m:t>
                      </m:r>
                      <m:r>
                        <a:rPr sz="1400">
                          <a:solidFill>
                            <a:srgbClr val="1F2937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m:t>1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12" name="AutoShape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0000" y="2794000"/>
                <a:ext cx="4572000" cy="88900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  <a:ln w="12700" cap="flat" cmpd="sng">
                <a:noFill/>
                <a:prstDash val="solid"/>
                <a:rou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AutoShape 13"/>
              <p:cNvSpPr txBox="1"/>
              <p:nvPr/>
            </p:nvSpPr>
            <p:spPr>
              <a:xfrm>
                <a:off x="6350000" y="3937000"/>
                <a:ext cx="4572000" cy="8890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ctr" anchorCtr="0"/>
              <a:lstStyle/>
              <a:p>
                <a:pPr marL="0" indent="0" algn="l">
                  <a:lnSpc>
                    <a:spcPct val="125000"/>
                  </a:lnSpc>
                  <a:defRPr/>
                </a:pPr>
                <a:r>
                  <a:rPr lang="en-US" sz="1400" b="0" i="0" u="none" strike="noStrike">
                    <a:solidFill>
                      <a:srgbClr val="1F2937"/>
                    </a:solidFill>
                    <a:latin typeface="Noto Sans SC" panose="020B0200000000000000" charset="-122"/>
                    <a:ea typeface="Noto Sans SC" panose="020B0200000000000000" charset="-122"/>
                    <a:cs typeface="Noto Sans SC" panose="020B0200000000000000" charset="-122"/>
                    <a:sym typeface="Noto Sans SC" panose="020B0200000000000000" charset="-122"/>
                  </a:rPr>
                  <a:t>第k个子节点（k = 1, 2, ..., d）：</a:t>
                </a:r>
                <a:endParaRPr lang="en-US" sz="1100"/>
              </a:p>
              <a:p>
                <a:pPr marL="0" indent="0" algn="l">
                  <a:lnSpc>
                    <a:spcPct val="125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sz="1400">
                          <a:solidFill>
                            <a:srgbClr val="1F2937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m:t>𝑐ℎ𝑖𝑙𝑑</m:t>
                      </m:r>
                      <m:d>
                        <m:dPr>
                          <m:sepChr m:val=","/>
                          <m:ctrlPr>
                            <a:rPr/>
                          </m:ctrlPr>
                        </m:dPr>
                        <m:e>
                          <m:r>
                            <a:rPr sz="1400">
                              <a:solidFill>
                                <a:srgbClr val="1F2937"/>
                              </a:solidFill>
                              <a:latin typeface="Noto Sans SC" panose="020B0200000000000000" charset="-122"/>
                              <a:ea typeface="Noto Sans SC" panose="020B0200000000000000" charset="-122"/>
                              <a:cs typeface="Noto Sans SC" panose="020B0200000000000000" charset="-122"/>
                              <a:sym typeface="Noto Sans SC" panose="020B0200000000000000" charset="-122"/>
                            </a:rPr>
                            <m:t>𝑖</m:t>
                          </m:r>
                        </m:e>
                        <m:e>
                          <m:r>
                            <a:rPr sz="1400">
                              <a:solidFill>
                                <a:srgbClr val="1F2937"/>
                              </a:solidFill>
                              <a:latin typeface="Noto Sans SC" panose="020B0200000000000000" charset="-122"/>
                              <a:ea typeface="Noto Sans SC" panose="020B0200000000000000" charset="-122"/>
                              <a:cs typeface="Noto Sans SC" panose="020B0200000000000000" charset="-122"/>
                              <a:sym typeface="Noto Sans SC" panose="020B0200000000000000" charset="-122"/>
                            </a:rPr>
                            <m:t>𝑘</m:t>
                          </m:r>
                        </m:e>
                      </m:d>
                      <m:r>
                        <a:rPr sz="1400">
                          <a:solidFill>
                            <a:srgbClr val="1F2937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m:t>=</m:t>
                      </m:r>
                      <m:r>
                        <a:rPr sz="1400">
                          <a:solidFill>
                            <a:srgbClr val="1F2937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m:t>𝑑</m:t>
                      </m:r>
                      <m:d>
                        <m:dPr>
                          <m:sepChr m:val=","/>
                          <m:ctrlPr>
                            <a:rPr/>
                          </m:ctrlPr>
                        </m:dPr>
                        <m:e>
                          <m:r>
                            <a:rPr sz="1400">
                              <a:solidFill>
                                <a:srgbClr val="1F2937"/>
                              </a:solidFill>
                              <a:latin typeface="Noto Sans SC" panose="020B0200000000000000" charset="-122"/>
                              <a:ea typeface="Noto Sans SC" panose="020B0200000000000000" charset="-122"/>
                              <a:cs typeface="Noto Sans SC" panose="020B0200000000000000" charset="-122"/>
                              <a:sym typeface="Noto Sans SC" panose="020B0200000000000000" charset="-122"/>
                            </a:rPr>
                            <m:t>𝑖</m:t>
                          </m:r>
                          <m:r>
                            <a:rPr sz="1400">
                              <a:solidFill>
                                <a:srgbClr val="1F2937"/>
                              </a:solidFill>
                              <a:latin typeface="Noto Sans SC" panose="020B0200000000000000" charset="-122"/>
                              <a:ea typeface="Noto Sans SC" panose="020B0200000000000000" charset="-122"/>
                              <a:cs typeface="Noto Sans SC" panose="020B0200000000000000" charset="-122"/>
                              <a:sym typeface="Noto Sans SC" panose="020B0200000000000000" charset="-122"/>
                            </a:rPr>
                            <m:t>−</m:t>
                          </m:r>
                          <m:r>
                            <a:rPr sz="1400">
                              <a:solidFill>
                                <a:srgbClr val="1F2937"/>
                              </a:solidFill>
                              <a:latin typeface="Noto Sans SC" panose="020B0200000000000000" charset="-122"/>
                              <a:ea typeface="Noto Sans SC" panose="020B0200000000000000" charset="-122"/>
                              <a:cs typeface="Noto Sans SC" panose="020B0200000000000000" charset="-122"/>
                              <a:sym typeface="Noto Sans SC" panose="020B0200000000000000" charset="-122"/>
                            </a:rPr>
                            <m:t>1</m:t>
                          </m:r>
                        </m:e>
                      </m:d>
                      <m:r>
                        <a:rPr sz="1400">
                          <a:solidFill>
                            <a:srgbClr val="1F2937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m:t>+</m:t>
                      </m:r>
                      <m:r>
                        <a:rPr sz="1400">
                          <a:solidFill>
                            <a:srgbClr val="1F2937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m:t>𝑘</m:t>
                      </m:r>
                      <m:r>
                        <a:rPr sz="1400">
                          <a:solidFill>
                            <a:srgbClr val="1F2937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m:t>+</m:t>
                      </m:r>
                      <m:r>
                        <a:rPr sz="1400">
                          <a:solidFill>
                            <a:srgbClr val="1F2937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m:t>1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13" name="AutoShape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0000" y="3937000"/>
                <a:ext cx="4572000" cy="88900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  <a:ln w="12700" cap="flat" cmpd="sng">
                <a:noFill/>
                <a:prstDash val="solid"/>
                <a:rou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AutoShape 14"/>
          <p:cNvSpPr txBox="1"/>
          <p:nvPr/>
        </p:nvSpPr>
        <p:spPr>
          <a:xfrm>
            <a:off x="6350000" y="4826000"/>
            <a:ext cx="457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验证：i=1（根），第1个子节点 = d(0)+1+1 = 2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635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问题 b · 堆高度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1016000" y="1016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n个元素的d叉堆，高度是多少？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2032000"/>
            <a:ext cx="10160000" cy="2032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 txBox="1"/>
          <p:nvPr/>
        </p:nvSpPr>
        <p:spPr>
          <a:xfrm>
            <a:off x="1270000" y="2222500"/>
            <a:ext cx="965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推导过程</a:t>
            </a:r>
            <a:endParaRPr lang="en-US" sz="1100"/>
          </a:p>
        </p:txBody>
      </p:sp>
      <p:sp>
        <p:nvSpPr>
          <p:cNvPr id="6" name="AutoShape 6"/>
          <p:cNvSpPr txBox="1"/>
          <p:nvPr/>
        </p:nvSpPr>
        <p:spPr>
          <a:xfrm>
            <a:off x="1270000" y="2730500"/>
            <a:ext cx="965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高度为h的d叉树，节点数范围：</a:t>
            </a:r>
            <a:endParaRPr lang="en-US" sz="11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AutoShape 7"/>
              <p:cNvSpPr txBox="1"/>
              <p:nvPr/>
            </p:nvSpPr>
            <p:spPr>
              <a:xfrm>
                <a:off x="1270000" y="3175000"/>
                <a:ext cx="9652000" cy="3810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ctr" anchorCtr="0"/>
              <a:lstStyle/>
              <a:p>
                <a:pPr marL="0" indent="0" algn="l">
                  <a:lnSpc>
                    <a:spcPct val="125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/>
                          </m:ctrlPr>
                        </m:sSupPr>
                        <m:e>
                          <m:r>
                            <a:rPr sz="1400">
                              <a:solidFill>
                                <a:srgbClr val="1F2937"/>
                              </a:solidFill>
                              <a:latin typeface="Noto Sans SC" panose="020B0200000000000000" charset="-122"/>
                              <a:ea typeface="Noto Sans SC" panose="020B0200000000000000" charset="-122"/>
                              <a:cs typeface="Noto Sans SC" panose="020B0200000000000000" charset="-122"/>
                              <a:sym typeface="Noto Sans SC" panose="020B0200000000000000" charset="-122"/>
                            </a:rPr>
                            <m:t>𝑑</m:t>
                          </m:r>
                        </m:e>
                        <m:sup>
                          <m:r>
                            <a:rPr sz="1400">
                              <a:solidFill>
                                <a:srgbClr val="1F2937"/>
                              </a:solidFill>
                              <a:latin typeface="Noto Sans SC" panose="020B0200000000000000" charset="-122"/>
                              <a:ea typeface="Noto Sans SC" panose="020B0200000000000000" charset="-122"/>
                              <a:cs typeface="Noto Sans SC" panose="020B0200000000000000" charset="-122"/>
                              <a:sym typeface="Noto Sans SC" panose="020B0200000000000000" charset="-122"/>
                            </a:rPr>
                            <m:t>0</m:t>
                          </m:r>
                        </m:sup>
                      </m:sSup>
                      <m:r>
                        <a:rPr sz="1400">
                          <a:solidFill>
                            <a:srgbClr val="1F2937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m:t>+</m:t>
                      </m:r>
                      <m:sSup>
                        <m:sSupPr>
                          <m:ctrlPr>
                            <a:rPr/>
                          </m:ctrlPr>
                        </m:sSupPr>
                        <m:e>
                          <m:r>
                            <a:rPr sz="1400">
                              <a:solidFill>
                                <a:srgbClr val="1F2937"/>
                              </a:solidFill>
                              <a:latin typeface="Noto Sans SC" panose="020B0200000000000000" charset="-122"/>
                              <a:ea typeface="Noto Sans SC" panose="020B0200000000000000" charset="-122"/>
                              <a:cs typeface="Noto Sans SC" panose="020B0200000000000000" charset="-122"/>
                              <a:sym typeface="Noto Sans SC" panose="020B0200000000000000" charset="-122"/>
                            </a:rPr>
                            <m:t>𝑑</m:t>
                          </m:r>
                        </m:e>
                        <m:sup>
                          <m:r>
                            <a:rPr sz="1400">
                              <a:solidFill>
                                <a:srgbClr val="1F2937"/>
                              </a:solidFill>
                              <a:latin typeface="Noto Sans SC" panose="020B0200000000000000" charset="-122"/>
                              <a:ea typeface="Noto Sans SC" panose="020B0200000000000000" charset="-122"/>
                              <a:cs typeface="Noto Sans SC" panose="020B0200000000000000" charset="-122"/>
                              <a:sym typeface="Noto Sans SC" panose="020B0200000000000000" charset="-122"/>
                            </a:rPr>
                            <m:t>1</m:t>
                          </m:r>
                        </m:sup>
                      </m:sSup>
                      <m:r>
                        <a:rPr sz="1400">
                          <a:solidFill>
                            <a:srgbClr val="1F2937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m:t>+</m:t>
                      </m:r>
                      <m:r>
                        <a:rPr lang="en-US" sz="1400">
                          <a:solidFill>
                            <a:srgbClr val="1F2937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m:t>...</m:t>
                      </m:r>
                      <m:r>
                        <a:rPr sz="1400">
                          <a:solidFill>
                            <a:srgbClr val="1F2937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m:t>+</m:t>
                      </m:r>
                      <m:sSup>
                        <m:sSupPr>
                          <m:ctrlPr>
                            <a:rPr/>
                          </m:ctrlPr>
                        </m:sSupPr>
                        <m:e>
                          <m:r>
                            <a:rPr sz="1400">
                              <a:solidFill>
                                <a:srgbClr val="1F2937"/>
                              </a:solidFill>
                              <a:latin typeface="Noto Sans SC" panose="020B0200000000000000" charset="-122"/>
                              <a:ea typeface="Noto Sans SC" panose="020B0200000000000000" charset="-122"/>
                              <a:cs typeface="Noto Sans SC" panose="020B0200000000000000" charset="-122"/>
                              <a:sym typeface="Noto Sans SC" panose="020B0200000000000000" charset="-122"/>
                            </a:rPr>
                            <m:t>𝑑</m:t>
                          </m:r>
                        </m:e>
                        <m:sup>
                          <m:r>
                            <a:rPr sz="1400">
                              <a:solidFill>
                                <a:srgbClr val="1F2937"/>
                              </a:solidFill>
                              <a:latin typeface="Noto Sans SC" panose="020B0200000000000000" charset="-122"/>
                              <a:ea typeface="Noto Sans SC" panose="020B0200000000000000" charset="-122"/>
                              <a:cs typeface="Noto Sans SC" panose="020B0200000000000000" charset="-122"/>
                              <a:sym typeface="Noto Sans SC" panose="020B0200000000000000" charset="-122"/>
                            </a:rPr>
                            <m:t>ℎ</m:t>
                          </m:r>
                          <m:r>
                            <a:rPr lang="en-US" sz="1400">
                              <a:solidFill>
                                <a:srgbClr val="1F2937"/>
                              </a:solidFill>
                              <a:latin typeface="Noto Sans SC" panose="020B0200000000000000" charset="-122"/>
                              <a:ea typeface="Noto Sans SC" panose="020B0200000000000000" charset="-122"/>
                              <a:cs typeface="Noto Sans SC" panose="020B0200000000000000" charset="-122"/>
                              <a:sym typeface="Noto Sans SC" panose="020B0200000000000000" charset="-122"/>
                            </a:rPr>
                            <m:t>−</m:t>
                          </m:r>
                          <m:r>
                            <a:rPr sz="1400">
                              <a:solidFill>
                                <a:srgbClr val="1F2937"/>
                              </a:solidFill>
                              <a:latin typeface="Noto Sans SC" panose="020B0200000000000000" charset="-122"/>
                              <a:ea typeface="Noto Sans SC" panose="020B0200000000000000" charset="-122"/>
                              <a:cs typeface="Noto Sans SC" panose="020B0200000000000000" charset="-122"/>
                              <a:sym typeface="Noto Sans SC" panose="020B0200000000000000" charset="-122"/>
                            </a:rPr>
                            <m:t>1</m:t>
                          </m:r>
                        </m:sup>
                      </m:sSup>
                      <m:r>
                        <a:rPr sz="1400">
                          <a:solidFill>
                            <a:srgbClr val="1F2937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m:t>&lt;</m:t>
                      </m:r>
                      <m:r>
                        <a:rPr sz="1400">
                          <a:solidFill>
                            <a:srgbClr val="1F2937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m:t>𝑛</m:t>
                      </m:r>
                      <m:r>
                        <a:rPr sz="1400">
                          <a:solidFill>
                            <a:srgbClr val="1F2937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m:t>≤</m:t>
                      </m:r>
                      <m:sSup>
                        <m:sSupPr>
                          <m:ctrlPr>
                            <a:rPr/>
                          </m:ctrlPr>
                        </m:sSupPr>
                        <m:e>
                          <m:r>
                            <a:rPr sz="1400">
                              <a:solidFill>
                                <a:srgbClr val="1F2937"/>
                              </a:solidFill>
                              <a:latin typeface="Noto Sans SC" panose="020B0200000000000000" charset="-122"/>
                              <a:ea typeface="Noto Sans SC" panose="020B0200000000000000" charset="-122"/>
                              <a:cs typeface="Noto Sans SC" panose="020B0200000000000000" charset="-122"/>
                              <a:sym typeface="Noto Sans SC" panose="020B0200000000000000" charset="-122"/>
                            </a:rPr>
                            <m:t>𝑑</m:t>
                          </m:r>
                        </m:e>
                        <m:sup>
                          <m:r>
                            <a:rPr sz="1400">
                              <a:solidFill>
                                <a:srgbClr val="1F2937"/>
                              </a:solidFill>
                              <a:latin typeface="Noto Sans SC" panose="020B0200000000000000" charset="-122"/>
                              <a:ea typeface="Noto Sans SC" panose="020B0200000000000000" charset="-122"/>
                              <a:cs typeface="Noto Sans SC" panose="020B0200000000000000" charset="-122"/>
                              <a:sym typeface="Noto Sans SC" panose="020B0200000000000000" charset="-122"/>
                            </a:rPr>
                            <m:t>0</m:t>
                          </m:r>
                        </m:sup>
                      </m:sSup>
                      <m:r>
                        <a:rPr sz="1400">
                          <a:solidFill>
                            <a:srgbClr val="1F2937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m:t>+</m:t>
                      </m:r>
                      <m:sSup>
                        <m:sSupPr>
                          <m:ctrlPr>
                            <a:rPr/>
                          </m:ctrlPr>
                        </m:sSupPr>
                        <m:e>
                          <m:r>
                            <a:rPr sz="1400">
                              <a:solidFill>
                                <a:srgbClr val="1F2937"/>
                              </a:solidFill>
                              <a:latin typeface="Noto Sans SC" panose="020B0200000000000000" charset="-122"/>
                              <a:ea typeface="Noto Sans SC" panose="020B0200000000000000" charset="-122"/>
                              <a:cs typeface="Noto Sans SC" panose="020B0200000000000000" charset="-122"/>
                              <a:sym typeface="Noto Sans SC" panose="020B0200000000000000" charset="-122"/>
                            </a:rPr>
                            <m:t>𝑑</m:t>
                          </m:r>
                        </m:e>
                        <m:sup>
                          <m:r>
                            <a:rPr sz="1400">
                              <a:solidFill>
                                <a:srgbClr val="1F2937"/>
                              </a:solidFill>
                              <a:latin typeface="Noto Sans SC" panose="020B0200000000000000" charset="-122"/>
                              <a:ea typeface="Noto Sans SC" panose="020B0200000000000000" charset="-122"/>
                              <a:cs typeface="Noto Sans SC" panose="020B0200000000000000" charset="-122"/>
                              <a:sym typeface="Noto Sans SC" panose="020B0200000000000000" charset="-122"/>
                            </a:rPr>
                            <m:t>1</m:t>
                          </m:r>
                        </m:sup>
                      </m:sSup>
                      <m:r>
                        <a:rPr sz="1400">
                          <a:solidFill>
                            <a:srgbClr val="1F2937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m:t>+</m:t>
                      </m:r>
                      <m:r>
                        <a:rPr lang="en-US" sz="1400">
                          <a:solidFill>
                            <a:srgbClr val="1F2937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m:t>...</m:t>
                      </m:r>
                      <m:r>
                        <a:rPr sz="1400">
                          <a:solidFill>
                            <a:srgbClr val="1F2937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m:t>+</m:t>
                      </m:r>
                      <m:sSup>
                        <m:sSupPr>
                          <m:ctrlPr>
                            <a:rPr/>
                          </m:ctrlPr>
                        </m:sSupPr>
                        <m:e>
                          <m:r>
                            <a:rPr sz="1400">
                              <a:solidFill>
                                <a:srgbClr val="1F2937"/>
                              </a:solidFill>
                              <a:latin typeface="Noto Sans SC" panose="020B0200000000000000" charset="-122"/>
                              <a:ea typeface="Noto Sans SC" panose="020B0200000000000000" charset="-122"/>
                              <a:cs typeface="Noto Sans SC" panose="020B0200000000000000" charset="-122"/>
                              <a:sym typeface="Noto Sans SC" panose="020B0200000000000000" charset="-122"/>
                            </a:rPr>
                            <m:t>𝑑</m:t>
                          </m:r>
                        </m:e>
                        <m:sup>
                          <m:r>
                            <a:rPr sz="1400">
                              <a:solidFill>
                                <a:srgbClr val="1F2937"/>
                              </a:solidFill>
                              <a:latin typeface="Noto Sans SC" panose="020B0200000000000000" charset="-122"/>
                              <a:ea typeface="Noto Sans SC" panose="020B0200000000000000" charset="-122"/>
                              <a:cs typeface="Noto Sans SC" panose="020B0200000000000000" charset="-122"/>
                              <a:sym typeface="Noto Sans SC" panose="020B0200000000000000" charset="-122"/>
                            </a:rPr>
                            <m:t>ℎ</m:t>
                          </m:r>
                        </m:sup>
                      </m:sSup>
                    </m:oMath>
                  </m:oMathPara>
                </a14:m>
                <a:endParaRPr lang="en-US" sz="1100"/>
              </a:p>
            </p:txBody>
          </p:sp>
        </mc:Choice>
        <mc:Fallback>
          <p:sp>
            <p:nvSpPr>
              <p:cNvPr id="7" name="AutoShape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0000" y="3175000"/>
                <a:ext cx="9652000" cy="381000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  <a:ln w="12700" cap="flat" cmpd="sng">
                <a:noFill/>
                <a:prstDash val="solid"/>
                <a:rou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AutoShape 8"/>
              <p:cNvSpPr txBox="1"/>
              <p:nvPr/>
            </p:nvSpPr>
            <p:spPr>
              <a:xfrm>
                <a:off x="1270000" y="3619500"/>
                <a:ext cx="9652000" cy="3810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ctr" anchorCtr="0"/>
              <a:lstStyle/>
              <a:p>
                <a:pPr marL="0" indent="0" algn="l">
                  <a:lnSpc>
                    <a:spcPct val="125000"/>
                  </a:lnSpc>
                  <a:defRPr/>
                </a:pPr>
                <a:r>
                  <a:rPr lang="en-US" sz="1400" b="0" i="0" u="none" strike="noStrike">
                    <a:solidFill>
                      <a:srgbClr val="1F2937"/>
                    </a:solidFill>
                    <a:latin typeface="Noto Sans SC" panose="020B0200000000000000" charset="-122"/>
                    <a:ea typeface="Noto Sans SC" panose="020B0200000000000000" charset="-122"/>
                    <a:cs typeface="Noto Sans SC" panose="020B0200000000000000" charset="-122"/>
                    <a:sym typeface="Noto Sans SC" panose="020B0200000000000000" charset="-122"/>
                  </a:rPr>
                  <a:t>等比数列求和：</a:t>
                </a:r>
                <a14:m>
                  <m:oMath xmlns:m="http://schemas.openxmlformats.org/officeDocument/2006/math">
                    <m:f>
                      <m:fPr>
                        <m:ctrlPr>
                          <a:rPr/>
                        </m:ctrlPr>
                      </m:fPr>
                      <m:num>
                        <m:sSup>
                          <m:sSupPr>
                            <m:ctrlPr>
                              <a:rPr/>
                            </m:ctrlPr>
                          </m:sSupPr>
                          <m:e>
                            <m:r>
                              <a:rPr sz="1400">
                                <a:solidFill>
                                  <a:srgbClr val="1F2937"/>
                                </a:solidFill>
                                <a:latin typeface="Noto Sans SC" panose="020B0200000000000000" charset="-122"/>
                                <a:ea typeface="Noto Sans SC" panose="020B0200000000000000" charset="-122"/>
                                <a:cs typeface="Noto Sans SC" panose="020B0200000000000000" charset="-122"/>
                                <a:sym typeface="Noto Sans SC" panose="020B0200000000000000" charset="-122"/>
                              </a:rPr>
                              <m:t>𝑑</m:t>
                            </m:r>
                          </m:e>
                          <m:sup>
                            <m:r>
                              <a:rPr sz="1400">
                                <a:solidFill>
                                  <a:srgbClr val="1F2937"/>
                                </a:solidFill>
                                <a:latin typeface="Noto Sans SC" panose="020B0200000000000000" charset="-122"/>
                                <a:ea typeface="Noto Sans SC" panose="020B0200000000000000" charset="-122"/>
                                <a:cs typeface="Noto Sans SC" panose="020B0200000000000000" charset="-122"/>
                                <a:sym typeface="Noto Sans SC" panose="020B0200000000000000" charset="-122"/>
                              </a:rPr>
                              <m:t>ℎ</m:t>
                            </m:r>
                          </m:sup>
                        </m:sSup>
                        <m:r>
                          <a:rPr sz="1400">
                            <a:solidFill>
                              <a:srgbClr val="1F2937"/>
                            </a:solidFill>
                            <a:latin typeface="Noto Sans SC" panose="020B0200000000000000" charset="-122"/>
                            <a:ea typeface="Noto Sans SC" panose="020B0200000000000000" charset="-122"/>
                            <a:cs typeface="Noto Sans SC" panose="020B0200000000000000" charset="-122"/>
                            <a:sym typeface="Noto Sans SC" panose="020B0200000000000000" charset="-122"/>
                          </a:rPr>
                          <m:t>−</m:t>
                        </m:r>
                        <m:r>
                          <a:rPr sz="1400">
                            <a:solidFill>
                              <a:srgbClr val="1F2937"/>
                            </a:solidFill>
                            <a:latin typeface="Noto Sans SC" panose="020B0200000000000000" charset="-122"/>
                            <a:ea typeface="Noto Sans SC" panose="020B0200000000000000" charset="-122"/>
                            <a:cs typeface="Noto Sans SC" panose="020B0200000000000000" charset="-122"/>
                            <a:sym typeface="Noto Sans SC" panose="020B0200000000000000" charset="-122"/>
                          </a:rPr>
                          <m:t>1</m:t>
                        </m:r>
                      </m:num>
                      <m:den>
                        <m:r>
                          <a:rPr sz="1400">
                            <a:solidFill>
                              <a:srgbClr val="1F2937"/>
                            </a:solidFill>
                            <a:latin typeface="Noto Sans SC" panose="020B0200000000000000" charset="-122"/>
                            <a:ea typeface="Noto Sans SC" panose="020B0200000000000000" charset="-122"/>
                            <a:cs typeface="Noto Sans SC" panose="020B0200000000000000" charset="-122"/>
                            <a:sym typeface="Noto Sans SC" panose="020B0200000000000000" charset="-122"/>
                          </a:rPr>
                          <m:t>𝑑</m:t>
                        </m:r>
                        <m:r>
                          <a:rPr sz="1400">
                            <a:solidFill>
                              <a:srgbClr val="1F2937"/>
                            </a:solidFill>
                            <a:latin typeface="Noto Sans SC" panose="020B0200000000000000" charset="-122"/>
                            <a:ea typeface="Noto Sans SC" panose="020B0200000000000000" charset="-122"/>
                            <a:cs typeface="Noto Sans SC" panose="020B0200000000000000" charset="-122"/>
                            <a:sym typeface="Noto Sans SC" panose="020B0200000000000000" charset="-122"/>
                          </a:rPr>
                          <m:t>−</m:t>
                        </m:r>
                        <m:r>
                          <a:rPr sz="1400">
                            <a:solidFill>
                              <a:srgbClr val="1F2937"/>
                            </a:solidFill>
                            <a:latin typeface="Noto Sans SC" panose="020B0200000000000000" charset="-122"/>
                            <a:ea typeface="Noto Sans SC" panose="020B0200000000000000" charset="-122"/>
                            <a:cs typeface="Noto Sans SC" panose="020B0200000000000000" charset="-122"/>
                            <a:sym typeface="Noto Sans SC" panose="020B0200000000000000" charset="-122"/>
                          </a:rPr>
                          <m:t>1</m:t>
                        </m:r>
                      </m:den>
                    </m:f>
                    <m:r>
                      <a:rPr sz="1400">
                        <a:solidFill>
                          <a:srgbClr val="1F2937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rPr>
                      <m:t>&lt;</m:t>
                    </m:r>
                    <m:r>
                      <a:rPr sz="1400">
                        <a:solidFill>
                          <a:srgbClr val="1F2937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rPr>
                      <m:t>𝑛</m:t>
                    </m:r>
                    <m:r>
                      <a:rPr sz="1400">
                        <a:solidFill>
                          <a:srgbClr val="1F2937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rPr>
                      <m:t>≤</m:t>
                    </m:r>
                    <m:f>
                      <m:fPr>
                        <m:ctrlPr>
                          <a:rPr/>
                        </m:ctrlPr>
                      </m:fPr>
                      <m:num>
                        <m:sSup>
                          <m:sSupPr>
                            <m:ctrlPr>
                              <a:rPr/>
                            </m:ctrlPr>
                          </m:sSupPr>
                          <m:e>
                            <m:r>
                              <a:rPr sz="1400">
                                <a:solidFill>
                                  <a:srgbClr val="1F2937"/>
                                </a:solidFill>
                                <a:latin typeface="Noto Sans SC" panose="020B0200000000000000" charset="-122"/>
                                <a:ea typeface="Noto Sans SC" panose="020B0200000000000000" charset="-122"/>
                                <a:cs typeface="Noto Sans SC" panose="020B0200000000000000" charset="-122"/>
                                <a:sym typeface="Noto Sans SC" panose="020B0200000000000000" charset="-122"/>
                              </a:rPr>
                              <m:t>𝑑</m:t>
                            </m:r>
                          </m:e>
                          <m:sup>
                            <m:r>
                              <a:rPr sz="1400">
                                <a:solidFill>
                                  <a:srgbClr val="1F2937"/>
                                </a:solidFill>
                                <a:latin typeface="Noto Sans SC" panose="020B0200000000000000" charset="-122"/>
                                <a:ea typeface="Noto Sans SC" panose="020B0200000000000000" charset="-122"/>
                                <a:cs typeface="Noto Sans SC" panose="020B0200000000000000" charset="-122"/>
                                <a:sym typeface="Noto Sans SC" panose="020B0200000000000000" charset="-122"/>
                              </a:rPr>
                              <m:t>ℎ</m:t>
                            </m:r>
                            <m:r>
                              <a:rPr sz="1400">
                                <a:solidFill>
                                  <a:srgbClr val="1F2937"/>
                                </a:solidFill>
                                <a:latin typeface="Noto Sans SC" panose="020B0200000000000000" charset="-122"/>
                                <a:ea typeface="Noto Sans SC" panose="020B0200000000000000" charset="-122"/>
                                <a:cs typeface="Noto Sans SC" panose="020B0200000000000000" charset="-122"/>
                                <a:sym typeface="Noto Sans SC" panose="020B0200000000000000" charset="-122"/>
                              </a:rPr>
                              <m:t>+</m:t>
                            </m:r>
                            <m:r>
                              <a:rPr sz="1400">
                                <a:solidFill>
                                  <a:srgbClr val="1F2937"/>
                                </a:solidFill>
                                <a:latin typeface="Noto Sans SC" panose="020B0200000000000000" charset="-122"/>
                                <a:ea typeface="Noto Sans SC" panose="020B0200000000000000" charset="-122"/>
                                <a:cs typeface="Noto Sans SC" panose="020B0200000000000000" charset="-122"/>
                                <a:sym typeface="Noto Sans SC" panose="020B0200000000000000" charset="-122"/>
                              </a:rPr>
                              <m:t>1</m:t>
                            </m:r>
                          </m:sup>
                        </m:sSup>
                        <m:r>
                          <a:rPr sz="1400">
                            <a:solidFill>
                              <a:srgbClr val="1F2937"/>
                            </a:solidFill>
                            <a:latin typeface="Noto Sans SC" panose="020B0200000000000000" charset="-122"/>
                            <a:ea typeface="Noto Sans SC" panose="020B0200000000000000" charset="-122"/>
                            <a:cs typeface="Noto Sans SC" panose="020B0200000000000000" charset="-122"/>
                            <a:sym typeface="Noto Sans SC" panose="020B0200000000000000" charset="-122"/>
                          </a:rPr>
                          <m:t>−</m:t>
                        </m:r>
                        <m:r>
                          <a:rPr sz="1400">
                            <a:solidFill>
                              <a:srgbClr val="1F2937"/>
                            </a:solidFill>
                            <a:latin typeface="Noto Sans SC" panose="020B0200000000000000" charset="-122"/>
                            <a:ea typeface="Noto Sans SC" panose="020B0200000000000000" charset="-122"/>
                            <a:cs typeface="Noto Sans SC" panose="020B0200000000000000" charset="-122"/>
                            <a:sym typeface="Noto Sans SC" panose="020B0200000000000000" charset="-122"/>
                          </a:rPr>
                          <m:t>1</m:t>
                        </m:r>
                      </m:num>
                      <m:den>
                        <m:r>
                          <a:rPr sz="1400">
                            <a:solidFill>
                              <a:srgbClr val="1F2937"/>
                            </a:solidFill>
                            <a:latin typeface="Noto Sans SC" panose="020B0200000000000000" charset="-122"/>
                            <a:ea typeface="Noto Sans SC" panose="020B0200000000000000" charset="-122"/>
                            <a:cs typeface="Noto Sans SC" panose="020B0200000000000000" charset="-122"/>
                            <a:sym typeface="Noto Sans SC" panose="020B0200000000000000" charset="-122"/>
                          </a:rPr>
                          <m:t>𝑑</m:t>
                        </m:r>
                        <m:r>
                          <a:rPr sz="1400">
                            <a:solidFill>
                              <a:srgbClr val="1F2937"/>
                            </a:solidFill>
                            <a:latin typeface="Noto Sans SC" panose="020B0200000000000000" charset="-122"/>
                            <a:ea typeface="Noto Sans SC" panose="020B0200000000000000" charset="-122"/>
                            <a:cs typeface="Noto Sans SC" panose="020B0200000000000000" charset="-122"/>
                            <a:sym typeface="Noto Sans SC" panose="020B0200000000000000" charset="-122"/>
                          </a:rPr>
                          <m:t>−</m:t>
                        </m:r>
                        <m:r>
                          <a:rPr sz="1400">
                            <a:solidFill>
                              <a:srgbClr val="1F2937"/>
                            </a:solidFill>
                            <a:latin typeface="Noto Sans SC" panose="020B0200000000000000" charset="-122"/>
                            <a:ea typeface="Noto Sans SC" panose="020B0200000000000000" charset="-122"/>
                            <a:cs typeface="Noto Sans SC" panose="020B0200000000000000" charset="-122"/>
                            <a:sym typeface="Noto Sans SC" panose="020B0200000000000000" charset="-122"/>
                          </a:rPr>
                          <m:t>1</m:t>
                        </m:r>
                      </m:den>
                    </m:f>
                  </m:oMath>
                </a14:m>
                <a:r>
                  <a:rPr lang="en-US" sz="1400" b="0" i="0" u="none" strike="noStrike">
                    <a:solidFill>
                      <a:srgbClr val="1F2937"/>
                    </a:solidFill>
                    <a:latin typeface="Noto Sans SC" panose="020B0200000000000000" charset="-122"/>
                    <a:ea typeface="Noto Sans SC" panose="020B0200000000000000" charset="-122"/>
                    <a:cs typeface="Noto Sans SC" panose="020B0200000000000000" charset="-122"/>
                    <a:sym typeface="Noto Sans SC" panose="020B0200000000000000" charset="-122"/>
                  </a:rPr>
                  <a:t>，近似得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/>
                        </m:ctrlPr>
                      </m:sSupPr>
                      <m:e>
                        <m:r>
                          <a:rPr sz="1400">
                            <a:solidFill>
                              <a:srgbClr val="1F2937"/>
                            </a:solidFill>
                            <a:latin typeface="Noto Sans SC" panose="020B0200000000000000" charset="-122"/>
                            <a:ea typeface="Noto Sans SC" panose="020B0200000000000000" charset="-122"/>
                            <a:cs typeface="Noto Sans SC" panose="020B0200000000000000" charset="-122"/>
                            <a:sym typeface="Noto Sans SC" panose="020B0200000000000000" charset="-122"/>
                          </a:rPr>
                          <m:t>𝑑</m:t>
                        </m:r>
                      </m:e>
                      <m:sup>
                        <m:r>
                          <a:rPr sz="1400">
                            <a:solidFill>
                              <a:srgbClr val="1F2937"/>
                            </a:solidFill>
                            <a:latin typeface="Noto Sans SC" panose="020B0200000000000000" charset="-122"/>
                            <a:ea typeface="Noto Sans SC" panose="020B0200000000000000" charset="-122"/>
                            <a:cs typeface="Noto Sans SC" panose="020B0200000000000000" charset="-122"/>
                            <a:sym typeface="Noto Sans SC" panose="020B0200000000000000" charset="-122"/>
                          </a:rPr>
                          <m:t>ℎ</m:t>
                        </m:r>
                      </m:sup>
                    </m:sSup>
                    <m:r>
                      <a:rPr sz="1400">
                        <a:solidFill>
                          <a:srgbClr val="1F2937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rPr>
                      <m:t>≈</m:t>
                    </m:r>
                    <m:r>
                      <a:rPr sz="1400">
                        <a:solidFill>
                          <a:srgbClr val="1F2937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rPr>
                      <m:t>𝑛</m:t>
                    </m:r>
                  </m:oMath>
                </a14:m>
                <a:endParaRPr lang="en-US" sz="1100"/>
              </a:p>
            </p:txBody>
          </p:sp>
        </mc:Choice>
        <mc:Fallback>
          <p:sp>
            <p:nvSpPr>
              <p:cNvPr id="8" name="AutoShape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0000" y="3619500"/>
                <a:ext cx="9652000" cy="381000"/>
              </a:xfrm>
              <a:prstGeom prst="rect">
                <a:avLst/>
              </a:prstGeom>
              <a:blipFill rotWithShape="1">
                <a:blip r:embed="rId2"/>
                <a:stretch>
                  <a:fillRect t="-5167" b="-5500"/>
                </a:stretch>
              </a:blipFill>
              <a:ln w="12700" cap="flat" cmpd="sng">
                <a:noFill/>
                <a:prstDash val="solid"/>
                <a:rou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AutoShape 9"/>
          <p:cNvSpPr/>
          <p:nvPr/>
        </p:nvSpPr>
        <p:spPr>
          <a:xfrm>
            <a:off x="1016000" y="4318000"/>
            <a:ext cx="4826000" cy="1778000"/>
          </a:xfrm>
          <a:prstGeom prst="roundRect">
            <a:avLst>
              <a:gd name="adj" fmla="val 5714"/>
            </a:avLst>
          </a:prstGeom>
          <a:solidFill>
            <a:srgbClr val="2563EB">
              <a:alpha val="5000"/>
            </a:srgbClr>
          </a:solidFill>
          <a:ln w="25400" cap="flat" cmpd="sng">
            <a:solidFill>
              <a:srgbClr val="2563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 txBox="1"/>
          <p:nvPr/>
        </p:nvSpPr>
        <p:spPr>
          <a:xfrm>
            <a:off x="1270000" y="45085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结论</a:t>
            </a:r>
            <a:endParaRPr lang="en-US" sz="11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AutoShape 11"/>
              <p:cNvSpPr txBox="1"/>
              <p:nvPr/>
            </p:nvSpPr>
            <p:spPr>
              <a:xfrm>
                <a:off x="1270000" y="5016500"/>
                <a:ext cx="4318000" cy="10160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ctr" anchorCtr="0"/>
              <a:lstStyle/>
              <a:p>
                <a:pPr marL="0" indent="0" algn="ctr">
                  <a:lnSpc>
                    <a:spcPct val="125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600" b="1">
                          <a:solidFill>
                            <a:srgbClr val="1F2937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m:t>𝛩</m:t>
                      </m:r>
                      <m:d>
                        <m:dPr>
                          <m:sepChr m:val=","/>
                          <m:ctrlPr>
                            <a:rPr/>
                          </m:ctrlPr>
                        </m:dPr>
                        <m:e>
                          <m:sSub>
                            <m:sSubPr>
                              <m:ctrlPr>
                                <a:rPr/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sz="1600" b="1">
                                  <a:solidFill>
                                    <a:srgbClr val="1F2937"/>
                                  </a:solidFill>
                                  <a:latin typeface="Noto Sans SC" panose="020B0200000000000000" charset="-122"/>
                                  <a:ea typeface="Noto Sans SC" panose="020B0200000000000000" charset="-122"/>
                                  <a:cs typeface="Noto Sans SC" panose="020B0200000000000000" charset="-122"/>
                                  <a:sym typeface="Noto Sans SC" panose="020B0200000000000000" charset="-122"/>
                                </a:rPr>
                                <m:t>log</m:t>
                              </m:r>
                            </m:e>
                            <m:sub>
                              <m:r>
                                <a:rPr sz="1600" b="1">
                                  <a:solidFill>
                                    <a:srgbClr val="1F2937"/>
                                  </a:solidFill>
                                  <a:latin typeface="Noto Sans SC" panose="020B0200000000000000" charset="-122"/>
                                  <a:ea typeface="Noto Sans SC" panose="020B0200000000000000" charset="-122"/>
                                  <a:cs typeface="Noto Sans SC" panose="020B0200000000000000" charset="-122"/>
                                  <a:sym typeface="Noto Sans SC" panose="020B0200000000000000" charset="-122"/>
                                </a:rPr>
                                <m:t>𝑑</m:t>
                              </m:r>
                            </m:sub>
                          </m:sSub>
                          <m:r>
                            <a:rPr sz="1600" b="1">
                              <a:solidFill>
                                <a:srgbClr val="1F2937"/>
                              </a:solidFill>
                              <a:latin typeface="Noto Sans SC" panose="020B0200000000000000" charset="-122"/>
                              <a:ea typeface="Noto Sans SC" panose="020B0200000000000000" charset="-122"/>
                              <a:cs typeface="Noto Sans SC" panose="020B0200000000000000" charset="-122"/>
                              <a:sym typeface="Noto Sans SC" panose="020B0200000000000000" charset="-122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lang="en-US" sz="1100"/>
              </a:p>
              <a:p>
                <a:pPr marL="0" indent="0" algn="ctr">
                  <a:lnSpc>
                    <a:spcPct val="125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600" b="1">
                          <a:solidFill>
                            <a:srgbClr val="1F2937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m:t>=</m:t>
                      </m:r>
                      <m:r>
                        <a:rPr sz="1600" b="1">
                          <a:solidFill>
                            <a:srgbClr val="1F2937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m:t>𝛩</m:t>
                      </m:r>
                      <m:d>
                        <m:dPr>
                          <m:sepChr m:val=","/>
                          <m:ctrlPr>
                            <a:rPr/>
                          </m:ctrlPr>
                        </m:dPr>
                        <m:e>
                          <m:f>
                            <m:fPr>
                              <m:ctrlPr>
                                <a:rPr/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sz="1600" b="1">
                                  <a:solidFill>
                                    <a:srgbClr val="1F2937"/>
                                  </a:solidFill>
                                  <a:latin typeface="Noto Sans SC" panose="020B0200000000000000" charset="-122"/>
                                  <a:ea typeface="Noto Sans SC" panose="020B0200000000000000" charset="-122"/>
                                  <a:cs typeface="Noto Sans SC" panose="020B0200000000000000" charset="-122"/>
                                  <a:sym typeface="Noto Sans SC" panose="020B0200000000000000" charset="-122"/>
                                </a:rPr>
                                <m:t>lg</m:t>
                              </m:r>
                              <m:r>
                                <a:rPr sz="1600" b="1">
                                  <a:solidFill>
                                    <a:srgbClr val="1F2937"/>
                                  </a:solidFill>
                                  <a:latin typeface="Noto Sans SC" panose="020B0200000000000000" charset="-122"/>
                                  <a:ea typeface="Noto Sans SC" panose="020B0200000000000000" charset="-122"/>
                                  <a:cs typeface="Noto Sans SC" panose="020B0200000000000000" charset="-122"/>
                                  <a:sym typeface="Noto Sans SC" panose="020B0200000000000000" charset="-122"/>
                                </a:rPr>
                                <m:t>𝑛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sz="1600" b="1">
                                  <a:solidFill>
                                    <a:srgbClr val="1F2937"/>
                                  </a:solidFill>
                                  <a:latin typeface="Noto Sans SC" panose="020B0200000000000000" charset="-122"/>
                                  <a:ea typeface="Noto Sans SC" panose="020B0200000000000000" charset="-122"/>
                                  <a:cs typeface="Noto Sans SC" panose="020B0200000000000000" charset="-122"/>
                                  <a:sym typeface="Noto Sans SC" panose="020B0200000000000000" charset="-122"/>
                                </a:rPr>
                                <m:t>lg</m:t>
                              </m:r>
                              <m:r>
                                <a:rPr sz="1600" b="1">
                                  <a:solidFill>
                                    <a:srgbClr val="1F2937"/>
                                  </a:solidFill>
                                  <a:latin typeface="Noto Sans SC" panose="020B0200000000000000" charset="-122"/>
                                  <a:ea typeface="Noto Sans SC" panose="020B0200000000000000" charset="-122"/>
                                  <a:cs typeface="Noto Sans SC" panose="020B0200000000000000" charset="-122"/>
                                  <a:sym typeface="Noto Sans SC" panose="020B0200000000000000" charset="-122"/>
                                </a:rPr>
                                <m:t>𝑑</m:t>
                              </m:r>
                            </m:den>
                          </m:f>
                        </m:e>
                      </m:d>
                    </m:oMath>
                  </m:oMathPara>
                </a14:m>
              </a:p>
            </p:txBody>
          </p:sp>
        </mc:Choice>
        <mc:Fallback>
          <p:sp>
            <p:nvSpPr>
              <p:cNvPr id="11" name="AutoShape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0000" y="5016500"/>
                <a:ext cx="4318000" cy="101600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  <a:ln w="12700" cap="flat" cmpd="sng">
                <a:noFill/>
                <a:prstDash val="solid"/>
                <a:rou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AutoShape 12"/>
          <p:cNvSpPr/>
          <p:nvPr/>
        </p:nvSpPr>
        <p:spPr>
          <a:xfrm>
            <a:off x="6350000" y="4318000"/>
            <a:ext cx="4826000" cy="1778000"/>
          </a:xfrm>
          <a:prstGeom prst="roundRect">
            <a:avLst>
              <a:gd name="adj" fmla="val 571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 txBox="1"/>
          <p:nvPr/>
        </p:nvSpPr>
        <p:spPr>
          <a:xfrm>
            <a:off x="6604000" y="45085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与二叉堆对比（d = 2）</a:t>
            </a:r>
            <a:endParaRPr lang="en-US" sz="11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AutoShape 14"/>
              <p:cNvSpPr txBox="1"/>
              <p:nvPr/>
            </p:nvSpPr>
            <p:spPr>
              <a:xfrm>
                <a:off x="6604000" y="5016500"/>
                <a:ext cx="4318000" cy="10160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ctr" anchorCtr="0"/>
              <a:lstStyle/>
              <a:p>
                <a:pPr marL="0" indent="0" algn="l">
                  <a:lnSpc>
                    <a:spcPct val="125000"/>
                  </a:lnSpc>
                  <a:defRPr/>
                </a:pPr>
                <a:r>
                  <a:rPr lang="en-US" sz="1300" b="0" i="0" u="none" strike="noStrike">
                    <a:solidFill>
                      <a:srgbClr val="6B7280"/>
                    </a:solidFill>
                    <a:latin typeface="Noto Sans SC" panose="020B0200000000000000" charset="-122"/>
                    <a:ea typeface="Noto Sans SC" panose="020B0200000000000000" charset="-122"/>
                    <a:cs typeface="Noto Sans SC" panose="020B0200000000000000" charset="-122"/>
                    <a:sym typeface="Noto Sans SC" panose="020B0200000000000000" charset="-122"/>
                  </a:rPr>
                  <a:t>二叉堆高度：</a:t>
                </a:r>
                <a14:m>
                  <m:oMath xmlns:m="http://schemas.openxmlformats.org/officeDocument/2006/math">
                    <m:r>
                      <a:rPr sz="1300">
                        <a:solidFill>
                          <a:srgbClr val="6B7280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rPr>
                      <m:t>𝛩</m:t>
                    </m:r>
                    <m:d>
                      <m:dPr>
                        <m:sepChr m:val=","/>
                        <m:ctrlPr>
                          <a:rPr/>
                        </m:ctrlPr>
                      </m:dPr>
                      <m:e>
                        <m:r>
                          <m:rPr>
                            <m:sty m:val="p"/>
                          </m:rPr>
                          <a:rPr sz="1300">
                            <a:solidFill>
                              <a:srgbClr val="6B7280"/>
                            </a:solidFill>
                            <a:latin typeface="Noto Sans SC" panose="020B0200000000000000" charset="-122"/>
                            <a:ea typeface="Noto Sans SC" panose="020B0200000000000000" charset="-122"/>
                            <a:cs typeface="Noto Sans SC" panose="020B0200000000000000" charset="-122"/>
                            <a:sym typeface="Noto Sans SC" panose="020B0200000000000000" charset="-122"/>
                          </a:rPr>
                          <m:t>lg</m:t>
                        </m:r>
                        <m:r>
                          <a:rPr sz="1300">
                            <a:solidFill>
                              <a:srgbClr val="6B7280"/>
                            </a:solidFill>
                            <a:latin typeface="Noto Sans SC" panose="020B0200000000000000" charset="-122"/>
                            <a:ea typeface="Noto Sans SC" panose="020B0200000000000000" charset="-122"/>
                            <a:cs typeface="Noto Sans SC" panose="020B0200000000000000" charset="-122"/>
                            <a:sym typeface="Noto Sans SC" panose="020B0200000000000000" charset="-122"/>
                          </a:rPr>
                          <m:t>𝑛</m:t>
                        </m:r>
                      </m:e>
                    </m:d>
                  </m:oMath>
                </a14:m>
                <a:endParaRPr lang="en-US" sz="1100"/>
              </a:p>
              <a:p>
                <a:pPr marL="0" indent="0" algn="l">
                  <a:lnSpc>
                    <a:spcPct val="125000"/>
                  </a:lnSpc>
                </a:pPr>
                <a:r>
                  <a:rPr lang="en-US" sz="1300" b="0" i="0" u="none" strike="noStrike">
                    <a:solidFill>
                      <a:srgbClr val="6B7280"/>
                    </a:solidFill>
                    <a:latin typeface="Noto Sans SC" panose="020B0200000000000000" charset="-122"/>
                    <a:ea typeface="Noto Sans SC" panose="020B0200000000000000" charset="-122"/>
                    <a:cs typeface="Noto Sans SC" panose="020B0200000000000000" charset="-122"/>
                    <a:sym typeface="Noto Sans SC" panose="020B0200000000000000" charset="-122"/>
                  </a:rPr>
                  <a:t>d越大，堆越矮，高度越小</a:t>
                </a:r>
                <a:endParaRPr lang="en-US" sz="1300" b="0" i="0" u="none" strike="noStrike">
                  <a:solidFill>
                    <a:srgbClr val="6B7280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endParaRPr>
              </a:p>
              <a:p>
                <a:pPr marL="0" indent="0" algn="l">
                  <a:lnSpc>
                    <a:spcPct val="125000"/>
                  </a:lnSpc>
                </a:pPr>
                <a:r>
                  <a:rPr lang="en-US" sz="1300" b="0" i="0" u="none" strike="noStrike">
                    <a:solidFill>
                      <a:srgbClr val="6B7280"/>
                    </a:solidFill>
                    <a:latin typeface="Noto Sans SC" panose="020B0200000000000000" charset="-122"/>
                    <a:ea typeface="Noto Sans SC" panose="020B0200000000000000" charset="-122"/>
                    <a:cs typeface="Noto Sans SC" panose="020B0200000000000000" charset="-122"/>
                    <a:sym typeface="Noto Sans SC" panose="020B0200000000000000" charset="-122"/>
                  </a:rPr>
                  <a:t>d=2时就是二叉堆</a:t>
                </a:r>
                <a:endParaRPr lang="en-US" sz="1300" b="0" i="0" u="none" strike="noStrike">
                  <a:solidFill>
                    <a:srgbClr val="6B7280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endParaRPr>
              </a:p>
            </p:txBody>
          </p:sp>
        </mc:Choice>
        <mc:Fallback>
          <p:sp>
            <p:nvSpPr>
              <p:cNvPr id="14" name="AutoShape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4000" y="5016500"/>
                <a:ext cx="4318000" cy="101600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  <a:ln w="12700" cap="flat" cmpd="sng">
                <a:noFill/>
                <a:prstDash val="solid"/>
                <a:rou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635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问题 c · EXTRACT-MAX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1016000" y="1016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如何取出d叉最大堆的最大值？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1016000" y="20320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算法思想</a:t>
            </a:r>
            <a:endParaRPr lang="en-US" sz="1100"/>
          </a:p>
        </p:txBody>
      </p:sp>
      <p:sp>
        <p:nvSpPr>
          <p:cNvPr id="5" name="AutoShape 5"/>
          <p:cNvSpPr txBox="1"/>
          <p:nvPr/>
        </p:nvSpPr>
        <p:spPr>
          <a:xfrm>
            <a:off x="1016000" y="2540000"/>
            <a:ext cx="4826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4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 根节点A[1]就是最大值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14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 把堆最后一个元素放到根位置</a:t>
            </a:r>
            <a:endParaRPr lang="en-US" sz="1400" b="0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4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3. 堆大小减1</a:t>
            </a:r>
            <a:endParaRPr lang="en-US" sz="1400" b="0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4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4. 从根开始向下调用MAX-HEAPIFY</a:t>
            </a:r>
            <a:endParaRPr lang="en-US" sz="1400" b="0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4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5. 在d个子节点中找最大的，比较交换</a:t>
            </a:r>
            <a:endParaRPr lang="en-US" sz="1400" b="0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1016000" y="4699000"/>
            <a:ext cx="4826000" cy="1270000"/>
          </a:xfrm>
          <a:prstGeom prst="roundRect">
            <a:avLst>
              <a:gd name="adj" fmla="val 8000"/>
            </a:avLst>
          </a:prstGeom>
          <a:solidFill>
            <a:srgbClr val="2563EB">
              <a:alpha val="5000"/>
            </a:srgbClr>
          </a:solidFill>
          <a:ln w="12700" cap="flat" cmpd="sng">
            <a:solidFill>
              <a:srgbClr val="2563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 txBox="1"/>
          <p:nvPr/>
        </p:nvSpPr>
        <p:spPr>
          <a:xfrm>
            <a:off x="1270000" y="4889500"/>
            <a:ext cx="4318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时间复杂度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1270000" y="52705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O(d · log_d n)</a:t>
            </a:r>
            <a:endParaRPr lang="en-US" sz="1100"/>
          </a:p>
        </p:txBody>
      </p:sp>
      <p:sp>
        <p:nvSpPr>
          <p:cNvPr id="9" name="AutoShape 9"/>
          <p:cNvSpPr txBox="1"/>
          <p:nvPr/>
        </p:nvSpPr>
        <p:spPr>
          <a:xfrm>
            <a:off x="1270000" y="5651500"/>
            <a:ext cx="4318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每层比较d个孩子，共log_d n层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350000" y="2032000"/>
            <a:ext cx="4826000" cy="4064000"/>
          </a:xfrm>
          <a:prstGeom prst="roundRect">
            <a:avLst>
              <a:gd name="adj" fmla="val 2500"/>
            </a:avLst>
          </a:prstGeom>
          <a:solidFill>
            <a:srgbClr val="1F293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0635" y="2013585"/>
            <a:ext cx="4825365" cy="408241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635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问题 d · INCREASE-KEY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1016000" y="1016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如何增大某个节点的值并保持堆性质？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1016000" y="20320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算法思想</a:t>
            </a:r>
            <a:endParaRPr lang="en-US" sz="1100"/>
          </a:p>
        </p:txBody>
      </p:sp>
      <p:sp>
        <p:nvSpPr>
          <p:cNvPr id="5" name="AutoShape 5"/>
          <p:cNvSpPr txBox="1"/>
          <p:nvPr/>
        </p:nvSpPr>
        <p:spPr>
          <a:xfrm>
            <a:off x="1016000" y="2540000"/>
            <a:ext cx="4826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4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 把位置i的元素更新为新值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14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 如果新值小于旧值，报错</a:t>
            </a:r>
            <a:endParaRPr lang="en-US" sz="1400" b="0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4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3. 不断和父节点比较</a:t>
            </a:r>
            <a:endParaRPr lang="en-US" sz="1400" b="0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4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4. 若当前节点大于父节点，交换</a:t>
            </a:r>
            <a:endParaRPr lang="en-US" sz="1400" b="0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4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5. 向上冒泡直到满足堆性质</a:t>
            </a:r>
            <a:endParaRPr lang="en-US" sz="1400" b="0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1016000" y="4699000"/>
            <a:ext cx="4826000" cy="1270000"/>
          </a:xfrm>
          <a:prstGeom prst="roundRect">
            <a:avLst>
              <a:gd name="adj" fmla="val 8000"/>
            </a:avLst>
          </a:prstGeom>
          <a:solidFill>
            <a:srgbClr val="2563EB">
              <a:alpha val="5000"/>
            </a:srgbClr>
          </a:solidFill>
          <a:ln w="12700" cap="flat" cmpd="sng">
            <a:solidFill>
              <a:srgbClr val="2563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 txBox="1"/>
          <p:nvPr/>
        </p:nvSpPr>
        <p:spPr>
          <a:xfrm>
            <a:off x="1270000" y="4889500"/>
            <a:ext cx="4318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时间复杂度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1270000" y="52705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O(log_d n)</a:t>
            </a:r>
            <a:endParaRPr lang="en-US" sz="1100"/>
          </a:p>
        </p:txBody>
      </p:sp>
      <p:sp>
        <p:nvSpPr>
          <p:cNvPr id="9" name="AutoShape 9"/>
          <p:cNvSpPr txBox="1"/>
          <p:nvPr/>
        </p:nvSpPr>
        <p:spPr>
          <a:xfrm>
            <a:off x="1270000" y="5651500"/>
            <a:ext cx="4318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只需向上冒泡，每层只比较1次父节点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350000" y="2032000"/>
            <a:ext cx="4826000" cy="4064000"/>
          </a:xfrm>
          <a:prstGeom prst="roundRect">
            <a:avLst>
              <a:gd name="adj" fmla="val 2500"/>
            </a:avLst>
          </a:prstGeom>
          <a:solidFill>
            <a:srgbClr val="1F293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0000" y="2032000"/>
            <a:ext cx="4827270" cy="40538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635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问题 e · INSERT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1016000" y="1016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如何向d叉最大堆插入一个新元素？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1016000" y="20320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算法思想</a:t>
            </a:r>
            <a:endParaRPr lang="en-US" sz="1100"/>
          </a:p>
        </p:txBody>
      </p:sp>
      <p:sp>
        <p:nvSpPr>
          <p:cNvPr id="5" name="AutoShape 5"/>
          <p:cNvSpPr txBox="1"/>
          <p:nvPr/>
        </p:nvSpPr>
        <p:spPr>
          <a:xfrm>
            <a:off x="1016000" y="2540000"/>
            <a:ext cx="4826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4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 堆大小加1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14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 在堆末尾A[heapSize]放入-∞</a:t>
            </a:r>
            <a:endParaRPr lang="en-US" sz="1400" b="0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4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3. 调用INCREASE-KEY</a:t>
            </a:r>
            <a:endParaRPr lang="en-US" sz="1400" b="0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4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4. 把它提升到目标值key</a:t>
            </a:r>
            <a:endParaRPr lang="en-US" sz="1400" b="0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4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5. 向上冒泡保持堆性质</a:t>
            </a:r>
            <a:endParaRPr lang="en-US" sz="1400" b="0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1016000" y="4699000"/>
            <a:ext cx="4826000" cy="1270000"/>
          </a:xfrm>
          <a:prstGeom prst="roundRect">
            <a:avLst>
              <a:gd name="adj" fmla="val 8000"/>
            </a:avLst>
          </a:prstGeom>
          <a:solidFill>
            <a:srgbClr val="2563EB">
              <a:alpha val="5000"/>
            </a:srgbClr>
          </a:solidFill>
          <a:ln w="12700" cap="flat" cmpd="sng">
            <a:solidFill>
              <a:srgbClr val="2563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 txBox="1"/>
          <p:nvPr/>
        </p:nvSpPr>
        <p:spPr>
          <a:xfrm>
            <a:off x="1270000" y="4889500"/>
            <a:ext cx="4318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时间复杂度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1270000" y="52705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O(log_d n)</a:t>
            </a:r>
            <a:endParaRPr lang="en-US" sz="1100"/>
          </a:p>
        </p:txBody>
      </p:sp>
      <p:sp>
        <p:nvSpPr>
          <p:cNvPr id="9" name="AutoShape 9"/>
          <p:cNvSpPr txBox="1"/>
          <p:nvPr/>
        </p:nvSpPr>
        <p:spPr>
          <a:xfrm>
            <a:off x="1270000" y="5651500"/>
            <a:ext cx="4318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直接复用INCREASE-KEY，只需向上冒泡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350000" y="2032000"/>
            <a:ext cx="4826000" cy="4064000"/>
          </a:xfrm>
          <a:prstGeom prst="roundRect">
            <a:avLst>
              <a:gd name="adj" fmla="val 2500"/>
            </a:avLst>
          </a:prstGeom>
          <a:solidFill>
            <a:srgbClr val="1F293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0000" y="2032000"/>
            <a:ext cx="4957445" cy="40944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635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复杂度对比 · d叉堆 vs 二叉堆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1016000" y="1016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d变大时，各个操作的效率如何变化？</a:t>
            </a:r>
            <a:endParaRPr lang="en-US" sz="1100"/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1016000" y="2032000"/>
          <a:ext cx="10160000" cy="3556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032000"/>
                <a:gridCol w="2540000"/>
                <a:gridCol w="3048000"/>
                <a:gridCol w="2540000"/>
              </a:tblGrid>
              <a:tr h="7112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操作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563EB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二叉堆 (d=2)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563EB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d叉堆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563EB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d变大时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563EB">
                        <a:alpha val="100000"/>
                      </a:srgbClr>
                    </a:solidFill>
                  </a:tcPr>
                </a:tc>
              </a:tr>
              <a:tr h="7112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1F2937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堆高度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937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Θ(lg n)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937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Θ(log_d n)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2563E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变小（堆变矮）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112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1F2937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EXTRACT-MAX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937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Θ(lg n)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937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Θ(d · log_d n)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DC2626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不一定（trade-off）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112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1F2937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INCREASE-KEY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937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Θ(lg n)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937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Θ(log_d n)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16A34A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变快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112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1F2937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INSERT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937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Θ(lg n)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937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Θ(log_d n)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16A34A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变快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AutoShape 5"/>
          <p:cNvSpPr txBox="1"/>
          <p:nvPr/>
        </p:nvSpPr>
        <p:spPr>
          <a:xfrm>
            <a:off x="1016000" y="5969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核心权衡：d越大 → 堆越矮（向上操作更快），但每层要比较的孩子越多（向下操作更慢）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32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762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小结与讨论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1016000" y="1270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这道题我们学到了什么？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28647">
            <a:off x="1016026" y="2279650"/>
            <a:ext cx="152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/>
          <p:cNvSpPr txBox="1"/>
          <p:nvPr/>
        </p:nvSpPr>
        <p:spPr>
          <a:xfrm>
            <a:off x="1016000" y="26670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核心知识点</a:t>
            </a:r>
            <a:endParaRPr lang="en-US" sz="1100"/>
          </a:p>
        </p:txBody>
      </p:sp>
      <p:sp>
        <p:nvSpPr>
          <p:cNvPr id="6" name="AutoShape 6"/>
          <p:cNvSpPr txBox="1"/>
          <p:nvPr/>
        </p:nvSpPr>
        <p:spPr>
          <a:xfrm>
            <a:off x="1016000" y="3175000"/>
            <a:ext cx="4826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数组表示：父/子节点下标公式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堆高度：Θ(log_d n)</a:t>
            </a:r>
            <a:endParaRPr lang="en-US" sz="13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EXTRACT-MAX：O(d · log_d n)</a:t>
            </a:r>
            <a:endParaRPr lang="en-US" sz="13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INCREASE-KEY：O(log_d n)</a:t>
            </a:r>
            <a:endParaRPr lang="en-US" sz="13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INSERT：O(log_d n)</a:t>
            </a:r>
            <a:endParaRPr lang="en-US" sz="13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空间复杂度：O(n)</a:t>
            </a:r>
            <a:endParaRPr lang="en-US" sz="13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 txBox="1"/>
          <p:nvPr/>
        </p:nvSpPr>
        <p:spPr>
          <a:xfrm>
            <a:off x="6350000" y="26670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思考讨论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6350000" y="3175000"/>
            <a:ext cx="4826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 d取多少时EXTRACT-MAX最快？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 什么场景适合用d叉堆？</a:t>
            </a:r>
            <a:endParaRPr lang="en-US" sz="13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3. 为什么d叉堆在某些实现中比二叉堆快？</a:t>
            </a:r>
            <a:endParaRPr lang="en-US" sz="13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4. 最小堆的操作有什么不同？</a:t>
            </a:r>
            <a:endParaRPr lang="en-US" sz="13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2"/>
          <p:cNvCxnSpPr/>
          <p:nvPr/>
        </p:nvCxnSpPr>
        <p:spPr>
          <a:xfrm rot="-28647">
            <a:off x="1016026" y="1517650"/>
            <a:ext cx="152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003087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3" name="AutoShape 3"/>
          <p:cNvSpPr txBox="1"/>
          <p:nvPr/>
        </p:nvSpPr>
        <p:spPr>
          <a:xfrm>
            <a:off x="1016000" y="1778000"/>
            <a:ext cx="1016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001C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题目 8-3：变长数据项的排序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1016000" y="2921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070B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O(n) 时间内的整数数组排序与字符串字典序排序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297">
            <a:off x="1016004" y="3803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4E5F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635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01C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问题概述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85925">
            <a:off x="1016079" y="1263650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70B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" name="AutoShape 4"/>
          <p:cNvSpPr/>
          <p:nvPr/>
        </p:nvSpPr>
        <p:spPr>
          <a:xfrm>
            <a:off x="1016000" y="1651000"/>
            <a:ext cx="4826000" cy="4064000"/>
          </a:xfrm>
          <a:prstGeom prst="roundRect">
            <a:avLst>
              <a:gd name="adj" fmla="val 0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D4E5F7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 txBox="1"/>
          <p:nvPr/>
        </p:nvSpPr>
        <p:spPr>
          <a:xfrm>
            <a:off x="1270000" y="1905000"/>
            <a:ext cx="4318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308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a. 整数数组排序</a:t>
            </a:r>
            <a:endParaRPr lang="en-US" sz="1100"/>
          </a:p>
        </p:txBody>
      </p:sp>
      <p:sp>
        <p:nvSpPr>
          <p:cNvPr id="6" name="AutoShape 6"/>
          <p:cNvSpPr txBox="1"/>
          <p:nvPr/>
        </p:nvSpPr>
        <p:spPr>
          <a:xfrm>
            <a:off x="1270000" y="2540000"/>
            <a:ext cx="43180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90500" indent="-190500" algn="l">
              <a:lnSpc>
                <a:spcPct val="133000"/>
              </a:lnSpc>
              <a:buClr>
                <a:srgbClr val="475569"/>
              </a:buClr>
              <a:buChar char="•"/>
              <a:defRPr/>
            </a:pPr>
            <a:r>
              <a:rPr lang="en-US" sz="15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给定整数数组，不同整数位数可能不同</a:t>
            </a:r>
            <a:endParaRPr lang="en-US" sz="1100"/>
          </a:p>
          <a:p>
            <a:pPr marL="190500" indent="-190500" algn="l">
              <a:lnSpc>
                <a:spcPct val="133000"/>
              </a:lnSpc>
              <a:buClr>
                <a:srgbClr val="475569"/>
              </a:buClr>
              <a:buChar char="•"/>
            </a:pPr>
            <a:r>
              <a:rPr lang="en-US" sz="15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所有整数总数字位数为 n</a:t>
            </a:r>
            <a:endParaRPr lang="en-US" sz="15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90500" indent="-190500" algn="l">
              <a:lnSpc>
                <a:spcPct val="133000"/>
              </a:lnSpc>
              <a:buClr>
                <a:srgbClr val="475569"/>
              </a:buClr>
              <a:buChar char="•"/>
            </a:pPr>
            <a:r>
              <a:rPr lang="en-US" sz="15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要求：O(n) 时间内排序</a:t>
            </a:r>
            <a:endParaRPr lang="en-US" sz="15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90500" indent="-190500" algn="l">
              <a:lnSpc>
                <a:spcPct val="133000"/>
              </a:lnSpc>
              <a:buClr>
                <a:srgbClr val="475569"/>
              </a:buClr>
              <a:buChar char="•"/>
            </a:pPr>
            <a:r>
              <a:rPr lang="en-US" sz="15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本质：按数值大小排序</a:t>
            </a:r>
            <a:endParaRPr lang="en-US" sz="15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6350000" y="1651000"/>
            <a:ext cx="4826000" cy="4064000"/>
          </a:xfrm>
          <a:prstGeom prst="roundRect">
            <a:avLst>
              <a:gd name="adj" fmla="val 0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D4E5F7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 txBox="1"/>
          <p:nvPr/>
        </p:nvSpPr>
        <p:spPr>
          <a:xfrm>
            <a:off x="6604000" y="1905000"/>
            <a:ext cx="4318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308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b. 字符串数组排序</a:t>
            </a:r>
            <a:endParaRPr lang="en-US" sz="1100"/>
          </a:p>
        </p:txBody>
      </p:sp>
      <p:sp>
        <p:nvSpPr>
          <p:cNvPr id="9" name="AutoShape 9"/>
          <p:cNvSpPr txBox="1"/>
          <p:nvPr/>
        </p:nvSpPr>
        <p:spPr>
          <a:xfrm>
            <a:off x="6604000" y="2540000"/>
            <a:ext cx="43180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90500" indent="-190500" algn="l">
              <a:lnSpc>
                <a:spcPct val="133000"/>
              </a:lnSpc>
              <a:buClr>
                <a:srgbClr val="475569"/>
              </a:buClr>
              <a:buChar char="•"/>
              <a:defRPr/>
            </a:pPr>
            <a:r>
              <a:rPr lang="en-US" sz="15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给定字符串数组，长度可能不同</a:t>
            </a:r>
            <a:endParaRPr lang="en-US" sz="1100"/>
          </a:p>
          <a:p>
            <a:pPr marL="190500" indent="-190500" algn="l">
              <a:lnSpc>
                <a:spcPct val="133000"/>
              </a:lnSpc>
              <a:buClr>
                <a:srgbClr val="475569"/>
              </a:buClr>
              <a:buChar char="•"/>
            </a:pPr>
            <a:r>
              <a:rPr lang="en-US" sz="15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所有字符串总字符数为 n</a:t>
            </a:r>
            <a:endParaRPr lang="en-US" sz="15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90500" indent="-190500" algn="l">
              <a:lnSpc>
                <a:spcPct val="133000"/>
              </a:lnSpc>
              <a:buClr>
                <a:srgbClr val="475569"/>
              </a:buClr>
              <a:buChar char="•"/>
            </a:pPr>
            <a:r>
              <a:rPr lang="en-US" sz="15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要求：O(n) 时间内排序</a:t>
            </a:r>
            <a:endParaRPr lang="en-US" sz="15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90500" indent="-190500" algn="l">
              <a:lnSpc>
                <a:spcPct val="133000"/>
              </a:lnSpc>
              <a:buClr>
                <a:srgbClr val="475569"/>
              </a:buClr>
              <a:buChar char="•"/>
            </a:pPr>
            <a:r>
              <a:rPr lang="en-US" sz="15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顺序：标准字典序，如 a &lt; ab &lt; b</a:t>
            </a:r>
            <a:endParaRPr lang="en-US" sz="15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 txBox="1"/>
          <p:nvPr/>
        </p:nvSpPr>
        <p:spPr>
          <a:xfrm>
            <a:off x="1016000" y="60960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核心思路：基数排序（Radix Sort）—— 利用关键字结构，逐位进行稳定的计数排序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635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01C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a. 问题分析与算法选择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85925">
            <a:off x="1016079" y="1263650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70B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" name="AutoShape 4"/>
          <p:cNvSpPr txBox="1"/>
          <p:nvPr/>
        </p:nvSpPr>
        <p:spPr>
          <a:xfrm>
            <a:off x="1016000" y="15875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308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为什么不能用比较排序？</a:t>
            </a:r>
            <a:r>
              <a:rPr lang="en-US" sz="16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比较排序下界为 Ω(n log n)，无法达到 O(n)</a:t>
            </a:r>
            <a:endParaRPr lang="en-US" sz="1100"/>
          </a:p>
        </p:txBody>
      </p:sp>
      <p:sp>
        <p:nvSpPr>
          <p:cNvPr id="5" name="AutoShape 5"/>
          <p:cNvSpPr txBox="1"/>
          <p:nvPr/>
        </p:nvSpPr>
        <p:spPr>
          <a:xfrm>
            <a:off x="1016000" y="21590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308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可行方案：LSD 基数排序</a:t>
            </a:r>
            <a:r>
              <a:rPr lang="en-US" sz="16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—— 从最低位开始，逐位进行稳定计数排序</a:t>
            </a:r>
            <a:endParaRPr lang="en-US" sz="1100"/>
          </a:p>
        </p:txBody>
      </p: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1016000" y="2794000"/>
          <a:ext cx="10160000" cy="2286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032000"/>
                <a:gridCol w="2540000"/>
                <a:gridCol w="2794000"/>
                <a:gridCol w="2794000"/>
              </a:tblGrid>
              <a:tr h="4826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位数范围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数字个数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计数排序代价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累计代价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</a:tr>
              <a:tr h="4572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第 1 位（个位）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k₁ 个数字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O(k₁ + 10)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O(k₁ + 10)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572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第 2 位（十位）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k₂ 个数字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O(k₂ + 10)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O(k₁ + k₂ + 2·10)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572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...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...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...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...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318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第 d 位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k_d 个数字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O(k_d + 10)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O(n + d·10)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AutoShape 7"/>
          <p:cNvSpPr txBox="1"/>
          <p:nvPr/>
        </p:nvSpPr>
        <p:spPr>
          <a:xfrm>
            <a:off x="1016000" y="5461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00308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关键观察：Σkᵢ = n，d ≤ n（最大位数），但 d·10 项在 n 远大于位数基数时可忽略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635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01C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a. LSD 基数排序算法流程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85925">
            <a:off x="1016079" y="1263650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70B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" name="AutoShape 4"/>
          <p:cNvSpPr txBox="1"/>
          <p:nvPr/>
        </p:nvSpPr>
        <p:spPr>
          <a:xfrm>
            <a:off x="1016000" y="1524000"/>
            <a:ext cx="10160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示例数组：[329, 457, 657, 839, 436, 720, 355]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2095500"/>
            <a:ext cx="2032000" cy="952500"/>
          </a:xfrm>
          <a:prstGeom prst="roundRect">
            <a:avLst>
              <a:gd name="adj" fmla="val 0"/>
            </a:avLst>
          </a:prstGeom>
          <a:solidFill>
            <a:srgbClr val="D4E5F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 txBox="1"/>
          <p:nvPr/>
        </p:nvSpPr>
        <p:spPr>
          <a:xfrm>
            <a:off x="1016000" y="2095500"/>
            <a:ext cx="2032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200" b="1" i="0" u="none" strike="noStrike">
                <a:solidFill>
                  <a:srgbClr val="001C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原始数组</a:t>
            </a:r>
            <a:endParaRPr lang="en-US" sz="1100"/>
          </a:p>
          <a:p>
            <a:pPr marL="0" indent="0" algn="ctr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001C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329 457 657</a:t>
            </a:r>
            <a:endParaRPr lang="en-US" sz="1200" b="0" i="0" u="none" strike="noStrike">
              <a:solidFill>
                <a:srgbClr val="001C5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ctr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001C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839 436 720 355</a:t>
            </a:r>
            <a:endParaRPr lang="en-US" sz="1200" b="0" i="0" u="none" strike="noStrike">
              <a:solidFill>
                <a:srgbClr val="001C5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7" name="Connector 7"/>
          <p:cNvCxnSpPr/>
          <p:nvPr/>
        </p:nvCxnSpPr>
        <p:spPr>
          <a:xfrm rot="-85925">
            <a:off x="3175079" y="2559050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70BA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8" name="AutoShape 8"/>
          <p:cNvSpPr/>
          <p:nvPr/>
        </p:nvSpPr>
        <p:spPr>
          <a:xfrm>
            <a:off x="3810000" y="2095500"/>
            <a:ext cx="2032000" cy="952500"/>
          </a:xfrm>
          <a:prstGeom prst="roundRect">
            <a:avLst>
              <a:gd name="adj" fmla="val 0"/>
            </a:avLst>
          </a:prstGeom>
          <a:solidFill>
            <a:srgbClr val="D4E5F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 txBox="1"/>
          <p:nvPr/>
        </p:nvSpPr>
        <p:spPr>
          <a:xfrm>
            <a:off x="3810000" y="2095500"/>
            <a:ext cx="2032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200" b="1" i="0" u="none" strike="noStrike">
                <a:solidFill>
                  <a:srgbClr val="001C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按个位排序后</a:t>
            </a:r>
            <a:endParaRPr lang="en-US" sz="1100"/>
          </a:p>
          <a:p>
            <a:pPr marL="0" indent="0" algn="ctr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001C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720 355 436</a:t>
            </a:r>
            <a:endParaRPr lang="en-US" sz="1200" b="0" i="0" u="none" strike="noStrike">
              <a:solidFill>
                <a:srgbClr val="001C5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ctr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001C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457 657 329 839</a:t>
            </a:r>
            <a:endParaRPr lang="en-US" sz="1200" b="0" i="0" u="none" strike="noStrike">
              <a:solidFill>
                <a:srgbClr val="001C5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0" name="Connector 10"/>
          <p:cNvCxnSpPr/>
          <p:nvPr/>
        </p:nvCxnSpPr>
        <p:spPr>
          <a:xfrm rot="-85925">
            <a:off x="5969079" y="2559050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70BA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11" name="AutoShape 11"/>
          <p:cNvSpPr/>
          <p:nvPr/>
        </p:nvSpPr>
        <p:spPr>
          <a:xfrm>
            <a:off x="6604000" y="2095500"/>
            <a:ext cx="2032000" cy="952500"/>
          </a:xfrm>
          <a:prstGeom prst="roundRect">
            <a:avLst>
              <a:gd name="adj" fmla="val 0"/>
            </a:avLst>
          </a:prstGeom>
          <a:solidFill>
            <a:srgbClr val="D4E5F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 txBox="1"/>
          <p:nvPr/>
        </p:nvSpPr>
        <p:spPr>
          <a:xfrm>
            <a:off x="6604000" y="2095500"/>
            <a:ext cx="2032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200" b="1" i="0" u="none" strike="noStrike">
                <a:solidFill>
                  <a:srgbClr val="001C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按十位排序后</a:t>
            </a:r>
            <a:endParaRPr lang="en-US" sz="1100"/>
          </a:p>
          <a:p>
            <a:pPr marL="0" indent="0" algn="ctr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001C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720 329 436</a:t>
            </a:r>
            <a:endParaRPr lang="en-US" sz="1200" b="0" i="0" u="none" strike="noStrike">
              <a:solidFill>
                <a:srgbClr val="001C5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ctr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001C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839 355 457 657</a:t>
            </a:r>
            <a:endParaRPr lang="en-US" sz="1200" b="0" i="0" u="none" strike="noStrike">
              <a:solidFill>
                <a:srgbClr val="001C5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3" name="Connector 13"/>
          <p:cNvCxnSpPr/>
          <p:nvPr/>
        </p:nvCxnSpPr>
        <p:spPr>
          <a:xfrm rot="-85925">
            <a:off x="8763079" y="2559050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70BA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14" name="AutoShape 14"/>
          <p:cNvSpPr/>
          <p:nvPr/>
        </p:nvSpPr>
        <p:spPr>
          <a:xfrm>
            <a:off x="9398000" y="2095500"/>
            <a:ext cx="2032000" cy="952500"/>
          </a:xfrm>
          <a:prstGeom prst="roundRect">
            <a:avLst>
              <a:gd name="adj" fmla="val 0"/>
            </a:avLst>
          </a:prstGeom>
          <a:solidFill>
            <a:srgbClr val="00308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 txBox="1"/>
          <p:nvPr/>
        </p:nvSpPr>
        <p:spPr>
          <a:xfrm>
            <a:off x="9398000" y="2095500"/>
            <a:ext cx="2032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按百位排序后</a:t>
            </a:r>
            <a:endParaRPr lang="en-US" sz="1100"/>
          </a:p>
          <a:p>
            <a:pPr marL="0" indent="0" algn="ctr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329 355 436</a:t>
            </a:r>
            <a:endParaRPr lang="en-US" sz="1200" b="0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ctr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457 657 720 839</a:t>
            </a:r>
            <a:endParaRPr lang="en-US" sz="1200" b="0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 txBox="1"/>
          <p:nvPr/>
        </p:nvSpPr>
        <p:spPr>
          <a:xfrm>
            <a:off x="1015365" y="3556000"/>
            <a:ext cx="10160635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308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关键步骤：</a:t>
            </a:r>
            <a:endParaRPr lang="en-US" sz="1800" b="1" i="0" u="none" strike="noStrike">
              <a:solidFill>
                <a:srgbClr val="00308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 txBox="1"/>
          <p:nvPr/>
        </p:nvSpPr>
        <p:spPr>
          <a:xfrm>
            <a:off x="1016000" y="4000500"/>
            <a:ext cx="10160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177800" indent="-177800" algn="l">
              <a:lnSpc>
                <a:spcPct val="142000"/>
              </a:lnSpc>
              <a:buClr>
                <a:srgbClr val="475569"/>
              </a:buClr>
              <a:buFont typeface="+mj-lt"/>
              <a:buAutoNum type="arabicPeriod"/>
              <a:defRPr/>
            </a:pPr>
            <a:r>
              <a:rPr lang="en-US" sz="18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找到最大数的位数 d，确定需要排序的轮数</a:t>
            </a:r>
            <a:endParaRPr lang="en-US"/>
          </a:p>
          <a:p>
            <a:pPr marL="177800" indent="-177800" algn="l">
              <a:lnSpc>
                <a:spcPct val="142000"/>
              </a:lnSpc>
              <a:buClr>
                <a:srgbClr val="475569"/>
              </a:buClr>
              <a:buFont typeface="+mj-lt"/>
              <a:buAutoNum type="arabicPeriod"/>
            </a:pPr>
            <a:r>
              <a:rPr lang="en-US" sz="18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对每一位 i（从最低位到最高位），使用稳定的计数排序按第 i 位的值排序</a:t>
            </a:r>
            <a:endParaRPr lang="en-US" sz="18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77800" indent="-177800" algn="l">
              <a:lnSpc>
                <a:spcPct val="142000"/>
              </a:lnSpc>
              <a:buClr>
                <a:srgbClr val="475569"/>
              </a:buClr>
              <a:buFont typeface="+mj-lt"/>
              <a:buAutoNum type="arabicPeriod"/>
            </a:pPr>
            <a:r>
              <a:rPr lang="en-US" sz="18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位数不足的数字，高位补 0（即排在该位值为 0 的组里）</a:t>
            </a:r>
            <a:endParaRPr lang="en-US" sz="18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77800" indent="-177800" algn="l">
              <a:lnSpc>
                <a:spcPct val="142000"/>
              </a:lnSpc>
              <a:buClr>
                <a:srgbClr val="475569"/>
              </a:buClr>
              <a:buFont typeface="+mj-lt"/>
              <a:buAutoNum type="arabicPeriod"/>
            </a:pPr>
            <a:r>
              <a:rPr lang="en-US" sz="18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每一轮计数排序的时间与该位实际有数字的个数成正比</a:t>
            </a:r>
            <a:endParaRPr lang="en-US" sz="18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635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01C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a. 代码实现（C++）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85925">
            <a:off x="1016079" y="1263650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70B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4790" y="1397000"/>
            <a:ext cx="5006340" cy="226314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790" y="3774440"/>
            <a:ext cx="4946015" cy="227584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4820" y="635000"/>
            <a:ext cx="5722620" cy="584454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635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01C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a. 时间复杂度分析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85925">
            <a:off x="1016079" y="1263650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70B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" name="AutoShape 4"/>
          <p:cNvSpPr txBox="1"/>
          <p:nvPr/>
        </p:nvSpPr>
        <p:spPr>
          <a:xfrm>
            <a:off x="1016000" y="1651000"/>
            <a:ext cx="10160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0308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为什么总时间是 O(n)？</a:t>
            </a:r>
            <a:endParaRPr lang="en-US" sz="2400" b="1" i="0" u="none" strike="noStrike">
              <a:solidFill>
                <a:srgbClr val="00308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" name="AutoShape 5"/>
          <p:cNvSpPr txBox="1"/>
          <p:nvPr/>
        </p:nvSpPr>
        <p:spPr>
          <a:xfrm>
            <a:off x="1016000" y="2286000"/>
            <a:ext cx="10160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8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设共有 k 个整数，最大位数为 d，总数字位数为 n = Σ len(xᵢ)</a:t>
            </a:r>
            <a:endParaRPr lang="en-US"/>
          </a:p>
          <a:p>
            <a:pPr marL="0" indent="0" algn="l">
              <a:lnSpc>
                <a:spcPct val="150000"/>
              </a:lnSpc>
            </a:pPr>
            <a:r>
              <a:rPr lang="en-US" sz="18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每一轮计数排序的代价 = O(kᵢ + 10)，其中 kᵢ 是第 i 位有数字的整数个数</a:t>
            </a:r>
            <a:endParaRPr lang="en-US" sz="18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8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所有轮次总代价 = Σᵢ (kᵢ + 10) = Σᵢ kᵢ + 10·d = n + 10·d</a:t>
            </a:r>
            <a:endParaRPr lang="en-US" sz="18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6"/>
          <p:cNvSpPr/>
          <p:nvPr>
            <p:custDataLst>
              <p:tags r:id="rId1"/>
            </p:custDataLst>
          </p:nvPr>
        </p:nvSpPr>
        <p:spPr>
          <a:xfrm>
            <a:off x="1016000" y="4064000"/>
            <a:ext cx="4826000" cy="1778000"/>
          </a:xfrm>
          <a:prstGeom prst="roundRect">
            <a:avLst>
              <a:gd name="adj" fmla="val 0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D4E5F7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 txBox="1"/>
          <p:nvPr>
            <p:custDataLst>
              <p:tags r:id="rId2"/>
            </p:custDataLst>
          </p:nvPr>
        </p:nvSpPr>
        <p:spPr>
          <a:xfrm>
            <a:off x="1270000" y="4254500"/>
            <a:ext cx="4318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800" b="1" i="0" u="none" strike="noStrike">
                <a:solidFill>
                  <a:srgbClr val="00308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关键观察</a:t>
            </a:r>
            <a:endParaRPr lang="en-US" sz="1100"/>
          </a:p>
          <a:p>
            <a:pPr marL="0" indent="0" algn="l">
              <a:lnSpc>
                <a:spcPct val="133000"/>
              </a:lnSpc>
            </a:pPr>
            <a:r>
              <a:rPr lang="en-US" sz="18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Σ kᵢ = n（每个数字位恰好被处理一次）</a:t>
            </a:r>
            <a:endParaRPr lang="en-US" sz="18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8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 ≤ n（最大位数不可能超过总位数）</a:t>
            </a:r>
            <a:endParaRPr lang="en-US" sz="18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8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但当 n 远大于位数基数时，10·d 项可忽略</a:t>
            </a:r>
            <a:endParaRPr lang="en-US" sz="18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>
            <p:custDataLst>
              <p:tags r:id="rId3"/>
            </p:custDataLst>
          </p:nvPr>
        </p:nvSpPr>
        <p:spPr>
          <a:xfrm>
            <a:off x="6350000" y="4064000"/>
            <a:ext cx="4826000" cy="1778000"/>
          </a:xfrm>
          <a:prstGeom prst="roundRect">
            <a:avLst>
              <a:gd name="adj" fmla="val 0"/>
            </a:avLst>
          </a:prstGeom>
          <a:solidFill>
            <a:srgbClr val="00308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 txBox="1"/>
          <p:nvPr>
            <p:custDataLst>
              <p:tags r:id="rId4"/>
            </p:custDataLst>
          </p:nvPr>
        </p:nvSpPr>
        <p:spPr>
          <a:xfrm>
            <a:off x="6604000" y="4254500"/>
            <a:ext cx="4318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结论</a:t>
            </a:r>
            <a:endParaRPr lang="en-US" sz="1200"/>
          </a:p>
          <a:p>
            <a:pPr marL="0" indent="0" algn="l">
              <a:lnSpc>
                <a:spcPct val="133000"/>
              </a:lnSpc>
            </a:pPr>
            <a:r>
              <a:rPr lang="en-US" sz="16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总时间 = O(n + d·10)</a:t>
            </a:r>
            <a:endParaRPr lang="en-US" sz="1600" b="0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6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在题目设定下（总位数为 n），d 是 n 的低阶项</a:t>
            </a:r>
            <a:endParaRPr lang="en-US" sz="1600" b="0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6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因此整体时间复杂度为 O(n)</a:t>
            </a:r>
            <a:endParaRPr lang="en-US" sz="1600" b="0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635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01C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a. 瓶颈分析与改进方向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85925">
            <a:off x="1016079" y="1263650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70B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1016000" y="1651000"/>
          <a:ext cx="10160000" cy="3556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540000"/>
                <a:gridCol w="3810000"/>
                <a:gridCol w="3810000"/>
              </a:tblGrid>
              <a:tr h="5080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问题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瓶颈原因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改进方式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</a:tr>
              <a:tr h="7620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空间开销大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每轮都需要 O(n) 的辅助数组 output，共 d 轮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使用原地计数排序（in-place），减少空间占用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620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短数字浪费轮次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高位轮次中，短数字全部补0，重复处理无意义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按位数分组，MSD 基数排序，递归处理各组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620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常数项偏大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十进制每轮只有10个桶，d·10 项累积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改用更大基数（如256进制），减少轮数 d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620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负数处理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原算法只支持非负整数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先分离正负数，负数取反排序后再反转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AutoShape 5"/>
          <p:cNvSpPr txBox="1"/>
          <p:nvPr/>
        </p:nvSpPr>
        <p:spPr>
          <a:xfrm>
            <a:off x="1016000" y="55880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070B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核心改进思路：MSD（最高位优先）基数排序 —— 先按高位分组，组内递归排序，避免短数字重复处理高位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635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01C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b. 字符串字典序排序 —— 问题分析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85925">
            <a:off x="1016079" y="1263650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70B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" name="AutoShape 4"/>
          <p:cNvSpPr txBox="1"/>
          <p:nvPr/>
        </p:nvSpPr>
        <p:spPr>
          <a:xfrm>
            <a:off x="939800" y="1706880"/>
            <a:ext cx="1016000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字典序规则：</a:t>
            </a:r>
            <a:r>
              <a:rPr lang="zh-CN" altLang="en-US" sz="15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从第一个字符开始，如果相同则比较第二个，直到分出大小。</a:t>
            </a:r>
            <a:r>
              <a:rPr lang="en-US" sz="15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（a &lt; ab &lt; b）</a:t>
            </a:r>
            <a:endParaRPr lang="en-US" sz="15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  <a:defRPr/>
            </a:pPr>
            <a:r>
              <a:rPr lang="zh-CN" altLang="en-US" sz="160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意味着前面字符的优先级高于后面的的字符</a:t>
            </a:r>
            <a:endParaRPr lang="zh-CN" altLang="en-US" sz="1600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  <a:defRPr/>
            </a:pPr>
            <a:endParaRPr lang="zh-CN" altLang="en-US" sz="1600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" name="AutoShape 5"/>
          <p:cNvSpPr/>
          <p:nvPr>
            <p:custDataLst>
              <p:tags r:id="rId1"/>
            </p:custDataLst>
          </p:nvPr>
        </p:nvSpPr>
        <p:spPr>
          <a:xfrm>
            <a:off x="1016000" y="2286000"/>
            <a:ext cx="4826000" cy="1651000"/>
          </a:xfrm>
          <a:prstGeom prst="roundRect">
            <a:avLst>
              <a:gd name="adj" fmla="val 0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D4E5F7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 txBox="1"/>
          <p:nvPr>
            <p:custDataLst>
              <p:tags r:id="rId2"/>
            </p:custDataLst>
          </p:nvPr>
        </p:nvSpPr>
        <p:spPr>
          <a:xfrm>
            <a:off x="1094740" y="2286000"/>
            <a:ext cx="4386580" cy="155194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600" b="1" i="0" u="none" strike="noStrike">
                <a:solidFill>
                  <a:srgbClr val="00308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为什么不能直接用 LSD？</a:t>
            </a:r>
            <a:endParaRPr lang="en-US" sz="1600" b="1" i="0" u="none" strike="noStrike">
              <a:solidFill>
                <a:srgbClr val="00308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33000"/>
              </a:lnSpc>
              <a:defRPr/>
            </a:pPr>
            <a:r>
              <a:rPr lang="zh-CN" altLang="en-US" sz="1400" b="1" i="0" u="none" strike="noStrike">
                <a:solidFill>
                  <a:srgbClr val="00308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zh-CN" altLang="en-US" sz="1600" b="1" i="0" u="none" strike="noStrike">
                <a:solidFill>
                  <a:srgbClr val="00308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如果从字符串的末尾往前排（</a:t>
            </a:r>
            <a:r>
              <a:rPr lang="en-US" altLang="zh-CN" sz="1600" b="1" i="0" u="none" strike="noStrike">
                <a:solidFill>
                  <a:srgbClr val="00308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LSD），</a:t>
            </a:r>
            <a:r>
              <a:rPr lang="zh-CN" altLang="en-US" sz="1600" b="1" i="0" u="none" strike="noStrike">
                <a:solidFill>
                  <a:srgbClr val="00308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由于字符串长度不一，前面字符的优先级会被后面字符的排序打乱，无法得到正确的字典序。</a:t>
            </a:r>
            <a:endParaRPr lang="zh-CN" altLang="en-US" sz="1600" b="1" i="0" u="none" strike="noStrike">
              <a:solidFill>
                <a:srgbClr val="00308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>
            <p:custDataLst>
              <p:tags r:id="rId3"/>
            </p:custDataLst>
          </p:nvPr>
        </p:nvSpPr>
        <p:spPr>
          <a:xfrm>
            <a:off x="6350000" y="2286000"/>
            <a:ext cx="4826000" cy="1651000"/>
          </a:xfrm>
          <a:prstGeom prst="roundRect">
            <a:avLst>
              <a:gd name="adj" fmla="val 0"/>
            </a:avLst>
          </a:prstGeom>
          <a:solidFill>
            <a:srgbClr val="00308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 txBox="1"/>
          <p:nvPr>
            <p:custDataLst>
              <p:tags r:id="rId4"/>
            </p:custDataLst>
          </p:nvPr>
        </p:nvSpPr>
        <p:spPr>
          <a:xfrm>
            <a:off x="6604000" y="2426970"/>
            <a:ext cx="4318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可行方案：MSD 基数排序</a:t>
            </a:r>
            <a:r>
              <a:rPr lang="zh-CN" alt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（高位优先）</a:t>
            </a:r>
            <a:endParaRPr lang="en-US" sz="1100"/>
          </a:p>
          <a:p>
            <a:pPr marL="0" indent="0" algn="l">
              <a:lnSpc>
                <a:spcPct val="133000"/>
              </a:lnSpc>
            </a:pPr>
            <a:r>
              <a:rPr lang="zh-CN" altLang="en-US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我们需要从最高有效位（第一个字符）开始排序。先按第一个字符将所有字符串分到不同的桶（如 '</a:t>
            </a:r>
            <a:r>
              <a:rPr lang="en-US" altLang="zh-CN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a'-'z'）。</a:t>
            </a:r>
            <a:r>
              <a:rPr lang="zh-CN" altLang="en-US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然后，在每个桶内部，递归地对第二个字符进行排序，以此类推。</a:t>
            </a:r>
            <a:endParaRPr lang="zh-CN" altLang="en-US">
              <a:solidFill>
                <a:schemeClr val="bg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9" name="AutoShape 9"/>
          <p:cNvSpPr txBox="1"/>
          <p:nvPr/>
        </p:nvSpPr>
        <p:spPr>
          <a:xfrm>
            <a:off x="1016000" y="43180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308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示例：["dab", "ab", "abc", "a", "b"] → 字典序结果</a:t>
            </a:r>
            <a:endParaRPr lang="en-US" sz="1100"/>
          </a:p>
        </p:txBody>
      </p:sp>
      <p:sp>
        <p:nvSpPr>
          <p:cNvPr id="10" name="AutoShape 10"/>
          <p:cNvSpPr txBox="1"/>
          <p:nvPr/>
        </p:nvSpPr>
        <p:spPr>
          <a:xfrm>
            <a:off x="1016000" y="4841240"/>
            <a:ext cx="10160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4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按首字符分三组：</a:t>
            </a:r>
            <a:endParaRPr lang="en-US" sz="1100"/>
          </a:p>
          <a:p>
            <a:pPr marL="0" indent="0" algn="l">
              <a:lnSpc>
                <a:spcPct val="142000"/>
              </a:lnSpc>
            </a:pPr>
            <a:r>
              <a:rPr lang="en-US" sz="14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 组：["ab", "abc", "a"] → 组内递归按第二字符排 → ["a", "ab", "abc"]</a:t>
            </a:r>
            <a:endParaRPr lang="en-US" sz="14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4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 组：["b"] → 已排序 </a:t>
            </a:r>
            <a:endParaRPr lang="en-US" sz="14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4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 组：["dab"] → 已排序</a:t>
            </a:r>
            <a:endParaRPr lang="en-US" sz="14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4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最终：["a", "ab", "abc", "b", "dab"]</a:t>
            </a:r>
            <a:endParaRPr lang="en-US" sz="14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635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01C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b. MSD 基数排序代码实现（C++）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85925">
            <a:off x="1016079" y="1263650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70B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1478280"/>
            <a:ext cx="9616440" cy="390144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48790" y="891540"/>
            <a:ext cx="8694420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4430" y="994410"/>
            <a:ext cx="8511540" cy="46101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635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01C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b. 复杂度分析与改进方向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85925">
            <a:off x="1016079" y="1263650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70B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" name="AutoShape 4"/>
          <p:cNvSpPr txBox="1"/>
          <p:nvPr/>
        </p:nvSpPr>
        <p:spPr>
          <a:xfrm>
            <a:off x="1016000" y="15875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308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时间复杂度为什么是 O(n)？</a:t>
            </a:r>
            <a:endParaRPr lang="en-US" sz="1100"/>
          </a:p>
        </p:txBody>
      </p:sp>
      <p:sp>
        <p:nvSpPr>
          <p:cNvPr id="5" name="AutoShape 5"/>
          <p:cNvSpPr txBox="1"/>
          <p:nvPr/>
        </p:nvSpPr>
        <p:spPr>
          <a:xfrm>
            <a:off x="1016000" y="2095500"/>
            <a:ext cx="1016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4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每个字符恰好被访问一次：在递归的第 pos 层，所有长度 &gt; pos 的字符串都会访问第 pos 个字符。</a:t>
            </a:r>
            <a:endParaRPr lang="en-US" sz="1100"/>
          </a:p>
          <a:p>
            <a:pPr marL="0" indent="0" algn="l">
              <a:lnSpc>
                <a:spcPct val="142000"/>
              </a:lnSpc>
            </a:pPr>
            <a:r>
              <a:rPr lang="en-US" sz="14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总访问次数 = Σᵢ len(sᵢ) = n，加上每层分桶的常数开销 O(k·27)，累计仍为 O(n)。</a:t>
            </a:r>
            <a:endParaRPr lang="en-US" sz="14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1016000" y="3302000"/>
          <a:ext cx="10160000" cy="2540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540000"/>
                <a:gridCol w="3810000"/>
                <a:gridCol w="3810000"/>
              </a:tblGrid>
              <a:tr h="4953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瓶颈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原因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改进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</a:tr>
              <a:tr h="6858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递归栈开销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最长字符串长度决定递归深度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改用迭代实现，或组内元素少时切换插入排序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858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小桶效率低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桶数固定27个，小桶递归开销大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组内元素 &lt; 阈值时改用插入排序，减少递归层数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731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空间开销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每层递归都创建新桶列表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原地分桶（Lomuto分区思想），减少额外空间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635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01C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总结：两问对比与核心结论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85925">
            <a:off x="1016079" y="1263650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70B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1016000" y="1651000"/>
          <a:ext cx="10160000" cy="3048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286000"/>
                <a:gridCol w="3937000"/>
                <a:gridCol w="3937000"/>
              </a:tblGrid>
              <a:tr h="5588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对比维度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a. 整数数组排序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b. 字符串字典序排序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</a:tr>
              <a:tr h="6223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排序方向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LSD（最低位优先）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MSD（最高位优先）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223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分桶规则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按十进制数字 0~9 分桶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按字符 a~z + 前缀组分桶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223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时间复杂度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O(n + d·10) ≈ O(n)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O(n)（每字符访问一次）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223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关键技巧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稳定计数排序 + 高位补0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递归分桶 + 前缀优先处理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AutoShape 5"/>
          <p:cNvSpPr/>
          <p:nvPr/>
        </p:nvSpPr>
        <p:spPr>
          <a:xfrm>
            <a:off x="1016000" y="5080000"/>
            <a:ext cx="10160000" cy="1016000"/>
          </a:xfrm>
          <a:prstGeom prst="roundRect">
            <a:avLst>
              <a:gd name="adj" fmla="val 0"/>
            </a:avLst>
          </a:prstGeom>
          <a:solidFill>
            <a:srgbClr val="D4E5F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 txBox="1"/>
          <p:nvPr/>
        </p:nvSpPr>
        <p:spPr>
          <a:xfrm>
            <a:off x="1270000" y="5207000"/>
            <a:ext cx="965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500" b="1" i="0" u="none" strike="noStrike">
                <a:solidFill>
                  <a:srgbClr val="001C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核心思想：</a:t>
            </a:r>
            <a:r>
              <a:rPr lang="en-US" sz="1500" b="0" i="0" u="none" strike="noStrike">
                <a:solidFill>
                  <a:srgbClr val="001C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利用数据项的内部结构（数字位/字符位），将比较排序降为非比较排序，</a:t>
            </a:r>
            <a:endParaRPr lang="en-US" sz="1100"/>
          </a:p>
          <a:p>
            <a:pPr marL="0" indent="0" algn="l">
              <a:lnSpc>
                <a:spcPct val="133000"/>
              </a:lnSpc>
            </a:pPr>
            <a:r>
              <a:rPr lang="en-US" sz="1500" b="0" i="0" u="none" strike="noStrike">
                <a:solidFill>
                  <a:srgbClr val="001C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用"逐位稳定分桶"把总代价分摊到每个基本单位（数字位/字符）上，从而达到 O(n)。</a:t>
            </a:r>
            <a:endParaRPr lang="en-US" sz="1500" b="0" i="0" u="none" strike="noStrike">
              <a:solidFill>
                <a:srgbClr val="001C5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40,&quot;left&quot;:80,&quot;top&quot;:320,&quot;width&quot;:800}"/>
</p:tagLst>
</file>

<file path=ppt/tags/tag2.xml><?xml version="1.0" encoding="utf-8"?>
<p:tagLst xmlns:p="http://schemas.openxmlformats.org/presentationml/2006/main">
  <p:tag name="KSO_WM_DIAGRAM_VIRTUALLY_FRAME" val="{&quot;height&quot;:140,&quot;left&quot;:80,&quot;top&quot;:320,&quot;width&quot;:800}"/>
</p:tagLst>
</file>

<file path=ppt/tags/tag3.xml><?xml version="1.0" encoding="utf-8"?>
<p:tagLst xmlns:p="http://schemas.openxmlformats.org/presentationml/2006/main">
  <p:tag name="KSO_WM_DIAGRAM_VIRTUALLY_FRAME" val="{&quot;height&quot;:140,&quot;left&quot;:80,&quot;top&quot;:320,&quot;width&quot;:800}"/>
</p:tagLst>
</file>

<file path=ppt/tags/tag4.xml><?xml version="1.0" encoding="utf-8"?>
<p:tagLst xmlns:p="http://schemas.openxmlformats.org/presentationml/2006/main">
  <p:tag name="KSO_WM_DIAGRAM_VIRTUALLY_FRAME" val="{&quot;height&quot;:140,&quot;left&quot;:80,&quot;top&quot;:320,&quot;width&quot;:800}"/>
</p:tagLst>
</file>

<file path=ppt/tags/tag5.xml><?xml version="1.0" encoding="utf-8"?>
<p:tagLst xmlns:p="http://schemas.openxmlformats.org/presentationml/2006/main">
  <p:tag name="KSO_WM_DIAGRAM_VIRTUALLY_FRAME" val="{&quot;height&quot;:130,&quot;left&quot;:80,&quot;top&quot;:180,&quot;width&quot;:800}"/>
</p:tagLst>
</file>

<file path=ppt/tags/tag6.xml><?xml version="1.0" encoding="utf-8"?>
<p:tagLst xmlns:p="http://schemas.openxmlformats.org/presentationml/2006/main">
  <p:tag name="KSO_WM_DIAGRAM_VIRTUALLY_FRAME" val="{&quot;height&quot;:130,&quot;left&quot;:80,&quot;top&quot;:180,&quot;width&quot;:800}"/>
</p:tagLst>
</file>

<file path=ppt/tags/tag7.xml><?xml version="1.0" encoding="utf-8"?>
<p:tagLst xmlns:p="http://schemas.openxmlformats.org/presentationml/2006/main">
  <p:tag name="KSO_WM_DIAGRAM_VIRTUALLY_FRAME" val="{&quot;height&quot;:130,&quot;left&quot;:80,&quot;top&quot;:180,&quot;width&quot;:800}"/>
</p:tagLst>
</file>

<file path=ppt/tags/tag8.xml><?xml version="1.0" encoding="utf-8"?>
<p:tagLst xmlns:p="http://schemas.openxmlformats.org/presentationml/2006/main">
  <p:tag name="KSO_WM_DIAGRAM_VIRTUALLY_FRAME" val="{&quot;height&quot;:130,&quot;left&quot;:80,&quot;top&quot;:180,&quot;width&quot;:800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3968</Words>
  <Application>WPS 演示</Application>
  <PresentationFormat/>
  <Paragraphs>478</Paragraphs>
  <Slides>23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23</vt:i4>
      </vt:variant>
    </vt:vector>
  </HeadingPairs>
  <TitlesOfParts>
    <vt:vector size="33" baseType="lpstr">
      <vt:lpstr>Arial</vt:lpstr>
      <vt:lpstr>宋体</vt:lpstr>
      <vt:lpstr>Wingdings</vt:lpstr>
      <vt:lpstr>Arial</vt:lpstr>
      <vt:lpstr>Noto Sans SC</vt:lpstr>
      <vt:lpstr>微软雅黑</vt:lpstr>
      <vt:lpstr>Arial Unicode MS</vt:lpstr>
      <vt:lpstr>Cambria Math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阿依孜巴·牙库甫0427</cp:lastModifiedBy>
  <cp:revision>2</cp:revision>
  <dcterms:created xsi:type="dcterms:W3CDTF">2026-10-14T16:35:00Z</dcterms:created>
  <dcterms:modified xsi:type="dcterms:W3CDTF">2026-10-15T05:04:02Z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{"Label":"1","ContentProducer":"001191110102MACQD9K64010000","ProduceID":"7696463430622072049","ReservedCode1":"","ContentPropagator":"","PropagateID":"","ReservedCode2":""}</vt:lpwstr>
  </property>
  <property fmtid="{D5CDD505-2E9C-101B-9397-08002B2CF9AE}" pid="3" name="KSOProductBuildVer">
    <vt:lpwstr>2052-12.1.0.28043</vt:lpwstr>
  </property>
  <property fmtid="{D5CDD505-2E9C-101B-9397-08002B2CF9AE}" pid="4" name="ICV">
    <vt:lpwstr>88F2F46E30E543ABAD62D212DCB1564F_13</vt:lpwstr>
  </property>
</Properties>
</file>